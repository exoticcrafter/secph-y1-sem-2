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35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304" r:id="rId22"/>
    <p:sldId id="305" r:id="rId23"/>
    <p:sldId id="351" r:id="rId24"/>
    <p:sldId id="277" r:id="rId25"/>
    <p:sldId id="278" r:id="rId26"/>
    <p:sldId id="279" r:id="rId27"/>
    <p:sldId id="280" r:id="rId28"/>
    <p:sldId id="281" r:id="rId29"/>
    <p:sldId id="307" r:id="rId30"/>
    <p:sldId id="308" r:id="rId31"/>
    <p:sldId id="282" r:id="rId32"/>
    <p:sldId id="35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309" r:id="rId41"/>
    <p:sldId id="353" r:id="rId42"/>
    <p:sldId id="290" r:id="rId43"/>
    <p:sldId id="291" r:id="rId44"/>
    <p:sldId id="292" r:id="rId45"/>
    <p:sldId id="293" r:id="rId46"/>
    <p:sldId id="311" r:id="rId4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266"/>
  </p:normalViewPr>
  <p:slideViewPr>
    <p:cSldViewPr>
      <p:cViewPr varScale="1">
        <p:scale>
          <a:sx n="69" d="100"/>
          <a:sy n="69" d="100"/>
        </p:scale>
        <p:origin x="46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47625">
              <a:noFill/>
            </a:ln>
          </c:spPr>
          <c:marker>
            <c:spPr>
              <a:solidFill>
                <a:srgbClr val="0070C0"/>
              </a:solidFill>
            </c:spPr>
          </c:marker>
          <c:xVal>
            <c:numRef>
              <c:f>Sheet1!$B$3:$B$10</c:f>
              <c:numCache>
                <c:formatCode>General</c:formatCode>
                <c:ptCount val="8"/>
                <c:pt idx="0">
                  <c:v>42</c:v>
                </c:pt>
                <c:pt idx="1">
                  <c:v>23</c:v>
                </c:pt>
                <c:pt idx="2">
                  <c:v>31</c:v>
                </c:pt>
                <c:pt idx="3">
                  <c:v>35</c:v>
                </c:pt>
                <c:pt idx="4">
                  <c:v>16</c:v>
                </c:pt>
                <c:pt idx="5">
                  <c:v>26</c:v>
                </c:pt>
                <c:pt idx="6">
                  <c:v>39</c:v>
                </c:pt>
                <c:pt idx="7">
                  <c:v>19</c:v>
                </c:pt>
              </c:numCache>
            </c:numRef>
          </c:xVal>
          <c:yVal>
            <c:numRef>
              <c:f>Sheet1!$C$3:$C$10</c:f>
              <c:numCache>
                <c:formatCode>General</c:formatCode>
                <c:ptCount val="8"/>
                <c:pt idx="0">
                  <c:v>3.3</c:v>
                </c:pt>
                <c:pt idx="1">
                  <c:v>2.9</c:v>
                </c:pt>
                <c:pt idx="2">
                  <c:v>3.2</c:v>
                </c:pt>
                <c:pt idx="3">
                  <c:v>3.2</c:v>
                </c:pt>
                <c:pt idx="4">
                  <c:v>1.9000000000000001</c:v>
                </c:pt>
                <c:pt idx="5">
                  <c:v>2.4</c:v>
                </c:pt>
                <c:pt idx="6">
                  <c:v>3.7</c:v>
                </c:pt>
                <c:pt idx="7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A25-BB41-ADD7-1E0BAC73FA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1424512"/>
        <c:axId val="181427200"/>
      </c:scatterChart>
      <c:valAx>
        <c:axId val="1814245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lang="en-GB"/>
                </a:pPr>
                <a:r>
                  <a:rPr lang="en-US"/>
                  <a:t>Hours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/>
            </a:pPr>
            <a:endParaRPr lang="en-US"/>
          </a:p>
        </c:txPr>
        <c:crossAx val="181427200"/>
        <c:crosses val="autoZero"/>
        <c:crossBetween val="midCat"/>
      </c:valAx>
      <c:valAx>
        <c:axId val="181427200"/>
        <c:scaling>
          <c:orientation val="minMax"/>
        </c:scaling>
        <c:delete val="0"/>
        <c:axPos val="l"/>
        <c:title>
          <c:tx>
            <c:rich>
              <a:bodyPr rot="0" vert="wordArtVert"/>
              <a:lstStyle/>
              <a:p>
                <a:pPr>
                  <a:defRPr lang="en-GB"/>
                </a:pPr>
                <a:r>
                  <a:rPr lang="en-US"/>
                  <a:t>GPA</a:t>
                </a:r>
              </a:p>
            </c:rich>
          </c:tx>
          <c:overlay val="0"/>
        </c:title>
        <c:numFmt formatCode="General" sourceLinked="1"/>
        <c:majorTickMark val="in"/>
        <c:minorTickMark val="none"/>
        <c:tickLblPos val="nextTo"/>
        <c:spPr>
          <a:ln>
            <a:solidFill>
              <a:schemeClr val="accent1">
                <a:shade val="95000"/>
                <a:satMod val="105000"/>
              </a:schemeClr>
            </a:solidFill>
          </a:ln>
        </c:spPr>
        <c:txPr>
          <a:bodyPr/>
          <a:lstStyle/>
          <a:p>
            <a:pPr>
              <a:defRPr lang="en-GB"/>
            </a:pPr>
            <a:endParaRPr lang="en-US"/>
          </a:p>
        </c:txPr>
        <c:crossAx val="181424512"/>
        <c:crosses val="autoZero"/>
        <c:crossBetween val="midCat"/>
      </c:valAx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GPA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rgbClr val="0070C0"/>
              </a:solidFill>
            </c:spPr>
          </c:marker>
          <c:xVal>
            <c:numRef>
              <c:f>Sheet1!$B$3:$B$10</c:f>
              <c:numCache>
                <c:formatCode>General</c:formatCode>
                <c:ptCount val="8"/>
                <c:pt idx="0">
                  <c:v>42</c:v>
                </c:pt>
                <c:pt idx="1">
                  <c:v>23</c:v>
                </c:pt>
                <c:pt idx="2">
                  <c:v>31</c:v>
                </c:pt>
                <c:pt idx="3">
                  <c:v>35</c:v>
                </c:pt>
                <c:pt idx="4">
                  <c:v>16</c:v>
                </c:pt>
                <c:pt idx="5">
                  <c:v>26</c:v>
                </c:pt>
                <c:pt idx="6">
                  <c:v>39</c:v>
                </c:pt>
                <c:pt idx="7">
                  <c:v>19</c:v>
                </c:pt>
              </c:numCache>
            </c:numRef>
          </c:xVal>
          <c:yVal>
            <c:numRef>
              <c:f>Sheet1!$C$3:$C$10</c:f>
              <c:numCache>
                <c:formatCode>General</c:formatCode>
                <c:ptCount val="8"/>
                <c:pt idx="0">
                  <c:v>1.8</c:v>
                </c:pt>
                <c:pt idx="1">
                  <c:v>3</c:v>
                </c:pt>
                <c:pt idx="2">
                  <c:v>2.2000000000000002</c:v>
                </c:pt>
                <c:pt idx="3">
                  <c:v>2.9</c:v>
                </c:pt>
                <c:pt idx="4">
                  <c:v>3.7</c:v>
                </c:pt>
                <c:pt idx="5">
                  <c:v>3</c:v>
                </c:pt>
                <c:pt idx="6">
                  <c:v>2.4</c:v>
                </c:pt>
                <c:pt idx="7">
                  <c:v>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F6A-6A46-9195-D0B523715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2688000"/>
        <c:axId val="222717440"/>
      </c:scatterChart>
      <c:valAx>
        <c:axId val="2226880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lang="en-GB"/>
                </a:pPr>
                <a:r>
                  <a:rPr lang="en-US"/>
                  <a:t>TV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/>
            </a:pPr>
            <a:endParaRPr lang="en-US"/>
          </a:p>
        </c:txPr>
        <c:crossAx val="222717440"/>
        <c:crosses val="autoZero"/>
        <c:crossBetween val="midCat"/>
      </c:valAx>
      <c:valAx>
        <c:axId val="222717440"/>
        <c:scaling>
          <c:orientation val="minMax"/>
        </c:scaling>
        <c:delete val="0"/>
        <c:axPos val="l"/>
        <c:title>
          <c:tx>
            <c:rich>
              <a:bodyPr rot="0" vert="wordArtVert"/>
              <a:lstStyle/>
              <a:p>
                <a:pPr>
                  <a:defRPr lang="en-GB"/>
                </a:pPr>
                <a:r>
                  <a:rPr lang="en-US"/>
                  <a:t>GPA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/>
            </a:pPr>
            <a:endParaRPr lang="en-US"/>
          </a:p>
        </c:txPr>
        <c:crossAx val="222688000"/>
        <c:crosses val="autoZero"/>
        <c:crossBetween val="midCat"/>
      </c:valAx>
    </c:plotArea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F0FF997-4869-BC43-A718-AD4E22606A33}" type="datetimeFigureOut">
              <a:rPr lang="en-US"/>
              <a:pPr>
                <a:defRPr/>
              </a:pPr>
              <a:t>27-Mar-26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49954E3-2F49-2D45-B9A8-8B03DD7710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56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EF3A8CF-2166-5E45-BCE2-02348F58AFDB}" type="datetimeFigureOut">
              <a:rPr lang="en-US"/>
              <a:pPr>
                <a:defRPr/>
              </a:pPr>
              <a:t>27-Mar-26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37CE9DF-E351-4844-A330-349782A56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544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8248-4EBB-1F5D-5D32-316A9C59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01A7811A-443E-6CAB-38AB-D5FD9B7A8C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9A5ADDD2-4B69-96B3-AE53-EE252E20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419E55BE-91F6-9D78-1F78-8FAC0C960D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11C0B6D5-1070-DECD-750E-5EDA8AA5C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1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2711130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</a:endParaRPr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6531" indent="-279435"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7740" indent="-223548"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4836" indent="-223548"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1931" indent="-223548"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59027" indent="-223548" eaLnBrk="0" fontAlgn="base" hangingPunct="0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06123" indent="-223548" eaLnBrk="0" fontAlgn="base" hangingPunct="0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3219" indent="-223548" eaLnBrk="0" fontAlgn="base" hangingPunct="0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0315" indent="-223548" eaLnBrk="0" fontAlgn="base" hangingPunct="0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b="0" dirty="0"/>
              <a:t>prepared by </a:t>
            </a:r>
            <a:r>
              <a:rPr lang="en-US" sz="1200" b="0" dirty="0" err="1"/>
              <a:t>Razana</a:t>
            </a:r>
            <a:r>
              <a:rPr lang="en-US" sz="1200" b="0" dirty="0"/>
              <a:t> </a:t>
            </a:r>
            <a:r>
              <a:rPr lang="en-US" sz="1200" b="0" dirty="0" err="1"/>
              <a:t>Alwee</a:t>
            </a:r>
            <a:endParaRPr lang="en-US" sz="1200" b="0" dirty="0"/>
          </a:p>
        </p:txBody>
      </p:sp>
      <p:sp>
        <p:nvSpPr>
          <p:cNvPr id="4915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6531" indent="-279435"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7740" indent="-223548"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4836" indent="-223548"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1931" indent="-223548"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59027" indent="-223548" eaLnBrk="0" fontAlgn="base" hangingPunct="0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06123" indent="-223548" eaLnBrk="0" fontAlgn="base" hangingPunct="0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3219" indent="-223548" eaLnBrk="0" fontAlgn="base" hangingPunct="0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0315" indent="-223548" eaLnBrk="0" fontAlgn="base" hangingPunct="0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A10305F-2411-B94A-9FAE-149CA7525ABF}" type="slidenum">
              <a:rPr lang="en-US" sz="1200" b="0"/>
              <a:pPr/>
              <a:t>9</a:t>
            </a:fld>
            <a:endParaRPr lang="en-US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DC306-E40B-064E-926A-B9B7371D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CFE35A92-CB68-2DE4-7D62-182E99DF2E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CE172463-CD74-EE92-F287-12CF80BC4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BA53A9B6-08DA-183E-FC25-8F6CD6F422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8007E8A6-EB69-1108-11DE-97E5690CD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23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218213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D778-2B14-5DA5-85C3-03441432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9589808D-7C54-292E-2FBE-915FD8ABDA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8AF88AE9-9270-9291-EBC9-F7B82990D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50452E05-8664-BE11-B60A-4DD8D4D7B4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068251CF-8CF8-8322-7C49-7F80B6EF0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32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3877740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C00FF-B6D1-63E2-2987-4E061FD1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B78E762A-BB1A-5414-53B2-7165AB8AAE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A5FFD110-5AB8-658A-5A1E-89C594A7A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28B5E92A-67BE-B28E-DDE2-B0A3BD8DDC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9D19FAFA-90A8-4E58-BEDA-1C7880BA3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41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149137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95454-1B43-144A-94EC-7FDC348A3A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6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1637" y="274638"/>
            <a:ext cx="8750763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1637" y="1600201"/>
            <a:ext cx="87507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D96D6-FCAC-BF48-A744-D10BE5BBB5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0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BE6EA-AAB9-3741-9559-9635EC9BD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2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3605" y="274638"/>
            <a:ext cx="9038795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44165-42F6-C044-B8FB-D60798098C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4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9616" y="274638"/>
            <a:ext cx="8942784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10552-DC53-0B49-B7D0-4185237E65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1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F5A4A-CDD8-5844-9131-93702E810F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9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86C8B-6A06-BB4A-AC30-766CF089E7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112DD-C6AD-9E4F-880C-AC05DF5581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7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5627" y="274638"/>
            <a:ext cx="8846773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7176C-92B8-AA41-88AD-8343488297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88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067B1-DA45-9F4D-AE4D-C2D7494200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6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3848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553200"/>
            <a:ext cx="22352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C83F623-969F-7F4D-BA46-0C967F1FD1F2}" type="datetime1">
              <a:rPr lang="en-US"/>
              <a:pPr/>
              <a:t>27-Mar-26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172200"/>
            <a:ext cx="38608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prepared by Razana Alwee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E5469E-5D9F-0442-814E-095F6C1634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3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553200"/>
            <a:ext cx="22352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8A90EDB-D689-DD45-B2C6-AF79AB7BB49D}" type="datetime1">
              <a:rPr lang="en-US"/>
              <a:pPr/>
              <a:t>27-Mar-26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172200"/>
            <a:ext cx="38608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prepared by Razana Alwee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B7C957-7DE7-D746-B1C4-1A6A265ED0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05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828800"/>
            <a:ext cx="10972800" cy="41910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553200"/>
            <a:ext cx="22352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BFD3EEE-2F3E-F647-A885-F1D3067D4827}" type="datetime1">
              <a:rPr lang="en-US"/>
              <a:pPr/>
              <a:t>27-Mar-26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172200"/>
            <a:ext cx="38608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prepared by Razana Alwee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4B90ED-EC7A-DC47-BA3E-4EAF737A1C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0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50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549817EF-31CF-5849-A231-1AF6B30B29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2544233" y="476250"/>
            <a:ext cx="88392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44234" y="1600200"/>
            <a:ext cx="9038167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269;p1">
            <a:extLst>
              <a:ext uri="{FF2B5EF4-FFF2-40B4-BE49-F238E27FC236}">
                <a16:creationId xmlns:a16="http://schemas.microsoft.com/office/drawing/2014/main" id="{A7EAAA8B-3C4A-4485-F8DD-5367798F13EB}"/>
              </a:ext>
            </a:extLst>
          </p:cNvPr>
          <p:cNvSpPr txBox="1"/>
          <p:nvPr userDrawn="1"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grpSp>
        <p:nvGrpSpPr>
          <p:cNvPr id="3" name="Google Shape;263;p1">
            <a:extLst>
              <a:ext uri="{FF2B5EF4-FFF2-40B4-BE49-F238E27FC236}">
                <a16:creationId xmlns:a16="http://schemas.microsoft.com/office/drawing/2014/main" id="{5697586B-794F-8D0E-D7DE-523492BF7DEE}"/>
              </a:ext>
            </a:extLst>
          </p:cNvPr>
          <p:cNvGrpSpPr/>
          <p:nvPr userDrawn="1"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4" name="Google Shape;264;p1">
              <a:extLst>
                <a:ext uri="{FF2B5EF4-FFF2-40B4-BE49-F238E27FC236}">
                  <a16:creationId xmlns:a16="http://schemas.microsoft.com/office/drawing/2014/main" id="{C1E79153-A4AD-AF79-C604-839AFEFBACBF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65;p1">
              <a:extLst>
                <a:ext uri="{FF2B5EF4-FFF2-40B4-BE49-F238E27FC236}">
                  <a16:creationId xmlns:a16="http://schemas.microsoft.com/office/drawing/2014/main" id="{3B67B978-DF55-E0F9-94C7-E32F3CF73076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68;p1">
            <a:extLst>
              <a:ext uri="{FF2B5EF4-FFF2-40B4-BE49-F238E27FC236}">
                <a16:creationId xmlns:a16="http://schemas.microsoft.com/office/drawing/2014/main" id="{54147C6B-647E-AF67-5EC0-BFE62979F7B0}"/>
              </a:ext>
            </a:extLst>
          </p:cNvPr>
          <p:cNvSpPr/>
          <p:nvPr userDrawn="1"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E2D6-497E-8C52-5028-48C65D68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A3BF57A6-6A28-2252-5149-E9596FEB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9pPr>
          </a:lstStyle>
          <a:p>
            <a:fld id="{E84E0A14-FAA9-F840-8F6E-CF85F7234053}" type="slidenum">
              <a:rPr lang="en-US" altLang="x-none" smtClean="0"/>
              <a:pPr/>
              <a:t>1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45B9D261-8C85-6567-87E8-5927E10358C8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BAD8433F-375E-AA5E-E320-00DF16B2A62D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ACFF2846-256C-FA30-15EF-1B964D89676B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1E991F7A-1ACA-9F76-B49B-E7164ED46FE2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702330C8-FBC4-5CA4-11AC-348E6125577C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SCST1223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6200B972-A955-CB75-F22C-D76C7101A561}"/>
              </a:ext>
            </a:extLst>
          </p:cNvPr>
          <p:cNvSpPr txBox="1">
            <a:spLocks/>
          </p:cNvSpPr>
          <p:nvPr/>
        </p:nvSpPr>
        <p:spPr bwMode="auto">
          <a:xfrm>
            <a:off x="2208213" y="3236168"/>
            <a:ext cx="7777162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7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PART 1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54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CORRELATION ANALYSIS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D772AF11-1559-96E1-7205-5B2275C19447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51C7C212-47D8-D864-A522-5676BFABE75F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28B0BB84-93C8-2499-A2C1-5BCC5F03730D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E6309E2C-2C31-D3D9-CE01-A1B61E88A57A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62365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+mn-lt"/>
              </a:rPr>
              <a:t>What is Correlation?</a:t>
            </a:r>
          </a:p>
        </p:txBody>
      </p:sp>
      <p:sp>
        <p:nvSpPr>
          <p:cNvPr id="3075" name="Content Placeholder 4"/>
          <p:cNvSpPr>
            <a:spLocks noGrp="1"/>
          </p:cNvSpPr>
          <p:nvPr>
            <p:ph idx="1"/>
          </p:nvPr>
        </p:nvSpPr>
        <p:spPr>
          <a:xfrm>
            <a:off x="685800" y="1600200"/>
            <a:ext cx="10439400" cy="4724400"/>
          </a:xfrm>
        </p:spPr>
        <p:txBody>
          <a:bodyPr/>
          <a:lstStyle/>
          <a:p>
            <a:pPr algn="just"/>
            <a:r>
              <a:rPr lang="en-US" sz="2400" dirty="0"/>
              <a:t>The word Correlation is made of </a:t>
            </a:r>
            <a:r>
              <a:rPr lang="en-US" sz="2400" dirty="0">
                <a:solidFill>
                  <a:srgbClr val="FF0000"/>
                </a:solidFill>
              </a:rPr>
              <a:t>Co- (meaning "together"),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FF0000"/>
                </a:solidFill>
              </a:rPr>
              <a:t>Relation, </a:t>
            </a:r>
            <a:r>
              <a:rPr lang="en-US" sz="2400" dirty="0"/>
              <a:t>and it can be defined as :</a:t>
            </a:r>
          </a:p>
          <a:p>
            <a:pPr lvl="1" algn="just"/>
            <a:r>
              <a:rPr lang="en-US" sz="2000" b="1" dirty="0">
                <a:solidFill>
                  <a:srgbClr val="C00000"/>
                </a:solidFill>
              </a:rPr>
              <a:t>a measure of the statistical relationship between two comparable variables or quantities(bivariate data)</a:t>
            </a:r>
            <a:r>
              <a:rPr lang="en-US" sz="2000" b="1" dirty="0"/>
              <a:t>.</a:t>
            </a:r>
          </a:p>
          <a:p>
            <a:pPr algn="just"/>
            <a:r>
              <a:rPr lang="en-US" sz="2400" dirty="0"/>
              <a:t>When two sets of data are strongly linked together we say they have a High Correlation</a:t>
            </a:r>
          </a:p>
          <a:p>
            <a:pPr algn="just"/>
            <a:r>
              <a:rPr lang="en-US" sz="2400" dirty="0"/>
              <a:t>Correlation is Positive when the values increase together, and</a:t>
            </a:r>
          </a:p>
          <a:p>
            <a:pPr algn="just"/>
            <a:r>
              <a:rPr lang="en-US" sz="2400" dirty="0"/>
              <a:t>Correlation is Negative when one value decreases as the other increases</a:t>
            </a:r>
          </a:p>
          <a:p>
            <a:pPr algn="just"/>
            <a:r>
              <a:rPr lang="en-US" sz="2400" dirty="0"/>
              <a:t>No correlation – the value does not tend to either increase or decrease as the other increases . </a:t>
            </a:r>
          </a:p>
          <a:p>
            <a:pPr algn="just"/>
            <a:endParaRPr lang="en-US" sz="2400" dirty="0"/>
          </a:p>
        </p:txBody>
      </p:sp>
      <p:sp>
        <p:nvSpPr>
          <p:cNvPr id="307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FBB7EBB-D95A-6840-8B98-EBD74331B493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>
                <a:latin typeface="+mn-lt"/>
              </a:rPr>
              <a:t>Scatter Plots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0668000" cy="4525963"/>
          </a:xfrm>
        </p:spPr>
        <p:txBody>
          <a:bodyPr/>
          <a:lstStyle/>
          <a:p>
            <a:pPr algn="just" eaLnBrk="1" hangingPunct="1">
              <a:spcBef>
                <a:spcPct val="40000"/>
              </a:spcBef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scatter plot </a:t>
            </a:r>
            <a:r>
              <a:rPr lang="en-US" sz="2800" dirty="0"/>
              <a:t>(or scatter diagram) is used to show the relationship between two variables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sz="2800" dirty="0"/>
              <a:t>One variable is on the </a:t>
            </a:r>
            <a:r>
              <a:rPr lang="en-US" sz="2800" i="1" dirty="0"/>
              <a:t>X</a:t>
            </a:r>
            <a:r>
              <a:rPr lang="en-US" sz="2800" dirty="0"/>
              <a:t>-axis, one on the </a:t>
            </a:r>
            <a:r>
              <a:rPr lang="en-US" sz="2800" i="1" dirty="0"/>
              <a:t>Y</a:t>
            </a:r>
            <a:r>
              <a:rPr lang="en-US" sz="2800" dirty="0"/>
              <a:t>-axis</a:t>
            </a:r>
            <a:endParaRPr lang="en-US" sz="2800" b="1" dirty="0"/>
          </a:p>
          <a:p>
            <a:pPr algn="just" eaLnBrk="1" hangingPunct="1"/>
            <a:r>
              <a:rPr lang="en-US" sz="2800" dirty="0"/>
              <a:t>The pattern of data is indicative of the type of relationship between two variables:</a:t>
            </a:r>
          </a:p>
          <a:p>
            <a:pPr lvl="1" algn="just" eaLnBrk="1" hangingPunct="1"/>
            <a:r>
              <a:rPr lang="en-US" sz="2400" dirty="0"/>
              <a:t>positive relationship</a:t>
            </a:r>
          </a:p>
          <a:p>
            <a:pPr lvl="1" algn="just" eaLnBrk="1" hangingPunct="1"/>
            <a:r>
              <a:rPr lang="en-US" sz="2400" dirty="0"/>
              <a:t>negative relationship</a:t>
            </a:r>
          </a:p>
          <a:p>
            <a:pPr lvl="1" algn="just" eaLnBrk="1" hangingPunct="1"/>
            <a:r>
              <a:rPr lang="en-US" sz="2400" dirty="0"/>
              <a:t>no relationship</a:t>
            </a:r>
          </a:p>
          <a:p>
            <a:pPr lvl="1" algn="just" eaLnBrk="1" hangingPunct="1"/>
            <a:r>
              <a:rPr lang="en-US" sz="2400" dirty="0"/>
              <a:t>curvilinear relationship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92568BD-F5B9-8249-A5FF-B102C4E806DF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Scatter Plot Examples</a:t>
            </a: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325C02D-52DA-004D-9D2A-08E08FCDF08E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162" name="Rectangle 40"/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Blip>
                <a:blip r:embed="rId2"/>
              </a:buBlip>
            </a:pPr>
            <a:endParaRPr lang="en-US" b="0">
              <a:latin typeface="+mn-lt"/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2209800" y="2255838"/>
            <a:ext cx="7839074" cy="4210110"/>
            <a:chOff x="685800" y="2255838"/>
            <a:chExt cx="7839074" cy="4210110"/>
          </a:xfrm>
        </p:grpSpPr>
        <p:sp>
          <p:nvSpPr>
            <p:cNvPr id="5125" name="Line 3"/>
            <p:cNvSpPr>
              <a:spLocks noChangeShapeType="1"/>
            </p:cNvSpPr>
            <p:nvPr/>
          </p:nvSpPr>
          <p:spPr bwMode="auto">
            <a:xfrm>
              <a:off x="1143000" y="47244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26" name="Oval 4"/>
            <p:cNvSpPr>
              <a:spLocks noChangeArrowheads="1"/>
            </p:cNvSpPr>
            <p:nvPr/>
          </p:nvSpPr>
          <p:spPr bwMode="auto">
            <a:xfrm rot="-7282380">
              <a:off x="2667000" y="5867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27" name="Oval 5"/>
            <p:cNvSpPr>
              <a:spLocks noChangeArrowheads="1"/>
            </p:cNvSpPr>
            <p:nvPr/>
          </p:nvSpPr>
          <p:spPr bwMode="auto">
            <a:xfrm rot="-7282380">
              <a:off x="1371600" y="4953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 rot="-7282380">
              <a:off x="3124200" y="5791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 rot="-7282380">
              <a:off x="1752600" y="4800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0" name="Oval 8"/>
            <p:cNvSpPr>
              <a:spLocks noChangeArrowheads="1"/>
            </p:cNvSpPr>
            <p:nvPr/>
          </p:nvSpPr>
          <p:spPr bwMode="auto">
            <a:xfrm rot="-7282380">
              <a:off x="2514600" y="5486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1" name="Oval 9"/>
            <p:cNvSpPr>
              <a:spLocks noChangeArrowheads="1"/>
            </p:cNvSpPr>
            <p:nvPr/>
          </p:nvSpPr>
          <p:spPr bwMode="auto">
            <a:xfrm rot="-7282380">
              <a:off x="2819400" y="5638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2" name="Oval 10"/>
            <p:cNvSpPr>
              <a:spLocks noChangeArrowheads="1"/>
            </p:cNvSpPr>
            <p:nvPr/>
          </p:nvSpPr>
          <p:spPr bwMode="auto">
            <a:xfrm rot="-7282380">
              <a:off x="2057400" y="5029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3" name="Oval 11"/>
            <p:cNvSpPr>
              <a:spLocks noChangeArrowheads="1"/>
            </p:cNvSpPr>
            <p:nvPr/>
          </p:nvSpPr>
          <p:spPr bwMode="auto">
            <a:xfrm rot="-7282380">
              <a:off x="1295400" y="4724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4" name="Oval 12"/>
            <p:cNvSpPr>
              <a:spLocks noChangeArrowheads="1"/>
            </p:cNvSpPr>
            <p:nvPr/>
          </p:nvSpPr>
          <p:spPr bwMode="auto">
            <a:xfrm rot="-7282380">
              <a:off x="16002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5" name="Oval 13"/>
            <p:cNvSpPr>
              <a:spLocks noChangeArrowheads="1"/>
            </p:cNvSpPr>
            <p:nvPr/>
          </p:nvSpPr>
          <p:spPr bwMode="auto">
            <a:xfrm rot="-7282380">
              <a:off x="1828800" y="5334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5136" name="Oval 14"/>
            <p:cNvSpPr>
              <a:spLocks noChangeArrowheads="1"/>
            </p:cNvSpPr>
            <p:nvPr/>
          </p:nvSpPr>
          <p:spPr bwMode="auto">
            <a:xfrm rot="-7282380">
              <a:off x="2438400" y="5715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7" name="Oval 15"/>
            <p:cNvSpPr>
              <a:spLocks noChangeArrowheads="1"/>
            </p:cNvSpPr>
            <p:nvPr/>
          </p:nvSpPr>
          <p:spPr bwMode="auto">
            <a:xfrm rot="-7282380">
              <a:off x="2362200" y="5257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8" name="Oval 16"/>
            <p:cNvSpPr>
              <a:spLocks noChangeArrowheads="1"/>
            </p:cNvSpPr>
            <p:nvPr/>
          </p:nvSpPr>
          <p:spPr bwMode="auto">
            <a:xfrm rot="-7282380">
              <a:off x="2133600" y="5410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39" name="Text Box 17"/>
            <p:cNvSpPr txBox="1">
              <a:spLocks noChangeArrowheads="1"/>
            </p:cNvSpPr>
            <p:nvPr/>
          </p:nvSpPr>
          <p:spPr bwMode="auto">
            <a:xfrm>
              <a:off x="685800" y="44656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5140" name="Line 18"/>
            <p:cNvSpPr>
              <a:spLocks noChangeShapeType="1"/>
            </p:cNvSpPr>
            <p:nvPr/>
          </p:nvSpPr>
          <p:spPr bwMode="auto">
            <a:xfrm>
              <a:off x="1143000" y="61722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41" name="Text Box 19"/>
            <p:cNvSpPr txBox="1">
              <a:spLocks noChangeArrowheads="1"/>
            </p:cNvSpPr>
            <p:nvPr/>
          </p:nvSpPr>
          <p:spPr bwMode="auto">
            <a:xfrm>
              <a:off x="3405188" y="60658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5142" name="Line 20"/>
            <p:cNvSpPr>
              <a:spLocks noChangeShapeType="1"/>
            </p:cNvSpPr>
            <p:nvPr/>
          </p:nvSpPr>
          <p:spPr bwMode="auto">
            <a:xfrm flipH="1">
              <a:off x="1143000" y="2438400"/>
              <a:ext cx="0" cy="152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43" name="Oval 21"/>
            <p:cNvSpPr>
              <a:spLocks noChangeArrowheads="1"/>
            </p:cNvSpPr>
            <p:nvPr/>
          </p:nvSpPr>
          <p:spPr bwMode="auto">
            <a:xfrm rot="-7282380">
              <a:off x="1219200" y="3657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44" name="Oval 22"/>
            <p:cNvSpPr>
              <a:spLocks noChangeArrowheads="1"/>
            </p:cNvSpPr>
            <p:nvPr/>
          </p:nvSpPr>
          <p:spPr bwMode="auto">
            <a:xfrm rot="-7282380">
              <a:off x="1447800" y="3352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45" name="Oval 23"/>
            <p:cNvSpPr>
              <a:spLocks noChangeArrowheads="1"/>
            </p:cNvSpPr>
            <p:nvPr/>
          </p:nvSpPr>
          <p:spPr bwMode="auto">
            <a:xfrm rot="-7282380">
              <a:off x="3124200" y="2286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46" name="Oval 24"/>
            <p:cNvSpPr>
              <a:spLocks noChangeArrowheads="1"/>
            </p:cNvSpPr>
            <p:nvPr/>
          </p:nvSpPr>
          <p:spPr bwMode="auto">
            <a:xfrm rot="-7282380">
              <a:off x="32766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47" name="Oval 25"/>
            <p:cNvSpPr>
              <a:spLocks noChangeArrowheads="1"/>
            </p:cNvSpPr>
            <p:nvPr/>
          </p:nvSpPr>
          <p:spPr bwMode="auto">
            <a:xfrm rot="-7282380">
              <a:off x="1676400" y="3505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48" name="Oval 26"/>
            <p:cNvSpPr>
              <a:spLocks noChangeArrowheads="1"/>
            </p:cNvSpPr>
            <p:nvPr/>
          </p:nvSpPr>
          <p:spPr bwMode="auto">
            <a:xfrm rot="-7282380">
              <a:off x="28956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49" name="Oval 27"/>
            <p:cNvSpPr>
              <a:spLocks noChangeArrowheads="1"/>
            </p:cNvSpPr>
            <p:nvPr/>
          </p:nvSpPr>
          <p:spPr bwMode="auto">
            <a:xfrm rot="-7282380">
              <a:off x="2514600" y="3276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50" name="Oval 28"/>
            <p:cNvSpPr>
              <a:spLocks noChangeArrowheads="1"/>
            </p:cNvSpPr>
            <p:nvPr/>
          </p:nvSpPr>
          <p:spPr bwMode="auto">
            <a:xfrm rot="-7282380">
              <a:off x="25908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51" name="Oval 29"/>
            <p:cNvSpPr>
              <a:spLocks noChangeArrowheads="1"/>
            </p:cNvSpPr>
            <p:nvPr/>
          </p:nvSpPr>
          <p:spPr bwMode="auto">
            <a:xfrm rot="-7282380">
              <a:off x="2209800" y="2514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52" name="Oval 30"/>
            <p:cNvSpPr>
              <a:spLocks noChangeArrowheads="1"/>
            </p:cNvSpPr>
            <p:nvPr/>
          </p:nvSpPr>
          <p:spPr bwMode="auto">
            <a:xfrm rot="-7282380">
              <a:off x="1295400" y="3048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53" name="Oval 31"/>
            <p:cNvSpPr>
              <a:spLocks noChangeArrowheads="1"/>
            </p:cNvSpPr>
            <p:nvPr/>
          </p:nvSpPr>
          <p:spPr bwMode="auto">
            <a:xfrm rot="-7282380">
              <a:off x="1600200" y="2895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54" name="Oval 32"/>
            <p:cNvSpPr>
              <a:spLocks noChangeArrowheads="1"/>
            </p:cNvSpPr>
            <p:nvPr/>
          </p:nvSpPr>
          <p:spPr bwMode="auto">
            <a:xfrm rot="-7282380">
              <a:off x="1905000" y="30829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5155" name="Oval 33"/>
            <p:cNvSpPr>
              <a:spLocks noChangeArrowheads="1"/>
            </p:cNvSpPr>
            <p:nvPr/>
          </p:nvSpPr>
          <p:spPr bwMode="auto">
            <a:xfrm rot="-7282380">
              <a:off x="28194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56" name="Oval 34"/>
            <p:cNvSpPr>
              <a:spLocks noChangeArrowheads="1"/>
            </p:cNvSpPr>
            <p:nvPr/>
          </p:nvSpPr>
          <p:spPr bwMode="auto">
            <a:xfrm rot="-7282380">
              <a:off x="2286000" y="3048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57" name="Oval 35"/>
            <p:cNvSpPr>
              <a:spLocks noChangeArrowheads="1"/>
            </p:cNvSpPr>
            <p:nvPr/>
          </p:nvSpPr>
          <p:spPr bwMode="auto">
            <a:xfrm rot="-7282380">
              <a:off x="2057400" y="3352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58" name="Text Box 36"/>
            <p:cNvSpPr txBox="1">
              <a:spLocks noChangeArrowheads="1"/>
            </p:cNvSpPr>
            <p:nvPr/>
          </p:nvSpPr>
          <p:spPr bwMode="auto">
            <a:xfrm>
              <a:off x="685800" y="22558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5159" name="Line 37"/>
            <p:cNvSpPr>
              <a:spLocks noChangeShapeType="1"/>
            </p:cNvSpPr>
            <p:nvPr/>
          </p:nvSpPr>
          <p:spPr bwMode="auto">
            <a:xfrm>
              <a:off x="1143000" y="39624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60" name="Oval 38"/>
            <p:cNvSpPr>
              <a:spLocks noChangeArrowheads="1"/>
            </p:cNvSpPr>
            <p:nvPr/>
          </p:nvSpPr>
          <p:spPr bwMode="auto">
            <a:xfrm rot="-7282380">
              <a:off x="31242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61" name="Text Box 39"/>
            <p:cNvSpPr txBox="1">
              <a:spLocks noChangeArrowheads="1"/>
            </p:cNvSpPr>
            <p:nvPr/>
          </p:nvSpPr>
          <p:spPr bwMode="auto">
            <a:xfrm>
              <a:off x="3405188" y="38560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5163" name="Line 41"/>
            <p:cNvSpPr>
              <a:spLocks noChangeShapeType="1"/>
            </p:cNvSpPr>
            <p:nvPr/>
          </p:nvSpPr>
          <p:spPr bwMode="auto">
            <a:xfrm>
              <a:off x="5943600" y="47244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64" name="Oval 42"/>
            <p:cNvSpPr>
              <a:spLocks noChangeArrowheads="1"/>
            </p:cNvSpPr>
            <p:nvPr/>
          </p:nvSpPr>
          <p:spPr bwMode="auto">
            <a:xfrm rot="-7282380">
              <a:off x="6019800" y="5715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65" name="Oval 43"/>
            <p:cNvSpPr>
              <a:spLocks noChangeArrowheads="1"/>
            </p:cNvSpPr>
            <p:nvPr/>
          </p:nvSpPr>
          <p:spPr bwMode="auto">
            <a:xfrm rot="-7282380">
              <a:off x="6324600" y="5562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66" name="Oval 44"/>
            <p:cNvSpPr>
              <a:spLocks noChangeArrowheads="1"/>
            </p:cNvSpPr>
            <p:nvPr/>
          </p:nvSpPr>
          <p:spPr bwMode="auto">
            <a:xfrm rot="-7282380">
              <a:off x="7848600" y="4495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67" name="Oval 45"/>
            <p:cNvSpPr>
              <a:spLocks noChangeArrowheads="1"/>
            </p:cNvSpPr>
            <p:nvPr/>
          </p:nvSpPr>
          <p:spPr bwMode="auto">
            <a:xfrm rot="-7282380">
              <a:off x="7772400" y="4800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68" name="Oval 46"/>
            <p:cNvSpPr>
              <a:spLocks noChangeArrowheads="1"/>
            </p:cNvSpPr>
            <p:nvPr/>
          </p:nvSpPr>
          <p:spPr bwMode="auto">
            <a:xfrm rot="-7282380">
              <a:off x="6400800" y="5791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69" name="Oval 47"/>
            <p:cNvSpPr>
              <a:spLocks noChangeArrowheads="1"/>
            </p:cNvSpPr>
            <p:nvPr/>
          </p:nvSpPr>
          <p:spPr bwMode="auto">
            <a:xfrm rot="-7282380">
              <a:off x="7467600" y="4648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70" name="Oval 48"/>
            <p:cNvSpPr>
              <a:spLocks noChangeArrowheads="1"/>
            </p:cNvSpPr>
            <p:nvPr/>
          </p:nvSpPr>
          <p:spPr bwMode="auto">
            <a:xfrm rot="-7282380">
              <a:off x="7391400" y="5410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71" name="Oval 49"/>
            <p:cNvSpPr>
              <a:spLocks noChangeArrowheads="1"/>
            </p:cNvSpPr>
            <p:nvPr/>
          </p:nvSpPr>
          <p:spPr bwMode="auto">
            <a:xfrm rot="-7282380">
              <a:off x="73152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72" name="Oval 50"/>
            <p:cNvSpPr>
              <a:spLocks noChangeArrowheads="1"/>
            </p:cNvSpPr>
            <p:nvPr/>
          </p:nvSpPr>
          <p:spPr bwMode="auto">
            <a:xfrm rot="-7282380">
              <a:off x="7620000" y="4343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73" name="Oval 51"/>
            <p:cNvSpPr>
              <a:spLocks noChangeArrowheads="1"/>
            </p:cNvSpPr>
            <p:nvPr/>
          </p:nvSpPr>
          <p:spPr bwMode="auto">
            <a:xfrm rot="-7282380">
              <a:off x="6629400" y="5486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5174" name="Oval 52"/>
            <p:cNvSpPr>
              <a:spLocks noChangeArrowheads="1"/>
            </p:cNvSpPr>
            <p:nvPr/>
          </p:nvSpPr>
          <p:spPr bwMode="auto">
            <a:xfrm rot="-7282380">
              <a:off x="76200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75" name="Oval 53"/>
            <p:cNvSpPr>
              <a:spLocks noChangeArrowheads="1"/>
            </p:cNvSpPr>
            <p:nvPr/>
          </p:nvSpPr>
          <p:spPr bwMode="auto">
            <a:xfrm rot="-7282380">
              <a:off x="7010400" y="5334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76" name="Oval 54"/>
            <p:cNvSpPr>
              <a:spLocks noChangeArrowheads="1"/>
            </p:cNvSpPr>
            <p:nvPr/>
          </p:nvSpPr>
          <p:spPr bwMode="auto">
            <a:xfrm rot="-7282380">
              <a:off x="6858000" y="5638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77" name="Text Box 55"/>
            <p:cNvSpPr txBox="1">
              <a:spLocks noChangeArrowheads="1"/>
            </p:cNvSpPr>
            <p:nvPr/>
          </p:nvSpPr>
          <p:spPr bwMode="auto">
            <a:xfrm>
              <a:off x="5486400" y="44656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5178" name="Line 56"/>
            <p:cNvSpPr>
              <a:spLocks noChangeShapeType="1"/>
            </p:cNvSpPr>
            <p:nvPr/>
          </p:nvSpPr>
          <p:spPr bwMode="auto">
            <a:xfrm>
              <a:off x="5943600" y="61722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79" name="Line 57"/>
            <p:cNvSpPr>
              <a:spLocks noChangeShapeType="1"/>
            </p:cNvSpPr>
            <p:nvPr/>
          </p:nvSpPr>
          <p:spPr bwMode="auto">
            <a:xfrm flipH="1">
              <a:off x="5943600" y="2438400"/>
              <a:ext cx="0" cy="152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80" name="Oval 58"/>
            <p:cNvSpPr>
              <a:spLocks noChangeArrowheads="1"/>
            </p:cNvSpPr>
            <p:nvPr/>
          </p:nvSpPr>
          <p:spPr bwMode="auto">
            <a:xfrm rot="-7282380">
              <a:off x="6019800" y="3657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1" name="Oval 59"/>
            <p:cNvSpPr>
              <a:spLocks noChangeArrowheads="1"/>
            </p:cNvSpPr>
            <p:nvPr/>
          </p:nvSpPr>
          <p:spPr bwMode="auto">
            <a:xfrm rot="-7282380">
              <a:off x="6248400" y="3352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2" name="Oval 60"/>
            <p:cNvSpPr>
              <a:spLocks noChangeArrowheads="1"/>
            </p:cNvSpPr>
            <p:nvPr/>
          </p:nvSpPr>
          <p:spPr bwMode="auto">
            <a:xfrm rot="-7282380">
              <a:off x="8153400" y="3200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3" name="Oval 61"/>
            <p:cNvSpPr>
              <a:spLocks noChangeArrowheads="1"/>
            </p:cNvSpPr>
            <p:nvPr/>
          </p:nvSpPr>
          <p:spPr bwMode="auto">
            <a:xfrm rot="-7282380">
              <a:off x="7696200" y="2590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4" name="Oval 62"/>
            <p:cNvSpPr>
              <a:spLocks noChangeArrowheads="1"/>
            </p:cNvSpPr>
            <p:nvPr/>
          </p:nvSpPr>
          <p:spPr bwMode="auto">
            <a:xfrm rot="-7282380">
              <a:off x="66294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5" name="Oval 63"/>
            <p:cNvSpPr>
              <a:spLocks noChangeArrowheads="1"/>
            </p:cNvSpPr>
            <p:nvPr/>
          </p:nvSpPr>
          <p:spPr bwMode="auto">
            <a:xfrm rot="-7282380">
              <a:off x="8153400" y="3505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6" name="Oval 64"/>
            <p:cNvSpPr>
              <a:spLocks noChangeArrowheads="1"/>
            </p:cNvSpPr>
            <p:nvPr/>
          </p:nvSpPr>
          <p:spPr bwMode="auto">
            <a:xfrm rot="-7282380">
              <a:off x="7848600" y="3276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7" name="Oval 65"/>
            <p:cNvSpPr>
              <a:spLocks noChangeArrowheads="1"/>
            </p:cNvSpPr>
            <p:nvPr/>
          </p:nvSpPr>
          <p:spPr bwMode="auto">
            <a:xfrm rot="-7282380">
              <a:off x="7391400" y="2743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8" name="Oval 66"/>
            <p:cNvSpPr>
              <a:spLocks noChangeArrowheads="1"/>
            </p:cNvSpPr>
            <p:nvPr/>
          </p:nvSpPr>
          <p:spPr bwMode="auto">
            <a:xfrm rot="-7282380">
              <a:off x="7010400" y="2590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89" name="Oval 67"/>
            <p:cNvSpPr>
              <a:spLocks noChangeArrowheads="1"/>
            </p:cNvSpPr>
            <p:nvPr/>
          </p:nvSpPr>
          <p:spPr bwMode="auto">
            <a:xfrm rot="-7282380">
              <a:off x="6172200" y="3048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90" name="Oval 68"/>
            <p:cNvSpPr>
              <a:spLocks noChangeArrowheads="1"/>
            </p:cNvSpPr>
            <p:nvPr/>
          </p:nvSpPr>
          <p:spPr bwMode="auto">
            <a:xfrm rot="-7282380">
              <a:off x="6400800" y="2895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91" name="Oval 69"/>
            <p:cNvSpPr>
              <a:spLocks noChangeArrowheads="1"/>
            </p:cNvSpPr>
            <p:nvPr/>
          </p:nvSpPr>
          <p:spPr bwMode="auto">
            <a:xfrm rot="-7282380">
              <a:off x="6705600" y="30829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5192" name="Oval 70"/>
            <p:cNvSpPr>
              <a:spLocks noChangeArrowheads="1"/>
            </p:cNvSpPr>
            <p:nvPr/>
          </p:nvSpPr>
          <p:spPr bwMode="auto">
            <a:xfrm rot="-7282380">
              <a:off x="76200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93" name="Oval 71"/>
            <p:cNvSpPr>
              <a:spLocks noChangeArrowheads="1"/>
            </p:cNvSpPr>
            <p:nvPr/>
          </p:nvSpPr>
          <p:spPr bwMode="auto">
            <a:xfrm rot="-7282380">
              <a:off x="7086600" y="2895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94" name="Oval 72"/>
            <p:cNvSpPr>
              <a:spLocks noChangeArrowheads="1"/>
            </p:cNvSpPr>
            <p:nvPr/>
          </p:nvSpPr>
          <p:spPr bwMode="auto">
            <a:xfrm rot="-7282380">
              <a:off x="7315200" y="2438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95" name="Text Box 73"/>
            <p:cNvSpPr txBox="1">
              <a:spLocks noChangeArrowheads="1"/>
            </p:cNvSpPr>
            <p:nvPr/>
          </p:nvSpPr>
          <p:spPr bwMode="auto">
            <a:xfrm>
              <a:off x="5486400" y="22558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5196" name="Line 74"/>
            <p:cNvSpPr>
              <a:spLocks noChangeShapeType="1"/>
            </p:cNvSpPr>
            <p:nvPr/>
          </p:nvSpPr>
          <p:spPr bwMode="auto">
            <a:xfrm>
              <a:off x="5943600" y="39624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97" name="Oval 75"/>
            <p:cNvSpPr>
              <a:spLocks noChangeArrowheads="1"/>
            </p:cNvSpPr>
            <p:nvPr/>
          </p:nvSpPr>
          <p:spPr bwMode="auto">
            <a:xfrm rot="-7282380">
              <a:off x="79248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5198" name="Text Box 76"/>
            <p:cNvSpPr txBox="1">
              <a:spLocks noChangeArrowheads="1"/>
            </p:cNvSpPr>
            <p:nvPr/>
          </p:nvSpPr>
          <p:spPr bwMode="auto">
            <a:xfrm>
              <a:off x="8205788" y="38560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5199" name="Text Box 77"/>
            <p:cNvSpPr txBox="1">
              <a:spLocks noChangeArrowheads="1"/>
            </p:cNvSpPr>
            <p:nvPr/>
          </p:nvSpPr>
          <p:spPr bwMode="auto">
            <a:xfrm>
              <a:off x="8229600" y="60658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</p:grpSp>
      <p:sp>
        <p:nvSpPr>
          <p:cNvPr id="5200" name="Text Box 78"/>
          <p:cNvSpPr txBox="1">
            <a:spLocks noChangeArrowheads="1"/>
          </p:cNvSpPr>
          <p:nvPr/>
        </p:nvSpPr>
        <p:spPr bwMode="auto">
          <a:xfrm>
            <a:off x="2667000" y="1676401"/>
            <a:ext cx="2209800" cy="4095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+mn-lt"/>
              </a:rPr>
              <a:t>Linear relationships</a:t>
            </a:r>
          </a:p>
        </p:txBody>
      </p:sp>
      <p:sp>
        <p:nvSpPr>
          <p:cNvPr id="5201" name="Text Box 79"/>
          <p:cNvSpPr txBox="1">
            <a:spLocks noChangeArrowheads="1"/>
          </p:cNvSpPr>
          <p:nvPr/>
        </p:nvSpPr>
        <p:spPr bwMode="auto">
          <a:xfrm>
            <a:off x="7162800" y="1676401"/>
            <a:ext cx="2743200" cy="4095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 dirty="0">
                <a:latin typeface="+mn-lt"/>
              </a:rPr>
              <a:t>Curvilinear relationships</a:t>
            </a:r>
          </a:p>
        </p:txBody>
      </p:sp>
      <p:sp>
        <p:nvSpPr>
          <p:cNvPr id="5202" name="Line 80"/>
          <p:cNvSpPr>
            <a:spLocks noChangeShapeType="1"/>
          </p:cNvSpPr>
          <p:nvPr/>
        </p:nvSpPr>
        <p:spPr bwMode="auto">
          <a:xfrm>
            <a:off x="6172200" y="1676400"/>
            <a:ext cx="0" cy="472440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>
                <a:latin typeface="+mn-lt"/>
              </a:rPr>
              <a:t>Scatter Plot Examples</a:t>
            </a: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4995C3E-5107-F44C-8EF2-090EE3A9522C}" type="slidenum">
              <a:rPr lang="en-US" sz="1000">
                <a:solidFill>
                  <a:schemeClr val="bg1"/>
                </a:solidFill>
                <a:latin typeface="+mn-lt"/>
              </a:rPr>
              <a:pPr/>
              <a:t>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185" name="Rectangle 39"/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Blip>
                <a:blip r:embed="rId2"/>
              </a:buBlip>
            </a:pPr>
            <a:endParaRPr lang="en-US" b="0">
              <a:latin typeface="+mn-lt"/>
            </a:endParaRPr>
          </a:p>
        </p:txBody>
      </p:sp>
      <p:sp>
        <p:nvSpPr>
          <p:cNvPr id="6223" name="Text Box 77"/>
          <p:cNvSpPr txBox="1">
            <a:spLocks noChangeArrowheads="1"/>
          </p:cNvSpPr>
          <p:nvPr/>
        </p:nvSpPr>
        <p:spPr bwMode="auto">
          <a:xfrm>
            <a:off x="2667000" y="1524000"/>
            <a:ext cx="2286000" cy="40011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+mn-lt"/>
              </a:rPr>
              <a:t>Strong relationships</a:t>
            </a:r>
          </a:p>
        </p:txBody>
      </p:sp>
      <p:sp>
        <p:nvSpPr>
          <p:cNvPr id="6224" name="Text Box 78"/>
          <p:cNvSpPr txBox="1">
            <a:spLocks noChangeArrowheads="1"/>
          </p:cNvSpPr>
          <p:nvPr/>
        </p:nvSpPr>
        <p:spPr bwMode="auto">
          <a:xfrm>
            <a:off x="7543800" y="1524001"/>
            <a:ext cx="2209800" cy="4095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+mn-lt"/>
              </a:rPr>
              <a:t>Weak relationships</a:t>
            </a:r>
          </a:p>
        </p:txBody>
      </p:sp>
      <p:sp>
        <p:nvSpPr>
          <p:cNvPr id="6225" name="Line 79"/>
          <p:cNvSpPr>
            <a:spLocks noChangeShapeType="1"/>
          </p:cNvSpPr>
          <p:nvPr/>
        </p:nvSpPr>
        <p:spPr bwMode="auto">
          <a:xfrm>
            <a:off x="6172200" y="1676400"/>
            <a:ext cx="0" cy="472440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latin typeface="+mn-lt"/>
            </a:endParaRPr>
          </a:p>
        </p:txBody>
      </p:sp>
      <p:sp>
        <p:nvSpPr>
          <p:cNvPr id="6226" name="Text Box 80"/>
          <p:cNvSpPr txBox="1">
            <a:spLocks noChangeArrowheads="1"/>
          </p:cNvSpPr>
          <p:nvPr/>
        </p:nvSpPr>
        <p:spPr bwMode="auto">
          <a:xfrm>
            <a:off x="8991601" y="914400"/>
            <a:ext cx="13694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chemeClr val="tx2"/>
                </a:solidFill>
                <a:latin typeface="+mn-lt"/>
              </a:rPr>
              <a:t>(continued)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2209800" y="2057400"/>
            <a:ext cx="8001000" cy="4408548"/>
            <a:chOff x="685800" y="2057400"/>
            <a:chExt cx="8001000" cy="4408548"/>
          </a:xfrm>
        </p:grpSpPr>
        <p:sp>
          <p:nvSpPr>
            <p:cNvPr id="6149" name="Line 3"/>
            <p:cNvSpPr>
              <a:spLocks noChangeShapeType="1"/>
            </p:cNvSpPr>
            <p:nvPr/>
          </p:nvSpPr>
          <p:spPr bwMode="auto">
            <a:xfrm>
              <a:off x="1143000" y="47244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50" name="Oval 4"/>
            <p:cNvSpPr>
              <a:spLocks noChangeArrowheads="1"/>
            </p:cNvSpPr>
            <p:nvPr/>
          </p:nvSpPr>
          <p:spPr bwMode="auto">
            <a:xfrm rot="-7282380">
              <a:off x="2743200" y="5791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1" name="Oval 5"/>
            <p:cNvSpPr>
              <a:spLocks noChangeArrowheads="1"/>
            </p:cNvSpPr>
            <p:nvPr/>
          </p:nvSpPr>
          <p:spPr bwMode="auto">
            <a:xfrm rot="-7282380">
              <a:off x="1371600" y="4953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 rot="-7282380">
              <a:off x="3124200" y="5791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 rot="-7282380">
              <a:off x="1752600" y="4800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4" name="Oval 8"/>
            <p:cNvSpPr>
              <a:spLocks noChangeArrowheads="1"/>
            </p:cNvSpPr>
            <p:nvPr/>
          </p:nvSpPr>
          <p:spPr bwMode="auto">
            <a:xfrm rot="-7282380">
              <a:off x="2514600" y="5486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5" name="Oval 9"/>
            <p:cNvSpPr>
              <a:spLocks noChangeArrowheads="1"/>
            </p:cNvSpPr>
            <p:nvPr/>
          </p:nvSpPr>
          <p:spPr bwMode="auto">
            <a:xfrm rot="-7282380">
              <a:off x="2819400" y="5638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6" name="Oval 10"/>
            <p:cNvSpPr>
              <a:spLocks noChangeArrowheads="1"/>
            </p:cNvSpPr>
            <p:nvPr/>
          </p:nvSpPr>
          <p:spPr bwMode="auto">
            <a:xfrm rot="-7282380">
              <a:off x="21336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7" name="Oval 11"/>
            <p:cNvSpPr>
              <a:spLocks noChangeArrowheads="1"/>
            </p:cNvSpPr>
            <p:nvPr/>
          </p:nvSpPr>
          <p:spPr bwMode="auto">
            <a:xfrm rot="-7282380">
              <a:off x="1295400" y="4724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8" name="Oval 12"/>
            <p:cNvSpPr>
              <a:spLocks noChangeArrowheads="1"/>
            </p:cNvSpPr>
            <p:nvPr/>
          </p:nvSpPr>
          <p:spPr bwMode="auto">
            <a:xfrm rot="-7282380">
              <a:off x="16002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59" name="Oval 13"/>
            <p:cNvSpPr>
              <a:spLocks noChangeArrowheads="1"/>
            </p:cNvSpPr>
            <p:nvPr/>
          </p:nvSpPr>
          <p:spPr bwMode="auto">
            <a:xfrm rot="-7282380">
              <a:off x="1905000" y="5181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6160" name="Oval 14"/>
            <p:cNvSpPr>
              <a:spLocks noChangeArrowheads="1"/>
            </p:cNvSpPr>
            <p:nvPr/>
          </p:nvSpPr>
          <p:spPr bwMode="auto">
            <a:xfrm rot="-7282380">
              <a:off x="2438400" y="5715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61" name="Oval 15"/>
            <p:cNvSpPr>
              <a:spLocks noChangeArrowheads="1"/>
            </p:cNvSpPr>
            <p:nvPr/>
          </p:nvSpPr>
          <p:spPr bwMode="auto">
            <a:xfrm rot="-7282380">
              <a:off x="2362200" y="5257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62" name="Oval 16"/>
            <p:cNvSpPr>
              <a:spLocks noChangeArrowheads="1"/>
            </p:cNvSpPr>
            <p:nvPr/>
          </p:nvSpPr>
          <p:spPr bwMode="auto">
            <a:xfrm rot="-7282380">
              <a:off x="2133600" y="5410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63" name="Text Box 17"/>
            <p:cNvSpPr txBox="1">
              <a:spLocks noChangeArrowheads="1"/>
            </p:cNvSpPr>
            <p:nvPr/>
          </p:nvSpPr>
          <p:spPr bwMode="auto">
            <a:xfrm>
              <a:off x="685800" y="44656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6164" name="Line 18"/>
            <p:cNvSpPr>
              <a:spLocks noChangeShapeType="1"/>
            </p:cNvSpPr>
            <p:nvPr/>
          </p:nvSpPr>
          <p:spPr bwMode="auto">
            <a:xfrm>
              <a:off x="1143000" y="61722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65" name="Text Box 19"/>
            <p:cNvSpPr txBox="1">
              <a:spLocks noChangeArrowheads="1"/>
            </p:cNvSpPr>
            <p:nvPr/>
          </p:nvSpPr>
          <p:spPr bwMode="auto">
            <a:xfrm>
              <a:off x="3405188" y="60658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6166" name="Line 20"/>
            <p:cNvSpPr>
              <a:spLocks noChangeShapeType="1"/>
            </p:cNvSpPr>
            <p:nvPr/>
          </p:nvSpPr>
          <p:spPr bwMode="auto">
            <a:xfrm flipH="1">
              <a:off x="1143000" y="2438400"/>
              <a:ext cx="0" cy="152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67" name="Oval 21"/>
            <p:cNvSpPr>
              <a:spLocks noChangeArrowheads="1"/>
            </p:cNvSpPr>
            <p:nvPr/>
          </p:nvSpPr>
          <p:spPr bwMode="auto">
            <a:xfrm rot="-7282380">
              <a:off x="1219200" y="3657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68" name="Oval 22"/>
            <p:cNvSpPr>
              <a:spLocks noChangeArrowheads="1"/>
            </p:cNvSpPr>
            <p:nvPr/>
          </p:nvSpPr>
          <p:spPr bwMode="auto">
            <a:xfrm rot="-7282380">
              <a:off x="1447800" y="3352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69" name="Oval 23"/>
            <p:cNvSpPr>
              <a:spLocks noChangeArrowheads="1"/>
            </p:cNvSpPr>
            <p:nvPr/>
          </p:nvSpPr>
          <p:spPr bwMode="auto">
            <a:xfrm rot="-7282380">
              <a:off x="3124200" y="2286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0" name="Oval 24"/>
            <p:cNvSpPr>
              <a:spLocks noChangeArrowheads="1"/>
            </p:cNvSpPr>
            <p:nvPr/>
          </p:nvSpPr>
          <p:spPr bwMode="auto">
            <a:xfrm rot="-7282380">
              <a:off x="32766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1" name="Oval 25"/>
            <p:cNvSpPr>
              <a:spLocks noChangeArrowheads="1"/>
            </p:cNvSpPr>
            <p:nvPr/>
          </p:nvSpPr>
          <p:spPr bwMode="auto">
            <a:xfrm rot="-7282380">
              <a:off x="1676400" y="3505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2" name="Oval 26"/>
            <p:cNvSpPr>
              <a:spLocks noChangeArrowheads="1"/>
            </p:cNvSpPr>
            <p:nvPr/>
          </p:nvSpPr>
          <p:spPr bwMode="auto">
            <a:xfrm rot="-7282380">
              <a:off x="3429000" y="2438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3" name="Oval 27"/>
            <p:cNvSpPr>
              <a:spLocks noChangeArrowheads="1"/>
            </p:cNvSpPr>
            <p:nvPr/>
          </p:nvSpPr>
          <p:spPr bwMode="auto">
            <a:xfrm rot="-7282380">
              <a:off x="25908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4" name="Oval 28"/>
            <p:cNvSpPr>
              <a:spLocks noChangeArrowheads="1"/>
            </p:cNvSpPr>
            <p:nvPr/>
          </p:nvSpPr>
          <p:spPr bwMode="auto">
            <a:xfrm rot="-7282380">
              <a:off x="25908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5" name="Oval 29"/>
            <p:cNvSpPr>
              <a:spLocks noChangeArrowheads="1"/>
            </p:cNvSpPr>
            <p:nvPr/>
          </p:nvSpPr>
          <p:spPr bwMode="auto">
            <a:xfrm rot="-7282380">
              <a:off x="29718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6" name="Oval 30"/>
            <p:cNvSpPr>
              <a:spLocks noChangeArrowheads="1"/>
            </p:cNvSpPr>
            <p:nvPr/>
          </p:nvSpPr>
          <p:spPr bwMode="auto">
            <a:xfrm rot="-7282380">
              <a:off x="2286000" y="2819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7" name="Oval 31"/>
            <p:cNvSpPr>
              <a:spLocks noChangeArrowheads="1"/>
            </p:cNvSpPr>
            <p:nvPr/>
          </p:nvSpPr>
          <p:spPr bwMode="auto">
            <a:xfrm rot="-7282380">
              <a:off x="1676400" y="3200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78" name="Oval 32"/>
            <p:cNvSpPr>
              <a:spLocks noChangeArrowheads="1"/>
            </p:cNvSpPr>
            <p:nvPr/>
          </p:nvSpPr>
          <p:spPr bwMode="auto">
            <a:xfrm rot="-7282380">
              <a:off x="1905000" y="30829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6179" name="Oval 33"/>
            <p:cNvSpPr>
              <a:spLocks noChangeArrowheads="1"/>
            </p:cNvSpPr>
            <p:nvPr/>
          </p:nvSpPr>
          <p:spPr bwMode="auto">
            <a:xfrm rot="-7282380">
              <a:off x="28194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80" name="Oval 34"/>
            <p:cNvSpPr>
              <a:spLocks noChangeArrowheads="1"/>
            </p:cNvSpPr>
            <p:nvPr/>
          </p:nvSpPr>
          <p:spPr bwMode="auto">
            <a:xfrm rot="-7282380">
              <a:off x="2286000" y="3048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81" name="Oval 35"/>
            <p:cNvSpPr>
              <a:spLocks noChangeArrowheads="1"/>
            </p:cNvSpPr>
            <p:nvPr/>
          </p:nvSpPr>
          <p:spPr bwMode="auto">
            <a:xfrm rot="-7282380">
              <a:off x="2057400" y="3352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82" name="Text Box 36"/>
            <p:cNvSpPr txBox="1">
              <a:spLocks noChangeArrowheads="1"/>
            </p:cNvSpPr>
            <p:nvPr/>
          </p:nvSpPr>
          <p:spPr bwMode="auto">
            <a:xfrm>
              <a:off x="685800" y="22558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6183" name="Line 37"/>
            <p:cNvSpPr>
              <a:spLocks noChangeShapeType="1"/>
            </p:cNvSpPr>
            <p:nvPr/>
          </p:nvSpPr>
          <p:spPr bwMode="auto">
            <a:xfrm>
              <a:off x="1143000" y="39624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84" name="Text Box 38"/>
            <p:cNvSpPr txBox="1">
              <a:spLocks noChangeArrowheads="1"/>
            </p:cNvSpPr>
            <p:nvPr/>
          </p:nvSpPr>
          <p:spPr bwMode="auto">
            <a:xfrm>
              <a:off x="3405188" y="38560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6186" name="Line 40"/>
            <p:cNvSpPr>
              <a:spLocks noChangeShapeType="1"/>
            </p:cNvSpPr>
            <p:nvPr/>
          </p:nvSpPr>
          <p:spPr bwMode="auto">
            <a:xfrm>
              <a:off x="5943600" y="47244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87" name="Oval 41"/>
            <p:cNvSpPr>
              <a:spLocks noChangeArrowheads="1"/>
            </p:cNvSpPr>
            <p:nvPr/>
          </p:nvSpPr>
          <p:spPr bwMode="auto">
            <a:xfrm rot="-7282380">
              <a:off x="60960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88" name="Oval 42"/>
            <p:cNvSpPr>
              <a:spLocks noChangeArrowheads="1"/>
            </p:cNvSpPr>
            <p:nvPr/>
          </p:nvSpPr>
          <p:spPr bwMode="auto">
            <a:xfrm rot="-7282380">
              <a:off x="6096000" y="4648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89" name="Oval 43"/>
            <p:cNvSpPr>
              <a:spLocks noChangeArrowheads="1"/>
            </p:cNvSpPr>
            <p:nvPr/>
          </p:nvSpPr>
          <p:spPr bwMode="auto">
            <a:xfrm rot="-7282380">
              <a:off x="6553200" y="5257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0" name="Oval 44"/>
            <p:cNvSpPr>
              <a:spLocks noChangeArrowheads="1"/>
            </p:cNvSpPr>
            <p:nvPr/>
          </p:nvSpPr>
          <p:spPr bwMode="auto">
            <a:xfrm rot="-7282380">
              <a:off x="7391400" y="5867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1" name="Oval 45"/>
            <p:cNvSpPr>
              <a:spLocks noChangeArrowheads="1"/>
            </p:cNvSpPr>
            <p:nvPr/>
          </p:nvSpPr>
          <p:spPr bwMode="auto">
            <a:xfrm rot="-7282380">
              <a:off x="6248400" y="5334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2" name="Oval 46"/>
            <p:cNvSpPr>
              <a:spLocks noChangeArrowheads="1"/>
            </p:cNvSpPr>
            <p:nvPr/>
          </p:nvSpPr>
          <p:spPr bwMode="auto">
            <a:xfrm rot="-7282380">
              <a:off x="6934200" y="4724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3" name="Oval 47"/>
            <p:cNvSpPr>
              <a:spLocks noChangeArrowheads="1"/>
            </p:cNvSpPr>
            <p:nvPr/>
          </p:nvSpPr>
          <p:spPr bwMode="auto">
            <a:xfrm rot="-7282380">
              <a:off x="7315200" y="5410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4" name="Oval 48"/>
            <p:cNvSpPr>
              <a:spLocks noChangeArrowheads="1"/>
            </p:cNvSpPr>
            <p:nvPr/>
          </p:nvSpPr>
          <p:spPr bwMode="auto">
            <a:xfrm rot="-7282380">
              <a:off x="7239000" y="5029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5" name="Oval 49"/>
            <p:cNvSpPr>
              <a:spLocks noChangeArrowheads="1"/>
            </p:cNvSpPr>
            <p:nvPr/>
          </p:nvSpPr>
          <p:spPr bwMode="auto">
            <a:xfrm rot="-7282380">
              <a:off x="6934200" y="5029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6" name="Oval 50"/>
            <p:cNvSpPr>
              <a:spLocks noChangeArrowheads="1"/>
            </p:cNvSpPr>
            <p:nvPr/>
          </p:nvSpPr>
          <p:spPr bwMode="auto">
            <a:xfrm rot="-7282380">
              <a:off x="6553200" y="4800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6197" name="Oval 51"/>
            <p:cNvSpPr>
              <a:spLocks noChangeArrowheads="1"/>
            </p:cNvSpPr>
            <p:nvPr/>
          </p:nvSpPr>
          <p:spPr bwMode="auto">
            <a:xfrm rot="-7282380">
              <a:off x="7543800" y="5029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8" name="Oval 52"/>
            <p:cNvSpPr>
              <a:spLocks noChangeArrowheads="1"/>
            </p:cNvSpPr>
            <p:nvPr/>
          </p:nvSpPr>
          <p:spPr bwMode="auto">
            <a:xfrm rot="-7282380">
              <a:off x="7010400" y="5334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199" name="Oval 53"/>
            <p:cNvSpPr>
              <a:spLocks noChangeArrowheads="1"/>
            </p:cNvSpPr>
            <p:nvPr/>
          </p:nvSpPr>
          <p:spPr bwMode="auto">
            <a:xfrm rot="-7282380">
              <a:off x="6781800" y="5715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00" name="Text Box 54"/>
            <p:cNvSpPr txBox="1">
              <a:spLocks noChangeArrowheads="1"/>
            </p:cNvSpPr>
            <p:nvPr/>
          </p:nvSpPr>
          <p:spPr bwMode="auto">
            <a:xfrm>
              <a:off x="5486400" y="44656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6201" name="Line 55"/>
            <p:cNvSpPr>
              <a:spLocks noChangeShapeType="1"/>
            </p:cNvSpPr>
            <p:nvPr/>
          </p:nvSpPr>
          <p:spPr bwMode="auto">
            <a:xfrm>
              <a:off x="5943600" y="61722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02" name="Line 56"/>
            <p:cNvSpPr>
              <a:spLocks noChangeShapeType="1"/>
            </p:cNvSpPr>
            <p:nvPr/>
          </p:nvSpPr>
          <p:spPr bwMode="auto">
            <a:xfrm flipH="1">
              <a:off x="5943600" y="2438400"/>
              <a:ext cx="0" cy="152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03" name="Oval 57"/>
            <p:cNvSpPr>
              <a:spLocks noChangeArrowheads="1"/>
            </p:cNvSpPr>
            <p:nvPr/>
          </p:nvSpPr>
          <p:spPr bwMode="auto">
            <a:xfrm rot="-7282380">
              <a:off x="7086600" y="2514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04" name="Oval 58"/>
            <p:cNvSpPr>
              <a:spLocks noChangeArrowheads="1"/>
            </p:cNvSpPr>
            <p:nvPr/>
          </p:nvSpPr>
          <p:spPr bwMode="auto">
            <a:xfrm rot="-7282380">
              <a:off x="6248400" y="3352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05" name="Oval 59"/>
            <p:cNvSpPr>
              <a:spLocks noChangeArrowheads="1"/>
            </p:cNvSpPr>
            <p:nvPr/>
          </p:nvSpPr>
          <p:spPr bwMode="auto">
            <a:xfrm rot="-7282380">
              <a:off x="7315200" y="3276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06" name="Oval 60"/>
            <p:cNvSpPr>
              <a:spLocks noChangeArrowheads="1"/>
            </p:cNvSpPr>
            <p:nvPr/>
          </p:nvSpPr>
          <p:spPr bwMode="auto">
            <a:xfrm rot="-7282380">
              <a:off x="7696200" y="2590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07" name="Oval 61"/>
            <p:cNvSpPr>
              <a:spLocks noChangeArrowheads="1"/>
            </p:cNvSpPr>
            <p:nvPr/>
          </p:nvSpPr>
          <p:spPr bwMode="auto">
            <a:xfrm rot="-7282380">
              <a:off x="6553200" y="2590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08" name="Oval 62"/>
            <p:cNvSpPr>
              <a:spLocks noChangeArrowheads="1"/>
            </p:cNvSpPr>
            <p:nvPr/>
          </p:nvSpPr>
          <p:spPr bwMode="auto">
            <a:xfrm rot="-7282380">
              <a:off x="6629400" y="3657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09" name="Oval 63"/>
            <p:cNvSpPr>
              <a:spLocks noChangeArrowheads="1"/>
            </p:cNvSpPr>
            <p:nvPr/>
          </p:nvSpPr>
          <p:spPr bwMode="auto">
            <a:xfrm rot="-7282380">
              <a:off x="6858000" y="3276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10" name="Oval 64"/>
            <p:cNvSpPr>
              <a:spLocks noChangeArrowheads="1"/>
            </p:cNvSpPr>
            <p:nvPr/>
          </p:nvSpPr>
          <p:spPr bwMode="auto">
            <a:xfrm rot="-7282380">
              <a:off x="73914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11" name="Oval 65"/>
            <p:cNvSpPr>
              <a:spLocks noChangeArrowheads="1"/>
            </p:cNvSpPr>
            <p:nvPr/>
          </p:nvSpPr>
          <p:spPr bwMode="auto">
            <a:xfrm rot="-7282380">
              <a:off x="6858000" y="2286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12" name="Oval 66"/>
            <p:cNvSpPr>
              <a:spLocks noChangeArrowheads="1"/>
            </p:cNvSpPr>
            <p:nvPr/>
          </p:nvSpPr>
          <p:spPr bwMode="auto">
            <a:xfrm rot="-7282380">
              <a:off x="6248400" y="3048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13" name="Oval 67"/>
            <p:cNvSpPr>
              <a:spLocks noChangeArrowheads="1"/>
            </p:cNvSpPr>
            <p:nvPr/>
          </p:nvSpPr>
          <p:spPr bwMode="auto">
            <a:xfrm rot="-7282380">
              <a:off x="6172200" y="2590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14" name="Oval 68"/>
            <p:cNvSpPr>
              <a:spLocks noChangeArrowheads="1"/>
            </p:cNvSpPr>
            <p:nvPr/>
          </p:nvSpPr>
          <p:spPr bwMode="auto">
            <a:xfrm rot="-7282380">
              <a:off x="67056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6215" name="Oval 69"/>
            <p:cNvSpPr>
              <a:spLocks noChangeArrowheads="1"/>
            </p:cNvSpPr>
            <p:nvPr/>
          </p:nvSpPr>
          <p:spPr bwMode="auto">
            <a:xfrm rot="-7282380">
              <a:off x="76200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16" name="Oval 70"/>
            <p:cNvSpPr>
              <a:spLocks noChangeArrowheads="1"/>
            </p:cNvSpPr>
            <p:nvPr/>
          </p:nvSpPr>
          <p:spPr bwMode="auto">
            <a:xfrm rot="-7282380">
              <a:off x="7086600" y="2895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17" name="Oval 71"/>
            <p:cNvSpPr>
              <a:spLocks noChangeArrowheads="1"/>
            </p:cNvSpPr>
            <p:nvPr/>
          </p:nvSpPr>
          <p:spPr bwMode="auto">
            <a:xfrm rot="-7282380">
              <a:off x="7315200" y="2133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18" name="Text Box 72"/>
            <p:cNvSpPr txBox="1">
              <a:spLocks noChangeArrowheads="1"/>
            </p:cNvSpPr>
            <p:nvPr/>
          </p:nvSpPr>
          <p:spPr bwMode="auto">
            <a:xfrm>
              <a:off x="5486400" y="22558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6219" name="Line 73"/>
            <p:cNvSpPr>
              <a:spLocks noChangeShapeType="1"/>
            </p:cNvSpPr>
            <p:nvPr/>
          </p:nvSpPr>
          <p:spPr bwMode="auto">
            <a:xfrm>
              <a:off x="5943600" y="39624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20" name="Oval 74"/>
            <p:cNvSpPr>
              <a:spLocks noChangeArrowheads="1"/>
            </p:cNvSpPr>
            <p:nvPr/>
          </p:nvSpPr>
          <p:spPr bwMode="auto">
            <a:xfrm rot="-7282380">
              <a:off x="8153400" y="2362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21" name="Text Box 75"/>
            <p:cNvSpPr txBox="1">
              <a:spLocks noChangeArrowheads="1"/>
            </p:cNvSpPr>
            <p:nvPr/>
          </p:nvSpPr>
          <p:spPr bwMode="auto">
            <a:xfrm>
              <a:off x="8205788" y="38560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6222" name="Text Box 76"/>
            <p:cNvSpPr txBox="1">
              <a:spLocks noChangeArrowheads="1"/>
            </p:cNvSpPr>
            <p:nvPr/>
          </p:nvSpPr>
          <p:spPr bwMode="auto">
            <a:xfrm>
              <a:off x="8229600" y="60658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6227" name="Oval 81"/>
            <p:cNvSpPr>
              <a:spLocks noChangeArrowheads="1"/>
            </p:cNvSpPr>
            <p:nvPr/>
          </p:nvSpPr>
          <p:spPr bwMode="auto">
            <a:xfrm rot="-7282380">
              <a:off x="8001000" y="2819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28" name="Oval 82"/>
            <p:cNvSpPr>
              <a:spLocks noChangeArrowheads="1"/>
            </p:cNvSpPr>
            <p:nvPr/>
          </p:nvSpPr>
          <p:spPr bwMode="auto">
            <a:xfrm rot="-7282380">
              <a:off x="7848600" y="2209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29" name="Oval 83"/>
            <p:cNvSpPr>
              <a:spLocks noChangeArrowheads="1"/>
            </p:cNvSpPr>
            <p:nvPr/>
          </p:nvSpPr>
          <p:spPr bwMode="auto">
            <a:xfrm rot="-7282380">
              <a:off x="7620000" y="5562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30" name="Oval 84"/>
            <p:cNvSpPr>
              <a:spLocks noChangeArrowheads="1"/>
            </p:cNvSpPr>
            <p:nvPr/>
          </p:nvSpPr>
          <p:spPr bwMode="auto">
            <a:xfrm rot="-7282380">
              <a:off x="8001000" y="5257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31" name="Oval 85"/>
            <p:cNvSpPr>
              <a:spLocks noChangeArrowheads="1"/>
            </p:cNvSpPr>
            <p:nvPr/>
          </p:nvSpPr>
          <p:spPr bwMode="auto">
            <a:xfrm rot="-7282380">
              <a:off x="7848600" y="4953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32" name="Oval 86"/>
            <p:cNvSpPr>
              <a:spLocks noChangeArrowheads="1"/>
            </p:cNvSpPr>
            <p:nvPr/>
          </p:nvSpPr>
          <p:spPr bwMode="auto">
            <a:xfrm rot="-7282380">
              <a:off x="8001000" y="5638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33" name="Oval 87"/>
            <p:cNvSpPr>
              <a:spLocks noChangeArrowheads="1"/>
            </p:cNvSpPr>
            <p:nvPr/>
          </p:nvSpPr>
          <p:spPr bwMode="auto">
            <a:xfrm rot="-7282380">
              <a:off x="7315200" y="4724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34" name="Oval 88"/>
            <p:cNvSpPr>
              <a:spLocks noChangeArrowheads="1"/>
            </p:cNvSpPr>
            <p:nvPr/>
          </p:nvSpPr>
          <p:spPr bwMode="auto">
            <a:xfrm rot="-7282380">
              <a:off x="6629400" y="4343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6235" name="Line 89"/>
            <p:cNvSpPr>
              <a:spLocks noChangeShapeType="1"/>
            </p:cNvSpPr>
            <p:nvPr/>
          </p:nvSpPr>
          <p:spPr bwMode="auto">
            <a:xfrm flipV="1">
              <a:off x="1219200" y="2209800"/>
              <a:ext cx="20574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36" name="Line 90"/>
            <p:cNvSpPr>
              <a:spLocks noChangeShapeType="1"/>
            </p:cNvSpPr>
            <p:nvPr/>
          </p:nvSpPr>
          <p:spPr bwMode="auto">
            <a:xfrm flipV="1">
              <a:off x="1752600" y="2667000"/>
              <a:ext cx="20574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37" name="Line 91"/>
            <p:cNvSpPr>
              <a:spLocks noChangeShapeType="1"/>
            </p:cNvSpPr>
            <p:nvPr/>
          </p:nvSpPr>
          <p:spPr bwMode="auto">
            <a:xfrm flipV="1">
              <a:off x="5943600" y="2057400"/>
              <a:ext cx="1143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38" name="Line 92"/>
            <p:cNvSpPr>
              <a:spLocks noChangeShapeType="1"/>
            </p:cNvSpPr>
            <p:nvPr/>
          </p:nvSpPr>
          <p:spPr bwMode="auto">
            <a:xfrm flipV="1">
              <a:off x="7010400" y="2895600"/>
              <a:ext cx="16764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39" name="Line 93"/>
            <p:cNvSpPr>
              <a:spLocks noChangeShapeType="1"/>
            </p:cNvSpPr>
            <p:nvPr/>
          </p:nvSpPr>
          <p:spPr bwMode="auto">
            <a:xfrm>
              <a:off x="1600200" y="4572000"/>
              <a:ext cx="1905000" cy="137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40" name="Line 94"/>
            <p:cNvSpPr>
              <a:spLocks noChangeShapeType="1"/>
            </p:cNvSpPr>
            <p:nvPr/>
          </p:nvSpPr>
          <p:spPr bwMode="auto">
            <a:xfrm>
              <a:off x="1143000" y="4953000"/>
              <a:ext cx="16764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41" name="Line 95"/>
            <p:cNvSpPr>
              <a:spLocks noChangeShapeType="1"/>
            </p:cNvSpPr>
            <p:nvPr/>
          </p:nvSpPr>
          <p:spPr bwMode="auto">
            <a:xfrm>
              <a:off x="7086600" y="4267200"/>
              <a:ext cx="15240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42" name="Line 96"/>
            <p:cNvSpPr>
              <a:spLocks noChangeShapeType="1"/>
            </p:cNvSpPr>
            <p:nvPr/>
          </p:nvSpPr>
          <p:spPr bwMode="auto">
            <a:xfrm>
              <a:off x="5943600" y="5486400"/>
              <a:ext cx="990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Scatter Plot Examples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1CF7E81-3E2D-7949-853E-0594BE29923E}" type="slidenum">
              <a:rPr lang="en-US" sz="1000">
                <a:solidFill>
                  <a:schemeClr val="bg1"/>
                </a:solidFill>
                <a:latin typeface="+mn-lt"/>
              </a:rPr>
              <a:pPr/>
              <a:t>6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209" name="Rectangle 39"/>
          <p:cNvSpPr>
            <a:spLocks noChangeArrowheads="1"/>
          </p:cNvSpPr>
          <p:nvPr/>
        </p:nvSpPr>
        <p:spPr bwMode="auto">
          <a:xfrm>
            <a:off x="5867400" y="13716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Blip>
                <a:blip r:embed="rId2"/>
              </a:buBlip>
            </a:pPr>
            <a:endParaRPr lang="en-US" b="0">
              <a:latin typeface="+mn-lt"/>
            </a:endParaRPr>
          </a:p>
        </p:txBody>
      </p:sp>
      <p:sp>
        <p:nvSpPr>
          <p:cNvPr id="7210" name="Text Box 40"/>
          <p:cNvSpPr txBox="1">
            <a:spLocks noChangeArrowheads="1"/>
          </p:cNvSpPr>
          <p:nvPr/>
        </p:nvSpPr>
        <p:spPr bwMode="auto">
          <a:xfrm>
            <a:off x="5029200" y="1524001"/>
            <a:ext cx="2133600" cy="4095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 dirty="0">
                <a:latin typeface="+mn-lt"/>
              </a:rPr>
              <a:t>No relationship</a:t>
            </a:r>
          </a:p>
        </p:txBody>
      </p:sp>
      <p:sp>
        <p:nvSpPr>
          <p:cNvPr id="7211" name="Text Box 41"/>
          <p:cNvSpPr txBox="1">
            <a:spLocks noChangeArrowheads="1"/>
          </p:cNvSpPr>
          <p:nvPr/>
        </p:nvSpPr>
        <p:spPr bwMode="auto">
          <a:xfrm>
            <a:off x="8991601" y="1219200"/>
            <a:ext cx="13694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>
                <a:solidFill>
                  <a:schemeClr val="tx2"/>
                </a:solidFill>
                <a:latin typeface="+mn-lt"/>
              </a:rPr>
              <a:t>(continued)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495800" y="2133600"/>
            <a:ext cx="3014662" cy="4256148"/>
            <a:chOff x="2971800" y="2133600"/>
            <a:chExt cx="3014662" cy="4256148"/>
          </a:xfrm>
        </p:grpSpPr>
        <p:sp>
          <p:nvSpPr>
            <p:cNvPr id="7173" name="Line 3"/>
            <p:cNvSpPr>
              <a:spLocks noChangeShapeType="1"/>
            </p:cNvSpPr>
            <p:nvPr/>
          </p:nvSpPr>
          <p:spPr bwMode="auto">
            <a:xfrm>
              <a:off x="3429000" y="46482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174" name="Oval 4"/>
            <p:cNvSpPr>
              <a:spLocks noChangeArrowheads="1"/>
            </p:cNvSpPr>
            <p:nvPr/>
          </p:nvSpPr>
          <p:spPr bwMode="auto">
            <a:xfrm rot="-7282380">
              <a:off x="5486400" y="5181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75" name="Oval 5"/>
            <p:cNvSpPr>
              <a:spLocks noChangeArrowheads="1"/>
            </p:cNvSpPr>
            <p:nvPr/>
          </p:nvSpPr>
          <p:spPr bwMode="auto">
            <a:xfrm rot="-7282380">
              <a:off x="38862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 rot="-7282380">
              <a:off x="5410200" y="4953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 rot="-7282380">
              <a:off x="4114800" y="4876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78" name="Oval 8"/>
            <p:cNvSpPr>
              <a:spLocks noChangeArrowheads="1"/>
            </p:cNvSpPr>
            <p:nvPr/>
          </p:nvSpPr>
          <p:spPr bwMode="auto">
            <a:xfrm rot="-7282380">
              <a:off x="5029200" y="4876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79" name="Oval 9"/>
            <p:cNvSpPr>
              <a:spLocks noChangeArrowheads="1"/>
            </p:cNvSpPr>
            <p:nvPr/>
          </p:nvSpPr>
          <p:spPr bwMode="auto">
            <a:xfrm rot="-7282380">
              <a:off x="51816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80" name="Oval 10"/>
            <p:cNvSpPr>
              <a:spLocks noChangeArrowheads="1"/>
            </p:cNvSpPr>
            <p:nvPr/>
          </p:nvSpPr>
          <p:spPr bwMode="auto">
            <a:xfrm rot="-7282380">
              <a:off x="4419600" y="5029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81" name="Oval 11"/>
            <p:cNvSpPr>
              <a:spLocks noChangeArrowheads="1"/>
            </p:cNvSpPr>
            <p:nvPr/>
          </p:nvSpPr>
          <p:spPr bwMode="auto">
            <a:xfrm rot="-7282380">
              <a:off x="35052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82" name="Oval 12"/>
            <p:cNvSpPr>
              <a:spLocks noChangeArrowheads="1"/>
            </p:cNvSpPr>
            <p:nvPr/>
          </p:nvSpPr>
          <p:spPr bwMode="auto">
            <a:xfrm rot="-7282380">
              <a:off x="3733800" y="4876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83" name="Oval 13"/>
            <p:cNvSpPr>
              <a:spLocks noChangeArrowheads="1"/>
            </p:cNvSpPr>
            <p:nvPr/>
          </p:nvSpPr>
          <p:spPr bwMode="auto">
            <a:xfrm rot="-7282380">
              <a:off x="4191000" y="5105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7184" name="Oval 14"/>
            <p:cNvSpPr>
              <a:spLocks noChangeArrowheads="1"/>
            </p:cNvSpPr>
            <p:nvPr/>
          </p:nvSpPr>
          <p:spPr bwMode="auto">
            <a:xfrm rot="-7282380">
              <a:off x="4876800" y="5181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85" name="Oval 15"/>
            <p:cNvSpPr>
              <a:spLocks noChangeArrowheads="1"/>
            </p:cNvSpPr>
            <p:nvPr/>
          </p:nvSpPr>
          <p:spPr bwMode="auto">
            <a:xfrm rot="-7282380">
              <a:off x="4648200" y="4953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86" name="Oval 16"/>
            <p:cNvSpPr>
              <a:spLocks noChangeArrowheads="1"/>
            </p:cNvSpPr>
            <p:nvPr/>
          </p:nvSpPr>
          <p:spPr bwMode="auto">
            <a:xfrm rot="-7282380">
              <a:off x="4572000" y="5181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87" name="Text Box 17"/>
            <p:cNvSpPr txBox="1">
              <a:spLocks noChangeArrowheads="1"/>
            </p:cNvSpPr>
            <p:nvPr/>
          </p:nvSpPr>
          <p:spPr bwMode="auto">
            <a:xfrm>
              <a:off x="2971800" y="43894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7188" name="Line 18"/>
            <p:cNvSpPr>
              <a:spLocks noChangeShapeType="1"/>
            </p:cNvSpPr>
            <p:nvPr/>
          </p:nvSpPr>
          <p:spPr bwMode="auto">
            <a:xfrm>
              <a:off x="3429000" y="60960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189" name="Text Box 19"/>
            <p:cNvSpPr txBox="1">
              <a:spLocks noChangeArrowheads="1"/>
            </p:cNvSpPr>
            <p:nvPr/>
          </p:nvSpPr>
          <p:spPr bwMode="auto">
            <a:xfrm>
              <a:off x="5691188" y="59896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7190" name="Line 20"/>
            <p:cNvSpPr>
              <a:spLocks noChangeShapeType="1"/>
            </p:cNvSpPr>
            <p:nvPr/>
          </p:nvSpPr>
          <p:spPr bwMode="auto">
            <a:xfrm flipH="1">
              <a:off x="3429000" y="2362200"/>
              <a:ext cx="0" cy="152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191" name="Oval 21"/>
            <p:cNvSpPr>
              <a:spLocks noChangeArrowheads="1"/>
            </p:cNvSpPr>
            <p:nvPr/>
          </p:nvSpPr>
          <p:spPr bwMode="auto">
            <a:xfrm rot="-7282380">
              <a:off x="4876800" y="2133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92" name="Oval 22"/>
            <p:cNvSpPr>
              <a:spLocks noChangeArrowheads="1"/>
            </p:cNvSpPr>
            <p:nvPr/>
          </p:nvSpPr>
          <p:spPr bwMode="auto">
            <a:xfrm rot="-7282380">
              <a:off x="3581400" y="3048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93" name="Oval 23"/>
            <p:cNvSpPr>
              <a:spLocks noChangeArrowheads="1"/>
            </p:cNvSpPr>
            <p:nvPr/>
          </p:nvSpPr>
          <p:spPr bwMode="auto">
            <a:xfrm rot="-7282380">
              <a:off x="5410200" y="3276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94" name="Oval 24"/>
            <p:cNvSpPr>
              <a:spLocks noChangeArrowheads="1"/>
            </p:cNvSpPr>
            <p:nvPr/>
          </p:nvSpPr>
          <p:spPr bwMode="auto">
            <a:xfrm rot="-7282380">
              <a:off x="5562600" y="2590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95" name="Oval 25"/>
            <p:cNvSpPr>
              <a:spLocks noChangeArrowheads="1"/>
            </p:cNvSpPr>
            <p:nvPr/>
          </p:nvSpPr>
          <p:spPr bwMode="auto">
            <a:xfrm rot="-7282380">
              <a:off x="3962400" y="3429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96" name="Oval 26"/>
            <p:cNvSpPr>
              <a:spLocks noChangeArrowheads="1"/>
            </p:cNvSpPr>
            <p:nvPr/>
          </p:nvSpPr>
          <p:spPr bwMode="auto">
            <a:xfrm rot="-7282380">
              <a:off x="4114800" y="2209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97" name="Oval 27"/>
            <p:cNvSpPr>
              <a:spLocks noChangeArrowheads="1"/>
            </p:cNvSpPr>
            <p:nvPr/>
          </p:nvSpPr>
          <p:spPr bwMode="auto">
            <a:xfrm rot="-7282380">
              <a:off x="4876800" y="2895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98" name="Oval 28"/>
            <p:cNvSpPr>
              <a:spLocks noChangeArrowheads="1"/>
            </p:cNvSpPr>
            <p:nvPr/>
          </p:nvSpPr>
          <p:spPr bwMode="auto">
            <a:xfrm rot="-7282380">
              <a:off x="5029200" y="2438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199" name="Oval 29"/>
            <p:cNvSpPr>
              <a:spLocks noChangeArrowheads="1"/>
            </p:cNvSpPr>
            <p:nvPr/>
          </p:nvSpPr>
          <p:spPr bwMode="auto">
            <a:xfrm rot="-7282380">
              <a:off x="5486400" y="2286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200" name="Oval 30"/>
            <p:cNvSpPr>
              <a:spLocks noChangeArrowheads="1"/>
            </p:cNvSpPr>
            <p:nvPr/>
          </p:nvSpPr>
          <p:spPr bwMode="auto">
            <a:xfrm rot="-7282380">
              <a:off x="4572000" y="2438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201" name="Oval 31"/>
            <p:cNvSpPr>
              <a:spLocks noChangeArrowheads="1"/>
            </p:cNvSpPr>
            <p:nvPr/>
          </p:nvSpPr>
          <p:spPr bwMode="auto">
            <a:xfrm rot="-7282380">
              <a:off x="3962400" y="3124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202" name="Oval 32"/>
            <p:cNvSpPr>
              <a:spLocks noChangeArrowheads="1"/>
            </p:cNvSpPr>
            <p:nvPr/>
          </p:nvSpPr>
          <p:spPr bwMode="auto">
            <a:xfrm rot="-7282380">
              <a:off x="4191000" y="2743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7203" name="Oval 33"/>
            <p:cNvSpPr>
              <a:spLocks noChangeArrowheads="1"/>
            </p:cNvSpPr>
            <p:nvPr/>
          </p:nvSpPr>
          <p:spPr bwMode="auto">
            <a:xfrm rot="-7282380">
              <a:off x="5181600" y="3429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204" name="Oval 34"/>
            <p:cNvSpPr>
              <a:spLocks noChangeArrowheads="1"/>
            </p:cNvSpPr>
            <p:nvPr/>
          </p:nvSpPr>
          <p:spPr bwMode="auto">
            <a:xfrm rot="-7282380">
              <a:off x="45720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205" name="Oval 35"/>
            <p:cNvSpPr>
              <a:spLocks noChangeArrowheads="1"/>
            </p:cNvSpPr>
            <p:nvPr/>
          </p:nvSpPr>
          <p:spPr bwMode="auto">
            <a:xfrm rot="-7282380">
              <a:off x="4343400" y="3276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206" name="Text Box 36"/>
            <p:cNvSpPr txBox="1">
              <a:spLocks noChangeArrowheads="1"/>
            </p:cNvSpPr>
            <p:nvPr/>
          </p:nvSpPr>
          <p:spPr bwMode="auto">
            <a:xfrm>
              <a:off x="2971800" y="2179638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y</a:t>
              </a:r>
            </a:p>
          </p:txBody>
        </p:sp>
        <p:sp>
          <p:nvSpPr>
            <p:cNvPr id="7207" name="Line 37"/>
            <p:cNvSpPr>
              <a:spLocks noChangeShapeType="1"/>
            </p:cNvSpPr>
            <p:nvPr/>
          </p:nvSpPr>
          <p:spPr bwMode="auto">
            <a:xfrm>
              <a:off x="3429000" y="38862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208" name="Text Box 38"/>
            <p:cNvSpPr txBox="1">
              <a:spLocks noChangeArrowheads="1"/>
            </p:cNvSpPr>
            <p:nvPr/>
          </p:nvSpPr>
          <p:spPr bwMode="auto">
            <a:xfrm>
              <a:off x="5691188" y="3779838"/>
              <a:ext cx="29527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>
                  <a:latin typeface="+mn-lt"/>
                </a:rPr>
                <a:t>x</a:t>
              </a:r>
            </a:p>
          </p:txBody>
        </p:sp>
        <p:sp>
          <p:nvSpPr>
            <p:cNvPr id="7212" name="Oval 42"/>
            <p:cNvSpPr>
              <a:spLocks noChangeArrowheads="1"/>
            </p:cNvSpPr>
            <p:nvPr/>
          </p:nvSpPr>
          <p:spPr bwMode="auto">
            <a:xfrm rot="-7282380">
              <a:off x="36576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213" name="Oval 43"/>
            <p:cNvSpPr>
              <a:spLocks noChangeArrowheads="1"/>
            </p:cNvSpPr>
            <p:nvPr/>
          </p:nvSpPr>
          <p:spPr bwMode="auto">
            <a:xfrm rot="-7282380">
              <a:off x="4800600" y="3429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7214" name="Oval 44"/>
            <p:cNvSpPr>
              <a:spLocks noChangeArrowheads="1"/>
            </p:cNvSpPr>
            <p:nvPr/>
          </p:nvSpPr>
          <p:spPr bwMode="auto">
            <a:xfrm rot="-7282380">
              <a:off x="5257800" y="2819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Correlation Analysis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9601200" cy="4525963"/>
          </a:xfrm>
        </p:spPr>
        <p:txBody>
          <a:bodyPr/>
          <a:lstStyle/>
          <a:p>
            <a:pPr algn="just" eaLnBrk="1" hangingPunct="1">
              <a:spcBef>
                <a:spcPct val="40000"/>
              </a:spcBef>
            </a:pPr>
            <a:r>
              <a:rPr lang="en-US" dirty="0">
                <a:solidFill>
                  <a:schemeClr val="folHlink"/>
                </a:solidFill>
              </a:rPr>
              <a:t>Correlation</a:t>
            </a:r>
            <a:r>
              <a:rPr lang="en-US" dirty="0"/>
              <a:t> analysis is used to measure strength of the association </a:t>
            </a:r>
            <a:r>
              <a:rPr lang="en-US" b="1" dirty="0"/>
              <a:t>(linear relationship</a:t>
            </a:r>
            <a:r>
              <a:rPr lang="en-US" dirty="0"/>
              <a:t>) between two variables</a:t>
            </a:r>
          </a:p>
          <a:p>
            <a:pPr lvl="1" algn="just" eaLnBrk="1" hangingPunct="1">
              <a:spcBef>
                <a:spcPct val="40000"/>
              </a:spcBef>
            </a:pPr>
            <a:r>
              <a:rPr lang="en-US" dirty="0"/>
              <a:t>Only concerned with strength of the relationship </a:t>
            </a:r>
          </a:p>
          <a:p>
            <a:pPr lvl="1" algn="just" eaLnBrk="1" hangingPunct="1">
              <a:spcBef>
                <a:spcPct val="40000"/>
              </a:spcBef>
            </a:pPr>
            <a:r>
              <a:rPr lang="en-US" dirty="0"/>
              <a:t>No causal effect is implied</a:t>
            </a:r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4403112-88D1-BA40-8D07-3B853246162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7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Correlation Coefficient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1"/>
            <a:ext cx="9677400" cy="4525963"/>
          </a:xfrm>
        </p:spPr>
        <p:txBody>
          <a:bodyPr/>
          <a:lstStyle/>
          <a:p>
            <a:pPr algn="just" eaLnBrk="1" hangingPunct="1"/>
            <a:r>
              <a:rPr lang="en-US" sz="2800" dirty="0"/>
              <a:t>A correlation coefficient is a numerical assessment of the strength of relationship between the </a:t>
            </a:r>
            <a:r>
              <a:rPr lang="en-US" sz="2800" i="1" dirty="0"/>
              <a:t>x</a:t>
            </a:r>
            <a:r>
              <a:rPr lang="en-US" sz="2800" dirty="0"/>
              <a:t> and </a:t>
            </a:r>
            <a:r>
              <a:rPr lang="en-US" sz="2800" i="1" dirty="0"/>
              <a:t>y</a:t>
            </a:r>
            <a:r>
              <a:rPr lang="en-US" sz="2800" dirty="0"/>
              <a:t> values in a set of (</a:t>
            </a:r>
            <a:r>
              <a:rPr lang="en-US" sz="2800" i="1" dirty="0" err="1"/>
              <a:t>x,y</a:t>
            </a:r>
            <a:r>
              <a:rPr lang="en-US" sz="2800" dirty="0"/>
              <a:t>) pairs.</a:t>
            </a:r>
          </a:p>
          <a:p>
            <a:pPr algn="just" eaLnBrk="1" hangingPunct="1"/>
            <a:r>
              <a:rPr lang="en-US" sz="2800" dirty="0"/>
              <a:t>The </a:t>
            </a:r>
            <a:r>
              <a:rPr lang="en-US" sz="2800" b="1" dirty="0">
                <a:solidFill>
                  <a:schemeClr val="accent2"/>
                </a:solidFill>
              </a:rPr>
              <a:t>population correlation coefficient </a:t>
            </a:r>
            <a:r>
              <a:rPr lang="el-GR" sz="2800" b="1" i="1" dirty="0">
                <a:solidFill>
                  <a:schemeClr val="accent2"/>
                </a:solidFill>
                <a:cs typeface="Arial" charset="0"/>
              </a:rPr>
              <a:t>ρ</a:t>
            </a:r>
            <a:r>
              <a:rPr lang="en-US" sz="2800" dirty="0"/>
              <a:t> (rho) measures the strength of the association between the variables.</a:t>
            </a:r>
            <a:endParaRPr lang="en-US" sz="800" dirty="0"/>
          </a:p>
          <a:p>
            <a:pPr algn="just" eaLnBrk="1" hangingPunct="1"/>
            <a:r>
              <a:rPr lang="en-US" sz="2800" dirty="0"/>
              <a:t>The </a:t>
            </a:r>
            <a:r>
              <a:rPr lang="en-US" sz="2800" b="1" dirty="0">
                <a:solidFill>
                  <a:schemeClr val="accent2"/>
                </a:solidFill>
              </a:rPr>
              <a:t>sample correlation coefficient  </a:t>
            </a:r>
            <a:r>
              <a:rPr lang="en-US" sz="2800" b="1" i="1" dirty="0">
                <a:solidFill>
                  <a:schemeClr val="accent2"/>
                </a:solidFill>
              </a:rPr>
              <a:t>r</a:t>
            </a:r>
            <a:r>
              <a:rPr lang="en-US" sz="2800" dirty="0"/>
              <a:t>  is an estimate of  </a:t>
            </a:r>
            <a:r>
              <a:rPr lang="el-GR" sz="2800" i="1" dirty="0">
                <a:cs typeface="Arial" charset="0"/>
              </a:rPr>
              <a:t>ρ</a:t>
            </a:r>
            <a:r>
              <a:rPr lang="en-US" sz="2800" i="1" dirty="0"/>
              <a:t> </a:t>
            </a:r>
            <a:r>
              <a:rPr lang="en-US" sz="2800" dirty="0"/>
              <a:t>and is used to measure the strength of the </a:t>
            </a:r>
            <a:r>
              <a:rPr lang="en-US" sz="2800" b="1" dirty="0"/>
              <a:t>linear relationship</a:t>
            </a:r>
            <a:r>
              <a:rPr lang="en-US" sz="2800" dirty="0"/>
              <a:t> in the sample observations.</a:t>
            </a:r>
          </a:p>
          <a:p>
            <a:pPr algn="just" eaLnBrk="1" hangingPunct="1"/>
            <a:endParaRPr lang="en-US" sz="1800" dirty="0"/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C5A4AA4-AAA2-D34A-87FE-110CEDB854DF}" type="slidenum">
              <a:rPr lang="en-US" sz="1000">
                <a:solidFill>
                  <a:schemeClr val="bg1"/>
                </a:solidFill>
                <a:latin typeface="+mn-lt"/>
              </a:rPr>
              <a:pPr/>
              <a:t>8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Properties of </a:t>
            </a:r>
            <a:r>
              <a:rPr lang="en-US" sz="4400" i="1" dirty="0">
                <a:latin typeface="+mn-lt"/>
              </a:rPr>
              <a:t>r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1"/>
            <a:ext cx="9525000" cy="4525963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altLang="en-US" dirty="0">
                <a:ea typeface="+mn-ea"/>
              </a:rPr>
              <a:t>The value of </a:t>
            </a:r>
            <a:r>
              <a:rPr lang="en-US" altLang="en-US" i="1" dirty="0">
                <a:ea typeface="+mn-ea"/>
              </a:rPr>
              <a:t>r</a:t>
            </a:r>
            <a:r>
              <a:rPr lang="en-US" altLang="en-US" dirty="0">
                <a:ea typeface="+mn-ea"/>
              </a:rPr>
              <a:t> does not depend on the unit of measurement for either variable.</a:t>
            </a:r>
          </a:p>
          <a:p>
            <a:pPr algn="just" eaLnBrk="1" hangingPunct="1">
              <a:defRPr/>
            </a:pPr>
            <a:r>
              <a:rPr lang="en-US" altLang="en-US" dirty="0">
                <a:ea typeface="+mn-ea"/>
              </a:rPr>
              <a:t>The value of </a:t>
            </a:r>
            <a:r>
              <a:rPr lang="en-US" altLang="en-US" i="1" dirty="0">
                <a:ea typeface="+mn-ea"/>
              </a:rPr>
              <a:t>r</a:t>
            </a:r>
            <a:r>
              <a:rPr lang="en-US" altLang="en-US" dirty="0">
                <a:ea typeface="+mn-ea"/>
              </a:rPr>
              <a:t> does not depend on which of the two variable is considered x.</a:t>
            </a:r>
          </a:p>
          <a:p>
            <a:pPr algn="just" eaLnBrk="1" hangingPunct="1">
              <a:defRPr/>
            </a:pPr>
            <a:r>
              <a:rPr lang="en-US" altLang="en-US" dirty="0">
                <a:ea typeface="+mn-ea"/>
              </a:rPr>
              <a:t>The value of </a:t>
            </a:r>
            <a:r>
              <a:rPr lang="en-US" altLang="en-US" i="1" dirty="0">
                <a:ea typeface="+mn-ea"/>
              </a:rPr>
              <a:t>r</a:t>
            </a:r>
            <a:r>
              <a:rPr lang="en-US" altLang="en-US" dirty="0">
                <a:ea typeface="+mn-ea"/>
              </a:rPr>
              <a:t> is between -1 and 1.</a:t>
            </a:r>
          </a:p>
          <a:p>
            <a:pPr marL="0" indent="0" algn="just" eaLnBrk="1" hangingPunct="1">
              <a:buNone/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FFCA12B-149A-DB4B-B1E6-221A2D2AA396}" type="slidenum">
              <a:rPr lang="en-US" sz="1000">
                <a:solidFill>
                  <a:schemeClr val="bg1"/>
                </a:solidFill>
                <a:latin typeface="+mn-lt"/>
              </a:rPr>
              <a:pPr/>
              <a:t>9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Properties of </a:t>
            </a:r>
            <a:r>
              <a:rPr lang="en-US" sz="4400" i="1" dirty="0">
                <a:latin typeface="+mn-lt"/>
              </a:rPr>
              <a:t>r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1"/>
            <a:ext cx="9677400" cy="4525963"/>
          </a:xfrm>
        </p:spPr>
        <p:txBody>
          <a:bodyPr/>
          <a:lstStyle/>
          <a:p>
            <a:pPr algn="just" eaLnBrk="1" hangingPunct="1"/>
            <a:r>
              <a:rPr lang="en-US" sz="2800" dirty="0"/>
              <a:t>The value of </a:t>
            </a:r>
            <a:r>
              <a:rPr lang="en-US" sz="2800" i="1" dirty="0"/>
              <a:t>r</a:t>
            </a:r>
            <a:r>
              <a:rPr lang="en-US" sz="2800" dirty="0"/>
              <a:t> is a measure of the extent to which </a:t>
            </a:r>
            <a:r>
              <a:rPr lang="en-US" sz="2800" i="1" dirty="0"/>
              <a:t>x</a:t>
            </a:r>
            <a:r>
              <a:rPr lang="en-US" sz="2800" dirty="0"/>
              <a:t> and </a:t>
            </a:r>
            <a:r>
              <a:rPr lang="en-US" sz="2800" i="1" dirty="0"/>
              <a:t>y</a:t>
            </a:r>
            <a:r>
              <a:rPr lang="en-US" sz="2800" dirty="0"/>
              <a:t> are linearly related.</a:t>
            </a:r>
          </a:p>
          <a:p>
            <a:pPr algn="just" eaLnBrk="1" hangingPunct="1"/>
            <a:r>
              <a:rPr lang="en-US" sz="2800" dirty="0"/>
              <a:t>Number represents the </a:t>
            </a:r>
            <a:r>
              <a:rPr lang="en-US" sz="2800" u="sng" dirty="0"/>
              <a:t>strength</a:t>
            </a:r>
            <a:r>
              <a:rPr lang="en-US" sz="2800" dirty="0"/>
              <a:t> of the relationship</a:t>
            </a:r>
          </a:p>
          <a:p>
            <a:pPr algn="just" eaLnBrk="1" hangingPunct="1"/>
            <a:r>
              <a:rPr lang="en-US" sz="2800" dirty="0"/>
              <a:t>Sign (+ or -) represents the </a:t>
            </a:r>
            <a:r>
              <a:rPr lang="en-US" sz="2800" u="sng" dirty="0"/>
              <a:t>direction</a:t>
            </a:r>
            <a:r>
              <a:rPr lang="en-US" sz="2800" dirty="0"/>
              <a:t> of the relationship (positive or negative)</a:t>
            </a:r>
          </a:p>
          <a:p>
            <a:pPr lvl="1" algn="just" eaLnBrk="1" hangingPunct="1"/>
            <a:r>
              <a:rPr lang="en-US" sz="2400" dirty="0"/>
              <a:t>Positive values denote positive linear correlation</a:t>
            </a:r>
          </a:p>
          <a:p>
            <a:pPr lvl="1" algn="just" eaLnBrk="1" hangingPunct="1"/>
            <a:r>
              <a:rPr lang="en-US" sz="2400" dirty="0"/>
              <a:t>Negative values denote negative linear correlation</a:t>
            </a:r>
          </a:p>
          <a:p>
            <a:pPr lvl="1" algn="just" eaLnBrk="1" hangingPunct="1"/>
            <a:r>
              <a:rPr lang="en-US" sz="2400" dirty="0"/>
              <a:t>A value of 0 denotes no linear correlation</a:t>
            </a:r>
          </a:p>
          <a:p>
            <a:pPr algn="just" eaLnBrk="1" hangingPunct="1"/>
            <a:r>
              <a:rPr lang="en-US" sz="2800" dirty="0">
                <a:solidFill>
                  <a:srgbClr val="006600"/>
                </a:solidFill>
              </a:rPr>
              <a:t>Example: correlation of -0.87 is considered stronger than correlation of 0.56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E129E9A-0960-944C-9E5B-9479E02FF54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10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Properties of </a:t>
            </a:r>
            <a:r>
              <a:rPr lang="en-US" sz="4400" i="1" dirty="0">
                <a:latin typeface="+mn-lt"/>
              </a:rPr>
              <a:t>r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1"/>
            <a:ext cx="9525000" cy="4525963"/>
          </a:xfrm>
        </p:spPr>
        <p:txBody>
          <a:bodyPr/>
          <a:lstStyle/>
          <a:p>
            <a:pPr algn="just" eaLnBrk="1" hangingPunct="1"/>
            <a:r>
              <a:rPr lang="en-US" dirty="0"/>
              <a:t>The correlation coefficient </a:t>
            </a:r>
            <a:r>
              <a:rPr lang="en-US" i="1" dirty="0"/>
              <a:t>r</a:t>
            </a:r>
            <a:r>
              <a:rPr lang="en-US" dirty="0"/>
              <a:t> = 1 only when all the points in a scatterplot of the data lie exactly on a straight line that slopes upward. (Perfect positive correlation)</a:t>
            </a:r>
          </a:p>
          <a:p>
            <a:pPr algn="just" eaLnBrk="1" hangingPunct="1"/>
            <a:r>
              <a:rPr lang="en-US" dirty="0"/>
              <a:t>Similarly, </a:t>
            </a:r>
            <a:r>
              <a:rPr lang="en-US" i="1" dirty="0"/>
              <a:t>r</a:t>
            </a:r>
            <a:r>
              <a:rPr lang="en-US" dirty="0"/>
              <a:t> = -1 only when all the points lie exactly on a downward-sloping line. (Perfect negative correlation)</a:t>
            </a:r>
          </a:p>
          <a:p>
            <a:pPr algn="just" eaLnBrk="1" hangingPunct="1"/>
            <a:r>
              <a:rPr lang="en-US" dirty="0"/>
              <a:t>Coefficient usually not “perfect”</a:t>
            </a:r>
          </a:p>
          <a:p>
            <a:pPr algn="just" eaLnBrk="1" hangingPunct="1">
              <a:buFontTx/>
              <a:buNone/>
            </a:pPr>
            <a:endParaRPr lang="en-US" dirty="0"/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841E9E7-2D9C-2745-8FB0-54862A9E359E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11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Properties of </a:t>
            </a:r>
            <a:r>
              <a:rPr lang="en-US" sz="4400" i="1" dirty="0">
                <a:latin typeface="+mn-lt"/>
              </a:rPr>
              <a:t>r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1"/>
            <a:ext cx="9525000" cy="4525963"/>
          </a:xfrm>
        </p:spPr>
        <p:txBody>
          <a:bodyPr/>
          <a:lstStyle/>
          <a:p>
            <a:pPr algn="just" eaLnBrk="1" hangingPunct="1"/>
            <a:r>
              <a:rPr lang="en-US" dirty="0"/>
              <a:t>The closer to -1, the stronger the negative linear relationship.</a:t>
            </a:r>
          </a:p>
          <a:p>
            <a:pPr algn="just" eaLnBrk="1" hangingPunct="1"/>
            <a:r>
              <a:rPr lang="en-US" dirty="0"/>
              <a:t>The closer to 1, the stronger the positive linear relationship.</a:t>
            </a:r>
          </a:p>
          <a:p>
            <a:pPr algn="just" eaLnBrk="1" hangingPunct="1"/>
            <a:r>
              <a:rPr lang="en-US" dirty="0"/>
              <a:t>The closer to 0, the weaker the linear relationship.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9855A40-B9C6-7F48-BF4C-E361979BC0E5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12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Properties of </a:t>
            </a:r>
            <a:r>
              <a:rPr lang="en-US" sz="4400" i="1" dirty="0">
                <a:latin typeface="+mn-lt"/>
              </a:rPr>
              <a:t>r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1"/>
            <a:ext cx="9372600" cy="4525963"/>
          </a:xfrm>
        </p:spPr>
        <p:txBody>
          <a:bodyPr/>
          <a:lstStyle/>
          <a:p>
            <a:pPr eaLnBrk="1" hangingPunct="1"/>
            <a:r>
              <a:rPr lang="en-US" dirty="0"/>
              <a:t>Measure the strength of a linear relationship.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936057E-6B27-804B-A53A-43E9679125B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13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172201" y="2590800"/>
            <a:ext cx="9594254" cy="2057400"/>
            <a:chOff x="533400" y="2895600"/>
            <a:chExt cx="8172883" cy="1752600"/>
          </a:xfrm>
        </p:grpSpPr>
        <p:sp>
          <p:nvSpPr>
            <p:cNvPr id="14342" name="Line 4"/>
            <p:cNvSpPr>
              <a:spLocks noChangeShapeType="1"/>
            </p:cNvSpPr>
            <p:nvPr/>
          </p:nvSpPr>
          <p:spPr bwMode="auto">
            <a:xfrm>
              <a:off x="762000" y="3962400"/>
              <a:ext cx="7696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343" name="Line 5"/>
            <p:cNvSpPr>
              <a:spLocks noChangeShapeType="1"/>
            </p:cNvSpPr>
            <p:nvPr/>
          </p:nvSpPr>
          <p:spPr bwMode="auto">
            <a:xfrm>
              <a:off x="762000" y="38100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344" name="Line 6"/>
            <p:cNvSpPr>
              <a:spLocks noChangeShapeType="1"/>
            </p:cNvSpPr>
            <p:nvPr/>
          </p:nvSpPr>
          <p:spPr bwMode="auto">
            <a:xfrm>
              <a:off x="8458200" y="3810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345" name="Line 7"/>
            <p:cNvSpPr>
              <a:spLocks noChangeShapeType="1"/>
            </p:cNvSpPr>
            <p:nvPr/>
          </p:nvSpPr>
          <p:spPr bwMode="auto">
            <a:xfrm>
              <a:off x="4572000" y="3810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346" name="Line 8"/>
            <p:cNvSpPr>
              <a:spLocks noChangeShapeType="1"/>
            </p:cNvSpPr>
            <p:nvPr/>
          </p:nvSpPr>
          <p:spPr bwMode="auto">
            <a:xfrm>
              <a:off x="2667000" y="3810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347" name="Line 9"/>
            <p:cNvSpPr>
              <a:spLocks noChangeShapeType="1"/>
            </p:cNvSpPr>
            <p:nvPr/>
          </p:nvSpPr>
          <p:spPr bwMode="auto">
            <a:xfrm>
              <a:off x="6553200" y="3810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348" name="Text Box 10"/>
            <p:cNvSpPr txBox="1">
              <a:spLocks noChangeArrowheads="1"/>
            </p:cNvSpPr>
            <p:nvPr/>
          </p:nvSpPr>
          <p:spPr bwMode="auto">
            <a:xfrm>
              <a:off x="609600" y="4186535"/>
              <a:ext cx="43473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</a:rPr>
                <a:t>-1</a:t>
              </a:r>
            </a:p>
          </p:txBody>
        </p:sp>
        <p:sp>
          <p:nvSpPr>
            <p:cNvPr id="14349" name="Text Box 11"/>
            <p:cNvSpPr txBox="1">
              <a:spLocks noChangeArrowheads="1"/>
            </p:cNvSpPr>
            <p:nvPr/>
          </p:nvSpPr>
          <p:spPr bwMode="auto">
            <a:xfrm>
              <a:off x="2362200" y="4186535"/>
              <a:ext cx="6671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-0.5</a:t>
              </a:r>
            </a:p>
          </p:txBody>
        </p:sp>
        <p:sp>
          <p:nvSpPr>
            <p:cNvPr id="14350" name="Text Box 12"/>
            <p:cNvSpPr txBox="1">
              <a:spLocks noChangeArrowheads="1"/>
            </p:cNvSpPr>
            <p:nvPr/>
          </p:nvSpPr>
          <p:spPr bwMode="auto">
            <a:xfrm>
              <a:off x="4419600" y="4186535"/>
              <a:ext cx="3401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0</a:t>
              </a:r>
            </a:p>
          </p:txBody>
        </p:sp>
        <p:sp>
          <p:nvSpPr>
            <p:cNvPr id="14351" name="Text Box 13"/>
            <p:cNvSpPr txBox="1">
              <a:spLocks noChangeArrowheads="1"/>
            </p:cNvSpPr>
            <p:nvPr/>
          </p:nvSpPr>
          <p:spPr bwMode="auto">
            <a:xfrm>
              <a:off x="6248400" y="4186535"/>
              <a:ext cx="5725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0.5</a:t>
              </a:r>
            </a:p>
          </p:txBody>
        </p:sp>
        <p:sp>
          <p:nvSpPr>
            <p:cNvPr id="14352" name="Text Box 14"/>
            <p:cNvSpPr txBox="1">
              <a:spLocks noChangeArrowheads="1"/>
            </p:cNvSpPr>
            <p:nvPr/>
          </p:nvSpPr>
          <p:spPr bwMode="auto">
            <a:xfrm>
              <a:off x="8366125" y="4150023"/>
              <a:ext cx="3401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1</a:t>
              </a:r>
            </a:p>
          </p:txBody>
        </p:sp>
        <p:sp>
          <p:nvSpPr>
            <p:cNvPr id="14353" name="Line 15"/>
            <p:cNvSpPr>
              <a:spLocks noChangeShapeType="1"/>
            </p:cNvSpPr>
            <p:nvPr/>
          </p:nvSpPr>
          <p:spPr bwMode="auto">
            <a:xfrm>
              <a:off x="1371600" y="38100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354" name="Line 16"/>
            <p:cNvSpPr>
              <a:spLocks noChangeShapeType="1"/>
            </p:cNvSpPr>
            <p:nvPr/>
          </p:nvSpPr>
          <p:spPr bwMode="auto">
            <a:xfrm>
              <a:off x="7848600" y="38100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355" name="Text Box 17"/>
            <p:cNvSpPr txBox="1">
              <a:spLocks noChangeArrowheads="1"/>
            </p:cNvSpPr>
            <p:nvPr/>
          </p:nvSpPr>
          <p:spPr bwMode="auto">
            <a:xfrm>
              <a:off x="7604125" y="4150023"/>
              <a:ext cx="5725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0.8</a:t>
              </a:r>
            </a:p>
          </p:txBody>
        </p:sp>
        <p:sp>
          <p:nvSpPr>
            <p:cNvPr id="14356" name="Text Box 18"/>
            <p:cNvSpPr txBox="1">
              <a:spLocks noChangeArrowheads="1"/>
            </p:cNvSpPr>
            <p:nvPr/>
          </p:nvSpPr>
          <p:spPr bwMode="auto">
            <a:xfrm>
              <a:off x="1143000" y="4186535"/>
              <a:ext cx="6671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-0.8</a:t>
              </a:r>
            </a:p>
          </p:txBody>
        </p:sp>
        <p:sp>
          <p:nvSpPr>
            <p:cNvPr id="14357" name="AutoShape 20"/>
            <p:cNvSpPr>
              <a:spLocks/>
            </p:cNvSpPr>
            <p:nvPr/>
          </p:nvSpPr>
          <p:spPr bwMode="auto">
            <a:xfrm rot="5400000">
              <a:off x="2019300" y="2933700"/>
              <a:ext cx="76200" cy="1219200"/>
            </a:xfrm>
            <a:prstGeom prst="leftBrace">
              <a:avLst>
                <a:gd name="adj1" fmla="val 133333"/>
                <a:gd name="adj2" fmla="val 50000"/>
              </a:avLst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4358" name="AutoShape 21"/>
            <p:cNvSpPr>
              <a:spLocks/>
            </p:cNvSpPr>
            <p:nvPr/>
          </p:nvSpPr>
          <p:spPr bwMode="auto">
            <a:xfrm rot="5400000">
              <a:off x="8115300" y="3238500"/>
              <a:ext cx="76200" cy="609600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28575">
              <a:solidFill>
                <a:srgbClr val="AE32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4359" name="AutoShape 22"/>
            <p:cNvSpPr>
              <a:spLocks/>
            </p:cNvSpPr>
            <p:nvPr/>
          </p:nvSpPr>
          <p:spPr bwMode="auto">
            <a:xfrm rot="5400000">
              <a:off x="1028700" y="3238500"/>
              <a:ext cx="76200" cy="609600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28575">
              <a:solidFill>
                <a:srgbClr val="AE32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4360" name="Text Box 23"/>
            <p:cNvSpPr txBox="1">
              <a:spLocks noChangeArrowheads="1"/>
            </p:cNvSpPr>
            <p:nvPr/>
          </p:nvSpPr>
          <p:spPr bwMode="auto">
            <a:xfrm>
              <a:off x="533400" y="2906713"/>
              <a:ext cx="97456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</a:rPr>
                <a:t>strong</a:t>
              </a:r>
            </a:p>
          </p:txBody>
        </p:sp>
        <p:sp>
          <p:nvSpPr>
            <p:cNvPr id="14361" name="Text Box 24"/>
            <p:cNvSpPr txBox="1">
              <a:spLocks noChangeArrowheads="1"/>
            </p:cNvSpPr>
            <p:nvPr/>
          </p:nvSpPr>
          <p:spPr bwMode="auto">
            <a:xfrm>
              <a:off x="7696200" y="2971800"/>
              <a:ext cx="97456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strong</a:t>
              </a:r>
            </a:p>
          </p:txBody>
        </p:sp>
        <p:sp>
          <p:nvSpPr>
            <p:cNvPr id="14362" name="AutoShape 25"/>
            <p:cNvSpPr>
              <a:spLocks/>
            </p:cNvSpPr>
            <p:nvPr/>
          </p:nvSpPr>
          <p:spPr bwMode="auto">
            <a:xfrm rot="5400000">
              <a:off x="7124700" y="2933700"/>
              <a:ext cx="76200" cy="1219200"/>
            </a:xfrm>
            <a:prstGeom prst="leftBrace">
              <a:avLst>
                <a:gd name="adj1" fmla="val 133333"/>
                <a:gd name="adj2" fmla="val 50000"/>
              </a:avLst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4363" name="Text Box 26"/>
            <p:cNvSpPr txBox="1">
              <a:spLocks noChangeArrowheads="1"/>
            </p:cNvSpPr>
            <p:nvPr/>
          </p:nvSpPr>
          <p:spPr bwMode="auto">
            <a:xfrm>
              <a:off x="1524000" y="2906713"/>
              <a:ext cx="14064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</a:rPr>
                <a:t>moderate</a:t>
              </a:r>
            </a:p>
          </p:txBody>
        </p:sp>
        <p:sp>
          <p:nvSpPr>
            <p:cNvPr id="14364" name="Text Box 27"/>
            <p:cNvSpPr txBox="1">
              <a:spLocks noChangeArrowheads="1"/>
            </p:cNvSpPr>
            <p:nvPr/>
          </p:nvSpPr>
          <p:spPr bwMode="auto">
            <a:xfrm>
              <a:off x="6400800" y="2971800"/>
              <a:ext cx="14064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moderate</a:t>
              </a:r>
            </a:p>
          </p:txBody>
        </p:sp>
        <p:sp>
          <p:nvSpPr>
            <p:cNvPr id="14365" name="AutoShape 28"/>
            <p:cNvSpPr>
              <a:spLocks/>
            </p:cNvSpPr>
            <p:nvPr/>
          </p:nvSpPr>
          <p:spPr bwMode="auto">
            <a:xfrm rot="5400000">
              <a:off x="4572000" y="1676400"/>
              <a:ext cx="76200" cy="3733800"/>
            </a:xfrm>
            <a:prstGeom prst="leftBrace">
              <a:avLst>
                <a:gd name="adj1" fmla="val 408333"/>
                <a:gd name="adj2" fmla="val 50000"/>
              </a:avLst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4366" name="Text Box 29"/>
            <p:cNvSpPr txBox="1">
              <a:spLocks noChangeArrowheads="1"/>
            </p:cNvSpPr>
            <p:nvPr/>
          </p:nvSpPr>
          <p:spPr bwMode="auto">
            <a:xfrm>
              <a:off x="4114800" y="2895600"/>
              <a:ext cx="84241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+mn-lt"/>
                </a:rPr>
                <a:t>weak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6" name="Rectangle 9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Examples of Approximate </a:t>
            </a:r>
            <a:br>
              <a:rPr lang="en-US" sz="4400" dirty="0">
                <a:latin typeface="+mn-lt"/>
              </a:rPr>
            </a:br>
            <a:r>
              <a:rPr lang="en-US" sz="4400" i="1" dirty="0">
                <a:latin typeface="+mn-lt"/>
              </a:rPr>
              <a:t>r</a:t>
            </a:r>
            <a:r>
              <a:rPr lang="en-US" sz="4400" dirty="0">
                <a:latin typeface="+mn-lt"/>
              </a:rPr>
              <a:t>  Values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333FAB8-BFD1-5D4F-8756-20A39AEA4E5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066800" y="2057400"/>
            <a:ext cx="9897643" cy="3434694"/>
            <a:chOff x="128588" y="1674813"/>
            <a:chExt cx="8799728" cy="3053694"/>
          </a:xfrm>
        </p:grpSpPr>
        <p:sp>
          <p:nvSpPr>
            <p:cNvPr id="15364" name="Line 5"/>
            <p:cNvSpPr>
              <a:spLocks noChangeShapeType="1"/>
            </p:cNvSpPr>
            <p:nvPr/>
          </p:nvSpPr>
          <p:spPr bwMode="auto">
            <a:xfrm flipH="1">
              <a:off x="304800" y="2286000"/>
              <a:ext cx="0" cy="152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365" name="Line 6"/>
            <p:cNvSpPr>
              <a:spLocks noChangeShapeType="1"/>
            </p:cNvSpPr>
            <p:nvPr/>
          </p:nvSpPr>
          <p:spPr bwMode="auto">
            <a:xfrm flipH="1" flipV="1">
              <a:off x="320675" y="2438400"/>
              <a:ext cx="2574925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366" name="Oval 7"/>
            <p:cNvSpPr>
              <a:spLocks noChangeArrowheads="1"/>
            </p:cNvSpPr>
            <p:nvPr/>
          </p:nvSpPr>
          <p:spPr bwMode="auto">
            <a:xfrm rot="7282380" flipH="1">
              <a:off x="2438400" y="3124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67" name="Oval 8"/>
            <p:cNvSpPr>
              <a:spLocks noChangeArrowheads="1"/>
            </p:cNvSpPr>
            <p:nvPr/>
          </p:nvSpPr>
          <p:spPr bwMode="auto">
            <a:xfrm rot="7282380" flipH="1">
              <a:off x="1828800" y="2895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68" name="Oval 9"/>
            <p:cNvSpPr>
              <a:spLocks noChangeArrowheads="1"/>
            </p:cNvSpPr>
            <p:nvPr/>
          </p:nvSpPr>
          <p:spPr bwMode="auto">
            <a:xfrm rot="7282380" flipH="1">
              <a:off x="1371600" y="2743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69" name="Oval 10"/>
            <p:cNvSpPr>
              <a:spLocks noChangeArrowheads="1"/>
            </p:cNvSpPr>
            <p:nvPr/>
          </p:nvSpPr>
          <p:spPr bwMode="auto">
            <a:xfrm rot="7282380" flipH="1">
              <a:off x="381000" y="2362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70" name="Oval 11"/>
            <p:cNvSpPr>
              <a:spLocks noChangeArrowheads="1"/>
            </p:cNvSpPr>
            <p:nvPr/>
          </p:nvSpPr>
          <p:spPr bwMode="auto">
            <a:xfrm rot="7282380" flipH="1">
              <a:off x="762000" y="2514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71" name="Oval 12"/>
            <p:cNvSpPr>
              <a:spLocks noChangeArrowheads="1"/>
            </p:cNvSpPr>
            <p:nvPr/>
          </p:nvSpPr>
          <p:spPr bwMode="auto">
            <a:xfrm rot="7282380" flipH="1">
              <a:off x="1143000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15372" name="Text Box 13"/>
            <p:cNvSpPr txBox="1">
              <a:spLocks noChangeArrowheads="1"/>
            </p:cNvSpPr>
            <p:nvPr/>
          </p:nvSpPr>
          <p:spPr bwMode="auto">
            <a:xfrm>
              <a:off x="128588" y="1751013"/>
              <a:ext cx="32252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y</a:t>
              </a:r>
            </a:p>
          </p:txBody>
        </p:sp>
        <p:sp>
          <p:nvSpPr>
            <p:cNvPr id="15373" name="Line 14"/>
            <p:cNvSpPr>
              <a:spLocks noChangeShapeType="1"/>
            </p:cNvSpPr>
            <p:nvPr/>
          </p:nvSpPr>
          <p:spPr bwMode="auto">
            <a:xfrm>
              <a:off x="304800" y="38100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374" name="Oval 15"/>
            <p:cNvSpPr>
              <a:spLocks noChangeArrowheads="1"/>
            </p:cNvSpPr>
            <p:nvPr/>
          </p:nvSpPr>
          <p:spPr bwMode="auto">
            <a:xfrm rot="7282380" flipH="1">
              <a:off x="20574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75" name="Text Box 16"/>
            <p:cNvSpPr txBox="1">
              <a:spLocks noChangeArrowheads="1"/>
            </p:cNvSpPr>
            <p:nvPr/>
          </p:nvSpPr>
          <p:spPr bwMode="auto">
            <a:xfrm>
              <a:off x="2566988" y="3579813"/>
              <a:ext cx="3177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>
                  <a:latin typeface="+mn-lt"/>
                </a:rPr>
                <a:t>x</a:t>
              </a:r>
            </a:p>
          </p:txBody>
        </p:sp>
        <p:sp>
          <p:nvSpPr>
            <p:cNvPr id="15376" name="Line 17"/>
            <p:cNvSpPr>
              <a:spLocks noChangeShapeType="1"/>
            </p:cNvSpPr>
            <p:nvPr/>
          </p:nvSpPr>
          <p:spPr bwMode="auto">
            <a:xfrm flipH="1">
              <a:off x="3352800" y="23622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377" name="Line 18"/>
            <p:cNvSpPr>
              <a:spLocks noChangeShapeType="1"/>
            </p:cNvSpPr>
            <p:nvPr/>
          </p:nvSpPr>
          <p:spPr bwMode="auto">
            <a:xfrm flipH="1" flipV="1">
              <a:off x="3362325" y="2506663"/>
              <a:ext cx="2574925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378" name="Oval 19"/>
            <p:cNvSpPr>
              <a:spLocks noChangeArrowheads="1"/>
            </p:cNvSpPr>
            <p:nvPr/>
          </p:nvSpPr>
          <p:spPr bwMode="auto">
            <a:xfrm rot="-7282380">
              <a:off x="5480050" y="34972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79" name="Oval 20"/>
            <p:cNvSpPr>
              <a:spLocks noChangeArrowheads="1"/>
            </p:cNvSpPr>
            <p:nvPr/>
          </p:nvSpPr>
          <p:spPr bwMode="auto">
            <a:xfrm rot="-7282380">
              <a:off x="5403850" y="31162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0" name="Oval 21"/>
            <p:cNvSpPr>
              <a:spLocks noChangeArrowheads="1"/>
            </p:cNvSpPr>
            <p:nvPr/>
          </p:nvSpPr>
          <p:spPr bwMode="auto">
            <a:xfrm rot="-7282380">
              <a:off x="3575050" y="21256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1" name="Oval 22"/>
            <p:cNvSpPr>
              <a:spLocks noChangeArrowheads="1"/>
            </p:cNvSpPr>
            <p:nvPr/>
          </p:nvSpPr>
          <p:spPr bwMode="auto">
            <a:xfrm rot="-7282380">
              <a:off x="3727450" y="25066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2" name="Oval 23"/>
            <p:cNvSpPr>
              <a:spLocks noChangeArrowheads="1"/>
            </p:cNvSpPr>
            <p:nvPr/>
          </p:nvSpPr>
          <p:spPr bwMode="auto">
            <a:xfrm rot="-7282380">
              <a:off x="5099050" y="33448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3" name="Oval 24"/>
            <p:cNvSpPr>
              <a:spLocks noChangeArrowheads="1"/>
            </p:cNvSpPr>
            <p:nvPr/>
          </p:nvSpPr>
          <p:spPr bwMode="auto">
            <a:xfrm rot="-7282380">
              <a:off x="3422650" y="28114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4" name="Oval 25"/>
            <p:cNvSpPr>
              <a:spLocks noChangeArrowheads="1"/>
            </p:cNvSpPr>
            <p:nvPr/>
          </p:nvSpPr>
          <p:spPr bwMode="auto">
            <a:xfrm rot="-7282380">
              <a:off x="4718050" y="31162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5" name="Oval 26"/>
            <p:cNvSpPr>
              <a:spLocks noChangeArrowheads="1"/>
            </p:cNvSpPr>
            <p:nvPr/>
          </p:nvSpPr>
          <p:spPr bwMode="auto">
            <a:xfrm rot="-7282380">
              <a:off x="4184650" y="25066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6" name="Oval 27"/>
            <p:cNvSpPr>
              <a:spLocks noChangeArrowheads="1"/>
            </p:cNvSpPr>
            <p:nvPr/>
          </p:nvSpPr>
          <p:spPr bwMode="auto">
            <a:xfrm rot="-7282380">
              <a:off x="4413250" y="23542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7" name="Oval 28"/>
            <p:cNvSpPr>
              <a:spLocks noChangeArrowheads="1"/>
            </p:cNvSpPr>
            <p:nvPr/>
          </p:nvSpPr>
          <p:spPr bwMode="auto">
            <a:xfrm rot="-7282380">
              <a:off x="5251450" y="28876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8" name="Oval 29"/>
            <p:cNvSpPr>
              <a:spLocks noChangeArrowheads="1"/>
            </p:cNvSpPr>
            <p:nvPr/>
          </p:nvSpPr>
          <p:spPr bwMode="auto">
            <a:xfrm rot="-7282380">
              <a:off x="3803650" y="28114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89" name="Oval 30"/>
            <p:cNvSpPr>
              <a:spLocks noChangeArrowheads="1"/>
            </p:cNvSpPr>
            <p:nvPr/>
          </p:nvSpPr>
          <p:spPr bwMode="auto">
            <a:xfrm rot="-7282380">
              <a:off x="5022850" y="26590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15390" name="Oval 31"/>
            <p:cNvSpPr>
              <a:spLocks noChangeArrowheads="1"/>
            </p:cNvSpPr>
            <p:nvPr/>
          </p:nvSpPr>
          <p:spPr bwMode="auto">
            <a:xfrm rot="-7282380">
              <a:off x="4108450" y="28114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91" name="Oval 32"/>
            <p:cNvSpPr>
              <a:spLocks noChangeArrowheads="1"/>
            </p:cNvSpPr>
            <p:nvPr/>
          </p:nvSpPr>
          <p:spPr bwMode="auto">
            <a:xfrm rot="-7282380">
              <a:off x="4489450" y="28876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92" name="Oval 33"/>
            <p:cNvSpPr>
              <a:spLocks noChangeArrowheads="1"/>
            </p:cNvSpPr>
            <p:nvPr/>
          </p:nvSpPr>
          <p:spPr bwMode="auto">
            <a:xfrm rot="-7282380">
              <a:off x="4260850" y="311626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93" name="Text Box 34"/>
            <p:cNvSpPr txBox="1">
              <a:spLocks noChangeArrowheads="1"/>
            </p:cNvSpPr>
            <p:nvPr/>
          </p:nvSpPr>
          <p:spPr bwMode="auto">
            <a:xfrm>
              <a:off x="3170238" y="1743075"/>
              <a:ext cx="32252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>
                  <a:latin typeface="+mn-lt"/>
                </a:rPr>
                <a:t>y</a:t>
              </a:r>
            </a:p>
          </p:txBody>
        </p:sp>
        <p:sp>
          <p:nvSpPr>
            <p:cNvPr id="15394" name="Line 35"/>
            <p:cNvSpPr>
              <a:spLocks noChangeShapeType="1"/>
            </p:cNvSpPr>
            <p:nvPr/>
          </p:nvSpPr>
          <p:spPr bwMode="auto">
            <a:xfrm>
              <a:off x="3352800" y="3810000"/>
              <a:ext cx="2362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395" name="Text Box 36"/>
            <p:cNvSpPr txBox="1">
              <a:spLocks noChangeArrowheads="1"/>
            </p:cNvSpPr>
            <p:nvPr/>
          </p:nvSpPr>
          <p:spPr bwMode="auto">
            <a:xfrm>
              <a:off x="5608638" y="3648075"/>
              <a:ext cx="3177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>
                  <a:latin typeface="+mn-lt"/>
                </a:rPr>
                <a:t>x</a:t>
              </a:r>
            </a:p>
          </p:txBody>
        </p:sp>
        <p:sp>
          <p:nvSpPr>
            <p:cNvPr id="15396" name="Line 37"/>
            <p:cNvSpPr>
              <a:spLocks noChangeShapeType="1"/>
            </p:cNvSpPr>
            <p:nvPr/>
          </p:nvSpPr>
          <p:spPr bwMode="auto">
            <a:xfrm flipH="1">
              <a:off x="6324600" y="2209800"/>
              <a:ext cx="0" cy="1600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397" name="Oval 38"/>
            <p:cNvSpPr>
              <a:spLocks noChangeArrowheads="1"/>
            </p:cNvSpPr>
            <p:nvPr/>
          </p:nvSpPr>
          <p:spPr bwMode="auto">
            <a:xfrm rot="-7282380">
              <a:off x="6653213" y="3124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98" name="Oval 39"/>
            <p:cNvSpPr>
              <a:spLocks noChangeArrowheads="1"/>
            </p:cNvSpPr>
            <p:nvPr/>
          </p:nvSpPr>
          <p:spPr bwMode="auto">
            <a:xfrm rot="-7282380">
              <a:off x="8482013" y="2438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399" name="Oval 40"/>
            <p:cNvSpPr>
              <a:spLocks noChangeArrowheads="1"/>
            </p:cNvSpPr>
            <p:nvPr/>
          </p:nvSpPr>
          <p:spPr bwMode="auto">
            <a:xfrm rot="-7282380">
              <a:off x="8634413" y="2743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00" name="Oval 41"/>
            <p:cNvSpPr>
              <a:spLocks noChangeArrowheads="1"/>
            </p:cNvSpPr>
            <p:nvPr/>
          </p:nvSpPr>
          <p:spPr bwMode="auto">
            <a:xfrm rot="-7282380">
              <a:off x="7720013" y="3048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01" name="Oval 42"/>
            <p:cNvSpPr>
              <a:spLocks noChangeArrowheads="1"/>
            </p:cNvSpPr>
            <p:nvPr/>
          </p:nvSpPr>
          <p:spPr bwMode="auto">
            <a:xfrm rot="-7282380">
              <a:off x="7796213" y="2438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02" name="Oval 43"/>
            <p:cNvSpPr>
              <a:spLocks noChangeArrowheads="1"/>
            </p:cNvSpPr>
            <p:nvPr/>
          </p:nvSpPr>
          <p:spPr bwMode="auto">
            <a:xfrm rot="-7282380">
              <a:off x="7315200" y="2362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03" name="Oval 44"/>
            <p:cNvSpPr>
              <a:spLocks noChangeArrowheads="1"/>
            </p:cNvSpPr>
            <p:nvPr/>
          </p:nvSpPr>
          <p:spPr bwMode="auto">
            <a:xfrm rot="-7282380">
              <a:off x="6500813" y="2514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04" name="Oval 45"/>
            <p:cNvSpPr>
              <a:spLocks noChangeArrowheads="1"/>
            </p:cNvSpPr>
            <p:nvPr/>
          </p:nvSpPr>
          <p:spPr bwMode="auto">
            <a:xfrm rot="-7282380">
              <a:off x="6805613" y="2667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05" name="Oval 46"/>
            <p:cNvSpPr>
              <a:spLocks noChangeArrowheads="1"/>
            </p:cNvSpPr>
            <p:nvPr/>
          </p:nvSpPr>
          <p:spPr bwMode="auto">
            <a:xfrm rot="-7282380">
              <a:off x="7110413" y="28543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15406" name="Oval 47"/>
            <p:cNvSpPr>
              <a:spLocks noChangeArrowheads="1"/>
            </p:cNvSpPr>
            <p:nvPr/>
          </p:nvSpPr>
          <p:spPr bwMode="auto">
            <a:xfrm rot="-7282380">
              <a:off x="7491413" y="2819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07" name="Oval 48"/>
            <p:cNvSpPr>
              <a:spLocks noChangeArrowheads="1"/>
            </p:cNvSpPr>
            <p:nvPr/>
          </p:nvSpPr>
          <p:spPr bwMode="auto">
            <a:xfrm rot="-7282380">
              <a:off x="7262813" y="3124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08" name="Text Box 49"/>
            <p:cNvSpPr txBox="1">
              <a:spLocks noChangeArrowheads="1"/>
            </p:cNvSpPr>
            <p:nvPr/>
          </p:nvSpPr>
          <p:spPr bwMode="auto">
            <a:xfrm>
              <a:off x="6172200" y="1674813"/>
              <a:ext cx="32252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>
                  <a:latin typeface="+mn-lt"/>
                </a:rPr>
                <a:t>y</a:t>
              </a:r>
            </a:p>
          </p:txBody>
        </p:sp>
        <p:sp>
          <p:nvSpPr>
            <p:cNvPr id="15409" name="Line 50"/>
            <p:cNvSpPr>
              <a:spLocks noChangeShapeType="1"/>
            </p:cNvSpPr>
            <p:nvPr/>
          </p:nvSpPr>
          <p:spPr bwMode="auto">
            <a:xfrm>
              <a:off x="6348413" y="38100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410" name="Oval 51"/>
            <p:cNvSpPr>
              <a:spLocks noChangeArrowheads="1"/>
            </p:cNvSpPr>
            <p:nvPr/>
          </p:nvSpPr>
          <p:spPr bwMode="auto">
            <a:xfrm rot="-7282380">
              <a:off x="82296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5411" name="Text Box 52"/>
            <p:cNvSpPr txBox="1">
              <a:spLocks noChangeArrowheads="1"/>
            </p:cNvSpPr>
            <p:nvPr/>
          </p:nvSpPr>
          <p:spPr bwMode="auto">
            <a:xfrm>
              <a:off x="8610600" y="3579813"/>
              <a:ext cx="3177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>
                  <a:latin typeface="+mn-lt"/>
                </a:rPr>
                <a:t>x</a:t>
              </a:r>
            </a:p>
          </p:txBody>
        </p:sp>
        <p:sp>
          <p:nvSpPr>
            <p:cNvPr id="15412" name="Line 80"/>
            <p:cNvSpPr>
              <a:spLocks noChangeShapeType="1"/>
            </p:cNvSpPr>
            <p:nvPr/>
          </p:nvSpPr>
          <p:spPr bwMode="auto">
            <a:xfrm>
              <a:off x="6400800" y="28956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413" name="Text Box 81"/>
            <p:cNvSpPr txBox="1">
              <a:spLocks noChangeArrowheads="1"/>
            </p:cNvSpPr>
            <p:nvPr/>
          </p:nvSpPr>
          <p:spPr bwMode="auto">
            <a:xfrm>
              <a:off x="984250" y="4195762"/>
              <a:ext cx="944489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</a:t>
              </a:r>
              <a:r>
                <a:rPr lang="en-US" sz="2800" dirty="0">
                  <a:latin typeface="+mn-lt"/>
                </a:rPr>
                <a:t> = -1</a:t>
              </a:r>
            </a:p>
          </p:txBody>
        </p:sp>
        <p:sp>
          <p:nvSpPr>
            <p:cNvPr id="15414" name="Text Box 82"/>
            <p:cNvSpPr txBox="1">
              <a:spLocks noChangeArrowheads="1"/>
            </p:cNvSpPr>
            <p:nvPr/>
          </p:nvSpPr>
          <p:spPr bwMode="auto">
            <a:xfrm>
              <a:off x="4038600" y="4205287"/>
              <a:ext cx="1218603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</a:t>
              </a:r>
              <a:r>
                <a:rPr lang="en-US" sz="2800" dirty="0">
                  <a:latin typeface="+mn-lt"/>
                </a:rPr>
                <a:t> = -0.6</a:t>
              </a:r>
            </a:p>
          </p:txBody>
        </p:sp>
        <p:sp>
          <p:nvSpPr>
            <p:cNvPr id="15415" name="Text Box 83"/>
            <p:cNvSpPr txBox="1">
              <a:spLocks noChangeArrowheads="1"/>
            </p:cNvSpPr>
            <p:nvPr/>
          </p:nvSpPr>
          <p:spPr bwMode="auto">
            <a:xfrm>
              <a:off x="7162800" y="4205287"/>
              <a:ext cx="833883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</a:t>
              </a:r>
              <a:r>
                <a:rPr lang="en-US" sz="2800" dirty="0">
                  <a:latin typeface="+mn-lt"/>
                </a:rPr>
                <a:t> = 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6" name="Rectangle 9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Examples of Approximate </a:t>
            </a:r>
            <a:br>
              <a:rPr lang="en-US" sz="4400" dirty="0">
                <a:latin typeface="+mn-lt"/>
              </a:rPr>
            </a:br>
            <a:r>
              <a:rPr lang="en-US" sz="4400" i="1" dirty="0">
                <a:latin typeface="+mn-lt"/>
              </a:rPr>
              <a:t>r</a:t>
            </a:r>
            <a:r>
              <a:rPr lang="en-US" sz="4400" dirty="0">
                <a:latin typeface="+mn-lt"/>
              </a:rPr>
              <a:t>  Values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10348D7-DFB9-CA49-ACD1-1F00F086FFC4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752600" y="2133600"/>
            <a:ext cx="8305800" cy="3285700"/>
            <a:chOff x="1219200" y="2436813"/>
            <a:chExt cx="6553200" cy="2592387"/>
          </a:xfrm>
        </p:grpSpPr>
        <p:sp>
          <p:nvSpPr>
            <p:cNvPr id="16388" name="Text Box 2"/>
            <p:cNvSpPr txBox="1">
              <a:spLocks noChangeArrowheads="1"/>
            </p:cNvSpPr>
            <p:nvPr/>
          </p:nvSpPr>
          <p:spPr bwMode="auto">
            <a:xfrm>
              <a:off x="2382905" y="4505980"/>
              <a:ext cx="1287532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 </a:t>
              </a:r>
              <a:r>
                <a:rPr lang="en-US" sz="2800" dirty="0">
                  <a:latin typeface="+mn-lt"/>
                </a:rPr>
                <a:t>= +0.3</a:t>
              </a:r>
            </a:p>
          </p:txBody>
        </p:sp>
        <p:sp>
          <p:nvSpPr>
            <p:cNvPr id="16389" name="Text Box 3"/>
            <p:cNvSpPr txBox="1">
              <a:spLocks noChangeArrowheads="1"/>
            </p:cNvSpPr>
            <p:nvPr/>
          </p:nvSpPr>
          <p:spPr bwMode="auto">
            <a:xfrm>
              <a:off x="5629275" y="4505980"/>
              <a:ext cx="1013419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</a:t>
              </a:r>
              <a:r>
                <a:rPr lang="en-US" sz="2800" dirty="0">
                  <a:latin typeface="+mn-lt"/>
                </a:rPr>
                <a:t> = +1</a:t>
              </a:r>
            </a:p>
          </p:txBody>
        </p:sp>
        <p:sp>
          <p:nvSpPr>
            <p:cNvPr id="16390" name="Line 52"/>
            <p:cNvSpPr>
              <a:spLocks noChangeShapeType="1"/>
            </p:cNvSpPr>
            <p:nvPr/>
          </p:nvSpPr>
          <p:spPr bwMode="auto">
            <a:xfrm flipH="1">
              <a:off x="1676400" y="27432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391" name="Line 53"/>
            <p:cNvSpPr>
              <a:spLocks noChangeShapeType="1"/>
            </p:cNvSpPr>
            <p:nvPr/>
          </p:nvSpPr>
          <p:spPr bwMode="auto">
            <a:xfrm flipV="1">
              <a:off x="1692275" y="2895600"/>
              <a:ext cx="2574925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392" name="Oval 54"/>
            <p:cNvSpPr>
              <a:spLocks noChangeArrowheads="1"/>
            </p:cNvSpPr>
            <p:nvPr/>
          </p:nvSpPr>
          <p:spPr bwMode="auto">
            <a:xfrm rot="-7282380">
              <a:off x="1752600" y="3886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393" name="Oval 55"/>
            <p:cNvSpPr>
              <a:spLocks noChangeArrowheads="1"/>
            </p:cNvSpPr>
            <p:nvPr/>
          </p:nvSpPr>
          <p:spPr bwMode="auto">
            <a:xfrm rot="-7282380">
              <a:off x="1905000" y="3505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394" name="Oval 56"/>
            <p:cNvSpPr>
              <a:spLocks noChangeArrowheads="1"/>
            </p:cNvSpPr>
            <p:nvPr/>
          </p:nvSpPr>
          <p:spPr bwMode="auto">
            <a:xfrm rot="-7282380">
              <a:off x="3657600" y="2514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395" name="Oval 57"/>
            <p:cNvSpPr>
              <a:spLocks noChangeArrowheads="1"/>
            </p:cNvSpPr>
            <p:nvPr/>
          </p:nvSpPr>
          <p:spPr bwMode="auto">
            <a:xfrm rot="-7282380">
              <a:off x="3810000" y="2895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396" name="Oval 58"/>
            <p:cNvSpPr>
              <a:spLocks noChangeArrowheads="1"/>
            </p:cNvSpPr>
            <p:nvPr/>
          </p:nvSpPr>
          <p:spPr bwMode="auto">
            <a:xfrm rot="-7282380">
              <a:off x="2209800" y="3733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397" name="Oval 59"/>
            <p:cNvSpPr>
              <a:spLocks noChangeArrowheads="1"/>
            </p:cNvSpPr>
            <p:nvPr/>
          </p:nvSpPr>
          <p:spPr bwMode="auto">
            <a:xfrm rot="-7282380">
              <a:off x="3962400" y="3200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398" name="Oval 60"/>
            <p:cNvSpPr>
              <a:spLocks noChangeArrowheads="1"/>
            </p:cNvSpPr>
            <p:nvPr/>
          </p:nvSpPr>
          <p:spPr bwMode="auto">
            <a:xfrm rot="-7282380">
              <a:off x="3200400" y="3733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399" name="Oval 61"/>
            <p:cNvSpPr>
              <a:spLocks noChangeArrowheads="1"/>
            </p:cNvSpPr>
            <p:nvPr/>
          </p:nvSpPr>
          <p:spPr bwMode="auto">
            <a:xfrm rot="-7282380">
              <a:off x="3276600" y="25146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00" name="Oval 62"/>
            <p:cNvSpPr>
              <a:spLocks noChangeArrowheads="1"/>
            </p:cNvSpPr>
            <p:nvPr/>
          </p:nvSpPr>
          <p:spPr bwMode="auto">
            <a:xfrm rot="-7282380">
              <a:off x="2590800" y="2590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01" name="Oval 63"/>
            <p:cNvSpPr>
              <a:spLocks noChangeArrowheads="1"/>
            </p:cNvSpPr>
            <p:nvPr/>
          </p:nvSpPr>
          <p:spPr bwMode="auto">
            <a:xfrm rot="-7282380">
              <a:off x="1752600" y="3124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02" name="Oval 64"/>
            <p:cNvSpPr>
              <a:spLocks noChangeArrowheads="1"/>
            </p:cNvSpPr>
            <p:nvPr/>
          </p:nvSpPr>
          <p:spPr bwMode="auto">
            <a:xfrm rot="-7282380">
              <a:off x="2133600" y="2819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03" name="Oval 65"/>
            <p:cNvSpPr>
              <a:spLocks noChangeArrowheads="1"/>
            </p:cNvSpPr>
            <p:nvPr/>
          </p:nvSpPr>
          <p:spPr bwMode="auto">
            <a:xfrm rot="-7282380">
              <a:off x="2438400" y="33115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16404" name="Oval 66"/>
            <p:cNvSpPr>
              <a:spLocks noChangeArrowheads="1"/>
            </p:cNvSpPr>
            <p:nvPr/>
          </p:nvSpPr>
          <p:spPr bwMode="auto">
            <a:xfrm rot="-7282380">
              <a:off x="3429000" y="3429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05" name="Oval 67"/>
            <p:cNvSpPr>
              <a:spLocks noChangeArrowheads="1"/>
            </p:cNvSpPr>
            <p:nvPr/>
          </p:nvSpPr>
          <p:spPr bwMode="auto">
            <a:xfrm rot="-7282380">
              <a:off x="2895600" y="3429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06" name="Oval 68"/>
            <p:cNvSpPr>
              <a:spLocks noChangeArrowheads="1"/>
            </p:cNvSpPr>
            <p:nvPr/>
          </p:nvSpPr>
          <p:spPr bwMode="auto">
            <a:xfrm rot="-7282380">
              <a:off x="2743200" y="3886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07" name="Text Box 69"/>
            <p:cNvSpPr txBox="1">
              <a:spLocks noChangeArrowheads="1"/>
            </p:cNvSpPr>
            <p:nvPr/>
          </p:nvSpPr>
          <p:spPr bwMode="auto">
            <a:xfrm>
              <a:off x="1219200" y="2436813"/>
              <a:ext cx="32252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y</a:t>
              </a:r>
            </a:p>
          </p:txBody>
        </p:sp>
        <p:sp>
          <p:nvSpPr>
            <p:cNvPr id="16408" name="Line 70"/>
            <p:cNvSpPr>
              <a:spLocks noChangeShapeType="1"/>
            </p:cNvSpPr>
            <p:nvPr/>
          </p:nvSpPr>
          <p:spPr bwMode="auto">
            <a:xfrm>
              <a:off x="1676400" y="41910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409" name="Oval 71"/>
            <p:cNvSpPr>
              <a:spLocks noChangeArrowheads="1"/>
            </p:cNvSpPr>
            <p:nvPr/>
          </p:nvSpPr>
          <p:spPr bwMode="auto">
            <a:xfrm rot="-7282380">
              <a:off x="3733800" y="3581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10" name="Text Box 72"/>
            <p:cNvSpPr txBox="1">
              <a:spLocks noChangeArrowheads="1"/>
            </p:cNvSpPr>
            <p:nvPr/>
          </p:nvSpPr>
          <p:spPr bwMode="auto">
            <a:xfrm>
              <a:off x="3938588" y="4037013"/>
              <a:ext cx="3177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>
                  <a:latin typeface="+mn-lt"/>
                </a:rPr>
                <a:t>x</a:t>
              </a:r>
            </a:p>
          </p:txBody>
        </p:sp>
        <p:sp>
          <p:nvSpPr>
            <p:cNvPr id="16411" name="Line 73"/>
            <p:cNvSpPr>
              <a:spLocks noChangeShapeType="1"/>
            </p:cNvSpPr>
            <p:nvPr/>
          </p:nvSpPr>
          <p:spPr bwMode="auto">
            <a:xfrm>
              <a:off x="4953000" y="27432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412" name="Line 74"/>
            <p:cNvSpPr>
              <a:spLocks noChangeShapeType="1"/>
            </p:cNvSpPr>
            <p:nvPr/>
          </p:nvSpPr>
          <p:spPr bwMode="auto">
            <a:xfrm flipV="1">
              <a:off x="5105400" y="3048000"/>
              <a:ext cx="2667000" cy="720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413" name="Text Box 75"/>
            <p:cNvSpPr txBox="1">
              <a:spLocks noChangeArrowheads="1"/>
            </p:cNvSpPr>
            <p:nvPr/>
          </p:nvSpPr>
          <p:spPr bwMode="auto">
            <a:xfrm>
              <a:off x="4624388" y="2513013"/>
              <a:ext cx="32252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>
                  <a:latin typeface="+mn-lt"/>
                </a:rPr>
                <a:t>y</a:t>
              </a:r>
            </a:p>
          </p:txBody>
        </p:sp>
        <p:sp>
          <p:nvSpPr>
            <p:cNvPr id="16414" name="Line 76"/>
            <p:cNvSpPr>
              <a:spLocks noChangeShapeType="1"/>
            </p:cNvSpPr>
            <p:nvPr/>
          </p:nvSpPr>
          <p:spPr bwMode="auto">
            <a:xfrm>
              <a:off x="4953000" y="41910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415" name="Oval 77"/>
            <p:cNvSpPr>
              <a:spLocks noChangeArrowheads="1"/>
            </p:cNvSpPr>
            <p:nvPr/>
          </p:nvSpPr>
          <p:spPr bwMode="auto">
            <a:xfrm rot="-7282380">
              <a:off x="5257800" y="3581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16" name="Text Box 78"/>
            <p:cNvSpPr txBox="1">
              <a:spLocks noChangeArrowheads="1"/>
            </p:cNvSpPr>
            <p:nvPr/>
          </p:nvSpPr>
          <p:spPr bwMode="auto">
            <a:xfrm>
              <a:off x="7215188" y="4037013"/>
              <a:ext cx="3177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>
                  <a:latin typeface="+mn-lt"/>
                </a:rPr>
                <a:t>x</a:t>
              </a:r>
            </a:p>
          </p:txBody>
        </p:sp>
        <p:sp>
          <p:nvSpPr>
            <p:cNvPr id="16417" name="Oval 83"/>
            <p:cNvSpPr>
              <a:spLocks noChangeArrowheads="1"/>
            </p:cNvSpPr>
            <p:nvPr/>
          </p:nvSpPr>
          <p:spPr bwMode="auto">
            <a:xfrm rot="-7282380">
              <a:off x="5562600" y="3505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18" name="Oval 84"/>
            <p:cNvSpPr>
              <a:spLocks noChangeArrowheads="1"/>
            </p:cNvSpPr>
            <p:nvPr/>
          </p:nvSpPr>
          <p:spPr bwMode="auto">
            <a:xfrm rot="-7282380">
              <a:off x="5867400" y="3429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19" name="Oval 85"/>
            <p:cNvSpPr>
              <a:spLocks noChangeArrowheads="1"/>
            </p:cNvSpPr>
            <p:nvPr/>
          </p:nvSpPr>
          <p:spPr bwMode="auto">
            <a:xfrm rot="-7282380">
              <a:off x="6172200" y="3352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20" name="Oval 86"/>
            <p:cNvSpPr>
              <a:spLocks noChangeArrowheads="1"/>
            </p:cNvSpPr>
            <p:nvPr/>
          </p:nvSpPr>
          <p:spPr bwMode="auto">
            <a:xfrm rot="-7282380">
              <a:off x="6629400" y="3200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21" name="Oval 87"/>
            <p:cNvSpPr>
              <a:spLocks noChangeArrowheads="1"/>
            </p:cNvSpPr>
            <p:nvPr/>
          </p:nvSpPr>
          <p:spPr bwMode="auto">
            <a:xfrm rot="-7282380">
              <a:off x="6934200" y="3124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22" name="Oval 88"/>
            <p:cNvSpPr>
              <a:spLocks noChangeArrowheads="1"/>
            </p:cNvSpPr>
            <p:nvPr/>
          </p:nvSpPr>
          <p:spPr bwMode="auto">
            <a:xfrm rot="-7282380">
              <a:off x="74676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23" name="Oval 89"/>
            <p:cNvSpPr>
              <a:spLocks noChangeArrowheads="1"/>
            </p:cNvSpPr>
            <p:nvPr/>
          </p:nvSpPr>
          <p:spPr bwMode="auto">
            <a:xfrm rot="-7282380">
              <a:off x="32004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24" name="Oval 90"/>
            <p:cNvSpPr>
              <a:spLocks noChangeArrowheads="1"/>
            </p:cNvSpPr>
            <p:nvPr/>
          </p:nvSpPr>
          <p:spPr bwMode="auto">
            <a:xfrm rot="-7282380">
              <a:off x="2971800" y="24384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6425" name="Oval 91"/>
            <p:cNvSpPr>
              <a:spLocks noChangeArrowheads="1"/>
            </p:cNvSpPr>
            <p:nvPr/>
          </p:nvSpPr>
          <p:spPr bwMode="auto">
            <a:xfrm rot="-7282380">
              <a:off x="2514600" y="2971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7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58" r="21053"/>
          <a:stretch>
            <a:fillRect/>
          </a:stretch>
        </p:blipFill>
        <p:spPr bwMode="auto">
          <a:xfrm>
            <a:off x="4648200" y="4716462"/>
            <a:ext cx="1905000" cy="214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No correlation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9829800" cy="4191000"/>
          </a:xfrm>
        </p:spPr>
        <p:txBody>
          <a:bodyPr/>
          <a:lstStyle/>
          <a:p>
            <a:pPr algn="just" eaLnBrk="1" hangingPunct="1"/>
            <a:r>
              <a:rPr lang="en-US" sz="2800" dirty="0"/>
              <a:t>The correlation coefficient is a measure of linear relationship and thus look at the scatterplot of the data before concluding that there is no relationship between two variables when r is close to 0. </a:t>
            </a:r>
          </a:p>
          <a:p>
            <a:pPr algn="just" eaLnBrk="1" hangingPunct="1"/>
            <a:r>
              <a:rPr lang="en-US" sz="2800" dirty="0"/>
              <a:t>There could be a curvilinear relationship. For example in the following scatterplot which implies no (linear) correlation however there is a perfect quadratic relationship. 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9D17F18-B4E2-9A45-A9B1-436D739552E1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16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Positive Correlation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1"/>
            <a:ext cx="9525000" cy="4525963"/>
          </a:xfrm>
        </p:spPr>
        <p:txBody>
          <a:bodyPr/>
          <a:lstStyle/>
          <a:p>
            <a:pPr algn="just" eaLnBrk="1" hangingPunct="1"/>
            <a:r>
              <a:rPr lang="en-US" dirty="0"/>
              <a:t>Relationship shows that a </a:t>
            </a:r>
            <a:r>
              <a:rPr lang="en-US" b="1" u="sng" dirty="0"/>
              <a:t>high</a:t>
            </a:r>
            <a:r>
              <a:rPr lang="en-US" dirty="0"/>
              <a:t> score on one variable is related to a </a:t>
            </a:r>
            <a:r>
              <a:rPr lang="en-US" b="1" u="sng" dirty="0"/>
              <a:t>high</a:t>
            </a:r>
            <a:r>
              <a:rPr lang="en-US" dirty="0"/>
              <a:t> score on another variable</a:t>
            </a:r>
          </a:p>
          <a:p>
            <a:pPr algn="ctr" eaLnBrk="1" hangingPunct="1">
              <a:buNone/>
            </a:pPr>
            <a:r>
              <a:rPr lang="en-US" i="1" dirty="0"/>
              <a:t>OR</a:t>
            </a:r>
          </a:p>
          <a:p>
            <a:pPr algn="just" eaLnBrk="1" hangingPunct="1"/>
            <a:r>
              <a:rPr lang="en-US" dirty="0"/>
              <a:t>A </a:t>
            </a:r>
            <a:r>
              <a:rPr lang="en-US" b="1" u="sng" dirty="0"/>
              <a:t>low</a:t>
            </a:r>
            <a:r>
              <a:rPr lang="en-US" dirty="0"/>
              <a:t> score on one variable is related to a </a:t>
            </a:r>
            <a:r>
              <a:rPr lang="en-US" b="1" u="sng" dirty="0"/>
              <a:t>low</a:t>
            </a:r>
            <a:r>
              <a:rPr lang="en-US" dirty="0"/>
              <a:t> score on another variable</a:t>
            </a:r>
          </a:p>
          <a:p>
            <a:pPr algn="just" eaLnBrk="1" hangingPunct="1"/>
            <a:r>
              <a:rPr lang="en-US" dirty="0"/>
              <a:t>Correlation coefficient is greater than 0</a:t>
            </a:r>
          </a:p>
          <a:p>
            <a:pPr algn="just" eaLnBrk="1" hangingPunct="1"/>
            <a:endParaRPr lang="en-US" dirty="0"/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83CD171-9EC8-1D47-AAF1-91A1D0B919F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17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Positive Correlation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371600"/>
            <a:ext cx="4648200" cy="4191000"/>
          </a:xfrm>
        </p:spPr>
        <p:txBody>
          <a:bodyPr/>
          <a:lstStyle/>
          <a:p>
            <a:pPr algn="just" eaLnBrk="1" hangingPunct="1"/>
            <a:r>
              <a:rPr lang="en-US" sz="2400" dirty="0"/>
              <a:t>What is the relationship between the number of hours spent per week studying and GPA?</a:t>
            </a:r>
          </a:p>
          <a:p>
            <a:pPr algn="just" eaLnBrk="1" hangingPunct="1"/>
            <a:endParaRPr lang="en-US" sz="2400" dirty="0"/>
          </a:p>
          <a:p>
            <a:pPr algn="just" eaLnBrk="1" hangingPunct="1">
              <a:buFontTx/>
              <a:buNone/>
            </a:pPr>
            <a:r>
              <a:rPr lang="en-US" sz="2400" dirty="0"/>
              <a:t>	</a:t>
            </a:r>
          </a:p>
          <a:p>
            <a:pPr algn="just" eaLnBrk="1" hangingPunct="1">
              <a:buFontTx/>
              <a:buNone/>
            </a:pPr>
            <a:endParaRPr lang="en-US" sz="2400" dirty="0"/>
          </a:p>
          <a:p>
            <a:pPr algn="just" eaLnBrk="1" hangingPunct="1">
              <a:buFontTx/>
              <a:buNone/>
            </a:pPr>
            <a:endParaRPr lang="en-US" sz="2400" dirty="0"/>
          </a:p>
          <a:p>
            <a:pPr algn="just" eaLnBrk="1" hangingPunct="1">
              <a:buFontTx/>
              <a:buNone/>
            </a:pPr>
            <a:endParaRPr lang="en-US" sz="2400" dirty="0"/>
          </a:p>
          <a:p>
            <a:pPr algn="just" eaLnBrk="1" hangingPunct="1">
              <a:buFontTx/>
              <a:buNone/>
            </a:pPr>
            <a:r>
              <a:rPr lang="en-US" sz="2400" i="1" dirty="0"/>
              <a:t>r</a:t>
            </a:r>
            <a:r>
              <a:rPr lang="en-US" sz="2400" dirty="0"/>
              <a:t> = 0.884</a:t>
            </a:r>
          </a:p>
        </p:txBody>
      </p:sp>
      <p:graphicFrame>
        <p:nvGraphicFramePr>
          <p:cNvPr id="113668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72777779"/>
              </p:ext>
            </p:extLst>
          </p:nvPr>
        </p:nvGraphicFramePr>
        <p:xfrm>
          <a:off x="6705600" y="1371600"/>
          <a:ext cx="3657600" cy="3733800"/>
        </p:xfrm>
        <a:graphic>
          <a:graphicData uri="http://schemas.openxmlformats.org/drawingml/2006/table">
            <a:tbl>
              <a:tblPr/>
              <a:tblGrid>
                <a:gridCol w="1220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Students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Study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45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0BA5EE3-CD75-9B48-AF07-6507B926096C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18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2362200" y="2667000"/>
          <a:ext cx="4038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477" name="TextBox 7"/>
          <p:cNvSpPr txBox="1">
            <a:spLocks noChangeArrowheads="1"/>
          </p:cNvSpPr>
          <p:nvPr/>
        </p:nvSpPr>
        <p:spPr bwMode="auto">
          <a:xfrm>
            <a:off x="1819276" y="5410201"/>
            <a:ext cx="86201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/>
            <a:r>
              <a:rPr lang="en-US" sz="2000" dirty="0">
                <a:latin typeface="+mn-lt"/>
              </a:rPr>
              <a:t>It can be seen that the GPA increases as the hours increases. A scatter plot and correlation analysis of the data indicates that there is positive relationship between the number of hours spent   per week  studying and GPA.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Negative Correlation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00201"/>
            <a:ext cx="8153400" cy="4525963"/>
          </a:xfrm>
        </p:spPr>
        <p:txBody>
          <a:bodyPr/>
          <a:lstStyle/>
          <a:p>
            <a:pPr algn="just" eaLnBrk="1" hangingPunct="1"/>
            <a:r>
              <a:rPr lang="en-US" dirty="0"/>
              <a:t>Relationship shows that a </a:t>
            </a:r>
            <a:r>
              <a:rPr lang="en-US" u="sng" dirty="0"/>
              <a:t>high</a:t>
            </a:r>
            <a:r>
              <a:rPr lang="en-US" dirty="0"/>
              <a:t> score on one variable is related to a </a:t>
            </a:r>
            <a:r>
              <a:rPr lang="en-US" u="sng" dirty="0"/>
              <a:t>low</a:t>
            </a:r>
            <a:r>
              <a:rPr lang="en-US" dirty="0"/>
              <a:t> score on the second variable</a:t>
            </a:r>
          </a:p>
          <a:p>
            <a:pPr algn="just" eaLnBrk="1" hangingPunct="1"/>
            <a:r>
              <a:rPr lang="en-US" dirty="0"/>
              <a:t>Correlation coefficient is less than 0</a:t>
            </a:r>
          </a:p>
          <a:p>
            <a:pPr algn="just" eaLnBrk="1" hangingPunct="1"/>
            <a:endParaRPr lang="en-US" dirty="0"/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7FB5B5E-4FC1-D249-8EAF-5624DCC70892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19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Negative Correlation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447800"/>
            <a:ext cx="5562600" cy="4343400"/>
          </a:xfrm>
        </p:spPr>
        <p:txBody>
          <a:bodyPr/>
          <a:lstStyle/>
          <a:p>
            <a:pPr algn="just" eaLnBrk="1" hangingPunct="1"/>
            <a:r>
              <a:rPr lang="en-US" sz="2400" dirty="0"/>
              <a:t>What is the relationship between the number of hours spent per week watching TV and GPA?</a:t>
            </a:r>
          </a:p>
          <a:p>
            <a:pPr algn="just" eaLnBrk="1" hangingPunct="1"/>
            <a:endParaRPr lang="en-US" sz="2400" dirty="0"/>
          </a:p>
          <a:p>
            <a:pPr algn="just" eaLnBrk="1" hangingPunct="1">
              <a:buFontTx/>
              <a:buNone/>
            </a:pPr>
            <a:r>
              <a:rPr lang="en-US" sz="2400" dirty="0"/>
              <a:t>	</a:t>
            </a:r>
          </a:p>
          <a:p>
            <a:pPr algn="just" eaLnBrk="1" hangingPunct="1">
              <a:buFontTx/>
              <a:buNone/>
            </a:pPr>
            <a:endParaRPr lang="en-US" sz="2400" dirty="0"/>
          </a:p>
          <a:p>
            <a:pPr algn="just" eaLnBrk="1" hangingPunct="1">
              <a:buFontTx/>
              <a:buNone/>
            </a:pPr>
            <a:endParaRPr lang="en-US" sz="2400" dirty="0"/>
          </a:p>
          <a:p>
            <a:pPr algn="just" eaLnBrk="1" hangingPunct="1">
              <a:buFontTx/>
              <a:buNone/>
            </a:pPr>
            <a:endParaRPr lang="en-US" sz="2400" i="1" dirty="0"/>
          </a:p>
          <a:p>
            <a:pPr algn="just" eaLnBrk="1" hangingPunct="1">
              <a:buFontTx/>
              <a:buNone/>
            </a:pPr>
            <a:r>
              <a:rPr lang="en-US" sz="2400" i="1" dirty="0"/>
              <a:t>r</a:t>
            </a:r>
            <a:r>
              <a:rPr lang="en-US" sz="2400" dirty="0"/>
              <a:t> = -0.892</a:t>
            </a:r>
          </a:p>
          <a:p>
            <a:pPr algn="just" eaLnBrk="1" hangingPunct="1"/>
            <a:endParaRPr lang="en-US" sz="2400" dirty="0"/>
          </a:p>
        </p:txBody>
      </p:sp>
      <p:graphicFrame>
        <p:nvGraphicFramePr>
          <p:cNvPr id="116740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91881164"/>
              </p:ext>
            </p:extLst>
          </p:nvPr>
        </p:nvGraphicFramePr>
        <p:xfrm>
          <a:off x="6553200" y="1447800"/>
          <a:ext cx="3733800" cy="3413708"/>
        </p:xfrm>
        <a:graphic>
          <a:graphicData uri="http://schemas.openxmlformats.org/drawingml/2006/table">
            <a:tbl>
              <a:tblPr/>
              <a:tblGrid>
                <a:gridCol w="1246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Students</a:t>
                      </a:r>
                    </a:p>
                  </a:txBody>
                  <a:tcPr marT="45694" marB="456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TV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GPA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3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S8</a:t>
                      </a:r>
                    </a:p>
                  </a:txBody>
                  <a:tcPr marT="45694" marB="456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3.4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50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0B6936E-F1DF-9646-941E-8B66C8AF5B7C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20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1524" name="TextBox 1"/>
          <p:cNvSpPr txBox="1">
            <a:spLocks noChangeArrowheads="1"/>
          </p:cNvSpPr>
          <p:nvPr/>
        </p:nvSpPr>
        <p:spPr bwMode="auto">
          <a:xfrm>
            <a:off x="1752601" y="5562601"/>
            <a:ext cx="8686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/>
            <a:r>
              <a:rPr lang="en-US" sz="2000" dirty="0">
                <a:latin typeface="+mn-lt"/>
              </a:rPr>
              <a:t>It can be seen that the GPA decreases as the hours increases. A scatter plot and correlation analysis of the data indicates that there is negative relationship between the number of hours spent per week  watching TV and GPA. 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602784"/>
              </p:ext>
            </p:extLst>
          </p:nvPr>
        </p:nvGraphicFramePr>
        <p:xfrm>
          <a:off x="1791855" y="2844464"/>
          <a:ext cx="4267200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Exercise #1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990600"/>
            <a:ext cx="9448800" cy="5502275"/>
          </a:xfrm>
        </p:spPr>
        <p:txBody>
          <a:bodyPr/>
          <a:lstStyle/>
          <a:p>
            <a:pPr algn="just" eaLnBrk="1" hangingPunct="1"/>
            <a:endParaRPr lang="en-US" sz="2800" dirty="0"/>
          </a:p>
          <a:p>
            <a:pPr algn="just" eaLnBrk="1" hangingPunct="1"/>
            <a:r>
              <a:rPr lang="en-US" sz="2800" dirty="0"/>
              <a:t>The data represent </a:t>
            </a:r>
            <a:r>
              <a:rPr lang="en-US" sz="2800" i="1" dirty="0"/>
              <a:t>x</a:t>
            </a:r>
            <a:r>
              <a:rPr lang="en-US" sz="2800" dirty="0"/>
              <a:t> = score on a measure of test anxiety and </a:t>
            </a:r>
            <a:r>
              <a:rPr lang="en-US" sz="2800" i="1" dirty="0"/>
              <a:t>y</a:t>
            </a:r>
            <a:r>
              <a:rPr lang="en-US" sz="2800" dirty="0"/>
              <a:t> = exam score for a sample of </a:t>
            </a:r>
            <a:r>
              <a:rPr lang="en-US" sz="2800" i="1" dirty="0"/>
              <a:t>n </a:t>
            </a:r>
            <a:r>
              <a:rPr lang="en-US" sz="2800" dirty="0"/>
              <a:t>= 9 students:</a:t>
            </a:r>
          </a:p>
          <a:p>
            <a:pPr algn="just" eaLnBrk="1" hangingPunct="1"/>
            <a:endParaRPr lang="en-US" sz="2800" dirty="0"/>
          </a:p>
          <a:p>
            <a:pPr algn="just" eaLnBrk="1" hangingPunct="1"/>
            <a:endParaRPr lang="en-US" sz="2800" dirty="0"/>
          </a:p>
          <a:p>
            <a:pPr algn="just" eaLnBrk="1" hangingPunct="1"/>
            <a:endParaRPr lang="en-US" sz="2800" dirty="0"/>
          </a:p>
          <a:p>
            <a:pPr algn="just" eaLnBrk="1" hangingPunct="1"/>
            <a:endParaRPr lang="en-US" sz="2800" dirty="0"/>
          </a:p>
          <a:p>
            <a:pPr marL="0" indent="0" algn="just" eaLnBrk="1" hangingPunct="1">
              <a:buNone/>
            </a:pPr>
            <a:endParaRPr lang="en-US" sz="2800" dirty="0"/>
          </a:p>
          <a:p>
            <a:pPr marL="0" indent="0" algn="r" eaLnBrk="1" hangingPunct="1">
              <a:buNone/>
            </a:pPr>
            <a:r>
              <a:rPr lang="en-US" sz="1600" dirty="0"/>
              <a:t>Higher values for </a:t>
            </a:r>
            <a:r>
              <a:rPr lang="en-US" sz="1600" i="1" dirty="0"/>
              <a:t>x</a:t>
            </a:r>
            <a:r>
              <a:rPr lang="en-US" sz="1600" dirty="0"/>
              <a:t> indicate higher levels of anxiety.</a:t>
            </a:r>
          </a:p>
        </p:txBody>
      </p:sp>
      <p:graphicFrame>
        <p:nvGraphicFramePr>
          <p:cNvPr id="124967" name="Group 39"/>
          <p:cNvGraphicFramePr>
            <a:graphicFrameLocks noGrp="1"/>
          </p:cNvGraphicFramePr>
          <p:nvPr>
            <p:ph sz="half" idx="2"/>
          </p:nvPr>
        </p:nvGraphicFramePr>
        <p:xfrm>
          <a:off x="2209800" y="3276600"/>
          <a:ext cx="8001000" cy="14478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23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0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D399D16-B03A-1548-8FE2-8BA1B3857EF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21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438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1"/>
            <a:ext cx="9525000" cy="4525963"/>
          </a:xfrm>
        </p:spPr>
        <p:txBody>
          <a:bodyPr/>
          <a:lstStyle/>
          <a:p>
            <a:pPr marL="457200" indent="-457200" algn="just" eaLnBrk="1" hangingPunct="1">
              <a:buFontTx/>
              <a:buAutoNum type="alphaLcParenR"/>
            </a:pPr>
            <a:r>
              <a:rPr lang="en-US" sz="2800" dirty="0"/>
              <a:t>Construct a scatter plot, and comment on the features of the plot.</a:t>
            </a:r>
          </a:p>
          <a:p>
            <a:pPr marL="457200" indent="-457200" algn="just" eaLnBrk="1" hangingPunct="1">
              <a:buFontTx/>
              <a:buAutoNum type="alphaLcParenR"/>
            </a:pPr>
            <a:r>
              <a:rPr lang="en-US" sz="2800" dirty="0"/>
              <a:t>Does there appear to be a linear relationship between the two variables? How would you characterize the relationship?</a:t>
            </a:r>
          </a:p>
        </p:txBody>
      </p:sp>
      <p:sp>
        <p:nvSpPr>
          <p:cNvPr id="45059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991039" y="6492876"/>
            <a:ext cx="2675374" cy="3651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2CBD1B4-2294-EC4A-9351-07AB79765F0F}" type="slidenum">
              <a:rPr lang="en-US" sz="900">
                <a:solidFill>
                  <a:schemeClr val="bg1"/>
                </a:solidFill>
                <a:latin typeface="+mn-lt"/>
              </a:rPr>
              <a:pPr/>
              <a:t>22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Exercise 1 </a:t>
            </a:r>
            <a:r>
              <a:rPr lang="en-US" sz="2400" dirty="0">
                <a:latin typeface="+mn-lt"/>
              </a:rPr>
              <a:t>(cont.)</a:t>
            </a:r>
            <a:endParaRPr lang="en-US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7138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995E-16DE-70F1-2B30-7DD2E7BF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FA98A6B0-47E5-E8D6-5371-E965A208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9pPr>
          </a:lstStyle>
          <a:p>
            <a:fld id="{E84E0A14-FAA9-F840-8F6E-CF85F7234053}" type="slidenum">
              <a:rPr lang="en-US" altLang="x-none" smtClean="0"/>
              <a:pPr/>
              <a:t>23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>
            <a:extLst>
              <a:ext uri="{FF2B5EF4-FFF2-40B4-BE49-F238E27FC236}">
                <a16:creationId xmlns:a16="http://schemas.microsoft.com/office/drawing/2014/main" id="{B4038C98-EDD8-D69E-4862-A1E42FEF32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FE16A874-D0A6-B292-B1A5-7D8E0DD06023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D391D122-3B09-C040-E53C-1D9C5213CF87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82F4A345-9F8A-9969-9727-90C5A8B58E11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C94807DF-DE8F-F85E-5DF1-C72492FC98D8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2C61D024-6B6C-94AB-AF2E-B0988A3392AC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SCST1223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44332228-449D-6931-C073-6077C80B3797}"/>
              </a:ext>
            </a:extLst>
          </p:cNvPr>
          <p:cNvSpPr txBox="1">
            <a:spLocks/>
          </p:cNvSpPr>
          <p:nvPr/>
        </p:nvSpPr>
        <p:spPr bwMode="auto">
          <a:xfrm>
            <a:off x="1524000" y="3236168"/>
            <a:ext cx="9143999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7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PART 1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54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CORRELATION ANALYSIS (2)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54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PEARSON CORRELATION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BEBD96E6-B6D9-E70B-5EB2-39A087C270C7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F7089A22-A07D-F558-4FB2-49556A79752C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69DE4CAA-FD59-931D-7569-4BB87DCFC4F2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A5ADCD01-1DBA-79C9-64D5-E7190AFF370F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794420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Correlation Types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9677400" cy="4525963"/>
          </a:xfrm>
        </p:spPr>
        <p:txBody>
          <a:bodyPr/>
          <a:lstStyle/>
          <a:p>
            <a:pPr algn="just" eaLnBrk="1" hangingPunct="1"/>
            <a:r>
              <a:rPr lang="en-US" sz="2800" dirty="0"/>
              <a:t>The two most popular correlation coefficients are: </a:t>
            </a:r>
          </a:p>
          <a:p>
            <a:pPr lvl="1" algn="just" eaLnBrk="1" hangingPunct="1"/>
            <a:r>
              <a:rPr lang="en-US" sz="2400" dirty="0"/>
              <a:t>Pearson's product-moment correlation coefficient. </a:t>
            </a:r>
          </a:p>
          <a:p>
            <a:pPr lvl="1" algn="just" eaLnBrk="1" hangingPunct="1"/>
            <a:r>
              <a:rPr lang="en-US" sz="2400" dirty="0"/>
              <a:t>Spearman's rho rank correlation coefficient</a:t>
            </a:r>
          </a:p>
          <a:p>
            <a:pPr algn="just" eaLnBrk="1" hangingPunct="1"/>
            <a:r>
              <a:rPr lang="en-US" sz="2800" dirty="0"/>
              <a:t>When calculating a correlation coefficient for </a:t>
            </a:r>
            <a:r>
              <a:rPr lang="en-US" sz="2800" b="1" dirty="0"/>
              <a:t>ordinal data</a:t>
            </a:r>
            <a:r>
              <a:rPr lang="en-US" sz="2800" dirty="0"/>
              <a:t>, select Spearman's rho technique. </a:t>
            </a:r>
          </a:p>
          <a:p>
            <a:pPr algn="just" eaLnBrk="1" hangingPunct="1"/>
            <a:r>
              <a:rPr lang="en-US" sz="2800" dirty="0"/>
              <a:t>For </a:t>
            </a:r>
            <a:r>
              <a:rPr lang="en-US" sz="2800" b="1" dirty="0"/>
              <a:t>interval or ratio-type data</a:t>
            </a:r>
            <a:r>
              <a:rPr lang="en-US" sz="2800" dirty="0"/>
              <a:t>, use Pearson's technique.</a:t>
            </a: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9318CA2-A728-FC48-ABD5-6934FECB0221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304800"/>
            <a:ext cx="6573838" cy="1143000"/>
          </a:xfrm>
        </p:spPr>
        <p:txBody>
          <a:bodyPr/>
          <a:lstStyle/>
          <a:p>
            <a:pPr defTabSz="852488" eaLnBrk="1" hangingPunct="1">
              <a:lnSpc>
                <a:spcPct val="90000"/>
              </a:lnSpc>
            </a:pPr>
            <a:r>
              <a:rPr lang="en-US" sz="4400" dirty="0">
                <a:latin typeface="+mn-lt"/>
              </a:rPr>
              <a:t>Pearson's Product-Moment Correlation Coefficient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AA0B69F-6F09-F343-8B47-3B5F5CD9548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2438400" y="4154032"/>
            <a:ext cx="7162800" cy="22467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800" dirty="0">
                <a:latin typeface="+mn-lt"/>
              </a:rPr>
              <a:t>where:</a:t>
            </a:r>
          </a:p>
          <a:p>
            <a:pPr eaLnBrk="1" hangingPunct="1"/>
            <a:r>
              <a:rPr lang="en-US" sz="2800" dirty="0">
                <a:latin typeface="+mn-lt"/>
              </a:rPr>
              <a:t>	</a:t>
            </a:r>
            <a:r>
              <a:rPr lang="en-US" sz="2800" i="1" dirty="0">
                <a:latin typeface="+mn-lt"/>
              </a:rPr>
              <a:t>r</a:t>
            </a:r>
            <a:r>
              <a:rPr lang="en-US" sz="2800" dirty="0">
                <a:latin typeface="+mn-lt"/>
              </a:rPr>
              <a:t> = Sample correlation coefficient</a:t>
            </a:r>
          </a:p>
          <a:p>
            <a:pPr eaLnBrk="1" hangingPunct="1"/>
            <a:r>
              <a:rPr lang="en-US" sz="2800" dirty="0">
                <a:latin typeface="+mn-lt"/>
              </a:rPr>
              <a:t>	</a:t>
            </a:r>
            <a:r>
              <a:rPr lang="en-US" sz="2800" i="1" dirty="0">
                <a:latin typeface="+mn-lt"/>
              </a:rPr>
              <a:t>n</a:t>
            </a:r>
            <a:r>
              <a:rPr lang="en-US" sz="2800" dirty="0">
                <a:latin typeface="+mn-lt"/>
              </a:rPr>
              <a:t> = Sample size</a:t>
            </a:r>
          </a:p>
          <a:p>
            <a:pPr eaLnBrk="1" hangingPunct="1"/>
            <a:r>
              <a:rPr lang="en-US" sz="2800" dirty="0">
                <a:latin typeface="+mn-lt"/>
              </a:rPr>
              <a:t>	</a:t>
            </a:r>
            <a:r>
              <a:rPr lang="en-US" sz="2800" i="1" dirty="0">
                <a:latin typeface="+mn-lt"/>
              </a:rPr>
              <a:t>x</a:t>
            </a:r>
            <a:r>
              <a:rPr lang="en-US" sz="2800" dirty="0">
                <a:latin typeface="+mn-lt"/>
              </a:rPr>
              <a:t> = Value of the independent variable</a:t>
            </a:r>
          </a:p>
          <a:p>
            <a:pPr eaLnBrk="1" hangingPunct="1"/>
            <a:r>
              <a:rPr lang="en-US" sz="2800" dirty="0">
                <a:latin typeface="+mn-lt"/>
              </a:rPr>
              <a:t>	</a:t>
            </a:r>
            <a:r>
              <a:rPr lang="en-US" sz="2800" i="1" dirty="0">
                <a:latin typeface="+mn-lt"/>
              </a:rPr>
              <a:t>y</a:t>
            </a:r>
            <a:r>
              <a:rPr lang="en-US" sz="2800" dirty="0">
                <a:latin typeface="+mn-lt"/>
              </a:rPr>
              <a:t> = Value of the dependent variable</a:t>
            </a:r>
          </a:p>
        </p:txBody>
      </p:sp>
      <p:graphicFrame>
        <p:nvGraphicFramePr>
          <p:cNvPr id="23558" name="Object 5"/>
          <p:cNvGraphicFramePr>
            <a:graphicFrameLocks noChangeAspect="1"/>
          </p:cNvGraphicFramePr>
          <p:nvPr/>
        </p:nvGraphicFramePr>
        <p:xfrm>
          <a:off x="2451040" y="2584814"/>
          <a:ext cx="7302560" cy="1301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4500" imgH="533400" progId="Equation.3">
                  <p:embed/>
                </p:oleObj>
              </mc:Choice>
              <mc:Fallback>
                <p:oleObj name="Equation" r:id="rId2" imgW="2984500" imgH="533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040" y="2584814"/>
                        <a:ext cx="7302560" cy="1301386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1905000" y="1686580"/>
            <a:ext cx="518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sz="2800" dirty="0">
                <a:latin typeface="+mn-lt"/>
              </a:rPr>
              <a:t>Sample correlation coefficient: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Pearson's Product-Moment Correlation Coefficient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22438"/>
            <a:ext cx="8305800" cy="4525963"/>
          </a:xfrm>
        </p:spPr>
        <p:txBody>
          <a:bodyPr/>
          <a:lstStyle/>
          <a:p>
            <a:pPr algn="just" eaLnBrk="1" hangingPunct="1"/>
            <a:r>
              <a:rPr lang="en-US" sz="2800" dirty="0"/>
              <a:t>Assumes normality in both variables (bivariate normally distributed). </a:t>
            </a:r>
          </a:p>
          <a:p>
            <a:pPr algn="just" eaLnBrk="1" hangingPunct="1"/>
            <a:r>
              <a:rPr lang="en-US" sz="2800" dirty="0"/>
              <a:t>There needs to be a </a:t>
            </a:r>
            <a:r>
              <a:rPr lang="en-US" sz="2800" b="1" dirty="0"/>
              <a:t>linear relationship</a:t>
            </a:r>
            <a:r>
              <a:rPr lang="en-US" sz="2800" dirty="0"/>
              <a:t> between the two variables.</a:t>
            </a:r>
          </a:p>
          <a:p>
            <a:pPr algn="just" eaLnBrk="1" hangingPunct="1"/>
            <a:r>
              <a:rPr lang="en-US" sz="2800" dirty="0"/>
              <a:t>Two variables should be measured at the </a:t>
            </a:r>
            <a:r>
              <a:rPr lang="en-US" sz="2800" b="1" dirty="0"/>
              <a:t>interval</a:t>
            </a:r>
            <a:r>
              <a:rPr lang="en-US" sz="2800" dirty="0"/>
              <a:t> or ratio </a:t>
            </a:r>
            <a:r>
              <a:rPr lang="en-US" sz="2800" b="1" dirty="0"/>
              <a:t>level.</a:t>
            </a:r>
            <a:r>
              <a:rPr lang="en-US" sz="2800" dirty="0"/>
              <a:t> </a:t>
            </a:r>
          </a:p>
          <a:p>
            <a:pPr algn="just" eaLnBrk="1" hangingPunct="1"/>
            <a:r>
              <a:rPr lang="en-US" sz="2800" dirty="0"/>
              <a:t>It is sensitive to outliers (can have a very large effect on the line of best fit and the Pearson correlation coefficient, leading to very difficult conclusions regarding the data)</a:t>
            </a: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A1D2599-B539-5A46-A971-0F2DC554EADE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26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D074AB3-3D87-D547-86DD-5570A98BF5BF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27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103427" name="Group 3"/>
          <p:cNvGraphicFramePr>
            <a:graphicFrameLocks noGrp="1"/>
          </p:cNvGraphicFramePr>
          <p:nvPr/>
        </p:nvGraphicFramePr>
        <p:xfrm>
          <a:off x="3733800" y="1600200"/>
          <a:ext cx="6096000" cy="4724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Tree Height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Trunk Diameter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xy</a:t>
                      </a:r>
                      <a:endParaRPr kumimoji="0" lang="en-US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kumimoji="0" lang="en-US" altLang="en-US" sz="20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  <a:r>
                        <a:rPr kumimoji="0" lang="en-US" altLang="en-US" sz="20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26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26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=321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=73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=3142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=14111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=713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5679" name="Picture 81" descr="j031238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810001"/>
            <a:ext cx="1952108" cy="257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2" name="Rectangle 6"/>
          <p:cNvSpPr>
            <a:spLocks noGrp="1" noChangeArrowheads="1"/>
          </p:cNvSpPr>
          <p:nvPr>
            <p:ph type="title"/>
          </p:nvPr>
        </p:nvSpPr>
        <p:spPr>
          <a:xfrm>
            <a:off x="3647728" y="76200"/>
            <a:ext cx="6563072" cy="1143000"/>
          </a:xfrm>
          <a:noFill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63DDA8A-0E12-0345-9315-2AD0DFE7D61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28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6628" name="Object 2"/>
          <p:cNvGraphicFramePr>
            <a:graphicFrameLocks noChangeAspect="1"/>
          </p:cNvGraphicFramePr>
          <p:nvPr/>
        </p:nvGraphicFramePr>
        <p:xfrm>
          <a:off x="1524000" y="2819400"/>
          <a:ext cx="4080386" cy="3162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914900" imgH="3810000" progId="Excel.Chart.8">
                  <p:embed/>
                </p:oleObj>
              </mc:Choice>
              <mc:Fallback>
                <p:oleObj name="Chart" r:id="rId2" imgW="4914900" imgH="3810000" progId="Excel.Char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819400"/>
                        <a:ext cx="4080386" cy="3162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3"/>
          <p:cNvGraphicFramePr>
            <a:graphicFrameLocks noChangeAspect="1"/>
          </p:cNvGraphicFramePr>
          <p:nvPr/>
        </p:nvGraphicFramePr>
        <p:xfrm>
          <a:off x="5334000" y="1905001"/>
          <a:ext cx="5176838" cy="216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1800" imgH="1257300" progId="Equation.3">
                  <p:embed/>
                </p:oleObj>
              </mc:Choice>
              <mc:Fallback>
                <p:oleObj name="Equation" r:id="rId4" imgW="2971800" imgH="12573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905001"/>
                        <a:ext cx="5176838" cy="21637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4"/>
          <p:cNvSpPr txBox="1">
            <a:spLocks noChangeArrowheads="1"/>
          </p:cNvSpPr>
          <p:nvPr/>
        </p:nvSpPr>
        <p:spPr bwMode="auto">
          <a:xfrm>
            <a:off x="2057400" y="5943600"/>
            <a:ext cx="228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+mn-lt"/>
              </a:rPr>
              <a:t>Trunk Diameter, </a:t>
            </a:r>
            <a:r>
              <a:rPr lang="en-US" sz="2000" i="1" dirty="0">
                <a:latin typeface="+mn-lt"/>
              </a:rPr>
              <a:t>x</a:t>
            </a:r>
          </a:p>
        </p:txBody>
      </p:sp>
      <p:sp>
        <p:nvSpPr>
          <p:cNvPr id="26631" name="Text Box 5"/>
          <p:cNvSpPr txBox="1">
            <a:spLocks noChangeArrowheads="1"/>
          </p:cNvSpPr>
          <p:nvPr/>
        </p:nvSpPr>
        <p:spPr bwMode="auto">
          <a:xfrm>
            <a:off x="1676400" y="1828800"/>
            <a:ext cx="990600" cy="937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+mn-lt"/>
              </a:rPr>
              <a:t>Tree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sz="2000" dirty="0">
                <a:latin typeface="+mn-lt"/>
              </a:rPr>
              <a:t>Height, 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sz="2000" i="1" dirty="0">
                <a:latin typeface="+mn-lt"/>
              </a:rPr>
              <a:t>y</a:t>
            </a:r>
          </a:p>
        </p:txBody>
      </p:sp>
      <p:sp>
        <p:nvSpPr>
          <p:cNvPr id="26633" name="Text Box 7"/>
          <p:cNvSpPr txBox="1">
            <a:spLocks noChangeArrowheads="1"/>
          </p:cNvSpPr>
          <p:nvPr/>
        </p:nvSpPr>
        <p:spPr bwMode="auto">
          <a:xfrm>
            <a:off x="8991601" y="1219200"/>
            <a:ext cx="13694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>
                <a:solidFill>
                  <a:schemeClr val="tx2"/>
                </a:solidFill>
                <a:latin typeface="+mn-lt"/>
              </a:rPr>
              <a:t>(continued)</a:t>
            </a:r>
          </a:p>
        </p:txBody>
      </p:sp>
      <p:sp>
        <p:nvSpPr>
          <p:cNvPr id="26634" name="Rectangle 8"/>
          <p:cNvSpPr>
            <a:spLocks noChangeArrowheads="1"/>
          </p:cNvSpPr>
          <p:nvPr/>
        </p:nvSpPr>
        <p:spPr bwMode="auto">
          <a:xfrm>
            <a:off x="5638800" y="4495801"/>
            <a:ext cx="4724400" cy="83099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>
                <a:latin typeface="+mn-lt"/>
              </a:rPr>
              <a:t>r = 0.886 → relatively strong positive </a:t>
            </a:r>
          </a:p>
          <a:p>
            <a:pPr eaLnBrk="1" hangingPunct="1"/>
            <a:r>
              <a:rPr lang="en-US" sz="2400">
                <a:latin typeface="+mn-lt"/>
              </a:rPr>
              <a:t>linear association between x and y</a:t>
            </a:r>
          </a:p>
        </p:txBody>
      </p:sp>
      <p:sp>
        <p:nvSpPr>
          <p:cNvPr id="26635" name="Line 9"/>
          <p:cNvSpPr>
            <a:spLocks noChangeShapeType="1"/>
          </p:cNvSpPr>
          <p:nvPr/>
        </p:nvSpPr>
        <p:spPr bwMode="auto">
          <a:xfrm>
            <a:off x="6553200" y="4114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latin typeface="+mn-lt"/>
            </a:endParaRPr>
          </a:p>
        </p:txBody>
      </p:sp>
      <p:pic>
        <p:nvPicPr>
          <p:cNvPr id="26636" name="Picture 10" descr="j0312382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138" y="5410201"/>
            <a:ext cx="855663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Exercise #2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90600"/>
            <a:ext cx="8229600" cy="5502275"/>
          </a:xfrm>
        </p:spPr>
        <p:txBody>
          <a:bodyPr/>
          <a:lstStyle/>
          <a:p>
            <a:pPr algn="just" eaLnBrk="1" hangingPunct="1"/>
            <a:endParaRPr lang="en-US" sz="2800" dirty="0"/>
          </a:p>
          <a:p>
            <a:pPr algn="just" eaLnBrk="1" hangingPunct="1"/>
            <a:r>
              <a:rPr lang="en-US" sz="2800" dirty="0"/>
              <a:t>The data represent </a:t>
            </a:r>
            <a:r>
              <a:rPr lang="en-US" sz="2800" i="1" dirty="0"/>
              <a:t>x</a:t>
            </a:r>
            <a:r>
              <a:rPr lang="en-US" sz="2800" dirty="0"/>
              <a:t> = score on a measure of test anxiety and </a:t>
            </a:r>
            <a:r>
              <a:rPr lang="en-US" sz="2800" i="1" dirty="0"/>
              <a:t>y</a:t>
            </a:r>
            <a:r>
              <a:rPr lang="en-US" sz="2800" dirty="0"/>
              <a:t> = exam score for a sample of </a:t>
            </a:r>
            <a:r>
              <a:rPr lang="en-US" sz="2800" i="1" dirty="0"/>
              <a:t>n </a:t>
            </a:r>
            <a:r>
              <a:rPr lang="en-US" sz="2800" dirty="0"/>
              <a:t>= 9 students:</a:t>
            </a:r>
          </a:p>
          <a:p>
            <a:pPr algn="just" eaLnBrk="1" hangingPunct="1"/>
            <a:endParaRPr lang="en-US" sz="2800" dirty="0"/>
          </a:p>
          <a:p>
            <a:pPr algn="just" eaLnBrk="1" hangingPunct="1"/>
            <a:endParaRPr lang="en-US" sz="2800" dirty="0"/>
          </a:p>
          <a:p>
            <a:pPr algn="just" eaLnBrk="1" hangingPunct="1"/>
            <a:endParaRPr lang="en-US" sz="2800" dirty="0"/>
          </a:p>
          <a:p>
            <a:pPr marL="0" indent="0" algn="just" eaLnBrk="1" hangingPunct="1">
              <a:buNone/>
            </a:pPr>
            <a:endParaRPr lang="en-US" sz="2800" dirty="0"/>
          </a:p>
          <a:p>
            <a:pPr marL="0" indent="0" algn="r" eaLnBrk="1" hangingPunct="1">
              <a:buNone/>
            </a:pPr>
            <a:r>
              <a:rPr lang="en-US" sz="1600" dirty="0"/>
              <a:t>Higher values for </a:t>
            </a:r>
            <a:r>
              <a:rPr lang="en-US" sz="1600" i="1" dirty="0"/>
              <a:t>x</a:t>
            </a:r>
            <a:r>
              <a:rPr lang="en-US" sz="1600" dirty="0"/>
              <a:t> indicate higher levels of anxiety.</a:t>
            </a:r>
          </a:p>
        </p:txBody>
      </p:sp>
      <p:graphicFrame>
        <p:nvGraphicFramePr>
          <p:cNvPr id="124967" name="Group 39"/>
          <p:cNvGraphicFramePr>
            <a:graphicFrameLocks noGrp="1"/>
          </p:cNvGraphicFramePr>
          <p:nvPr>
            <p:ph sz="half" idx="2"/>
          </p:nvPr>
        </p:nvGraphicFramePr>
        <p:xfrm>
          <a:off x="2209800" y="3276600"/>
          <a:ext cx="8001000" cy="14478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23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0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D399D16-B03A-1548-8FE2-8BA1B3857EF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29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7306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/>
          <a:lstStyle/>
          <a:p>
            <a:pPr marL="457200" indent="-457200" algn="just" eaLnBrk="1" hangingPunct="1">
              <a:buFontTx/>
              <a:buAutoNum type="alphaLcParenR"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Construct a scatter plot, and comment on the features of the plot.</a:t>
            </a:r>
          </a:p>
          <a:p>
            <a:pPr marL="457200" indent="-457200" algn="just" eaLnBrk="1" hangingPunct="1">
              <a:buFontTx/>
              <a:buAutoNum type="alphaLcParenR"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Does there appear to be a linear relationship between the two variables? How would you characterize the relationship?</a:t>
            </a:r>
          </a:p>
          <a:p>
            <a:pPr marL="457200" indent="-457200" algn="just" eaLnBrk="1" hangingPunct="1">
              <a:buFontTx/>
              <a:buAutoNum type="alphaLcParenR"/>
            </a:pPr>
            <a:r>
              <a:rPr lang="en-US" sz="2800" dirty="0"/>
              <a:t>Compute the value of the correlation coefficient. Is the value of r consistent with your answer to part (b)?</a:t>
            </a:r>
          </a:p>
          <a:p>
            <a:pPr marL="457200" indent="-457200" algn="just" eaLnBrk="1" hangingPunct="1">
              <a:buFontTx/>
              <a:buAutoNum type="alphaLcParenR"/>
            </a:pPr>
            <a:r>
              <a:rPr lang="en-US" sz="2800" dirty="0"/>
              <a:t>Is it reasonable to conclude that test anxiety caused poor exam performance? Explain.</a:t>
            </a:r>
          </a:p>
        </p:txBody>
      </p:sp>
      <p:sp>
        <p:nvSpPr>
          <p:cNvPr id="45059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991039" y="6492876"/>
            <a:ext cx="2675374" cy="3651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2CBD1B4-2294-EC4A-9351-07AB79765F0F}" type="slidenum">
              <a:rPr lang="en-US" sz="900">
                <a:solidFill>
                  <a:schemeClr val="bg1"/>
                </a:solidFill>
                <a:latin typeface="+mn-lt"/>
              </a:rPr>
              <a:pPr/>
              <a:t>30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Exercise #2 </a:t>
            </a:r>
            <a:r>
              <a:rPr lang="en-US" sz="2400" dirty="0">
                <a:latin typeface="+mn-lt"/>
              </a:rPr>
              <a:t>(cont.)</a:t>
            </a:r>
            <a:endParaRPr lang="en-US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8700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3962400" y="304800"/>
            <a:ext cx="6248400" cy="11430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Spearman's Rho Rank Correlation Coefficient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600200"/>
            <a:ext cx="8534400" cy="4191000"/>
          </a:xfrm>
        </p:spPr>
        <p:txBody>
          <a:bodyPr/>
          <a:lstStyle/>
          <a:p>
            <a:pPr algn="just" eaLnBrk="1" hangingPunct="1"/>
            <a:r>
              <a:rPr lang="en-US" sz="2800" dirty="0"/>
              <a:t>Denote by 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s</a:t>
            </a:r>
            <a:r>
              <a:rPr lang="en-US" sz="2800" dirty="0"/>
              <a:t> for sample data (with </a:t>
            </a:r>
            <a:r>
              <a:rPr lang="en-US" sz="2800" i="1" dirty="0"/>
              <a:t>r</a:t>
            </a:r>
            <a:r>
              <a:rPr lang="en-US" sz="2800" dirty="0"/>
              <a:t> used to denote that it is a correlation coefficient, and the subscript </a:t>
            </a:r>
            <a:r>
              <a:rPr lang="en-US" sz="2800" i="1" dirty="0"/>
              <a:t>s</a:t>
            </a:r>
            <a:r>
              <a:rPr lang="en-US" sz="2800" dirty="0"/>
              <a:t> to denote that it is named after the statistician Spearman.)</a:t>
            </a:r>
          </a:p>
          <a:p>
            <a:pPr algn="just" eaLnBrk="1" hangingPunct="1"/>
            <a:r>
              <a:rPr lang="en-US" sz="2800" dirty="0"/>
              <a:t>The linear correlation coefficient between the ranks of data on variable </a:t>
            </a:r>
            <a:r>
              <a:rPr lang="en-US" sz="2800" i="1" dirty="0"/>
              <a:t>x</a:t>
            </a:r>
            <a:r>
              <a:rPr lang="en-US" sz="2800" dirty="0"/>
              <a:t> and </a:t>
            </a:r>
            <a:r>
              <a:rPr lang="en-US" sz="2800" i="1" dirty="0"/>
              <a:t>y</a:t>
            </a:r>
          </a:p>
          <a:p>
            <a:pPr algn="just" eaLnBrk="1" hangingPunct="1">
              <a:buFontTx/>
              <a:buNone/>
            </a:pPr>
            <a:endParaRPr lang="en-US" sz="2800" dirty="0"/>
          </a:p>
          <a:p>
            <a:pPr algn="just" eaLnBrk="1" hangingPunct="1">
              <a:buFontTx/>
              <a:buNone/>
            </a:pPr>
            <a:r>
              <a:rPr lang="en-US" sz="2400" i="1" dirty="0"/>
              <a:t>      where</a:t>
            </a:r>
          </a:p>
          <a:p>
            <a:pPr algn="just" eaLnBrk="1" hangingPunct="1">
              <a:buFontTx/>
              <a:buNone/>
            </a:pPr>
            <a:r>
              <a:rPr lang="en-US" sz="2800" i="1" dirty="0"/>
              <a:t>			</a:t>
            </a:r>
            <a:r>
              <a:rPr lang="en-US" sz="2400" i="1" dirty="0"/>
              <a:t>d</a:t>
            </a:r>
            <a:r>
              <a:rPr lang="en-US" sz="2400" i="1" baseline="-25000" dirty="0"/>
              <a:t>i</a:t>
            </a:r>
            <a:r>
              <a:rPr lang="en-US" sz="2400" dirty="0"/>
              <a:t> = </a:t>
            </a:r>
            <a:r>
              <a:rPr lang="en-US" sz="2400" i="1" dirty="0" err="1"/>
              <a:t>y</a:t>
            </a:r>
            <a:r>
              <a:rPr lang="en-US" sz="2400" i="1" baseline="-25000" dirty="0" err="1"/>
              <a:t>i</a:t>
            </a:r>
            <a:r>
              <a:rPr lang="en-US" sz="2400" dirty="0"/>
              <a:t> –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dirty="0"/>
              <a:t> (difference in ranks)</a:t>
            </a:r>
          </a:p>
          <a:p>
            <a:pPr algn="just" eaLnBrk="1" hangingPunct="1">
              <a:buFontTx/>
              <a:buNone/>
            </a:pPr>
            <a:r>
              <a:rPr lang="en-US" sz="2400" dirty="0"/>
              <a:t>			 </a:t>
            </a:r>
            <a:r>
              <a:rPr lang="en-US" sz="2400" i="1" dirty="0"/>
              <a:t>n</a:t>
            </a:r>
            <a:r>
              <a:rPr lang="en-US" sz="2400" dirty="0"/>
              <a:t> = sample size </a:t>
            </a:r>
          </a:p>
        </p:txBody>
      </p:sp>
      <p:graphicFrame>
        <p:nvGraphicFramePr>
          <p:cNvPr id="2765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42783210"/>
              </p:ext>
            </p:extLst>
          </p:nvPr>
        </p:nvGraphicFramePr>
        <p:xfrm>
          <a:off x="4495800" y="4267200"/>
          <a:ext cx="2546483" cy="1152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800" imgH="482600" progId="Equation.3">
                  <p:embed/>
                </p:oleObj>
              </mc:Choice>
              <mc:Fallback>
                <p:oleObj name="Equation" r:id="rId2" imgW="1066800" imgH="482600" progId="Equation.3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267200"/>
                        <a:ext cx="2546483" cy="11526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8B235C9-1C23-4B4D-90E0-FD454D87A3FD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31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B0EA4-15A4-AC17-EC9C-07188EB6D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04166AD5-A945-6BA8-C233-A4352DD3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9pPr>
          </a:lstStyle>
          <a:p>
            <a:fld id="{E84E0A14-FAA9-F840-8F6E-CF85F7234053}" type="slidenum">
              <a:rPr lang="en-US" altLang="x-none" smtClean="0"/>
              <a:pPr/>
              <a:t>32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>
            <a:extLst>
              <a:ext uri="{FF2B5EF4-FFF2-40B4-BE49-F238E27FC236}">
                <a16:creationId xmlns:a16="http://schemas.microsoft.com/office/drawing/2014/main" id="{B211619A-4E11-DD72-7DEE-5339EF0CBB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24EB0D1E-E605-7D86-9B7A-6FCDF003F2F3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6F5672CD-9739-1D9B-6FAE-6F9926457643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4B4F0207-DCAD-EC1A-890B-956A43D8B829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192D6306-EBA9-F606-E0F0-D1EEB07833B1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CF50DA1E-9C95-57AF-6D89-2465F2E8517F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SCST1223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15561007-77C2-135D-A778-4472421C8BD7}"/>
              </a:ext>
            </a:extLst>
          </p:cNvPr>
          <p:cNvSpPr txBox="1">
            <a:spLocks/>
          </p:cNvSpPr>
          <p:nvPr/>
        </p:nvSpPr>
        <p:spPr bwMode="auto">
          <a:xfrm>
            <a:off x="1524000" y="3236168"/>
            <a:ext cx="9143999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7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PART 1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54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CORRELATION ANALYSIS (3)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54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SPEARMAN CORRELATION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90FE6769-9441-697C-BD80-4674309F3832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5E120798-8AFE-F62F-5D78-D1DBD1A6D305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8B7D3B62-483B-AC8D-CD78-ED3765B5DE36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61E97906-6DDA-367F-F015-7C63FC34AC50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22797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Spearman's </a:t>
            </a:r>
            <a:r>
              <a:rPr lang="en-US" sz="4400" dirty="0"/>
              <a:t>Rho Rank C</a:t>
            </a:r>
            <a:r>
              <a:rPr lang="en-US" sz="4400" dirty="0">
                <a:latin typeface="+mn-lt"/>
              </a:rPr>
              <a:t>orrelation Coefficient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28801"/>
            <a:ext cx="9525000" cy="4297363"/>
          </a:xfrm>
        </p:spPr>
        <p:txBody>
          <a:bodyPr/>
          <a:lstStyle/>
          <a:p>
            <a:pPr eaLnBrk="1" hangingPunct="1"/>
            <a:r>
              <a:rPr lang="en-US" dirty="0"/>
              <a:t>It is less sensitive to bias due to outliers</a:t>
            </a:r>
          </a:p>
          <a:p>
            <a:pPr eaLnBrk="1" hangingPunct="1"/>
            <a:r>
              <a:rPr lang="en-US" dirty="0"/>
              <a:t>It is applied to ordinal variables. </a:t>
            </a: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B07FFC9-305C-134F-BFC1-AE54F8BA840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33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1"/>
            <a:ext cx="9525000" cy="4525963"/>
          </a:xfrm>
        </p:spPr>
        <p:txBody>
          <a:bodyPr/>
          <a:lstStyle/>
          <a:p>
            <a:pPr algn="just" eaLnBrk="1" hangingPunct="1"/>
            <a:r>
              <a:rPr lang="en-US" sz="2800" dirty="0"/>
              <a:t>As an example, let us consider a musical (solo vocal) talent contest where 10 competitors are evaluated by two judges, A and B. </a:t>
            </a:r>
          </a:p>
          <a:p>
            <a:pPr algn="just" eaLnBrk="1" hangingPunct="1"/>
            <a:r>
              <a:rPr lang="en-US" sz="2800" dirty="0"/>
              <a:t>Usually judges award numerical scores for each contestant after his/her performance. </a:t>
            </a:r>
          </a:p>
          <a:p>
            <a:pPr algn="just" eaLnBrk="1" hangingPunct="1"/>
            <a:r>
              <a:rPr lang="en-US" sz="2800" dirty="0"/>
              <a:t>Spearman Rho Rank Correlation Coefficient can indicate if judges agree to each other’s views as far as talent of the contestants are concerned (though they might award different numerical scores) – in other words if the judges are unanimous. </a:t>
            </a: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BB69F9-0225-1C40-A076-456B779A905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447800"/>
            <a:ext cx="9448800" cy="4191000"/>
          </a:xfrm>
        </p:spPr>
        <p:txBody>
          <a:bodyPr/>
          <a:lstStyle/>
          <a:p>
            <a:pPr algn="just" eaLnBrk="1" hangingPunct="1"/>
            <a:r>
              <a:rPr lang="en-US" sz="2800" dirty="0"/>
              <a:t>In order to compute Spearman Rank Correlation Coefficient, it is necessary that the data be ranked.</a:t>
            </a:r>
          </a:p>
          <a:p>
            <a:pPr algn="just" eaLnBrk="1" hangingPunct="1"/>
            <a:r>
              <a:rPr lang="en-US" sz="2800" dirty="0"/>
              <a:t>There are a few issues here. </a:t>
            </a:r>
          </a:p>
          <a:p>
            <a:pPr algn="just" eaLnBrk="1" hangingPunct="1"/>
            <a:r>
              <a:rPr lang="en-US" sz="2800" dirty="0"/>
              <a:t>Suppose that scores of the judges (out of 10 were as follows):</a:t>
            </a:r>
            <a:endParaRPr lang="en-US" sz="2800" b="1" dirty="0"/>
          </a:p>
          <a:p>
            <a:pPr algn="just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126276" name="Group 32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71196709"/>
              </p:ext>
            </p:extLst>
          </p:nvPr>
        </p:nvGraphicFramePr>
        <p:xfrm>
          <a:off x="1295400" y="3684588"/>
          <a:ext cx="8077200" cy="238125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012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Contestant No.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0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Score by Judge A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0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Score by Judge B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2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0AF6FA3-5E9C-4641-AB26-825405BEB080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Arial" charset="0"/>
              </a:rPr>
              <a:t>Example</a:t>
            </a:r>
          </a:p>
        </p:txBody>
      </p:sp>
      <p:sp>
        <p:nvSpPr>
          <p:cNvPr id="3174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981200" y="1600200"/>
            <a:ext cx="8229600" cy="4343400"/>
          </a:xfrm>
          <a:blipFill rotWithShape="1">
            <a:blip r:embed="rId2"/>
            <a:stretch>
              <a:fillRect t="-562" r="-889" b="-4354"/>
            </a:stretch>
          </a:blip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  <a:ea typeface="+mn-ea"/>
              </a:rPr>
              <a:t> 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00B703B-4136-594E-8ED3-913C7B0F2489}" type="slidenum">
              <a:rPr lang="en-US" sz="1000">
                <a:solidFill>
                  <a:schemeClr val="bg1"/>
                </a:solidFill>
              </a:rPr>
              <a:pPr/>
              <a:t>36</a:t>
            </a:fld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40386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828800"/>
            <a:ext cx="7162800" cy="4191000"/>
          </a:xfrm>
        </p:spPr>
        <p:txBody>
          <a:bodyPr/>
          <a:lstStyle/>
          <a:p>
            <a:pPr eaLnBrk="1" hangingPunct="1"/>
            <a:r>
              <a:rPr lang="en-US" sz="2800" dirty="0"/>
              <a:t>For this example, ranks are as follows.</a:t>
            </a:r>
          </a:p>
        </p:txBody>
      </p:sp>
      <p:graphicFrame>
        <p:nvGraphicFramePr>
          <p:cNvPr id="131297" name="Group 22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8476794"/>
              </p:ext>
            </p:extLst>
          </p:nvPr>
        </p:nvGraphicFramePr>
        <p:xfrm>
          <a:off x="2286000" y="2667000"/>
          <a:ext cx="8077200" cy="23622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382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Contestant No.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4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5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6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7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8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9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10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Ranks of scores by Judge A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7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10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2.5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5.5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4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8.5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2.5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8.5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5.5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Ranks of scores by Judge B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5.5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7.5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5.5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9.5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7.5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9.5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77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DF54775-0518-2E43-A499-23F4DB276542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37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42672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graphicFrame>
        <p:nvGraphicFramePr>
          <p:cNvPr id="133192" name="Group 72"/>
          <p:cNvGraphicFramePr>
            <a:graphicFrameLocks noGrp="1"/>
          </p:cNvGraphicFramePr>
          <p:nvPr>
            <p:ph type="tbl" idx="1"/>
          </p:nvPr>
        </p:nvGraphicFramePr>
        <p:xfrm>
          <a:off x="1981200" y="1295400"/>
          <a:ext cx="8153400" cy="452599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7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Contestant No.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Ranks of scores by Judge A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Ranks of scores by Judge B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kumimoji="0" lang="en-US" altLang="en-US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  <a:endParaRPr kumimoji="0" lang="en-US" alt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5.5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-5.5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30.25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56.25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6.25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F32CB46-15F0-B341-9C60-EC6248DBA87B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38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3817" name="Text Box 73"/>
          <p:cNvSpPr txBox="1">
            <a:spLocks noChangeArrowheads="1"/>
          </p:cNvSpPr>
          <p:nvPr/>
        </p:nvSpPr>
        <p:spPr bwMode="auto">
          <a:xfrm>
            <a:off x="7924800" y="5939136"/>
            <a:ext cx="228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  <a:sym typeface="Symbol" charset="0"/>
              </a:rPr>
              <a:t>  </a:t>
            </a:r>
            <a:r>
              <a:rPr lang="en-US" dirty="0">
                <a:latin typeface="+mn-lt"/>
              </a:rPr>
              <a:t>d</a:t>
            </a:r>
            <a:r>
              <a:rPr lang="en-US" baseline="-25000" dirty="0">
                <a:latin typeface="+mn-lt"/>
              </a:rPr>
              <a:t>i</a:t>
            </a:r>
            <a:r>
              <a:rPr lang="en-US" baseline="30000" dirty="0">
                <a:latin typeface="+mn-lt"/>
              </a:rPr>
              <a:t>2</a:t>
            </a:r>
            <a:r>
              <a:rPr lang="en-US" dirty="0">
                <a:latin typeface="+mn-lt"/>
              </a:rPr>
              <a:t>     </a:t>
            </a:r>
            <a:r>
              <a:rPr lang="en-US" dirty="0">
                <a:latin typeface="+mn-lt"/>
                <a:sym typeface="Symbol" charset="0"/>
              </a:rPr>
              <a:t>=  146.5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graphicFrame>
        <p:nvGraphicFramePr>
          <p:cNvPr id="3482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825750" y="2819400"/>
          <a:ext cx="6477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800" imgH="482600" progId="Equation.3">
                  <p:embed/>
                </p:oleObj>
              </mc:Choice>
              <mc:Fallback>
                <p:oleObj name="Equation" r:id="rId2" imgW="2590800" imgH="482600" progId="Equation.3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2819400"/>
                        <a:ext cx="6477000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1468B26-4147-9345-8019-CF0A38886E4E}" type="slidenum">
              <a:rPr lang="en-US" sz="1000">
                <a:solidFill>
                  <a:schemeClr val="bg1"/>
                </a:solidFill>
              </a:rPr>
              <a:pPr/>
              <a:t>39</a:t>
            </a:fld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DDECF-448C-834D-B516-B8500274A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00201"/>
            <a:ext cx="8839200" cy="4525963"/>
          </a:xfrm>
        </p:spPr>
        <p:txBody>
          <a:bodyPr/>
          <a:lstStyle/>
          <a:p>
            <a:pPr marL="0" indent="0">
              <a:buNone/>
            </a:pPr>
            <a:r>
              <a:rPr lang="en-MY" dirty="0"/>
              <a:t>The scores for nine students in physics and math are as follows:</a:t>
            </a:r>
            <a:br>
              <a:rPr lang="en-MY" dirty="0"/>
            </a:br>
            <a:endParaRPr lang="en-MY" dirty="0"/>
          </a:p>
          <a:p>
            <a:endParaRPr lang="en-MY" dirty="0"/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br>
              <a:rPr lang="en-MY" dirty="0"/>
            </a:br>
            <a:r>
              <a:rPr lang="en-MY" sz="2800" dirty="0"/>
              <a:t>Compute the student’s ranks in the two subjects and compute the Spearman rank correlation</a:t>
            </a:r>
            <a:r>
              <a:rPr lang="en-MY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A052F-9A91-E544-A98E-141D4C91F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AD96D6-FCAC-BF48-A744-D10BE5BBB539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06A53D1-9345-074E-B876-59F81EE66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04800"/>
            <a:ext cx="5181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4400">
                <a:latin typeface="+mn-lt"/>
              </a:rPr>
              <a:t>Exercise #3</a:t>
            </a:r>
            <a:endParaRPr lang="en-US" sz="4400" dirty="0">
              <a:latin typeface="+mn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00E998-5028-BE44-B454-5E0A4D6D195A}"/>
              </a:ext>
            </a:extLst>
          </p:cNvPr>
          <p:cNvGraphicFramePr>
            <a:graphicFrameLocks noGrp="1"/>
          </p:cNvGraphicFramePr>
          <p:nvPr/>
        </p:nvGraphicFramePr>
        <p:xfrm>
          <a:off x="1948544" y="2834640"/>
          <a:ext cx="8381997" cy="1188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6729">
                  <a:extLst>
                    <a:ext uri="{9D8B030D-6E8A-4147-A177-3AD203B41FA5}">
                      <a16:colId xmlns:a16="http://schemas.microsoft.com/office/drawing/2014/main" val="1722246833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3990094778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2755460013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2470123413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443688525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3063534217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1237529825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3798080226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2451931565"/>
                    </a:ext>
                  </a:extLst>
                </a:gridCol>
                <a:gridCol w="757252">
                  <a:extLst>
                    <a:ext uri="{9D8B030D-6E8A-4147-A177-3AD203B41FA5}">
                      <a16:colId xmlns:a16="http://schemas.microsoft.com/office/drawing/2014/main" val="4113822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125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Physics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35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23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47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17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10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43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9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6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28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514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Mathematics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30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33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45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23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49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12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31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509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2299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CEF1A-3AF1-78BE-3E48-13AE2446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C468724D-CF54-CB5F-8E57-348BB79A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9pPr>
          </a:lstStyle>
          <a:p>
            <a:fld id="{E84E0A14-FAA9-F840-8F6E-CF85F7234053}" type="slidenum">
              <a:rPr lang="en-US" altLang="x-none" smtClean="0"/>
              <a:pPr/>
              <a:t>41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>
            <a:extLst>
              <a:ext uri="{FF2B5EF4-FFF2-40B4-BE49-F238E27FC236}">
                <a16:creationId xmlns:a16="http://schemas.microsoft.com/office/drawing/2014/main" id="{B59D0283-74C5-6590-0A2A-E2B0116BB9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302E796E-6ED3-CE49-04EB-DE4DE3759D04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B89DF839-97E5-8D14-57B6-2E6CB4F294CA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64C4E67B-703F-04E0-B4AC-732AB9FD4E17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0106B8D6-7E2B-B122-3F42-A038D0A6FDF4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2A2614AE-91BB-2780-F998-A0427D577EF5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SCST1223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C2BFFF47-125D-56BB-A45F-24BCEC259493}"/>
              </a:ext>
            </a:extLst>
          </p:cNvPr>
          <p:cNvSpPr txBox="1">
            <a:spLocks/>
          </p:cNvSpPr>
          <p:nvPr/>
        </p:nvSpPr>
        <p:spPr bwMode="auto">
          <a:xfrm>
            <a:off x="1524000" y="3236168"/>
            <a:ext cx="9143999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7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PART 1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40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CORRELATION ANALYSIS (4)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40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SIGNIFICANCE TEST FOR CORRELATION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040A1A3F-4CC8-9886-541F-32F876176F66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A37B12E2-B8BA-2D10-46C1-A889C4A3EDDB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F8BF82D2-21D7-5A55-B851-67D8B7F9813D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06B3E477-A78C-E8CC-7484-02349D1A1C7E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309327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3429000" y="2743200"/>
            <a:ext cx="5943600" cy="990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>
              <a:latin typeface="+mn-lt"/>
            </a:endParaRPr>
          </a:p>
        </p:txBody>
      </p:sp>
      <p:sp>
        <p:nvSpPr>
          <p:cNvPr id="35845" name="Rectangle 4"/>
          <p:cNvSpPr>
            <a:spLocks noGrp="1" noChangeArrowheads="1"/>
          </p:cNvSpPr>
          <p:nvPr>
            <p:ph idx="1"/>
          </p:nvPr>
        </p:nvSpPr>
        <p:spPr>
          <a:xfrm>
            <a:off x="2133600" y="1676401"/>
            <a:ext cx="8686800" cy="4532313"/>
          </a:xfrm>
        </p:spPr>
        <p:txBody>
          <a:bodyPr/>
          <a:lstStyle/>
          <a:p>
            <a:pPr marL="320675" indent="-320675" defTabSz="852488" eaLnBrk="1" hangingPunct="1"/>
            <a:r>
              <a:rPr lang="en-US" sz="2800" dirty="0"/>
              <a:t>Hypotheses</a:t>
            </a:r>
          </a:p>
          <a:p>
            <a:pPr marL="320675" indent="-320675" defTabSz="852488" eaLnBrk="1" hangingPunct="1"/>
            <a:endParaRPr lang="en-US" sz="2800" dirty="0"/>
          </a:p>
          <a:p>
            <a:pPr marL="1493838" lvl="3" indent="-212725" defTabSz="852488" eaLnBrk="1" hangingPunct="1">
              <a:buNone/>
            </a:pPr>
            <a:r>
              <a:rPr lang="en-US" sz="2800" dirty="0"/>
              <a:t>	H</a:t>
            </a:r>
            <a:r>
              <a:rPr lang="en-US" sz="2800" baseline="-25000" dirty="0"/>
              <a:t>0</a:t>
            </a:r>
            <a:r>
              <a:rPr lang="en-US" sz="2800" dirty="0"/>
              <a:t>: </a:t>
            </a:r>
            <a:r>
              <a:rPr lang="el-GR" sz="2800" dirty="0">
                <a:cs typeface="Arial" charset="0"/>
              </a:rPr>
              <a:t>ρ</a:t>
            </a:r>
            <a:r>
              <a:rPr lang="en-US" sz="2800" dirty="0"/>
              <a:t> = 0 	(no linear correlation) </a:t>
            </a:r>
          </a:p>
          <a:p>
            <a:pPr marL="1493838" lvl="3" indent="-212725" defTabSz="852488" eaLnBrk="1" hangingPunct="1">
              <a:buNone/>
            </a:pPr>
            <a:r>
              <a:rPr lang="en-US" sz="2800" dirty="0"/>
              <a:t>	H</a:t>
            </a:r>
            <a:r>
              <a:rPr lang="en-US" sz="2800" baseline="-25000" dirty="0"/>
              <a:t>A</a:t>
            </a:r>
            <a:r>
              <a:rPr lang="en-US" sz="2800" dirty="0"/>
              <a:t>: </a:t>
            </a:r>
            <a:r>
              <a:rPr lang="el-GR" sz="2800" dirty="0">
                <a:cs typeface="Arial" charset="0"/>
              </a:rPr>
              <a:t>ρ</a:t>
            </a:r>
            <a:r>
              <a:rPr lang="en-US" sz="2800" i="1" dirty="0"/>
              <a:t> </a:t>
            </a:r>
            <a:r>
              <a:rPr lang="en-US" sz="2800" dirty="0">
                <a:cs typeface="Arial" charset="0"/>
              </a:rPr>
              <a:t>≠</a:t>
            </a:r>
            <a:r>
              <a:rPr lang="en-US" sz="2800" dirty="0"/>
              <a:t> 0 	(linear correlation exists)</a:t>
            </a:r>
          </a:p>
          <a:p>
            <a:pPr marL="320675" indent="-320675" defTabSz="852488" eaLnBrk="1" hangingPunct="1"/>
            <a:endParaRPr lang="en-US" sz="1100" dirty="0"/>
          </a:p>
          <a:p>
            <a:pPr marL="320675" indent="-320675" defTabSz="852488" eaLnBrk="1" hangingPunct="1"/>
            <a:endParaRPr lang="en-US" sz="1100" dirty="0"/>
          </a:p>
          <a:p>
            <a:pPr marL="320675" indent="-320675" defTabSz="852488" eaLnBrk="1" hangingPunct="1"/>
            <a:r>
              <a:rPr lang="en-US" sz="2800" dirty="0"/>
              <a:t>Test statistic</a:t>
            </a:r>
          </a:p>
          <a:p>
            <a:pPr marL="693738" lvl="1" indent="-268288" defTabSz="852488" eaLnBrk="1" hangingPunct="1"/>
            <a:endParaRPr lang="en-US" dirty="0"/>
          </a:p>
          <a:p>
            <a:pPr marL="693738" lvl="1" indent="-268288" defTabSz="852488" eaLnBrk="1" hangingPunct="1">
              <a:buNone/>
            </a:pPr>
            <a:r>
              <a:rPr lang="en-US" sz="3600" dirty="0"/>
              <a:t> 						</a:t>
            </a:r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F1EF21D-2144-164E-80C1-338A160A89DA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42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35846" name="Object 5"/>
          <p:cNvGraphicFramePr>
            <a:graphicFrameLocks noChangeAspect="1"/>
          </p:cNvGraphicFramePr>
          <p:nvPr/>
        </p:nvGraphicFramePr>
        <p:xfrm>
          <a:off x="4876800" y="4524376"/>
          <a:ext cx="2133600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647700" progId="Equation.3">
                  <p:embed/>
                </p:oleObj>
              </mc:Choice>
              <mc:Fallback>
                <p:oleObj name="Equation" r:id="rId2" imgW="736600" imgH="6477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24376"/>
                        <a:ext cx="2133600" cy="18764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847" name="Picture 6" descr="j031238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1" y="5257801"/>
            <a:ext cx="855663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Rectangle 7"/>
          <p:cNvSpPr>
            <a:spLocks noChangeArrowheads="1"/>
          </p:cNvSpPr>
          <p:nvPr/>
        </p:nvSpPr>
        <p:spPr bwMode="auto">
          <a:xfrm>
            <a:off x="5410201" y="685800"/>
            <a:ext cx="31424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+mn-lt"/>
              </a:rPr>
              <a:t>Significance Test for Correlation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267200" y="304800"/>
            <a:ext cx="5181600" cy="1066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Significance Test for Correlation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Content Placeholder 12"/>
          <p:cNvSpPr>
            <a:spLocks noGrp="1"/>
          </p:cNvSpPr>
          <p:nvPr>
            <p:ph idx="1"/>
          </p:nvPr>
        </p:nvSpPr>
        <p:spPr>
          <a:xfrm>
            <a:off x="1905000" y="1752600"/>
            <a:ext cx="8305800" cy="4191000"/>
          </a:xfrm>
        </p:spPr>
        <p:txBody>
          <a:bodyPr/>
          <a:lstStyle/>
          <a:p>
            <a:r>
              <a:rPr lang="en-US" sz="2800" dirty="0"/>
              <a:t>Select the significance level, </a:t>
            </a:r>
            <a:r>
              <a:rPr lang="en-US" sz="2800" dirty="0">
                <a:sym typeface="Symbol" charset="0"/>
              </a:rPr>
              <a:t></a:t>
            </a:r>
          </a:p>
          <a:p>
            <a:r>
              <a:rPr lang="en-US" sz="2800" dirty="0">
                <a:sym typeface="Symbol" charset="0"/>
              </a:rPr>
              <a:t>Find the critical value of </a:t>
            </a:r>
            <a:r>
              <a:rPr lang="en-US" sz="2800" i="1" dirty="0">
                <a:sym typeface="Symbol" charset="0"/>
              </a:rPr>
              <a:t>t</a:t>
            </a:r>
            <a:r>
              <a:rPr lang="en-US" sz="2800" dirty="0">
                <a:sym typeface="Symbol" charset="0"/>
              </a:rPr>
              <a:t> with </a:t>
            </a:r>
            <a:r>
              <a:rPr lang="en-US" sz="2800" i="1" dirty="0">
                <a:sym typeface="Symbol" charset="0"/>
              </a:rPr>
              <a:t>n</a:t>
            </a:r>
            <a:r>
              <a:rPr lang="en-US" sz="2800" dirty="0">
                <a:sym typeface="Symbol" charset="0"/>
              </a:rPr>
              <a:t>-2 degrees of freedom from </a:t>
            </a:r>
            <a:r>
              <a:rPr lang="en-US" sz="2800" i="1" dirty="0">
                <a:sym typeface="Symbol" charset="0"/>
              </a:rPr>
              <a:t>t</a:t>
            </a:r>
            <a:r>
              <a:rPr lang="en-US" sz="2800" dirty="0">
                <a:sym typeface="Symbol" charset="0"/>
              </a:rPr>
              <a:t> distribution table (Table A-3 - </a:t>
            </a:r>
            <a:r>
              <a:rPr lang="en-US" sz="2800" dirty="0" err="1">
                <a:sym typeface="Symbol" charset="0"/>
              </a:rPr>
              <a:t>Triola</a:t>
            </a:r>
            <a:r>
              <a:rPr lang="en-US" sz="2800" dirty="0">
                <a:sym typeface="Symbol" charset="0"/>
              </a:rPr>
              <a:t> Table)</a:t>
            </a:r>
          </a:p>
          <a:p>
            <a:r>
              <a:rPr lang="en-US" sz="2800" dirty="0">
                <a:sym typeface="Symbol" charset="0"/>
              </a:rPr>
              <a:t>If the test statistic in the critical region, reject H</a:t>
            </a:r>
            <a:r>
              <a:rPr lang="en-US" sz="2800" baseline="-25000" dirty="0">
                <a:sym typeface="Symbol" charset="0"/>
              </a:rPr>
              <a:t>0</a:t>
            </a:r>
            <a:r>
              <a:rPr lang="en-US" sz="2800" dirty="0">
                <a:sym typeface="Symbol" charset="0"/>
              </a:rPr>
              <a:t>. Otherwise fail to reject H</a:t>
            </a:r>
            <a:r>
              <a:rPr lang="en-US" sz="2800" baseline="-25000" dirty="0">
                <a:sym typeface="Symbol" charset="0"/>
              </a:rPr>
              <a:t>0</a:t>
            </a:r>
          </a:p>
          <a:p>
            <a:endParaRPr lang="en-US" sz="2800" dirty="0"/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88638E9-1D8B-BF4B-BBB3-6E8E28E8692A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43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868" name="Rectangle 7"/>
          <p:cNvSpPr>
            <a:spLocks noChangeArrowheads="1"/>
          </p:cNvSpPr>
          <p:nvPr/>
        </p:nvSpPr>
        <p:spPr bwMode="auto">
          <a:xfrm>
            <a:off x="5410201" y="685800"/>
            <a:ext cx="31424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+mn-lt"/>
              </a:rPr>
              <a:t>Significance Test for Correlation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429000" y="4324350"/>
            <a:ext cx="7086600" cy="2228850"/>
            <a:chOff x="1905000" y="4324350"/>
            <a:chExt cx="7086600" cy="2228850"/>
          </a:xfrm>
        </p:grpSpPr>
        <p:sp>
          <p:nvSpPr>
            <p:cNvPr id="36870" name="Text Box 9"/>
            <p:cNvSpPr txBox="1">
              <a:spLocks noChangeArrowheads="1"/>
            </p:cNvSpPr>
            <p:nvPr/>
          </p:nvSpPr>
          <p:spPr bwMode="auto">
            <a:xfrm>
              <a:off x="6767512" y="5924550"/>
              <a:ext cx="990600" cy="338554"/>
            </a:xfrm>
            <a:prstGeom prst="rect">
              <a:avLst/>
            </a:prstGeom>
            <a:solidFill>
              <a:srgbClr val="FAFE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latin typeface="+mn-lt"/>
                </a:rPr>
                <a:t>Reject H</a:t>
              </a:r>
              <a:r>
                <a:rPr lang="en-US" sz="1600" baseline="-25000">
                  <a:latin typeface="+mn-lt"/>
                </a:rPr>
                <a:t>0</a:t>
              </a:r>
            </a:p>
          </p:txBody>
        </p:sp>
        <p:sp>
          <p:nvSpPr>
            <p:cNvPr id="36871" name="Text Box 10"/>
            <p:cNvSpPr txBox="1">
              <a:spLocks noChangeArrowheads="1"/>
            </p:cNvSpPr>
            <p:nvPr/>
          </p:nvSpPr>
          <p:spPr bwMode="auto">
            <a:xfrm>
              <a:off x="2576512" y="5924550"/>
              <a:ext cx="990600" cy="338554"/>
            </a:xfrm>
            <a:prstGeom prst="rect">
              <a:avLst/>
            </a:prstGeom>
            <a:solidFill>
              <a:srgbClr val="FAFE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latin typeface="+mn-lt"/>
                </a:rPr>
                <a:t>Reject H</a:t>
              </a:r>
              <a:r>
                <a:rPr lang="en-US" sz="1600" baseline="-25000">
                  <a:latin typeface="+mn-lt"/>
                </a:rPr>
                <a:t>0</a:t>
              </a:r>
            </a:p>
          </p:txBody>
        </p:sp>
        <p:sp>
          <p:nvSpPr>
            <p:cNvPr id="36872" name="Freeform 11"/>
            <p:cNvSpPr>
              <a:spLocks/>
            </p:cNvSpPr>
            <p:nvPr/>
          </p:nvSpPr>
          <p:spPr bwMode="auto">
            <a:xfrm flipH="1">
              <a:off x="6691312" y="5467350"/>
              <a:ext cx="842963" cy="228600"/>
            </a:xfrm>
            <a:custGeom>
              <a:avLst/>
              <a:gdLst>
                <a:gd name="T0" fmla="*/ 2147483647 w 582"/>
                <a:gd name="T1" fmla="*/ 2147483647 h 183"/>
                <a:gd name="T2" fmla="*/ 0 w 582"/>
                <a:gd name="T3" fmla="*/ 2147483647 h 183"/>
                <a:gd name="T4" fmla="*/ 2147483647 w 582"/>
                <a:gd name="T5" fmla="*/ 2147483647 h 183"/>
                <a:gd name="T6" fmla="*/ 2147483647 w 582"/>
                <a:gd name="T7" fmla="*/ 2147483647 h 183"/>
                <a:gd name="T8" fmla="*/ 2147483647 w 582"/>
                <a:gd name="T9" fmla="*/ 2147483647 h 183"/>
                <a:gd name="T10" fmla="*/ 2147483647 w 582"/>
                <a:gd name="T11" fmla="*/ 0 h 183"/>
                <a:gd name="T12" fmla="*/ 2147483647 w 582"/>
                <a:gd name="T13" fmla="*/ 2147483647 h 183"/>
                <a:gd name="T14" fmla="*/ 2147483647 w 582"/>
                <a:gd name="T15" fmla="*/ 2147483647 h 183"/>
                <a:gd name="T16" fmla="*/ 2147483647 w 582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2" h="183">
                  <a:moveTo>
                    <a:pt x="9" y="177"/>
                  </a:moveTo>
                  <a:lnTo>
                    <a:pt x="0" y="132"/>
                  </a:lnTo>
                  <a:lnTo>
                    <a:pt x="258" y="114"/>
                  </a:lnTo>
                  <a:lnTo>
                    <a:pt x="423" y="66"/>
                  </a:lnTo>
                  <a:lnTo>
                    <a:pt x="504" y="48"/>
                  </a:lnTo>
                  <a:lnTo>
                    <a:pt x="582" y="0"/>
                  </a:lnTo>
                  <a:lnTo>
                    <a:pt x="582" y="183"/>
                  </a:lnTo>
                  <a:lnTo>
                    <a:pt x="9" y="182"/>
                  </a:lnTo>
                  <a:lnTo>
                    <a:pt x="9" y="177"/>
                  </a:lnTo>
                </a:path>
              </a:pathLst>
            </a:custGeom>
            <a:solidFill>
              <a:srgbClr val="FFD5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66FFFF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73" name="Freeform 12"/>
            <p:cNvSpPr>
              <a:spLocks/>
            </p:cNvSpPr>
            <p:nvPr/>
          </p:nvSpPr>
          <p:spPr bwMode="auto">
            <a:xfrm>
              <a:off x="2805112" y="5467350"/>
              <a:ext cx="833438" cy="228600"/>
            </a:xfrm>
            <a:custGeom>
              <a:avLst/>
              <a:gdLst>
                <a:gd name="T0" fmla="*/ 2147483647 w 582"/>
                <a:gd name="T1" fmla="*/ 2147483647 h 183"/>
                <a:gd name="T2" fmla="*/ 0 w 582"/>
                <a:gd name="T3" fmla="*/ 2147483647 h 183"/>
                <a:gd name="T4" fmla="*/ 2147483647 w 582"/>
                <a:gd name="T5" fmla="*/ 2147483647 h 183"/>
                <a:gd name="T6" fmla="*/ 2147483647 w 582"/>
                <a:gd name="T7" fmla="*/ 2147483647 h 183"/>
                <a:gd name="T8" fmla="*/ 2147483647 w 582"/>
                <a:gd name="T9" fmla="*/ 2147483647 h 183"/>
                <a:gd name="T10" fmla="*/ 2147483647 w 582"/>
                <a:gd name="T11" fmla="*/ 0 h 183"/>
                <a:gd name="T12" fmla="*/ 2147483647 w 582"/>
                <a:gd name="T13" fmla="*/ 2147483647 h 183"/>
                <a:gd name="T14" fmla="*/ 2147483647 w 582"/>
                <a:gd name="T15" fmla="*/ 2147483647 h 183"/>
                <a:gd name="T16" fmla="*/ 2147483647 w 582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2" h="183">
                  <a:moveTo>
                    <a:pt x="9" y="177"/>
                  </a:moveTo>
                  <a:lnTo>
                    <a:pt x="0" y="132"/>
                  </a:lnTo>
                  <a:lnTo>
                    <a:pt x="258" y="114"/>
                  </a:lnTo>
                  <a:lnTo>
                    <a:pt x="423" y="66"/>
                  </a:lnTo>
                  <a:lnTo>
                    <a:pt x="504" y="48"/>
                  </a:lnTo>
                  <a:lnTo>
                    <a:pt x="582" y="0"/>
                  </a:lnTo>
                  <a:lnTo>
                    <a:pt x="582" y="183"/>
                  </a:lnTo>
                  <a:lnTo>
                    <a:pt x="9" y="182"/>
                  </a:lnTo>
                  <a:lnTo>
                    <a:pt x="9" y="177"/>
                  </a:lnTo>
                </a:path>
              </a:pathLst>
            </a:custGeom>
            <a:solidFill>
              <a:srgbClr val="FFD5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66FFFF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74" name="Freeform 13"/>
            <p:cNvSpPr>
              <a:spLocks/>
            </p:cNvSpPr>
            <p:nvPr/>
          </p:nvSpPr>
          <p:spPr bwMode="auto">
            <a:xfrm>
              <a:off x="2881312" y="4324350"/>
              <a:ext cx="2362200" cy="1295400"/>
            </a:xfrm>
            <a:custGeom>
              <a:avLst/>
              <a:gdLst>
                <a:gd name="T0" fmla="*/ 0 w 600"/>
                <a:gd name="T1" fmla="*/ 2147483647 h 576"/>
                <a:gd name="T2" fmla="*/ 2147483647 w 600"/>
                <a:gd name="T3" fmla="*/ 2147483647 h 576"/>
                <a:gd name="T4" fmla="*/ 2147483647 w 600"/>
                <a:gd name="T5" fmla="*/ 2147483647 h 576"/>
                <a:gd name="T6" fmla="*/ 2147483647 w 600"/>
                <a:gd name="T7" fmla="*/ 2147483647 h 576"/>
                <a:gd name="T8" fmla="*/ 2147483647 w 600"/>
                <a:gd name="T9" fmla="*/ 2147483647 h 576"/>
                <a:gd name="T10" fmla="*/ 2147483647 w 600"/>
                <a:gd name="T11" fmla="*/ 2147483647 h 576"/>
                <a:gd name="T12" fmla="*/ 2147483647 w 600"/>
                <a:gd name="T13" fmla="*/ 2147483647 h 576"/>
                <a:gd name="T14" fmla="*/ 2147483647 w 600"/>
                <a:gd name="T15" fmla="*/ 2147483647 h 576"/>
                <a:gd name="T16" fmla="*/ 2147483647 w 600"/>
                <a:gd name="T17" fmla="*/ 2147483647 h 576"/>
                <a:gd name="T18" fmla="*/ 2147483647 w 600"/>
                <a:gd name="T19" fmla="*/ 2147483647 h 576"/>
                <a:gd name="T20" fmla="*/ 2147483647 w 600"/>
                <a:gd name="T21" fmla="*/ 2147483647 h 576"/>
                <a:gd name="T22" fmla="*/ 2147483647 w 600"/>
                <a:gd name="T23" fmla="*/ 2147483647 h 576"/>
                <a:gd name="T24" fmla="*/ 2147483647 w 600"/>
                <a:gd name="T25" fmla="*/ 2147483647 h 576"/>
                <a:gd name="T26" fmla="*/ 2147483647 w 600"/>
                <a:gd name="T27" fmla="*/ 2147483647 h 576"/>
                <a:gd name="T28" fmla="*/ 2147483647 w 600"/>
                <a:gd name="T29" fmla="*/ 2147483647 h 576"/>
                <a:gd name="T30" fmla="*/ 2147483647 w 600"/>
                <a:gd name="T31" fmla="*/ 0 h 5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0" h="576">
                  <a:moveTo>
                    <a:pt x="0" y="575"/>
                  </a:moveTo>
                  <a:lnTo>
                    <a:pt x="63" y="570"/>
                  </a:lnTo>
                  <a:lnTo>
                    <a:pt x="95" y="562"/>
                  </a:lnTo>
                  <a:lnTo>
                    <a:pt x="127" y="553"/>
                  </a:lnTo>
                  <a:lnTo>
                    <a:pt x="158" y="540"/>
                  </a:lnTo>
                  <a:lnTo>
                    <a:pt x="190" y="521"/>
                  </a:lnTo>
                  <a:lnTo>
                    <a:pt x="222" y="498"/>
                  </a:lnTo>
                  <a:lnTo>
                    <a:pt x="284" y="432"/>
                  </a:lnTo>
                  <a:lnTo>
                    <a:pt x="347" y="338"/>
                  </a:lnTo>
                  <a:lnTo>
                    <a:pt x="410" y="224"/>
                  </a:lnTo>
                  <a:lnTo>
                    <a:pt x="441" y="167"/>
                  </a:lnTo>
                  <a:lnTo>
                    <a:pt x="473" y="114"/>
                  </a:lnTo>
                  <a:lnTo>
                    <a:pt x="505" y="67"/>
                  </a:lnTo>
                  <a:lnTo>
                    <a:pt x="535" y="31"/>
                  </a:lnTo>
                  <a:lnTo>
                    <a:pt x="567" y="8"/>
                  </a:lnTo>
                  <a:lnTo>
                    <a:pt x="599" y="0"/>
                  </a:lnTo>
                </a:path>
              </a:pathLst>
            </a:custGeom>
            <a:noFill/>
            <a:ln w="50800" cap="rnd" cmpd="sng">
              <a:solidFill>
                <a:schemeClr val="folHlink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75" name="Freeform 14"/>
            <p:cNvSpPr>
              <a:spLocks/>
            </p:cNvSpPr>
            <p:nvPr/>
          </p:nvSpPr>
          <p:spPr bwMode="auto">
            <a:xfrm>
              <a:off x="5243512" y="4324350"/>
              <a:ext cx="2209800" cy="1295400"/>
            </a:xfrm>
            <a:custGeom>
              <a:avLst/>
              <a:gdLst>
                <a:gd name="T0" fmla="*/ 2147483647 w 576"/>
                <a:gd name="T1" fmla="*/ 2147483647 h 576"/>
                <a:gd name="T2" fmla="*/ 2147483647 w 576"/>
                <a:gd name="T3" fmla="*/ 2147483647 h 576"/>
                <a:gd name="T4" fmla="*/ 2147483647 w 576"/>
                <a:gd name="T5" fmla="*/ 2147483647 h 576"/>
                <a:gd name="T6" fmla="*/ 2147483647 w 576"/>
                <a:gd name="T7" fmla="*/ 2147483647 h 576"/>
                <a:gd name="T8" fmla="*/ 2147483647 w 576"/>
                <a:gd name="T9" fmla="*/ 2147483647 h 576"/>
                <a:gd name="T10" fmla="*/ 2147483647 w 576"/>
                <a:gd name="T11" fmla="*/ 2147483647 h 576"/>
                <a:gd name="T12" fmla="*/ 2147483647 w 576"/>
                <a:gd name="T13" fmla="*/ 2147483647 h 576"/>
                <a:gd name="T14" fmla="*/ 2147483647 w 576"/>
                <a:gd name="T15" fmla="*/ 2147483647 h 576"/>
                <a:gd name="T16" fmla="*/ 2147483647 w 576"/>
                <a:gd name="T17" fmla="*/ 2147483647 h 576"/>
                <a:gd name="T18" fmla="*/ 2147483647 w 576"/>
                <a:gd name="T19" fmla="*/ 2147483647 h 576"/>
                <a:gd name="T20" fmla="*/ 2147483647 w 576"/>
                <a:gd name="T21" fmla="*/ 2147483647 h 576"/>
                <a:gd name="T22" fmla="*/ 2147483647 w 576"/>
                <a:gd name="T23" fmla="*/ 2147483647 h 576"/>
                <a:gd name="T24" fmla="*/ 2147483647 w 576"/>
                <a:gd name="T25" fmla="*/ 2147483647 h 576"/>
                <a:gd name="T26" fmla="*/ 2147483647 w 576"/>
                <a:gd name="T27" fmla="*/ 2147483647 h 576"/>
                <a:gd name="T28" fmla="*/ 2147483647 w 576"/>
                <a:gd name="T29" fmla="*/ 2147483647 h 576"/>
                <a:gd name="T30" fmla="*/ 0 w 576"/>
                <a:gd name="T31" fmla="*/ 0 h 5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" h="576">
                  <a:moveTo>
                    <a:pt x="575" y="575"/>
                  </a:moveTo>
                  <a:lnTo>
                    <a:pt x="515" y="570"/>
                  </a:lnTo>
                  <a:lnTo>
                    <a:pt x="484" y="562"/>
                  </a:lnTo>
                  <a:lnTo>
                    <a:pt x="455" y="553"/>
                  </a:lnTo>
                  <a:lnTo>
                    <a:pt x="424" y="540"/>
                  </a:lnTo>
                  <a:lnTo>
                    <a:pt x="393" y="521"/>
                  </a:lnTo>
                  <a:lnTo>
                    <a:pt x="364" y="498"/>
                  </a:lnTo>
                  <a:lnTo>
                    <a:pt x="303" y="432"/>
                  </a:lnTo>
                  <a:lnTo>
                    <a:pt x="242" y="338"/>
                  </a:lnTo>
                  <a:lnTo>
                    <a:pt x="182" y="224"/>
                  </a:lnTo>
                  <a:lnTo>
                    <a:pt x="151" y="167"/>
                  </a:lnTo>
                  <a:lnTo>
                    <a:pt x="120" y="114"/>
                  </a:lnTo>
                  <a:lnTo>
                    <a:pt x="91" y="67"/>
                  </a:lnTo>
                  <a:lnTo>
                    <a:pt x="60" y="31"/>
                  </a:lnTo>
                  <a:lnTo>
                    <a:pt x="30" y="8"/>
                  </a:lnTo>
                  <a:lnTo>
                    <a:pt x="0" y="0"/>
                  </a:lnTo>
                </a:path>
              </a:pathLst>
            </a:custGeom>
            <a:noFill/>
            <a:ln w="50800" cap="rnd" cmpd="sng">
              <a:solidFill>
                <a:schemeClr val="folHlink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76" name="Line 19"/>
            <p:cNvSpPr>
              <a:spLocks noChangeShapeType="1"/>
            </p:cNvSpPr>
            <p:nvPr/>
          </p:nvSpPr>
          <p:spPr bwMode="auto">
            <a:xfrm>
              <a:off x="3643312" y="577215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77" name="Text Box 20"/>
            <p:cNvSpPr txBox="1">
              <a:spLocks noChangeArrowheads="1"/>
            </p:cNvSpPr>
            <p:nvPr/>
          </p:nvSpPr>
          <p:spPr bwMode="auto">
            <a:xfrm>
              <a:off x="3262312" y="6091535"/>
              <a:ext cx="10810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latin typeface="+mn-lt"/>
                </a:rPr>
                <a:t>-t</a:t>
              </a:r>
              <a:r>
                <a:rPr lang="el-GR" baseline="-25000" dirty="0">
                  <a:latin typeface="+mn-lt"/>
                  <a:cs typeface="Arial" charset="0"/>
                </a:rPr>
                <a:t>α</a:t>
              </a:r>
              <a:r>
                <a:rPr lang="en-US" baseline="-25000" dirty="0">
                  <a:latin typeface="+mn-lt"/>
                  <a:cs typeface="Arial" charset="0"/>
                </a:rPr>
                <a:t>/2,n-2</a:t>
              </a:r>
              <a:endParaRPr lang="el-GR" baseline="-25000" dirty="0">
                <a:latin typeface="+mn-lt"/>
                <a:cs typeface="Arial" charset="0"/>
              </a:endParaRPr>
            </a:p>
          </p:txBody>
        </p:sp>
        <p:sp>
          <p:nvSpPr>
            <p:cNvPr id="36878" name="Text Box 22"/>
            <p:cNvSpPr txBox="1">
              <a:spLocks noChangeArrowheads="1"/>
            </p:cNvSpPr>
            <p:nvPr/>
          </p:nvSpPr>
          <p:spPr bwMode="auto">
            <a:xfrm>
              <a:off x="4481512" y="5924550"/>
              <a:ext cx="152400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latin typeface="+mn-lt"/>
                </a:rPr>
                <a:t>Fail to reject H</a:t>
              </a:r>
              <a:r>
                <a:rPr lang="en-US" sz="1600" baseline="-25000">
                  <a:latin typeface="+mn-lt"/>
                </a:rPr>
                <a:t>0</a:t>
              </a:r>
            </a:p>
          </p:txBody>
        </p:sp>
        <p:sp>
          <p:nvSpPr>
            <p:cNvPr id="36879" name="Line 23"/>
            <p:cNvSpPr>
              <a:spLocks noChangeShapeType="1"/>
            </p:cNvSpPr>
            <p:nvPr/>
          </p:nvSpPr>
          <p:spPr bwMode="auto">
            <a:xfrm>
              <a:off x="2500312" y="5924550"/>
              <a:ext cx="1143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80" name="Text Box 25"/>
            <p:cNvSpPr txBox="1">
              <a:spLocks noChangeArrowheads="1"/>
            </p:cNvSpPr>
            <p:nvPr/>
          </p:nvSpPr>
          <p:spPr bwMode="auto">
            <a:xfrm>
              <a:off x="6324600" y="6091535"/>
              <a:ext cx="93821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latin typeface="+mn-lt"/>
                </a:rPr>
                <a:t>t</a:t>
              </a:r>
              <a:r>
                <a:rPr lang="el-GR" baseline="-25000" dirty="0">
                  <a:latin typeface="+mn-lt"/>
                  <a:cs typeface="Arial" charset="0"/>
                </a:rPr>
                <a:t>α</a:t>
              </a:r>
              <a:r>
                <a:rPr lang="en-US" baseline="-25000" dirty="0">
                  <a:latin typeface="+mn-lt"/>
                  <a:cs typeface="Arial" charset="0"/>
                </a:rPr>
                <a:t>/2,n-2</a:t>
              </a:r>
              <a:endParaRPr lang="el-GR" baseline="-25000" dirty="0">
                <a:latin typeface="+mn-lt"/>
                <a:cs typeface="Arial" charset="0"/>
              </a:endParaRPr>
            </a:p>
          </p:txBody>
        </p:sp>
        <p:sp>
          <p:nvSpPr>
            <p:cNvPr id="36881" name="Line 26"/>
            <p:cNvSpPr>
              <a:spLocks noChangeShapeType="1"/>
            </p:cNvSpPr>
            <p:nvPr/>
          </p:nvSpPr>
          <p:spPr bwMode="auto">
            <a:xfrm>
              <a:off x="6691312" y="577215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82" name="Line 15"/>
            <p:cNvSpPr>
              <a:spLocks noChangeShapeType="1"/>
            </p:cNvSpPr>
            <p:nvPr/>
          </p:nvSpPr>
          <p:spPr bwMode="auto">
            <a:xfrm>
              <a:off x="2805112" y="569595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83" name="Line 21"/>
            <p:cNvSpPr>
              <a:spLocks noChangeShapeType="1"/>
            </p:cNvSpPr>
            <p:nvPr/>
          </p:nvSpPr>
          <p:spPr bwMode="auto">
            <a:xfrm>
              <a:off x="3643312" y="5934075"/>
              <a:ext cx="30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84" name="Line 27"/>
            <p:cNvSpPr>
              <a:spLocks noChangeShapeType="1"/>
            </p:cNvSpPr>
            <p:nvPr/>
          </p:nvSpPr>
          <p:spPr bwMode="auto">
            <a:xfrm>
              <a:off x="6691312" y="5953125"/>
              <a:ext cx="1219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6885" name="TextBox 1"/>
            <p:cNvSpPr txBox="1">
              <a:spLocks noChangeArrowheads="1"/>
            </p:cNvSpPr>
            <p:nvPr/>
          </p:nvSpPr>
          <p:spPr bwMode="auto">
            <a:xfrm>
              <a:off x="6681787" y="4848225"/>
              <a:ext cx="230981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+mn-lt"/>
                </a:rPr>
                <a:t>There is a significant linear correlation </a:t>
              </a:r>
            </a:p>
          </p:txBody>
        </p:sp>
        <p:sp>
          <p:nvSpPr>
            <p:cNvPr id="36886" name="TextBox 21"/>
            <p:cNvSpPr txBox="1">
              <a:spLocks noChangeArrowheads="1"/>
            </p:cNvSpPr>
            <p:nvPr/>
          </p:nvSpPr>
          <p:spPr bwMode="auto">
            <a:xfrm>
              <a:off x="4038600" y="4900136"/>
              <a:ext cx="2414588" cy="73866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 dirty="0">
                  <a:latin typeface="+mn-lt"/>
                </a:rPr>
                <a:t>There is not sufficient evidence to conclude that there is  linear correlation </a:t>
              </a:r>
            </a:p>
          </p:txBody>
        </p:sp>
        <p:sp>
          <p:nvSpPr>
            <p:cNvPr id="36887" name="TextBox 22"/>
            <p:cNvSpPr txBox="1">
              <a:spLocks noChangeArrowheads="1"/>
            </p:cNvSpPr>
            <p:nvPr/>
          </p:nvSpPr>
          <p:spPr bwMode="auto">
            <a:xfrm>
              <a:off x="1905000" y="4949825"/>
              <a:ext cx="230981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+mn-lt"/>
                </a:rPr>
                <a:t>There is a significant linear correlation </a:t>
              </a:r>
            </a:p>
          </p:txBody>
        </p:sp>
        <p:cxnSp>
          <p:nvCxnSpPr>
            <p:cNvPr id="36888" name="Straight Arrow Connector 3"/>
            <p:cNvCxnSpPr>
              <a:cxnSpLocks noChangeShapeType="1"/>
            </p:cNvCxnSpPr>
            <p:nvPr/>
          </p:nvCxnSpPr>
          <p:spPr bwMode="auto">
            <a:xfrm rot="10800000" flipV="1">
              <a:off x="6996112" y="5334000"/>
              <a:ext cx="547688" cy="361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6889" name="Straight Arrow Connector 5"/>
            <p:cNvCxnSpPr>
              <a:cxnSpLocks noChangeShapeType="1"/>
            </p:cNvCxnSpPr>
            <p:nvPr/>
          </p:nvCxnSpPr>
          <p:spPr bwMode="auto">
            <a:xfrm>
              <a:off x="3071812" y="5246688"/>
              <a:ext cx="342900" cy="3730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4267200" y="304800"/>
            <a:ext cx="5181600" cy="1066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Significance Test for Correlation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26677B4-A249-3A43-BDE0-8B0962A7C0ED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892" name="Rectangle 2"/>
          <p:cNvSpPr>
            <a:spLocks noChangeArrowheads="1"/>
          </p:cNvSpPr>
          <p:nvPr/>
        </p:nvSpPr>
        <p:spPr bwMode="auto">
          <a:xfrm>
            <a:off x="3940175" y="3048000"/>
            <a:ext cx="4514850" cy="914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>
              <a:latin typeface="+mn-lt"/>
            </a:endParaRPr>
          </a:p>
        </p:txBody>
      </p:sp>
      <p:sp>
        <p:nvSpPr>
          <p:cNvPr id="37894" name="Text Box 4"/>
          <p:cNvSpPr txBox="1">
            <a:spLocks noChangeArrowheads="1"/>
          </p:cNvSpPr>
          <p:nvPr/>
        </p:nvSpPr>
        <p:spPr bwMode="auto">
          <a:xfrm>
            <a:off x="1905000" y="1434406"/>
            <a:ext cx="8458200" cy="138499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/>
            <a:r>
              <a:rPr lang="en-US" sz="2800">
                <a:latin typeface="+mn-lt"/>
              </a:rPr>
              <a:t>Is there evidence of a linear relationship between tree height and trunk diameter at the .05 level of significance?</a:t>
            </a:r>
          </a:p>
        </p:txBody>
      </p:sp>
      <p:sp>
        <p:nvSpPr>
          <p:cNvPr id="37895" name="Rectangle 5"/>
          <p:cNvSpPr>
            <a:spLocks noChangeArrowheads="1"/>
          </p:cNvSpPr>
          <p:nvPr/>
        </p:nvSpPr>
        <p:spPr bwMode="auto">
          <a:xfrm>
            <a:off x="3940175" y="3028950"/>
            <a:ext cx="474345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20675" indent="-320675" defTabSz="852488">
              <a:spcBef>
                <a:spcPct val="20000"/>
              </a:spcBef>
              <a:buSzPct val="65000"/>
            </a:pPr>
            <a:r>
              <a:rPr lang="en-US" sz="2400" i="1" dirty="0">
                <a:latin typeface="+mn-lt"/>
              </a:rPr>
              <a:t>H</a:t>
            </a:r>
            <a:r>
              <a:rPr lang="en-US" sz="2400" baseline="-25000" dirty="0">
                <a:latin typeface="+mn-lt"/>
              </a:rPr>
              <a:t>0</a:t>
            </a:r>
            <a:r>
              <a:rPr lang="en-US" sz="2400" dirty="0">
                <a:latin typeface="+mn-lt"/>
              </a:rPr>
              <a:t>: </a:t>
            </a:r>
            <a:r>
              <a:rPr lang="el-GR" sz="2400" dirty="0">
                <a:latin typeface="+mn-lt"/>
                <a:cs typeface="Arial" charset="0"/>
              </a:rPr>
              <a:t>ρ</a:t>
            </a:r>
            <a:r>
              <a:rPr lang="en-US" sz="2400" baseline="-250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= 0    (No linear correlation)</a:t>
            </a:r>
          </a:p>
          <a:p>
            <a:pPr marL="320675" indent="-320675" defTabSz="852488">
              <a:spcBef>
                <a:spcPct val="20000"/>
              </a:spcBef>
            </a:pPr>
            <a:r>
              <a:rPr lang="en-US" sz="2400" i="1" dirty="0">
                <a:latin typeface="+mn-lt"/>
              </a:rPr>
              <a:t>H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: </a:t>
            </a:r>
            <a:r>
              <a:rPr lang="el-GR" sz="2400" dirty="0">
                <a:latin typeface="+mn-lt"/>
              </a:rPr>
              <a:t>ρ</a:t>
            </a:r>
            <a:r>
              <a:rPr lang="en-US" sz="2400" dirty="0">
                <a:latin typeface="+mn-lt"/>
              </a:rPr>
              <a:t> ≠ 0    (linear correlation exists)</a:t>
            </a:r>
          </a:p>
          <a:p>
            <a:pPr marL="320675" indent="-320675" defTabSz="852488">
              <a:lnSpc>
                <a:spcPct val="120000"/>
              </a:lnSpc>
              <a:spcBef>
                <a:spcPct val="20000"/>
              </a:spcBef>
            </a:pPr>
            <a:r>
              <a:rPr lang="en-US" sz="2400" i="1" dirty="0">
                <a:latin typeface="+mn-lt"/>
                <a:sym typeface="Symbol" charset="0"/>
              </a:rPr>
              <a:t>   </a:t>
            </a:r>
            <a:r>
              <a:rPr lang="en-US" sz="2400" dirty="0">
                <a:latin typeface="+mn-lt"/>
              </a:rPr>
              <a:t> =.05 ,   </a:t>
            </a:r>
            <a:r>
              <a:rPr lang="en-US" sz="2400" dirty="0" err="1">
                <a:latin typeface="+mn-lt"/>
              </a:rPr>
              <a:t>df</a:t>
            </a:r>
            <a:r>
              <a:rPr lang="en-US" sz="2400" dirty="0">
                <a:latin typeface="+mn-lt"/>
              </a:rPr>
              <a:t> = 8 - 2  = 6</a:t>
            </a:r>
          </a:p>
        </p:txBody>
      </p:sp>
      <p:graphicFrame>
        <p:nvGraphicFramePr>
          <p:cNvPr id="37896" name="Object 6"/>
          <p:cNvGraphicFramePr>
            <a:graphicFrameLocks noChangeAspect="1"/>
          </p:cNvGraphicFramePr>
          <p:nvPr/>
        </p:nvGraphicFramePr>
        <p:xfrm>
          <a:off x="3730626" y="4572001"/>
          <a:ext cx="4956175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800" imgH="647700" progId="Equation.3">
                  <p:embed/>
                </p:oleObj>
              </mc:Choice>
              <mc:Fallback>
                <p:oleObj name="Equation" r:id="rId2" imgW="2082800" imgH="6477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26" y="4572001"/>
                        <a:ext cx="4956175" cy="15414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7" name="Picture 7" descr="j031238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1" y="5257801"/>
            <a:ext cx="855663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E936663-0052-134B-A13E-0FED23B8909A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8918" name="Rectangle 4"/>
          <p:cNvSpPr>
            <a:spLocks noChangeArrowheads="1"/>
          </p:cNvSpPr>
          <p:nvPr/>
        </p:nvSpPr>
        <p:spPr bwMode="auto">
          <a:xfrm>
            <a:off x="7658100" y="3048001"/>
            <a:ext cx="2590800" cy="3044423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dirty="0">
                <a:solidFill>
                  <a:schemeClr val="folHlink"/>
                </a:solidFill>
                <a:latin typeface="+mn-lt"/>
              </a:rPr>
              <a:t>Conclusion: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There is sufficient evidence of a linear relationship between tree height and trunk diameter at the 5% level of significance</a:t>
            </a:r>
          </a:p>
        </p:txBody>
      </p:sp>
      <p:sp>
        <p:nvSpPr>
          <p:cNvPr id="38919" name="Rectangle 5"/>
          <p:cNvSpPr>
            <a:spLocks noChangeArrowheads="1"/>
          </p:cNvSpPr>
          <p:nvPr/>
        </p:nvSpPr>
        <p:spPr bwMode="auto">
          <a:xfrm>
            <a:off x="7620000" y="2057400"/>
            <a:ext cx="2590800" cy="82843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folHlink"/>
                </a:solidFill>
                <a:latin typeface="+mn-lt"/>
              </a:rPr>
              <a:t>Decision:</a:t>
            </a:r>
            <a:br>
              <a:rPr lang="en-US" sz="2400">
                <a:latin typeface="+mn-lt"/>
              </a:rPr>
            </a:br>
            <a:r>
              <a:rPr lang="en-US" sz="2400">
                <a:latin typeface="+mn-lt"/>
              </a:rPr>
              <a:t>Reject H</a:t>
            </a:r>
            <a:r>
              <a:rPr lang="en-US" sz="2400" baseline="-25000">
                <a:latin typeface="+mn-lt"/>
              </a:rPr>
              <a:t>0</a:t>
            </a:r>
          </a:p>
        </p:txBody>
      </p:sp>
      <p:sp>
        <p:nvSpPr>
          <p:cNvPr id="38946" name="Rectangle 32"/>
          <p:cNvSpPr>
            <a:spLocks noChangeArrowheads="1"/>
          </p:cNvSpPr>
          <p:nvPr/>
        </p:nvSpPr>
        <p:spPr bwMode="auto">
          <a:xfrm flipH="1">
            <a:off x="6781800" y="6096000"/>
            <a:ext cx="7620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  <a:latin typeface="+mn-lt"/>
              </a:rPr>
              <a:t>4.68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752600" y="1981200"/>
            <a:ext cx="5486400" cy="4356100"/>
            <a:chOff x="228600" y="1981200"/>
            <a:chExt cx="5486400" cy="4356100"/>
          </a:xfrm>
        </p:grpSpPr>
        <p:graphicFrame>
          <p:nvGraphicFramePr>
            <p:cNvPr id="38916" name="Object 2"/>
            <p:cNvGraphicFramePr>
              <a:graphicFrameLocks noChangeAspect="1"/>
            </p:cNvGraphicFramePr>
            <p:nvPr/>
          </p:nvGraphicFramePr>
          <p:xfrm>
            <a:off x="228600" y="1981200"/>
            <a:ext cx="4956175" cy="154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82800" imgH="647700" progId="Equation.3">
                    <p:embed/>
                  </p:oleObj>
                </mc:Choice>
                <mc:Fallback>
                  <p:oleObj name="Equation" r:id="rId2" imgW="2082800" imgH="6477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" y="1981200"/>
                          <a:ext cx="4956175" cy="1541463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0" name="Oval 6"/>
            <p:cNvSpPr>
              <a:spLocks noChangeArrowheads="1"/>
            </p:cNvSpPr>
            <p:nvPr/>
          </p:nvSpPr>
          <p:spPr bwMode="auto">
            <a:xfrm>
              <a:off x="4267200" y="2057400"/>
              <a:ext cx="1066800" cy="688975"/>
            </a:xfrm>
            <a:prstGeom prst="ellips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38921" name="Rectangle 7"/>
            <p:cNvSpPr>
              <a:spLocks noChangeArrowheads="1"/>
            </p:cNvSpPr>
            <p:nvPr/>
          </p:nvSpPr>
          <p:spPr bwMode="auto">
            <a:xfrm>
              <a:off x="4114800" y="6019800"/>
              <a:ext cx="990600" cy="228600"/>
            </a:xfrm>
            <a:prstGeom prst="rect">
              <a:avLst/>
            </a:prstGeom>
            <a:solidFill>
              <a:srgbClr val="FFD5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8922" name="Rectangle 8"/>
            <p:cNvSpPr>
              <a:spLocks noChangeArrowheads="1"/>
            </p:cNvSpPr>
            <p:nvPr/>
          </p:nvSpPr>
          <p:spPr bwMode="auto">
            <a:xfrm>
              <a:off x="990600" y="6019800"/>
              <a:ext cx="1066800" cy="228600"/>
            </a:xfrm>
            <a:prstGeom prst="rect">
              <a:avLst/>
            </a:prstGeom>
            <a:solidFill>
              <a:srgbClr val="FFD5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8923" name="Text Box 9"/>
            <p:cNvSpPr txBox="1">
              <a:spLocks noChangeArrowheads="1"/>
            </p:cNvSpPr>
            <p:nvPr/>
          </p:nvSpPr>
          <p:spPr bwMode="auto">
            <a:xfrm>
              <a:off x="4572000" y="5486400"/>
              <a:ext cx="990600" cy="304800"/>
            </a:xfrm>
            <a:prstGeom prst="rect">
              <a:avLst/>
            </a:prstGeom>
            <a:solidFill>
              <a:srgbClr val="FAFE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400">
                  <a:latin typeface="+mn-lt"/>
                </a:rPr>
                <a:t>Reject H</a:t>
              </a:r>
              <a:r>
                <a:rPr lang="en-US" sz="1400" baseline="-25000">
                  <a:latin typeface="+mn-lt"/>
                </a:rPr>
                <a:t>0</a:t>
              </a:r>
            </a:p>
          </p:txBody>
        </p:sp>
        <p:sp>
          <p:nvSpPr>
            <p:cNvPr id="38924" name="Text Box 10"/>
            <p:cNvSpPr txBox="1">
              <a:spLocks noChangeArrowheads="1"/>
            </p:cNvSpPr>
            <p:nvPr/>
          </p:nvSpPr>
          <p:spPr bwMode="auto">
            <a:xfrm>
              <a:off x="381000" y="5486400"/>
              <a:ext cx="990600" cy="304800"/>
            </a:xfrm>
            <a:prstGeom prst="rect">
              <a:avLst/>
            </a:prstGeom>
            <a:solidFill>
              <a:srgbClr val="FAFE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400">
                  <a:latin typeface="+mn-lt"/>
                </a:rPr>
                <a:t>Reject H</a:t>
              </a:r>
              <a:r>
                <a:rPr lang="en-US" sz="1400" baseline="-25000">
                  <a:latin typeface="+mn-lt"/>
                </a:rPr>
                <a:t>0</a:t>
              </a:r>
            </a:p>
          </p:txBody>
        </p:sp>
        <p:sp>
          <p:nvSpPr>
            <p:cNvPr id="38925" name="Freeform 11"/>
            <p:cNvSpPr>
              <a:spLocks/>
            </p:cNvSpPr>
            <p:nvPr/>
          </p:nvSpPr>
          <p:spPr bwMode="auto">
            <a:xfrm flipH="1">
              <a:off x="4495800" y="5029200"/>
              <a:ext cx="842963" cy="228600"/>
            </a:xfrm>
            <a:custGeom>
              <a:avLst/>
              <a:gdLst>
                <a:gd name="T0" fmla="*/ 2147483647 w 582"/>
                <a:gd name="T1" fmla="*/ 2147483647 h 183"/>
                <a:gd name="T2" fmla="*/ 0 w 582"/>
                <a:gd name="T3" fmla="*/ 2147483647 h 183"/>
                <a:gd name="T4" fmla="*/ 2147483647 w 582"/>
                <a:gd name="T5" fmla="*/ 2147483647 h 183"/>
                <a:gd name="T6" fmla="*/ 2147483647 w 582"/>
                <a:gd name="T7" fmla="*/ 2147483647 h 183"/>
                <a:gd name="T8" fmla="*/ 2147483647 w 582"/>
                <a:gd name="T9" fmla="*/ 2147483647 h 183"/>
                <a:gd name="T10" fmla="*/ 2147483647 w 582"/>
                <a:gd name="T11" fmla="*/ 0 h 183"/>
                <a:gd name="T12" fmla="*/ 2147483647 w 582"/>
                <a:gd name="T13" fmla="*/ 2147483647 h 183"/>
                <a:gd name="T14" fmla="*/ 2147483647 w 582"/>
                <a:gd name="T15" fmla="*/ 2147483647 h 183"/>
                <a:gd name="T16" fmla="*/ 2147483647 w 582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2" h="183">
                  <a:moveTo>
                    <a:pt x="9" y="177"/>
                  </a:moveTo>
                  <a:lnTo>
                    <a:pt x="0" y="132"/>
                  </a:lnTo>
                  <a:lnTo>
                    <a:pt x="258" y="114"/>
                  </a:lnTo>
                  <a:lnTo>
                    <a:pt x="423" y="66"/>
                  </a:lnTo>
                  <a:lnTo>
                    <a:pt x="504" y="48"/>
                  </a:lnTo>
                  <a:lnTo>
                    <a:pt x="582" y="0"/>
                  </a:lnTo>
                  <a:lnTo>
                    <a:pt x="582" y="183"/>
                  </a:lnTo>
                  <a:lnTo>
                    <a:pt x="9" y="182"/>
                  </a:lnTo>
                  <a:lnTo>
                    <a:pt x="9" y="177"/>
                  </a:lnTo>
                </a:path>
              </a:pathLst>
            </a:custGeom>
            <a:solidFill>
              <a:srgbClr val="FFD5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66FFFF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26" name="Freeform 12"/>
            <p:cNvSpPr>
              <a:spLocks/>
            </p:cNvSpPr>
            <p:nvPr/>
          </p:nvSpPr>
          <p:spPr bwMode="auto">
            <a:xfrm>
              <a:off x="609600" y="5029200"/>
              <a:ext cx="833438" cy="228600"/>
            </a:xfrm>
            <a:custGeom>
              <a:avLst/>
              <a:gdLst>
                <a:gd name="T0" fmla="*/ 2147483647 w 582"/>
                <a:gd name="T1" fmla="*/ 2147483647 h 183"/>
                <a:gd name="T2" fmla="*/ 0 w 582"/>
                <a:gd name="T3" fmla="*/ 2147483647 h 183"/>
                <a:gd name="T4" fmla="*/ 2147483647 w 582"/>
                <a:gd name="T5" fmla="*/ 2147483647 h 183"/>
                <a:gd name="T6" fmla="*/ 2147483647 w 582"/>
                <a:gd name="T7" fmla="*/ 2147483647 h 183"/>
                <a:gd name="T8" fmla="*/ 2147483647 w 582"/>
                <a:gd name="T9" fmla="*/ 2147483647 h 183"/>
                <a:gd name="T10" fmla="*/ 2147483647 w 582"/>
                <a:gd name="T11" fmla="*/ 0 h 183"/>
                <a:gd name="T12" fmla="*/ 2147483647 w 582"/>
                <a:gd name="T13" fmla="*/ 2147483647 h 183"/>
                <a:gd name="T14" fmla="*/ 2147483647 w 582"/>
                <a:gd name="T15" fmla="*/ 2147483647 h 183"/>
                <a:gd name="T16" fmla="*/ 2147483647 w 582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2" h="183">
                  <a:moveTo>
                    <a:pt x="9" y="177"/>
                  </a:moveTo>
                  <a:lnTo>
                    <a:pt x="0" y="132"/>
                  </a:lnTo>
                  <a:lnTo>
                    <a:pt x="258" y="114"/>
                  </a:lnTo>
                  <a:lnTo>
                    <a:pt x="423" y="66"/>
                  </a:lnTo>
                  <a:lnTo>
                    <a:pt x="504" y="48"/>
                  </a:lnTo>
                  <a:lnTo>
                    <a:pt x="582" y="0"/>
                  </a:lnTo>
                  <a:lnTo>
                    <a:pt x="582" y="183"/>
                  </a:lnTo>
                  <a:lnTo>
                    <a:pt x="9" y="182"/>
                  </a:lnTo>
                  <a:lnTo>
                    <a:pt x="9" y="177"/>
                  </a:lnTo>
                </a:path>
              </a:pathLst>
            </a:custGeom>
            <a:solidFill>
              <a:srgbClr val="FFD5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66FFFF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27" name="Freeform 13"/>
            <p:cNvSpPr>
              <a:spLocks/>
            </p:cNvSpPr>
            <p:nvPr/>
          </p:nvSpPr>
          <p:spPr bwMode="auto">
            <a:xfrm>
              <a:off x="685800" y="3886200"/>
              <a:ext cx="2362200" cy="1295400"/>
            </a:xfrm>
            <a:custGeom>
              <a:avLst/>
              <a:gdLst>
                <a:gd name="T0" fmla="*/ 0 w 600"/>
                <a:gd name="T1" fmla="*/ 2147483647 h 576"/>
                <a:gd name="T2" fmla="*/ 2147483647 w 600"/>
                <a:gd name="T3" fmla="*/ 2147483647 h 576"/>
                <a:gd name="T4" fmla="*/ 2147483647 w 600"/>
                <a:gd name="T5" fmla="*/ 2147483647 h 576"/>
                <a:gd name="T6" fmla="*/ 2147483647 w 600"/>
                <a:gd name="T7" fmla="*/ 2147483647 h 576"/>
                <a:gd name="T8" fmla="*/ 2147483647 w 600"/>
                <a:gd name="T9" fmla="*/ 2147483647 h 576"/>
                <a:gd name="T10" fmla="*/ 2147483647 w 600"/>
                <a:gd name="T11" fmla="*/ 2147483647 h 576"/>
                <a:gd name="T12" fmla="*/ 2147483647 w 600"/>
                <a:gd name="T13" fmla="*/ 2147483647 h 576"/>
                <a:gd name="T14" fmla="*/ 2147483647 w 600"/>
                <a:gd name="T15" fmla="*/ 2147483647 h 576"/>
                <a:gd name="T16" fmla="*/ 2147483647 w 600"/>
                <a:gd name="T17" fmla="*/ 2147483647 h 576"/>
                <a:gd name="T18" fmla="*/ 2147483647 w 600"/>
                <a:gd name="T19" fmla="*/ 2147483647 h 576"/>
                <a:gd name="T20" fmla="*/ 2147483647 w 600"/>
                <a:gd name="T21" fmla="*/ 2147483647 h 576"/>
                <a:gd name="T22" fmla="*/ 2147483647 w 600"/>
                <a:gd name="T23" fmla="*/ 2147483647 h 576"/>
                <a:gd name="T24" fmla="*/ 2147483647 w 600"/>
                <a:gd name="T25" fmla="*/ 2147483647 h 576"/>
                <a:gd name="T26" fmla="*/ 2147483647 w 600"/>
                <a:gd name="T27" fmla="*/ 2147483647 h 576"/>
                <a:gd name="T28" fmla="*/ 2147483647 w 600"/>
                <a:gd name="T29" fmla="*/ 2147483647 h 576"/>
                <a:gd name="T30" fmla="*/ 2147483647 w 600"/>
                <a:gd name="T31" fmla="*/ 0 h 5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0" h="576">
                  <a:moveTo>
                    <a:pt x="0" y="575"/>
                  </a:moveTo>
                  <a:lnTo>
                    <a:pt x="63" y="570"/>
                  </a:lnTo>
                  <a:lnTo>
                    <a:pt x="95" y="562"/>
                  </a:lnTo>
                  <a:lnTo>
                    <a:pt x="127" y="553"/>
                  </a:lnTo>
                  <a:lnTo>
                    <a:pt x="158" y="540"/>
                  </a:lnTo>
                  <a:lnTo>
                    <a:pt x="190" y="521"/>
                  </a:lnTo>
                  <a:lnTo>
                    <a:pt x="222" y="498"/>
                  </a:lnTo>
                  <a:lnTo>
                    <a:pt x="284" y="432"/>
                  </a:lnTo>
                  <a:lnTo>
                    <a:pt x="347" y="338"/>
                  </a:lnTo>
                  <a:lnTo>
                    <a:pt x="410" y="224"/>
                  </a:lnTo>
                  <a:lnTo>
                    <a:pt x="441" y="167"/>
                  </a:lnTo>
                  <a:lnTo>
                    <a:pt x="473" y="114"/>
                  </a:lnTo>
                  <a:lnTo>
                    <a:pt x="505" y="67"/>
                  </a:lnTo>
                  <a:lnTo>
                    <a:pt x="535" y="31"/>
                  </a:lnTo>
                  <a:lnTo>
                    <a:pt x="567" y="8"/>
                  </a:lnTo>
                  <a:lnTo>
                    <a:pt x="599" y="0"/>
                  </a:lnTo>
                </a:path>
              </a:pathLst>
            </a:custGeom>
            <a:noFill/>
            <a:ln w="50800" cap="rnd" cmpd="sng">
              <a:solidFill>
                <a:schemeClr val="folHlink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28" name="Freeform 14"/>
            <p:cNvSpPr>
              <a:spLocks/>
            </p:cNvSpPr>
            <p:nvPr/>
          </p:nvSpPr>
          <p:spPr bwMode="auto">
            <a:xfrm>
              <a:off x="3048000" y="3886200"/>
              <a:ext cx="2209800" cy="1295400"/>
            </a:xfrm>
            <a:custGeom>
              <a:avLst/>
              <a:gdLst>
                <a:gd name="T0" fmla="*/ 2147483647 w 576"/>
                <a:gd name="T1" fmla="*/ 2147483647 h 576"/>
                <a:gd name="T2" fmla="*/ 2147483647 w 576"/>
                <a:gd name="T3" fmla="*/ 2147483647 h 576"/>
                <a:gd name="T4" fmla="*/ 2147483647 w 576"/>
                <a:gd name="T5" fmla="*/ 2147483647 h 576"/>
                <a:gd name="T6" fmla="*/ 2147483647 w 576"/>
                <a:gd name="T7" fmla="*/ 2147483647 h 576"/>
                <a:gd name="T8" fmla="*/ 2147483647 w 576"/>
                <a:gd name="T9" fmla="*/ 2147483647 h 576"/>
                <a:gd name="T10" fmla="*/ 2147483647 w 576"/>
                <a:gd name="T11" fmla="*/ 2147483647 h 576"/>
                <a:gd name="T12" fmla="*/ 2147483647 w 576"/>
                <a:gd name="T13" fmla="*/ 2147483647 h 576"/>
                <a:gd name="T14" fmla="*/ 2147483647 w 576"/>
                <a:gd name="T15" fmla="*/ 2147483647 h 576"/>
                <a:gd name="T16" fmla="*/ 2147483647 w 576"/>
                <a:gd name="T17" fmla="*/ 2147483647 h 576"/>
                <a:gd name="T18" fmla="*/ 2147483647 w 576"/>
                <a:gd name="T19" fmla="*/ 2147483647 h 576"/>
                <a:gd name="T20" fmla="*/ 2147483647 w 576"/>
                <a:gd name="T21" fmla="*/ 2147483647 h 576"/>
                <a:gd name="T22" fmla="*/ 2147483647 w 576"/>
                <a:gd name="T23" fmla="*/ 2147483647 h 576"/>
                <a:gd name="T24" fmla="*/ 2147483647 w 576"/>
                <a:gd name="T25" fmla="*/ 2147483647 h 576"/>
                <a:gd name="T26" fmla="*/ 2147483647 w 576"/>
                <a:gd name="T27" fmla="*/ 2147483647 h 576"/>
                <a:gd name="T28" fmla="*/ 2147483647 w 576"/>
                <a:gd name="T29" fmla="*/ 2147483647 h 576"/>
                <a:gd name="T30" fmla="*/ 0 w 576"/>
                <a:gd name="T31" fmla="*/ 0 h 5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" h="576">
                  <a:moveTo>
                    <a:pt x="575" y="575"/>
                  </a:moveTo>
                  <a:lnTo>
                    <a:pt x="515" y="570"/>
                  </a:lnTo>
                  <a:lnTo>
                    <a:pt x="484" y="562"/>
                  </a:lnTo>
                  <a:lnTo>
                    <a:pt x="455" y="553"/>
                  </a:lnTo>
                  <a:lnTo>
                    <a:pt x="424" y="540"/>
                  </a:lnTo>
                  <a:lnTo>
                    <a:pt x="393" y="521"/>
                  </a:lnTo>
                  <a:lnTo>
                    <a:pt x="364" y="498"/>
                  </a:lnTo>
                  <a:lnTo>
                    <a:pt x="303" y="432"/>
                  </a:lnTo>
                  <a:lnTo>
                    <a:pt x="242" y="338"/>
                  </a:lnTo>
                  <a:lnTo>
                    <a:pt x="182" y="224"/>
                  </a:lnTo>
                  <a:lnTo>
                    <a:pt x="151" y="167"/>
                  </a:lnTo>
                  <a:lnTo>
                    <a:pt x="120" y="114"/>
                  </a:lnTo>
                  <a:lnTo>
                    <a:pt x="91" y="67"/>
                  </a:lnTo>
                  <a:lnTo>
                    <a:pt x="60" y="31"/>
                  </a:lnTo>
                  <a:lnTo>
                    <a:pt x="30" y="8"/>
                  </a:lnTo>
                  <a:lnTo>
                    <a:pt x="0" y="0"/>
                  </a:lnTo>
                </a:path>
              </a:pathLst>
            </a:custGeom>
            <a:noFill/>
            <a:ln w="50800" cap="rnd" cmpd="sng">
              <a:solidFill>
                <a:schemeClr val="folHlink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29" name="Line 15"/>
            <p:cNvSpPr>
              <a:spLocks noChangeShapeType="1"/>
            </p:cNvSpPr>
            <p:nvPr/>
          </p:nvSpPr>
          <p:spPr bwMode="auto">
            <a:xfrm>
              <a:off x="457200" y="52578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30" name="Line 16"/>
            <p:cNvSpPr>
              <a:spLocks noChangeShapeType="1"/>
            </p:cNvSpPr>
            <p:nvPr/>
          </p:nvSpPr>
          <p:spPr bwMode="auto">
            <a:xfrm>
              <a:off x="914400" y="4724400"/>
              <a:ext cx="228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31" name="Rectangle 17"/>
            <p:cNvSpPr>
              <a:spLocks noChangeArrowheads="1"/>
            </p:cNvSpPr>
            <p:nvPr/>
          </p:nvSpPr>
          <p:spPr bwMode="auto">
            <a:xfrm flipH="1">
              <a:off x="381000" y="4419600"/>
              <a:ext cx="1219200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latin typeface="+mn-lt"/>
                </a:rPr>
                <a:t>a/2=.025</a:t>
              </a:r>
            </a:p>
          </p:txBody>
        </p:sp>
        <p:sp>
          <p:nvSpPr>
            <p:cNvPr id="38932" name="Line 18"/>
            <p:cNvSpPr>
              <a:spLocks noChangeShapeType="1"/>
            </p:cNvSpPr>
            <p:nvPr/>
          </p:nvSpPr>
          <p:spPr bwMode="auto">
            <a:xfrm>
              <a:off x="3048000" y="3886200"/>
              <a:ext cx="0" cy="13716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33" name="Line 19"/>
            <p:cNvSpPr>
              <a:spLocks noChangeShapeType="1"/>
            </p:cNvSpPr>
            <p:nvPr/>
          </p:nvSpPr>
          <p:spPr bwMode="auto">
            <a:xfrm>
              <a:off x="1447800" y="533400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34" name="Text Box 20"/>
            <p:cNvSpPr txBox="1">
              <a:spLocks noChangeArrowheads="1"/>
            </p:cNvSpPr>
            <p:nvPr/>
          </p:nvSpPr>
          <p:spPr bwMode="auto">
            <a:xfrm>
              <a:off x="1219200" y="5562600"/>
              <a:ext cx="685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-t</a:t>
              </a:r>
              <a:r>
                <a:rPr lang="el-GR" sz="2000" baseline="-25000">
                  <a:latin typeface="+mn-lt"/>
                  <a:cs typeface="Arial" charset="0"/>
                </a:rPr>
                <a:t>α</a:t>
              </a:r>
              <a:r>
                <a:rPr lang="en-US" sz="2000" baseline="-25000">
                  <a:latin typeface="+mn-lt"/>
                  <a:cs typeface="Arial" charset="0"/>
                </a:rPr>
                <a:t>/2</a:t>
              </a:r>
              <a:endParaRPr lang="el-GR" sz="2000" baseline="-25000">
                <a:latin typeface="+mn-lt"/>
                <a:cs typeface="Arial" charset="0"/>
              </a:endParaRPr>
            </a:p>
          </p:txBody>
        </p:sp>
        <p:sp>
          <p:nvSpPr>
            <p:cNvPr id="38935" name="Line 21"/>
            <p:cNvSpPr>
              <a:spLocks noChangeShapeType="1"/>
            </p:cNvSpPr>
            <p:nvPr/>
          </p:nvSpPr>
          <p:spPr bwMode="auto">
            <a:xfrm>
              <a:off x="1447800" y="5486400"/>
              <a:ext cx="30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36" name="Text Box 22"/>
            <p:cNvSpPr txBox="1">
              <a:spLocks noChangeArrowheads="1"/>
            </p:cNvSpPr>
            <p:nvPr/>
          </p:nvSpPr>
          <p:spPr bwMode="auto">
            <a:xfrm>
              <a:off x="2286000" y="5486400"/>
              <a:ext cx="15240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400">
                  <a:latin typeface="+mn-lt"/>
                </a:rPr>
                <a:t>Do not reject H</a:t>
              </a:r>
              <a:r>
                <a:rPr lang="en-US" sz="1400" baseline="-25000">
                  <a:latin typeface="+mn-lt"/>
                </a:rPr>
                <a:t>0</a:t>
              </a:r>
            </a:p>
          </p:txBody>
        </p:sp>
        <p:sp>
          <p:nvSpPr>
            <p:cNvPr id="38937" name="Line 23"/>
            <p:cNvSpPr>
              <a:spLocks noChangeShapeType="1"/>
            </p:cNvSpPr>
            <p:nvPr/>
          </p:nvSpPr>
          <p:spPr bwMode="auto">
            <a:xfrm>
              <a:off x="304800" y="5486400"/>
              <a:ext cx="1143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38" name="Text Box 24"/>
            <p:cNvSpPr txBox="1">
              <a:spLocks noChangeArrowheads="1"/>
            </p:cNvSpPr>
            <p:nvPr/>
          </p:nvSpPr>
          <p:spPr bwMode="auto">
            <a:xfrm>
              <a:off x="2819400" y="5715000"/>
              <a:ext cx="4572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>
                  <a:latin typeface="+mn-lt"/>
                </a:rPr>
                <a:t>0</a:t>
              </a:r>
              <a:endParaRPr lang="el-GR" sz="1800" baseline="-25000">
                <a:latin typeface="+mn-lt"/>
                <a:cs typeface="Arial" charset="0"/>
              </a:endParaRPr>
            </a:p>
          </p:txBody>
        </p:sp>
        <p:sp>
          <p:nvSpPr>
            <p:cNvPr id="38939" name="Text Box 25"/>
            <p:cNvSpPr txBox="1">
              <a:spLocks noChangeArrowheads="1"/>
            </p:cNvSpPr>
            <p:nvPr/>
          </p:nvSpPr>
          <p:spPr bwMode="auto">
            <a:xfrm>
              <a:off x="4267200" y="5562600"/>
              <a:ext cx="609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t</a:t>
              </a:r>
              <a:r>
                <a:rPr lang="el-GR" sz="2000" baseline="-25000">
                  <a:latin typeface="+mn-lt"/>
                  <a:cs typeface="Arial" charset="0"/>
                </a:rPr>
                <a:t>α</a:t>
              </a:r>
              <a:r>
                <a:rPr lang="en-US" sz="2000" baseline="-25000">
                  <a:latin typeface="+mn-lt"/>
                  <a:cs typeface="Arial" charset="0"/>
                </a:rPr>
                <a:t>/2</a:t>
              </a:r>
              <a:endParaRPr lang="el-GR" sz="2000" baseline="-25000">
                <a:latin typeface="+mn-lt"/>
                <a:cs typeface="Arial" charset="0"/>
              </a:endParaRPr>
            </a:p>
          </p:txBody>
        </p:sp>
        <p:sp>
          <p:nvSpPr>
            <p:cNvPr id="38940" name="Line 26"/>
            <p:cNvSpPr>
              <a:spLocks noChangeShapeType="1"/>
            </p:cNvSpPr>
            <p:nvPr/>
          </p:nvSpPr>
          <p:spPr bwMode="auto">
            <a:xfrm>
              <a:off x="4495800" y="533400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41" name="Line 27"/>
            <p:cNvSpPr>
              <a:spLocks noChangeShapeType="1"/>
            </p:cNvSpPr>
            <p:nvPr/>
          </p:nvSpPr>
          <p:spPr bwMode="auto">
            <a:xfrm>
              <a:off x="4495800" y="5486400"/>
              <a:ext cx="1219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42" name="Line 28"/>
            <p:cNvSpPr>
              <a:spLocks noChangeShapeType="1"/>
            </p:cNvSpPr>
            <p:nvPr/>
          </p:nvSpPr>
          <p:spPr bwMode="auto">
            <a:xfrm>
              <a:off x="4572000" y="4724400"/>
              <a:ext cx="762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43" name="Rectangle 29"/>
            <p:cNvSpPr>
              <a:spLocks noChangeArrowheads="1"/>
            </p:cNvSpPr>
            <p:nvPr/>
          </p:nvSpPr>
          <p:spPr bwMode="auto">
            <a:xfrm flipH="1">
              <a:off x="4114800" y="4419600"/>
              <a:ext cx="1219200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latin typeface="+mn-lt"/>
                </a:rPr>
                <a:t>a/2=.025</a:t>
              </a:r>
            </a:p>
          </p:txBody>
        </p:sp>
        <p:sp>
          <p:nvSpPr>
            <p:cNvPr id="38944" name="Rectangle 30"/>
            <p:cNvSpPr>
              <a:spLocks noChangeArrowheads="1"/>
            </p:cNvSpPr>
            <p:nvPr/>
          </p:nvSpPr>
          <p:spPr bwMode="auto">
            <a:xfrm flipH="1">
              <a:off x="990600" y="5943600"/>
              <a:ext cx="1219200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-2.4469</a:t>
              </a:r>
            </a:p>
          </p:txBody>
        </p:sp>
        <p:sp>
          <p:nvSpPr>
            <p:cNvPr id="38945" name="Rectangle 31"/>
            <p:cNvSpPr>
              <a:spLocks noChangeArrowheads="1"/>
            </p:cNvSpPr>
            <p:nvPr/>
          </p:nvSpPr>
          <p:spPr bwMode="auto">
            <a:xfrm flipH="1">
              <a:off x="4114800" y="5943600"/>
              <a:ext cx="1219200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2.4469</a:t>
              </a:r>
            </a:p>
          </p:txBody>
        </p:sp>
        <p:sp>
          <p:nvSpPr>
            <p:cNvPr id="38947" name="Line 33"/>
            <p:cNvSpPr>
              <a:spLocks noChangeShapeType="1"/>
            </p:cNvSpPr>
            <p:nvPr/>
          </p:nvSpPr>
          <p:spPr bwMode="auto">
            <a:xfrm flipV="1">
              <a:off x="5562600" y="5486400"/>
              <a:ext cx="0" cy="68580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48" name="Line 34"/>
            <p:cNvSpPr>
              <a:spLocks noChangeShapeType="1"/>
            </p:cNvSpPr>
            <p:nvPr/>
          </p:nvSpPr>
          <p:spPr bwMode="auto">
            <a:xfrm>
              <a:off x="5562600" y="2438400"/>
              <a:ext cx="0" cy="274320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49" name="Line 35"/>
            <p:cNvSpPr>
              <a:spLocks noChangeShapeType="1"/>
            </p:cNvSpPr>
            <p:nvPr/>
          </p:nvSpPr>
          <p:spPr bwMode="auto">
            <a:xfrm>
              <a:off x="5334000" y="2438400"/>
              <a:ext cx="228600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950" name="Rectangle 36"/>
            <p:cNvSpPr>
              <a:spLocks noChangeArrowheads="1"/>
            </p:cNvSpPr>
            <p:nvPr/>
          </p:nvSpPr>
          <p:spPr bwMode="auto">
            <a:xfrm flipH="1">
              <a:off x="304800" y="3810000"/>
              <a:ext cx="1219200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sz="1600">
                <a:latin typeface="+mn-lt"/>
              </a:endParaRPr>
            </a:p>
          </p:txBody>
        </p:sp>
        <p:sp>
          <p:nvSpPr>
            <p:cNvPr id="38951" name="Rectangle 37"/>
            <p:cNvSpPr>
              <a:spLocks noChangeArrowheads="1"/>
            </p:cNvSpPr>
            <p:nvPr/>
          </p:nvSpPr>
          <p:spPr bwMode="auto">
            <a:xfrm flipH="1">
              <a:off x="228600" y="3733800"/>
              <a:ext cx="1371600" cy="333375"/>
            </a:xfrm>
            <a:prstGeom prst="rect">
              <a:avLst/>
            </a:prstGeom>
            <a:solidFill>
              <a:srgbClr val="FFD5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latin typeface="+mn-lt"/>
                </a:rPr>
                <a:t>d.f. = 8-2 = 6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9119C5FB-1527-9343-9B5C-5A8E121FA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386" y="1382279"/>
            <a:ext cx="874122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 local authority is going to study the relationship between the size of household and the daily plastic usage consumed by them. The results of a sampling given below in Table 5 indicate some values of </a:t>
            </a:r>
            <a:r>
              <a:rPr kumimoji="0" lang="en-AU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X</a:t>
            </a: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(weight of plastic usage) and </a:t>
            </a:r>
            <a:r>
              <a:rPr kumimoji="0" lang="en-AU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Y</a:t>
            </a: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(the size of household).</a:t>
            </a:r>
            <a:endParaRPr kumimoji="0" lang="en-AU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algn="just"/>
            <a:endParaRPr kumimoji="0" lang="en-AU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/>
            <a:r>
              <a:rPr kumimoji="0" lang="en-AU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Table 5: Weight of plastic usage (</a:t>
            </a:r>
            <a:r>
              <a:rPr kumimoji="0" lang="en-AU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X</a:t>
            </a:r>
            <a:r>
              <a:rPr kumimoji="0" lang="en-AU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 and size of household (</a:t>
            </a:r>
            <a:r>
              <a:rPr kumimoji="0" lang="en-AU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Y</a:t>
            </a:r>
            <a:r>
              <a:rPr kumimoji="0" lang="en-AU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AU" altLang="en-US" b="1" dirty="0"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just"/>
            <a:endParaRPr kumimoji="0" lang="en-AU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just"/>
            <a:endParaRPr lang="en-AU" altLang="en-US" b="1" dirty="0"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just"/>
            <a:endParaRPr kumimoji="0" lang="en-AU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00050" indent="-400050" algn="just">
              <a:buAutoNum type="romanLcParenR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From the above sampling, find the value of correlation coefficient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r</a:t>
            </a:r>
            <a:r>
              <a:rPr lang="en-US" altLang="en-US" dirty="0"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algn="r"/>
            <a:r>
              <a:rPr lang="en-US" altLang="en-US" dirty="0"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5 marks]</a:t>
            </a:r>
          </a:p>
          <a:p>
            <a:pPr algn="r"/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00050" indent="-400050" algn="just">
              <a:buFontTx/>
              <a:buAutoNum type="romanLcParenR"/>
            </a:pPr>
            <a:r>
              <a:rPr lang="en-US" dirty="0">
                <a:latin typeface="+mn-lt"/>
              </a:rPr>
              <a:t>Using the same sample data set above, conduct the hypothesis testing to know whether the variable </a:t>
            </a:r>
            <a:r>
              <a:rPr lang="en-US" i="1" dirty="0">
                <a:latin typeface="+mn-lt"/>
              </a:rPr>
              <a:t>X</a:t>
            </a:r>
            <a:r>
              <a:rPr lang="en-US" dirty="0">
                <a:latin typeface="+mn-lt"/>
              </a:rPr>
              <a:t> and </a:t>
            </a:r>
            <a:r>
              <a:rPr lang="en-US" i="1" dirty="0">
                <a:latin typeface="+mn-lt"/>
              </a:rPr>
              <a:t>Y</a:t>
            </a:r>
            <a:r>
              <a:rPr lang="en-US" dirty="0">
                <a:latin typeface="+mn-lt"/>
              </a:rPr>
              <a:t> are really correlates using 95% confidence level.                        </a:t>
            </a:r>
          </a:p>
          <a:p>
            <a:pPr algn="r"/>
            <a:r>
              <a:rPr lang="en-US" dirty="0">
                <a:latin typeface="+mn-lt"/>
              </a:rPr>
              <a:t>[3 marks]</a:t>
            </a:r>
          </a:p>
          <a:p>
            <a:pPr algn="r"/>
            <a:endParaRPr lang="en-MY" dirty="0">
              <a:latin typeface="+mn-lt"/>
            </a:endParaRPr>
          </a:p>
          <a:p>
            <a:pPr marL="400050" indent="-400050" algn="just">
              <a:buFontTx/>
              <a:buAutoNum type="romanLcParenR"/>
            </a:pPr>
            <a:r>
              <a:rPr lang="en-US" dirty="0">
                <a:latin typeface="+mn-lt"/>
              </a:rPr>
              <a:t>Find out if the decision in (ii) may change if you increase the confidence level to 99%. </a:t>
            </a:r>
          </a:p>
          <a:p>
            <a:pPr algn="r"/>
            <a:r>
              <a:rPr lang="en-US" dirty="0">
                <a:latin typeface="+mn-lt"/>
              </a:rPr>
              <a:t>[2 marks]</a:t>
            </a:r>
            <a:endParaRPr lang="en-MY" dirty="0">
              <a:latin typeface="+mn-lt"/>
            </a:endParaRPr>
          </a:p>
          <a:p>
            <a:pPr marL="400050" indent="-400050" algn="just">
              <a:buAutoNum type="romanLcParenR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A052F-9A91-E544-A98E-141D4C91F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AD96D6-FCAC-BF48-A744-D10BE5BBB539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06A53D1-9345-074E-B876-59F81EE66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04800"/>
            <a:ext cx="5181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4400" dirty="0">
                <a:latin typeface="+mn-lt"/>
              </a:rPr>
              <a:t>Exercise #4 </a:t>
            </a:r>
          </a:p>
          <a:p>
            <a:pPr eaLnBrk="1" hangingPunct="1"/>
            <a:r>
              <a:rPr lang="en-US" sz="2000" dirty="0">
                <a:latin typeface="+mn-lt"/>
              </a:rPr>
              <a:t>(taken from 2016/2017 Final Exam)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DE9042B-671E-D841-8F18-A1F06F6C97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54284" y="2895600"/>
          <a:ext cx="6778629" cy="52781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53181">
                  <a:extLst>
                    <a:ext uri="{9D8B030D-6E8A-4147-A177-3AD203B41FA5}">
                      <a16:colId xmlns:a16="http://schemas.microsoft.com/office/drawing/2014/main" val="930694147"/>
                    </a:ext>
                  </a:extLst>
                </a:gridCol>
                <a:gridCol w="753181">
                  <a:extLst>
                    <a:ext uri="{9D8B030D-6E8A-4147-A177-3AD203B41FA5}">
                      <a16:colId xmlns:a16="http://schemas.microsoft.com/office/drawing/2014/main" val="908862051"/>
                    </a:ext>
                  </a:extLst>
                </a:gridCol>
                <a:gridCol w="753181">
                  <a:extLst>
                    <a:ext uri="{9D8B030D-6E8A-4147-A177-3AD203B41FA5}">
                      <a16:colId xmlns:a16="http://schemas.microsoft.com/office/drawing/2014/main" val="1780224249"/>
                    </a:ext>
                  </a:extLst>
                </a:gridCol>
                <a:gridCol w="753181">
                  <a:extLst>
                    <a:ext uri="{9D8B030D-6E8A-4147-A177-3AD203B41FA5}">
                      <a16:colId xmlns:a16="http://schemas.microsoft.com/office/drawing/2014/main" val="3104347465"/>
                    </a:ext>
                  </a:extLst>
                </a:gridCol>
                <a:gridCol w="753181">
                  <a:extLst>
                    <a:ext uri="{9D8B030D-6E8A-4147-A177-3AD203B41FA5}">
                      <a16:colId xmlns:a16="http://schemas.microsoft.com/office/drawing/2014/main" val="2733114397"/>
                    </a:ext>
                  </a:extLst>
                </a:gridCol>
                <a:gridCol w="753181">
                  <a:extLst>
                    <a:ext uri="{9D8B030D-6E8A-4147-A177-3AD203B41FA5}">
                      <a16:colId xmlns:a16="http://schemas.microsoft.com/office/drawing/2014/main" val="3438495226"/>
                    </a:ext>
                  </a:extLst>
                </a:gridCol>
                <a:gridCol w="753181">
                  <a:extLst>
                    <a:ext uri="{9D8B030D-6E8A-4147-A177-3AD203B41FA5}">
                      <a16:colId xmlns:a16="http://schemas.microsoft.com/office/drawing/2014/main" val="2475805285"/>
                    </a:ext>
                  </a:extLst>
                </a:gridCol>
                <a:gridCol w="753181">
                  <a:extLst>
                    <a:ext uri="{9D8B030D-6E8A-4147-A177-3AD203B41FA5}">
                      <a16:colId xmlns:a16="http://schemas.microsoft.com/office/drawing/2014/main" val="3259728531"/>
                    </a:ext>
                  </a:extLst>
                </a:gridCol>
                <a:gridCol w="753181">
                  <a:extLst>
                    <a:ext uri="{9D8B030D-6E8A-4147-A177-3AD203B41FA5}">
                      <a16:colId xmlns:a16="http://schemas.microsoft.com/office/drawing/2014/main" val="4153696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X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0.27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1.41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2.19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2.83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2.19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1.81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0.85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3.05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069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Y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2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3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3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6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4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2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>
                          <a:effectLst/>
                        </a:rPr>
                        <a:t>1</a:t>
                      </a:r>
                      <a:endParaRPr lang="en-MY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dirty="0">
                          <a:effectLst/>
                        </a:rPr>
                        <a:t>5</a:t>
                      </a:r>
                      <a:endParaRPr lang="en-MY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446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346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1675</TotalTime>
  <Words>2459</Words>
  <Application>Microsoft Office PowerPoint</Application>
  <PresentationFormat>Widescreen</PresentationFormat>
  <Paragraphs>680</Paragraphs>
  <Slides>46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ＭＳ Ｐゴシック</vt:lpstr>
      <vt:lpstr>Arial</vt:lpstr>
      <vt:lpstr>Britannic Bold</vt:lpstr>
      <vt:lpstr>Calibri</vt:lpstr>
      <vt:lpstr>Poppins</vt:lpstr>
      <vt:lpstr>Symbol</vt:lpstr>
      <vt:lpstr>Office Theme</vt:lpstr>
      <vt:lpstr>Equation</vt:lpstr>
      <vt:lpstr>Chart</vt:lpstr>
      <vt:lpstr>PowerPoint Presentation</vt:lpstr>
      <vt:lpstr>What is Correlation?</vt:lpstr>
      <vt:lpstr>Scatter Plots</vt:lpstr>
      <vt:lpstr>Scatter Plot Examples</vt:lpstr>
      <vt:lpstr>Scatter Plot Examples</vt:lpstr>
      <vt:lpstr>Scatter Plot Examples</vt:lpstr>
      <vt:lpstr>Correlation Analysis</vt:lpstr>
      <vt:lpstr>Correlation Coefficient</vt:lpstr>
      <vt:lpstr>Properties of r</vt:lpstr>
      <vt:lpstr>Properties of r</vt:lpstr>
      <vt:lpstr>Properties of r</vt:lpstr>
      <vt:lpstr>Properties of r</vt:lpstr>
      <vt:lpstr>Properties of r</vt:lpstr>
      <vt:lpstr>Examples of Approximate  r  Values</vt:lpstr>
      <vt:lpstr>Examples of Approximate  r  Values</vt:lpstr>
      <vt:lpstr>No correlation</vt:lpstr>
      <vt:lpstr>Positive Correlation</vt:lpstr>
      <vt:lpstr>Positive Correlation</vt:lpstr>
      <vt:lpstr>Negative Correlation</vt:lpstr>
      <vt:lpstr>Negative Correlation</vt:lpstr>
      <vt:lpstr>Exercise #1</vt:lpstr>
      <vt:lpstr>Exercise 1 (cont.)</vt:lpstr>
      <vt:lpstr>PowerPoint Presentation</vt:lpstr>
      <vt:lpstr>Correlation Types</vt:lpstr>
      <vt:lpstr>Pearson's Product-Moment Correlation Coefficient</vt:lpstr>
      <vt:lpstr>Pearson's Product-Moment Correlation Coefficient</vt:lpstr>
      <vt:lpstr>Example</vt:lpstr>
      <vt:lpstr>Example</vt:lpstr>
      <vt:lpstr>Exercise #2</vt:lpstr>
      <vt:lpstr>Exercise #2 (cont.)</vt:lpstr>
      <vt:lpstr>Spearman's Rho Rank Correlation Coefficient</vt:lpstr>
      <vt:lpstr>PowerPoint Presentation</vt:lpstr>
      <vt:lpstr>Spearman's Rho Rank Correlation Coefficient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  <vt:lpstr>Significance Test for Correlation</vt:lpstr>
      <vt:lpstr>Significance Test for Correlation</vt:lpstr>
      <vt:lpstr>Example</vt:lpstr>
      <vt:lpstr>Example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SEAH CHOON SEN 17182</cp:lastModifiedBy>
  <cp:revision>163</cp:revision>
  <dcterms:created xsi:type="dcterms:W3CDTF">2013-01-02T01:15:37Z</dcterms:created>
  <dcterms:modified xsi:type="dcterms:W3CDTF">2026-03-27T13:36:40Z</dcterms:modified>
</cp:coreProperties>
</file>