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2"/>
  </p:notesMasterIdLst>
  <p:handoutMasterIdLst>
    <p:handoutMasterId r:id="rId53"/>
  </p:handoutMasterIdLst>
  <p:sldIdLst>
    <p:sldId id="350" r:id="rId2"/>
    <p:sldId id="258" r:id="rId3"/>
    <p:sldId id="259" r:id="rId4"/>
    <p:sldId id="260" r:id="rId5"/>
    <p:sldId id="261" r:id="rId6"/>
    <p:sldId id="262" r:id="rId7"/>
    <p:sldId id="35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313" r:id="rId27"/>
    <p:sldId id="314" r:id="rId28"/>
    <p:sldId id="352" r:id="rId29"/>
    <p:sldId id="316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311" r:id="rId39"/>
    <p:sldId id="291" r:id="rId40"/>
    <p:sldId id="317" r:id="rId41"/>
    <p:sldId id="318" r:id="rId42"/>
    <p:sldId id="319" r:id="rId43"/>
    <p:sldId id="353" r:id="rId44"/>
    <p:sldId id="292" r:id="rId45"/>
    <p:sldId id="294" r:id="rId46"/>
    <p:sldId id="295" r:id="rId47"/>
    <p:sldId id="296" r:id="rId48"/>
    <p:sldId id="310" r:id="rId49"/>
    <p:sldId id="298" r:id="rId50"/>
    <p:sldId id="321" r:id="rId51"/>
  </p:sldIdLst>
  <p:sldSz cx="12192000" cy="6858000"/>
  <p:notesSz cx="7102475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65"/>
  </p:normalViewPr>
  <p:slideViewPr>
    <p:cSldViewPr>
      <p:cViewPr varScale="1">
        <p:scale>
          <a:sx n="69" d="100"/>
          <a:sy n="69" d="100"/>
        </p:scale>
        <p:origin x="4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75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pPr>
              <a:defRPr/>
            </a:pPr>
            <a:fld id="{EF0FF997-4869-BC43-A718-AD4E22606A33}" type="datetimeFigureOut">
              <a:rPr lang="en-US"/>
              <a:pPr>
                <a:defRPr/>
              </a:pPr>
              <a:t>27-Mar-26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pPr>
              <a:defRPr/>
            </a:pPr>
            <a:fld id="{C49954E3-2F49-2D45-B9A8-8B03DD7710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956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pPr>
              <a:defRPr/>
            </a:pPr>
            <a:fld id="{3EF3A8CF-2166-5E45-BCE2-02348F58AFDB}" type="datetimeFigureOut">
              <a:rPr lang="en-US"/>
              <a:pPr>
                <a:defRPr/>
              </a:pPr>
              <a:t>27-Mar-26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pPr>
              <a:defRPr/>
            </a:pPr>
            <a:fld id="{037CE9DF-E351-4844-A330-349782A56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544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38248-4EBB-1F5D-5D32-316A9C59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01A7811A-443E-6CAB-38AB-D5FD9B7A8C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9A5ADDD2-4B69-96B3-AE53-EE252E205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419E55BE-91F6-9D78-1F78-8FAC0C960D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11C0B6D5-1070-DECD-750E-5EDA8AA5C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1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27111305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C9D4-099B-1810-22DB-D05E740B9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00243BD9-8CC1-9876-1D4A-A409B78C398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3BAC6D40-B768-79FC-6207-AD611ADB4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956ABB98-6609-BF49-8FE1-B546A9E42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DE701205-9AE3-35B9-D9C8-AEB355261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7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38098293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E1C5A-93A0-83CB-E327-0D517033D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190F2404-4615-F592-FD2A-BC29057D45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CF62663A-7BA0-F12D-C1F6-504D0D898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4E50EF03-F006-47A2-2530-7E02E05604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66CDE165-FB24-8FBF-4410-7A1572188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28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1593692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A28CB-657D-FC89-664A-F31F0942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>
            <a:extLst>
              <a:ext uri="{FF2B5EF4-FFF2-40B4-BE49-F238E27FC236}">
                <a16:creationId xmlns:a16="http://schemas.microsoft.com/office/drawing/2014/main" id="{11480E4F-D2AD-8101-DE11-6FF543FE58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97283" name="Notes Placeholder 2">
            <a:extLst>
              <a:ext uri="{FF2B5EF4-FFF2-40B4-BE49-F238E27FC236}">
                <a16:creationId xmlns:a16="http://schemas.microsoft.com/office/drawing/2014/main" id="{0535CCF3-4256-3A91-0318-B38DB75AA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 altLang="en-US">
              <a:ea typeface="ＭＳ Ｐゴシック" pitchFamily="34" charset="-128"/>
            </a:endParaRPr>
          </a:p>
        </p:txBody>
      </p:sp>
      <p:sp>
        <p:nvSpPr>
          <p:cNvPr id="97284" name="Footer Placeholder 3">
            <a:extLst>
              <a:ext uri="{FF2B5EF4-FFF2-40B4-BE49-F238E27FC236}">
                <a16:creationId xmlns:a16="http://schemas.microsoft.com/office/drawing/2014/main" id="{E28BEC71-5F8E-F7B8-4930-5E0082C965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MY" altLang="en-US" sz="1200" b="0"/>
              <a:t>prepared by Razana Alwee / edited by Suhaila Mohamad Yusuf</a:t>
            </a:r>
            <a:endParaRPr lang="en-US" altLang="en-US" sz="1200" b="0"/>
          </a:p>
        </p:txBody>
      </p:sp>
      <p:sp>
        <p:nvSpPr>
          <p:cNvPr id="97285" name="Slide Number Placeholder 4">
            <a:extLst>
              <a:ext uri="{FF2B5EF4-FFF2-40B4-BE49-F238E27FC236}">
                <a16:creationId xmlns:a16="http://schemas.microsoft.com/office/drawing/2014/main" id="{72B9898B-2477-A025-C03A-5F3C03FB9B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685669" indent="-263719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05487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476825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1898774" indent="-210975" defTabSz="892249"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3207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7426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16462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586574" indent="-210975" defTabSz="892249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fld id="{9E2B35FF-2C05-4E5D-B5D1-428CB668629F}" type="slidenum">
              <a:rPr lang="en-US" altLang="en-US" sz="1200" b="0"/>
              <a:pPr/>
              <a:t>43</a:t>
            </a:fld>
            <a:endParaRPr lang="en-US" altLang="en-US" sz="1200" b="0"/>
          </a:p>
        </p:txBody>
      </p:sp>
    </p:spTree>
    <p:extLst>
      <p:ext uri="{BB962C8B-B14F-4D97-AF65-F5344CB8AC3E}">
        <p14:creationId xmlns:p14="http://schemas.microsoft.com/office/powerpoint/2010/main" val="309959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95454-1B43-144A-94EC-7FDC348A3A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67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637" y="274638"/>
            <a:ext cx="8750763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1637" y="1600201"/>
            <a:ext cx="8750763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AD96D6-FCAC-BF48-A744-D10BE5BBB5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0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9BE6EA-AAB9-3741-9559-9635EC9BD6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2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3605" y="274638"/>
            <a:ext cx="9038795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C44165-42F6-C044-B8FB-D60798098C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49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9616" y="274638"/>
            <a:ext cx="8942784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10552-DC53-0B49-B7D0-4185237E659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416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F5A4A-CDD8-5844-9131-93702E810F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9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186C8B-6A06-BB4A-AC30-766CF089E7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63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F112DD-C6AD-9E4F-880C-AC05DF5581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7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627" y="274638"/>
            <a:ext cx="8846773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7176C-92B8-AA41-88AD-8343488297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88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B067B1-DA45-9F4D-AE4D-C2D7494200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464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3848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D5AACD41-EA6D-DA4C-AA03-95446534B86D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71C51D-154C-D143-BC68-3D0808BD325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083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828800"/>
            <a:ext cx="10972800" cy="4191000"/>
          </a:xfrm>
        </p:spPr>
        <p:txBody>
          <a:bodyPr/>
          <a:lstStyle/>
          <a:p>
            <a:pPr lvl="0"/>
            <a:endParaRPr lang="en-A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57D58E76-E5CF-9F46-A1C9-DC2A5999600C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34BA36-C470-984A-8D5A-824DF3E8CB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69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673600" y="533400"/>
            <a:ext cx="69088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8288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000500"/>
            <a:ext cx="5384800" cy="2019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553200"/>
            <a:ext cx="2235200" cy="3048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EB9DFEE4-3987-3248-8900-277FF1B73FD9}" type="datetime1">
              <a:rPr lang="en-US"/>
              <a:pPr/>
              <a:t>27-Mar-26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172200"/>
            <a:ext cx="38608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prepared by Razana Alwee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0E0D53-92E5-BE49-AC84-08BD43C4E1B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10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50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549817EF-31CF-5849-A231-1AF6B30B29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2544233" y="476250"/>
            <a:ext cx="88392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44234" y="1600200"/>
            <a:ext cx="9038167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Google Shape;269;p1">
            <a:extLst>
              <a:ext uri="{FF2B5EF4-FFF2-40B4-BE49-F238E27FC236}">
                <a16:creationId xmlns:a16="http://schemas.microsoft.com/office/drawing/2014/main" id="{725DB778-4392-21B3-014C-DB17D4DB67A6}"/>
              </a:ext>
            </a:extLst>
          </p:cNvPr>
          <p:cNvSpPr txBox="1"/>
          <p:nvPr userDrawn="1"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grpSp>
        <p:nvGrpSpPr>
          <p:cNvPr id="3" name="Google Shape;263;p1">
            <a:extLst>
              <a:ext uri="{FF2B5EF4-FFF2-40B4-BE49-F238E27FC236}">
                <a16:creationId xmlns:a16="http://schemas.microsoft.com/office/drawing/2014/main" id="{817EB4F6-2957-B72F-E98C-337427F09316}"/>
              </a:ext>
            </a:extLst>
          </p:cNvPr>
          <p:cNvGrpSpPr/>
          <p:nvPr userDrawn="1"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4" name="Google Shape;264;p1">
              <a:extLst>
                <a:ext uri="{FF2B5EF4-FFF2-40B4-BE49-F238E27FC236}">
                  <a16:creationId xmlns:a16="http://schemas.microsoft.com/office/drawing/2014/main" id="{24E3BE77-AD07-870A-6F23-BB59E6AD9C23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65;p1">
              <a:extLst>
                <a:ext uri="{FF2B5EF4-FFF2-40B4-BE49-F238E27FC236}">
                  <a16:creationId xmlns:a16="http://schemas.microsoft.com/office/drawing/2014/main" id="{D6B52119-FFE1-9D58-DCB8-083F37DE9911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Google Shape;268;p1">
            <a:extLst>
              <a:ext uri="{FF2B5EF4-FFF2-40B4-BE49-F238E27FC236}">
                <a16:creationId xmlns:a16="http://schemas.microsoft.com/office/drawing/2014/main" id="{E0D346D8-1DF6-9128-75B9-894AA1CD8A36}"/>
              </a:ext>
            </a:extLst>
          </p:cNvPr>
          <p:cNvSpPr/>
          <p:nvPr userDrawn="1"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6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9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21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3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33.wmf"/><Relationship Id="rId3" Type="http://schemas.openxmlformats.org/officeDocument/2006/relationships/image" Target="../media/image28.wmf"/><Relationship Id="rId7" Type="http://schemas.openxmlformats.org/officeDocument/2006/relationships/image" Target="../media/image30.wmf"/><Relationship Id="rId12" Type="http://schemas.openxmlformats.org/officeDocument/2006/relationships/oleObject" Target="../embeddings/oleObject23.bin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2.wmf"/><Relationship Id="rId5" Type="http://schemas.openxmlformats.org/officeDocument/2006/relationships/image" Target="../media/image29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31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9.wmf"/><Relationship Id="rId3" Type="http://schemas.openxmlformats.org/officeDocument/2006/relationships/image" Target="../media/image34.wmf"/><Relationship Id="rId7" Type="http://schemas.openxmlformats.org/officeDocument/2006/relationships/image" Target="../media/image36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38.wmf"/><Relationship Id="rId5" Type="http://schemas.openxmlformats.org/officeDocument/2006/relationships/image" Target="../media/image35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7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wmf"/><Relationship Id="rId4" Type="http://schemas.openxmlformats.org/officeDocument/2006/relationships/oleObject" Target="../embeddings/oleObject33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34.bin"/><Relationship Id="rId7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4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wmf"/><Relationship Id="rId4" Type="http://schemas.openxmlformats.org/officeDocument/2006/relationships/oleObject" Target="../embeddings/oleObject36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7" Type="http://schemas.openxmlformats.org/officeDocument/2006/relationships/image" Target="../media/image49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8.wmf"/><Relationship Id="rId4" Type="http://schemas.openxmlformats.org/officeDocument/2006/relationships/oleObject" Target="../embeddings/oleObject38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5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5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13" Type="http://schemas.openxmlformats.org/officeDocument/2006/relationships/image" Target="../media/image60.wmf"/><Relationship Id="rId3" Type="http://schemas.openxmlformats.org/officeDocument/2006/relationships/image" Target="../media/image44.wmf"/><Relationship Id="rId7" Type="http://schemas.openxmlformats.org/officeDocument/2006/relationships/image" Target="../media/image57.wmf"/><Relationship Id="rId12" Type="http://schemas.openxmlformats.org/officeDocument/2006/relationships/oleObject" Target="../embeddings/oleObject51.bin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11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59.wmf"/><Relationship Id="rId5" Type="http://schemas.openxmlformats.org/officeDocument/2006/relationships/image" Target="../media/image56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58.wmf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2E2D6-497E-8C52-5028-48C65D68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A3BF57A6-6A28-2252-5149-E9596FEB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1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45B9D261-8C85-6567-87E8-5927E10358C8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BAD8433F-375E-AA5E-E320-00DF16B2A62D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ACFF2846-256C-FA30-15EF-1B964D89676B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1E991F7A-1ACA-9F76-B49B-E7164ED46FE2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702330C8-FBC4-5CA4-11AC-348E6125577C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6200B972-A955-CB75-F22C-D76C7101A561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2: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8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LINEAR REGRESSION MODEL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D772AF11-1559-96E1-7205-5B2275C19447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51C7C212-47D8-D864-A522-5676BFABE75F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28B0BB84-93C8-2499-A2C1-5BCC5F03730D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E6309E2C-2C31-D3D9-CE01-A1B61E88A57A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62365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2C935EB-8372-9F46-BBC8-B93DF3F0624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Introduction to Regression Analysis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1"/>
            <a:ext cx="10668000" cy="4373563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</a:pPr>
            <a:r>
              <a:rPr lang="en-US" sz="2800" dirty="0">
                <a:solidFill>
                  <a:srgbClr val="C00000"/>
                </a:solidFill>
              </a:rPr>
              <a:t>Regression analysis </a:t>
            </a:r>
            <a:r>
              <a:rPr lang="en-US" sz="2800" dirty="0"/>
              <a:t>is used to:</a:t>
            </a:r>
          </a:p>
          <a:p>
            <a:pPr lvl="1" algn="just" eaLnBrk="1" hangingPunct="1">
              <a:spcBef>
                <a:spcPct val="30000"/>
              </a:spcBef>
            </a:pPr>
            <a:r>
              <a:rPr lang="en-US" sz="2400" dirty="0"/>
              <a:t>Predict the value of a dependent variable based on the value of at least one independent variable</a:t>
            </a:r>
          </a:p>
          <a:p>
            <a:pPr lvl="1" algn="just" eaLnBrk="1" hangingPunct="1">
              <a:spcBef>
                <a:spcPct val="30000"/>
              </a:spcBef>
            </a:pPr>
            <a:r>
              <a:rPr lang="en-US" sz="2400" dirty="0"/>
              <a:t>Explain the impact of changes in an independent variable on the dependent variable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>
                <a:solidFill>
                  <a:srgbClr val="C00000"/>
                </a:solidFill>
              </a:rPr>
              <a:t>Dependent variable: </a:t>
            </a:r>
            <a:r>
              <a:rPr lang="en-US" sz="2800" dirty="0"/>
              <a:t>the variable we wish to explain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>
                <a:solidFill>
                  <a:srgbClr val="C00000"/>
                </a:solidFill>
              </a:rPr>
              <a:t>Independent variable:  </a:t>
            </a:r>
            <a:r>
              <a:rPr lang="en-US" sz="2800" dirty="0"/>
              <a:t>the variable used to explain the dependent variable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4D4149B-21B0-3F46-AE40-5FCCD3124010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Introduction to Regression Analysis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1"/>
            <a:ext cx="10515600" cy="4221163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A regression model that involves a single independent variable is called </a:t>
            </a:r>
            <a:r>
              <a:rPr lang="en-US" sz="2800" b="1" dirty="0">
                <a:solidFill>
                  <a:srgbClr val="C00000"/>
                </a:solidFill>
              </a:rPr>
              <a:t>simple regression</a:t>
            </a:r>
            <a:r>
              <a:rPr lang="en-US" sz="2800" dirty="0">
                <a:solidFill>
                  <a:srgbClr val="C00000"/>
                </a:solidFill>
              </a:rPr>
              <a:t>.</a:t>
            </a:r>
          </a:p>
          <a:p>
            <a:pPr lvl="1" algn="just" eaLnBrk="1" hangingPunct="1">
              <a:spcBef>
                <a:spcPct val="30000"/>
              </a:spcBef>
            </a:pPr>
            <a:r>
              <a:rPr lang="en-US" sz="2400" dirty="0">
                <a:solidFill>
                  <a:srgbClr val="C00000"/>
                </a:solidFill>
              </a:rPr>
              <a:t>Example: </a:t>
            </a:r>
            <a:r>
              <a:rPr lang="en-US" sz="2400" dirty="0"/>
              <a:t>imagine that your company wants to understand how past </a:t>
            </a:r>
            <a:r>
              <a:rPr lang="en-US" sz="2400" dirty="0">
                <a:solidFill>
                  <a:srgbClr val="C00000"/>
                </a:solidFill>
              </a:rPr>
              <a:t>advertising expenditures </a:t>
            </a:r>
            <a:r>
              <a:rPr lang="en-US" sz="2400" dirty="0"/>
              <a:t>have related to </a:t>
            </a:r>
            <a:r>
              <a:rPr lang="en-US" sz="2400" dirty="0">
                <a:solidFill>
                  <a:srgbClr val="C00000"/>
                </a:solidFill>
              </a:rPr>
              <a:t>sales</a:t>
            </a:r>
            <a:r>
              <a:rPr lang="en-US" sz="2400" dirty="0"/>
              <a:t> in order to make future decisions about advertising. The dependent variable in this instance is sales and the independent variable is advertising expenditures.</a:t>
            </a:r>
            <a:endParaRPr lang="en-US" sz="2400" dirty="0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30000"/>
              </a:spcBef>
            </a:pPr>
            <a:endParaRPr lang="en-US" sz="2800" dirty="0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300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2D6D507-A651-8340-A8FA-5EC39415597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Introduction to Regression Analysis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1"/>
            <a:ext cx="10668000" cy="4373563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Usually, more than one independent variable influences the dependent variable.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A regression model that involves two or more independent variables is called </a:t>
            </a:r>
            <a:r>
              <a:rPr lang="en-US" sz="2800" b="1" dirty="0">
                <a:solidFill>
                  <a:srgbClr val="C00000"/>
                </a:solidFill>
              </a:rPr>
              <a:t>multiple regression</a:t>
            </a:r>
            <a:r>
              <a:rPr lang="en-US" sz="2800" dirty="0">
                <a:solidFill>
                  <a:srgbClr val="C00000"/>
                </a:solidFill>
              </a:rPr>
              <a:t>.</a:t>
            </a:r>
          </a:p>
          <a:p>
            <a:pPr lvl="1" algn="just" eaLnBrk="1" hangingPunct="1">
              <a:spcBef>
                <a:spcPct val="30000"/>
              </a:spcBef>
            </a:pPr>
            <a:r>
              <a:rPr lang="en-US" sz="2400" dirty="0">
                <a:solidFill>
                  <a:srgbClr val="C00000"/>
                </a:solidFill>
              </a:rPr>
              <a:t>Example: </a:t>
            </a:r>
            <a:r>
              <a:rPr lang="en-US" sz="2400" dirty="0"/>
              <a:t>Sales are influenced by advertising as well as other factors, such as the </a:t>
            </a:r>
            <a:r>
              <a:rPr lang="en-US" sz="2400" dirty="0">
                <a:solidFill>
                  <a:srgbClr val="C00000"/>
                </a:solidFill>
              </a:rPr>
              <a:t>number of sales representatives </a:t>
            </a:r>
            <a:r>
              <a:rPr lang="en-US" sz="2400" dirty="0"/>
              <a:t>and the </a:t>
            </a:r>
            <a:r>
              <a:rPr lang="en-US" sz="2400" dirty="0">
                <a:solidFill>
                  <a:srgbClr val="C00000"/>
                </a:solidFill>
              </a:rPr>
              <a:t>commission percentage </a:t>
            </a:r>
            <a:r>
              <a:rPr lang="en-US" sz="2400" dirty="0"/>
              <a:t>paid to sales representatives</a:t>
            </a:r>
            <a:endParaRPr lang="en-US" sz="2400" dirty="0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30000"/>
              </a:spcBef>
              <a:buFontTx/>
              <a:buNone/>
            </a:pPr>
            <a:endParaRPr lang="en-US" sz="2800" dirty="0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30000"/>
              </a:spcBef>
            </a:pP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C685114-5C55-6948-AAE1-298B7BDAD93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Introduction to Regression Analysis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1"/>
            <a:ext cx="10058400" cy="4525963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Regression models can be either linear or nonlinear. 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A linear model assumes the relationships between variables are </a:t>
            </a:r>
            <a:r>
              <a:rPr lang="en-US" sz="2800" dirty="0">
                <a:solidFill>
                  <a:srgbClr val="C00000"/>
                </a:solidFill>
              </a:rPr>
              <a:t>straight-line relationships</a:t>
            </a:r>
            <a:r>
              <a:rPr lang="en-US" sz="2800" dirty="0"/>
              <a:t>, while a nonlinear model assumes the relationships between variables are represented by </a:t>
            </a:r>
            <a:r>
              <a:rPr lang="en-US" sz="2800" dirty="0">
                <a:solidFill>
                  <a:srgbClr val="C00000"/>
                </a:solidFill>
              </a:rPr>
              <a:t>curved lines</a:t>
            </a:r>
            <a:r>
              <a:rPr lang="en-US" sz="2800" dirty="0"/>
              <a:t>.</a:t>
            </a:r>
            <a:endParaRPr lang="en-US" sz="2800" dirty="0">
              <a:solidFill>
                <a:srgbClr val="C00000"/>
              </a:solidFill>
            </a:endParaRPr>
          </a:p>
          <a:p>
            <a:pPr algn="just" eaLnBrk="1" hangingPunct="1">
              <a:spcBef>
                <a:spcPct val="30000"/>
              </a:spcBef>
            </a:pPr>
            <a:endParaRPr lang="en-US" sz="2800" dirty="0"/>
          </a:p>
        </p:txBody>
      </p:sp>
      <p:grpSp>
        <p:nvGrpSpPr>
          <p:cNvPr id="8" name="Group 7"/>
          <p:cNvGrpSpPr/>
          <p:nvPr/>
        </p:nvGrpSpPr>
        <p:grpSpPr>
          <a:xfrm>
            <a:off x="2590800" y="4179758"/>
            <a:ext cx="7543800" cy="2068643"/>
            <a:chOff x="1066800" y="4103557"/>
            <a:chExt cx="7543800" cy="2068643"/>
          </a:xfrm>
        </p:grpSpPr>
        <p:pic>
          <p:nvPicPr>
            <p:cNvPr id="6150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4110428"/>
              <a:ext cx="2282252" cy="20236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1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2400" y="4103557"/>
              <a:ext cx="2147341" cy="206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2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3200" y="4117298"/>
              <a:ext cx="2057400" cy="1978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B1B64EB-D32A-594C-88B6-97A091C42CC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Introduction to Regression Analysis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1"/>
            <a:ext cx="10439400" cy="4297363"/>
          </a:xfrm>
        </p:spPr>
        <p:txBody>
          <a:bodyPr/>
          <a:lstStyle/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The most basic type of regression is that of </a:t>
            </a:r>
            <a:r>
              <a:rPr lang="en-US" sz="2800" dirty="0">
                <a:solidFill>
                  <a:srgbClr val="C00000"/>
                </a:solidFill>
              </a:rPr>
              <a:t>simple linear regression</a:t>
            </a:r>
            <a:r>
              <a:rPr lang="en-US" sz="2800" dirty="0"/>
              <a:t>. 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A simple linear regression uses only one independent variable, and it describes the relationship between the independent variable and dependent variable as a straight line. </a:t>
            </a:r>
          </a:p>
          <a:p>
            <a:pPr algn="just" eaLnBrk="1" hangingPunct="1">
              <a:spcBef>
                <a:spcPct val="30000"/>
              </a:spcBef>
            </a:pPr>
            <a:r>
              <a:rPr lang="en-US" sz="2800" dirty="0"/>
              <a:t>This chapter will focus on the basic case of a </a:t>
            </a:r>
            <a:r>
              <a:rPr lang="en-US" sz="2800" b="1" dirty="0">
                <a:solidFill>
                  <a:srgbClr val="C00000"/>
                </a:solidFill>
              </a:rPr>
              <a:t>simple linear regression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4CA67-4A58-2BEA-FFA3-050AAC572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70F504F9-BD88-2964-502C-9F422B543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7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6ED15F18-6CB5-AACB-E6A1-4CE9B81DC3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D78FE5C5-C445-A3D7-C4F1-2055C3DB31AF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8F5501BE-8F9B-DD8A-FAA3-CBC7FA74B197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6D5F112D-7B6C-C7A2-4C40-E4B156BD140B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88E3B14C-EE6F-3D39-32F8-9FE7765FFF7C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10CF81D1-A34F-1390-3ABA-D3EDC9C67149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44F9D4A6-6A57-C414-3EBE-F5A6A26CC7BB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2: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LINEAR REGRESSION MODEL (1)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Find the Linear Regression Equation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CE9650DD-93A7-EE57-54BE-F4E24D633379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8A439C5D-04C4-086A-6033-EB3343E02D65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5C20453D-1D36-846B-E8F7-20AB71E0D547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9C0BC0B3-1CFE-4BC6-2E95-3C78A83D7D08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396658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F70F3C0-AE23-CE49-A9DD-539396645594}" type="slidenum">
              <a:rPr lang="en-US" sz="1000">
                <a:solidFill>
                  <a:schemeClr val="bg1"/>
                </a:solidFill>
                <a:latin typeface="+mn-lt"/>
              </a:rPr>
              <a:pPr/>
              <a:t>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Simple Linear Regression Model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057401"/>
            <a:ext cx="10134600" cy="4068763"/>
          </a:xfrm>
        </p:spPr>
        <p:txBody>
          <a:bodyPr/>
          <a:lstStyle/>
          <a:p>
            <a:pPr algn="just" eaLnBrk="1" hangingPunct="1">
              <a:spcBef>
                <a:spcPct val="45000"/>
              </a:spcBef>
            </a:pPr>
            <a:r>
              <a:rPr lang="en-US" sz="2800" dirty="0"/>
              <a:t>Only </a:t>
            </a:r>
            <a:r>
              <a:rPr lang="en-US" sz="2800" b="1" dirty="0">
                <a:solidFill>
                  <a:srgbClr val="C00000"/>
                </a:solidFill>
              </a:rPr>
              <a:t>one</a:t>
            </a:r>
            <a:r>
              <a:rPr lang="en-US" sz="2800" dirty="0">
                <a:solidFill>
                  <a:srgbClr val="C00000"/>
                </a:solidFill>
              </a:rPr>
              <a:t> independent variable</a:t>
            </a:r>
            <a:r>
              <a:rPr lang="en-US" sz="2800" dirty="0"/>
              <a:t>, </a:t>
            </a:r>
            <a:r>
              <a:rPr lang="en-US" sz="2800" i="1" dirty="0"/>
              <a:t>x</a:t>
            </a:r>
            <a:r>
              <a:rPr lang="en-US" sz="2800" dirty="0"/>
              <a:t>.</a:t>
            </a:r>
          </a:p>
          <a:p>
            <a:pPr algn="just" eaLnBrk="1" hangingPunct="1">
              <a:spcBef>
                <a:spcPct val="45000"/>
              </a:spcBef>
            </a:pPr>
            <a:r>
              <a:rPr lang="en-US" sz="2800" dirty="0"/>
              <a:t>Relationship between  </a:t>
            </a:r>
            <a:r>
              <a:rPr lang="en-US" sz="2800" i="1" dirty="0"/>
              <a:t>x</a:t>
            </a:r>
            <a:r>
              <a:rPr lang="en-US" sz="2800" dirty="0"/>
              <a:t>  and  </a:t>
            </a:r>
            <a:r>
              <a:rPr lang="en-US" sz="2800" i="1" dirty="0"/>
              <a:t>y</a:t>
            </a:r>
            <a:r>
              <a:rPr lang="en-US" sz="2800" dirty="0"/>
              <a:t>  is described by a linear function.</a:t>
            </a:r>
          </a:p>
          <a:p>
            <a:pPr algn="just" eaLnBrk="1" hangingPunct="1">
              <a:spcBef>
                <a:spcPct val="45000"/>
              </a:spcBef>
            </a:pPr>
            <a:r>
              <a:rPr lang="en-US" sz="2800" dirty="0"/>
              <a:t>Changes in </a:t>
            </a:r>
            <a:r>
              <a:rPr lang="en-US" sz="2800" i="1" dirty="0"/>
              <a:t>y</a:t>
            </a:r>
            <a:r>
              <a:rPr lang="en-US" sz="2800" dirty="0"/>
              <a:t> are assumed to be caused by changes in  </a:t>
            </a:r>
            <a:r>
              <a:rPr lang="en-US" sz="2800" i="1" dirty="0"/>
              <a:t>x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F782C21-D53B-D04D-80EF-BEDC0822DE25}" type="slidenum">
              <a:rPr lang="en-US" sz="1000">
                <a:solidFill>
                  <a:schemeClr val="bg1"/>
                </a:solidFill>
                <a:latin typeface="+mn-lt"/>
              </a:rPr>
              <a:pPr/>
              <a:t>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Types of Regression Models</a:t>
            </a:r>
          </a:p>
        </p:txBody>
      </p:sp>
      <p:pic>
        <p:nvPicPr>
          <p:cNvPr id="922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038" y="4419600"/>
            <a:ext cx="4114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6" name="Rectangle 8"/>
          <p:cNvSpPr>
            <a:spLocks noChangeArrowheads="1"/>
          </p:cNvSpPr>
          <p:nvPr/>
        </p:nvSpPr>
        <p:spPr bwMode="auto">
          <a:xfrm>
            <a:off x="1819276" y="4414838"/>
            <a:ext cx="4125913" cy="214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>
              <a:latin typeface="+mn-lt"/>
            </a:endParaRPr>
          </a:p>
        </p:txBody>
      </p:sp>
      <p:pic>
        <p:nvPicPr>
          <p:cNvPr id="922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9838" y="4495800"/>
            <a:ext cx="42672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8" name="Rectangle 10"/>
          <p:cNvSpPr>
            <a:spLocks noChangeArrowheads="1"/>
          </p:cNvSpPr>
          <p:nvPr/>
        </p:nvSpPr>
        <p:spPr bwMode="auto">
          <a:xfrm>
            <a:off x="6315076" y="4491038"/>
            <a:ext cx="4278313" cy="206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>
              <a:latin typeface="+mn-lt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1862139" y="1676400"/>
            <a:ext cx="8675687" cy="2827338"/>
            <a:chOff x="338138" y="1676400"/>
            <a:chExt cx="8675687" cy="2827338"/>
          </a:xfrm>
        </p:grpSpPr>
        <p:pic>
          <p:nvPicPr>
            <p:cNvPr id="9221" name="Picture 3"/>
            <p:cNvPicPr preferRelativeResize="0"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" y="2024063"/>
              <a:ext cx="4191000" cy="2057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2" name="Rectangle 4"/>
            <p:cNvSpPr>
              <a:spLocks noChangeArrowheads="1"/>
            </p:cNvSpPr>
            <p:nvPr/>
          </p:nvSpPr>
          <p:spPr bwMode="auto">
            <a:xfrm>
              <a:off x="338138" y="2019300"/>
              <a:ext cx="4202112" cy="2068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>
                <a:latin typeface="+mn-lt"/>
              </a:endParaRPr>
            </a:p>
          </p:txBody>
        </p:sp>
        <p:pic>
          <p:nvPicPr>
            <p:cNvPr id="9223" name="Picture 5"/>
            <p:cNvPicPr preferRelativeResize="0"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40275" y="2100263"/>
              <a:ext cx="4267200" cy="1981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  <p:sp>
          <p:nvSpPr>
            <p:cNvPr id="9224" name="Rectangle 6"/>
            <p:cNvSpPr>
              <a:spLocks noChangeArrowheads="1"/>
            </p:cNvSpPr>
            <p:nvPr/>
          </p:nvSpPr>
          <p:spPr bwMode="auto">
            <a:xfrm>
              <a:off x="4735513" y="2095500"/>
              <a:ext cx="4278312" cy="1992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9229" name="Rectangle 11"/>
            <p:cNvSpPr>
              <a:spLocks noChangeArrowheads="1"/>
            </p:cNvSpPr>
            <p:nvPr/>
          </p:nvSpPr>
          <p:spPr bwMode="auto">
            <a:xfrm>
              <a:off x="528638" y="1676400"/>
              <a:ext cx="3895725" cy="39370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Positive Linear Relationship</a:t>
              </a:r>
            </a:p>
          </p:txBody>
        </p:sp>
        <p:sp>
          <p:nvSpPr>
            <p:cNvPr id="9230" name="Rectangle 12"/>
            <p:cNvSpPr>
              <a:spLocks noChangeArrowheads="1"/>
            </p:cNvSpPr>
            <p:nvPr/>
          </p:nvSpPr>
          <p:spPr bwMode="auto">
            <a:xfrm>
              <a:off x="371475" y="4110038"/>
              <a:ext cx="4048125" cy="39370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Negative Linear Relationship</a:t>
              </a:r>
            </a:p>
          </p:txBody>
        </p:sp>
        <p:sp>
          <p:nvSpPr>
            <p:cNvPr id="9231" name="Rectangle 13"/>
            <p:cNvSpPr>
              <a:spLocks noChangeArrowheads="1"/>
            </p:cNvSpPr>
            <p:nvPr/>
          </p:nvSpPr>
          <p:spPr bwMode="auto">
            <a:xfrm>
              <a:off x="5100638" y="1676400"/>
              <a:ext cx="3590925" cy="39370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Relationship NOT Linear</a:t>
              </a:r>
            </a:p>
          </p:txBody>
        </p:sp>
        <p:sp>
          <p:nvSpPr>
            <p:cNvPr id="9232" name="Rectangle 14"/>
            <p:cNvSpPr>
              <a:spLocks noChangeArrowheads="1"/>
            </p:cNvSpPr>
            <p:nvPr/>
          </p:nvSpPr>
          <p:spPr bwMode="auto">
            <a:xfrm>
              <a:off x="5934075" y="4110038"/>
              <a:ext cx="2447925" cy="39370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No Relationship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1C5FCCC-5842-6A44-ABC3-E8D0372982C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10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246" name="Rectangle 4"/>
          <p:cNvSpPr>
            <a:spLocks noGrp="1" noChangeArrowheads="1"/>
          </p:cNvSpPr>
          <p:nvPr>
            <p:ph type="title"/>
          </p:nvPr>
        </p:nvSpPr>
        <p:spPr>
          <a:xfrm>
            <a:off x="3657600" y="228600"/>
            <a:ext cx="6781800" cy="990600"/>
          </a:xfrm>
        </p:spPr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Population Linear Regression</a:t>
            </a:r>
          </a:p>
        </p:txBody>
      </p:sp>
      <p:sp>
        <p:nvSpPr>
          <p:cNvPr id="10247" name="Rectangle 5"/>
          <p:cNvSpPr>
            <a:spLocks noChangeArrowheads="1"/>
          </p:cNvSpPr>
          <p:nvPr/>
        </p:nvSpPr>
        <p:spPr bwMode="auto">
          <a:xfrm>
            <a:off x="1752600" y="1524001"/>
            <a:ext cx="5105400" cy="52065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+mn-lt"/>
              </a:rPr>
              <a:t>The population regression model: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676401" y="2286001"/>
            <a:ext cx="8767763" cy="3282811"/>
            <a:chOff x="152400" y="2286000"/>
            <a:chExt cx="8767763" cy="3282811"/>
          </a:xfrm>
        </p:grpSpPr>
        <p:graphicFrame>
          <p:nvGraphicFramePr>
            <p:cNvPr id="10244" name="Object 2"/>
            <p:cNvGraphicFramePr>
              <a:graphicFrameLocks noChangeAspect="1"/>
            </p:cNvGraphicFramePr>
            <p:nvPr/>
          </p:nvGraphicFramePr>
          <p:xfrm>
            <a:off x="1981200" y="3429000"/>
            <a:ext cx="5410200" cy="1217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16000" imgH="228600" progId="Equation.3">
                    <p:embed/>
                  </p:oleObj>
                </mc:Choice>
                <mc:Fallback>
                  <p:oleObj name="Equation" r:id="rId2" imgW="1016000" imgH="2286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1200" y="3429000"/>
                          <a:ext cx="5410200" cy="1217613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45" name="Text Box 3"/>
            <p:cNvSpPr txBox="1">
              <a:spLocks noChangeArrowheads="1"/>
            </p:cNvSpPr>
            <p:nvPr/>
          </p:nvSpPr>
          <p:spPr bwMode="auto">
            <a:xfrm>
              <a:off x="3581400" y="4800600"/>
              <a:ext cx="208294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+mn-lt"/>
                </a:rPr>
                <a:t>Linear component</a:t>
              </a:r>
            </a:p>
          </p:txBody>
        </p:sp>
        <p:sp>
          <p:nvSpPr>
            <p:cNvPr id="10248" name="Rectangle 6"/>
            <p:cNvSpPr>
              <a:spLocks noChangeArrowheads="1"/>
            </p:cNvSpPr>
            <p:nvPr/>
          </p:nvSpPr>
          <p:spPr bwMode="auto">
            <a:xfrm>
              <a:off x="2133600" y="2514600"/>
              <a:ext cx="1524000" cy="705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Population </a:t>
              </a:r>
              <a:br>
                <a:rPr lang="en-US" sz="2000" dirty="0">
                  <a:latin typeface="+mn-lt"/>
                </a:rPr>
              </a:br>
              <a:r>
                <a:rPr lang="en-US" sz="2000" i="1" dirty="0">
                  <a:latin typeface="+mn-lt"/>
                </a:rPr>
                <a:t>y</a:t>
              </a:r>
              <a:r>
                <a:rPr lang="en-US" sz="2000" dirty="0">
                  <a:latin typeface="+mn-lt"/>
                </a:rPr>
                <a:t>  intercept </a:t>
              </a:r>
            </a:p>
          </p:txBody>
        </p:sp>
        <p:sp>
          <p:nvSpPr>
            <p:cNvPr id="10249" name="Rectangle 7"/>
            <p:cNvSpPr>
              <a:spLocks noChangeArrowheads="1"/>
            </p:cNvSpPr>
            <p:nvPr/>
          </p:nvSpPr>
          <p:spPr bwMode="auto">
            <a:xfrm>
              <a:off x="3886200" y="2362200"/>
              <a:ext cx="1447800" cy="10130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Population Slope</a:t>
              </a:r>
              <a:br>
                <a:rPr lang="en-US" sz="2000">
                  <a:latin typeface="+mn-lt"/>
                </a:rPr>
              </a:br>
              <a:r>
                <a:rPr lang="en-US" sz="2000">
                  <a:latin typeface="+mn-lt"/>
                </a:rPr>
                <a:t>Coefficient </a:t>
              </a:r>
            </a:p>
          </p:txBody>
        </p:sp>
        <p:sp>
          <p:nvSpPr>
            <p:cNvPr id="10250" name="Rectangle 8"/>
            <p:cNvSpPr>
              <a:spLocks noChangeArrowheads="1"/>
            </p:cNvSpPr>
            <p:nvPr/>
          </p:nvSpPr>
          <p:spPr bwMode="auto">
            <a:xfrm>
              <a:off x="7772400" y="2286000"/>
              <a:ext cx="1147763" cy="13208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 dirty="0">
                  <a:latin typeface="+mn-lt"/>
                </a:rPr>
                <a:t>Random Error term, or residual</a:t>
              </a:r>
            </a:p>
          </p:txBody>
        </p:sp>
        <p:sp>
          <p:nvSpPr>
            <p:cNvPr id="10251" name="Rectangle 9"/>
            <p:cNvSpPr>
              <a:spLocks noChangeArrowheads="1"/>
            </p:cNvSpPr>
            <p:nvPr/>
          </p:nvSpPr>
          <p:spPr bwMode="auto">
            <a:xfrm>
              <a:off x="152400" y="3124200"/>
              <a:ext cx="1838325" cy="705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Dependent Variable</a:t>
              </a:r>
            </a:p>
          </p:txBody>
        </p:sp>
        <p:sp>
          <p:nvSpPr>
            <p:cNvPr id="10252" name="Line 10"/>
            <p:cNvSpPr>
              <a:spLocks noChangeShapeType="1"/>
            </p:cNvSpPr>
            <p:nvPr/>
          </p:nvSpPr>
          <p:spPr bwMode="auto">
            <a:xfrm>
              <a:off x="2971800" y="3200400"/>
              <a:ext cx="461963" cy="590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10253" name="Line 11"/>
            <p:cNvSpPr>
              <a:spLocks noChangeShapeType="1"/>
            </p:cNvSpPr>
            <p:nvPr/>
          </p:nvSpPr>
          <p:spPr bwMode="auto">
            <a:xfrm>
              <a:off x="1524000" y="3505200"/>
              <a:ext cx="6096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10254" name="Line 12"/>
            <p:cNvSpPr>
              <a:spLocks noChangeShapeType="1"/>
            </p:cNvSpPr>
            <p:nvPr/>
          </p:nvSpPr>
          <p:spPr bwMode="auto">
            <a:xfrm flipH="1">
              <a:off x="5943600" y="3200400"/>
              <a:ext cx="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10255" name="Line 13"/>
            <p:cNvSpPr>
              <a:spLocks noChangeShapeType="1"/>
            </p:cNvSpPr>
            <p:nvPr/>
          </p:nvSpPr>
          <p:spPr bwMode="auto">
            <a:xfrm rot="20940815" flipH="1">
              <a:off x="7162800" y="3444875"/>
              <a:ext cx="617538" cy="298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10256" name="Rectangle 14"/>
            <p:cNvSpPr>
              <a:spLocks noChangeArrowheads="1"/>
            </p:cNvSpPr>
            <p:nvPr/>
          </p:nvSpPr>
          <p:spPr bwMode="auto">
            <a:xfrm>
              <a:off x="5638800" y="2514600"/>
              <a:ext cx="1604963" cy="705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Independent Variable</a:t>
              </a:r>
            </a:p>
          </p:txBody>
        </p:sp>
        <p:sp>
          <p:nvSpPr>
            <p:cNvPr id="10257" name="AutoShape 15"/>
            <p:cNvSpPr>
              <a:spLocks/>
            </p:cNvSpPr>
            <p:nvPr/>
          </p:nvSpPr>
          <p:spPr bwMode="auto">
            <a:xfrm rot="16200000" flipV="1">
              <a:off x="4569619" y="3431381"/>
              <a:ext cx="228600" cy="2662238"/>
            </a:xfrm>
            <a:prstGeom prst="leftBrace">
              <a:avLst>
                <a:gd name="adj1" fmla="val 97049"/>
                <a:gd name="adj2" fmla="val 50000"/>
              </a:avLst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AU">
                <a:latin typeface="+mn-lt"/>
              </a:endParaRPr>
            </a:p>
          </p:txBody>
        </p:sp>
        <p:sp>
          <p:nvSpPr>
            <p:cNvPr id="10258" name="Line 16"/>
            <p:cNvSpPr>
              <a:spLocks noChangeShapeType="1"/>
            </p:cNvSpPr>
            <p:nvPr/>
          </p:nvSpPr>
          <p:spPr bwMode="auto">
            <a:xfrm rot="-659185">
              <a:off x="4792663" y="3292475"/>
              <a:ext cx="227012" cy="3968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US">
                <a:latin typeface="+mn-lt"/>
              </a:endParaRPr>
            </a:p>
          </p:txBody>
        </p:sp>
        <p:sp>
          <p:nvSpPr>
            <p:cNvPr id="10259" name="AutoShape 17"/>
            <p:cNvSpPr>
              <a:spLocks/>
            </p:cNvSpPr>
            <p:nvPr/>
          </p:nvSpPr>
          <p:spPr bwMode="auto">
            <a:xfrm rot="16200000" flipV="1">
              <a:off x="6896100" y="4289425"/>
              <a:ext cx="228600" cy="914400"/>
            </a:xfrm>
            <a:prstGeom prst="leftBrace">
              <a:avLst>
                <a:gd name="adj1" fmla="val 33333"/>
                <a:gd name="adj2" fmla="val 50000"/>
              </a:avLst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en-AU">
                <a:latin typeface="+mn-lt"/>
              </a:endParaRPr>
            </a:p>
          </p:txBody>
        </p:sp>
        <p:sp>
          <p:nvSpPr>
            <p:cNvPr id="10260" name="Text Box 18"/>
            <p:cNvSpPr txBox="1">
              <a:spLocks noChangeArrowheads="1"/>
            </p:cNvSpPr>
            <p:nvPr/>
          </p:nvSpPr>
          <p:spPr bwMode="auto">
            <a:xfrm>
              <a:off x="6248400" y="4860925"/>
              <a:ext cx="1639295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2000">
                  <a:latin typeface="+mn-lt"/>
                </a:rPr>
                <a:t>Random Error</a:t>
              </a:r>
            </a:p>
            <a:p>
              <a:pPr algn="ctr"/>
              <a:r>
                <a:rPr lang="en-US" sz="2000">
                  <a:latin typeface="+mn-lt"/>
                </a:rPr>
                <a:t> component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DF2CAD7-BECE-334A-A4D5-19121021C3D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Linear Regression Assumptions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1"/>
            <a:ext cx="8153400" cy="4525963"/>
          </a:xfrm>
        </p:spPr>
        <p:txBody>
          <a:bodyPr/>
          <a:lstStyle/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Error values (</a:t>
            </a:r>
            <a:r>
              <a:rPr lang="el-GR" sz="2800" dirty="0"/>
              <a:t>ε</a:t>
            </a:r>
            <a:r>
              <a:rPr lang="en-US" sz="2800" dirty="0"/>
              <a:t>) are </a:t>
            </a:r>
            <a:r>
              <a:rPr lang="en-US" sz="2800" dirty="0">
                <a:solidFill>
                  <a:srgbClr val="C00000"/>
                </a:solidFill>
              </a:rPr>
              <a:t>statistically independent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Error values are </a:t>
            </a:r>
            <a:r>
              <a:rPr lang="en-US" sz="2800" dirty="0">
                <a:solidFill>
                  <a:srgbClr val="C00000"/>
                </a:solidFill>
              </a:rPr>
              <a:t>normally distributed </a:t>
            </a:r>
            <a:r>
              <a:rPr lang="en-US" sz="2800" dirty="0"/>
              <a:t>for any given value of  </a:t>
            </a:r>
            <a:r>
              <a:rPr lang="en-US" sz="2800" i="1" dirty="0"/>
              <a:t>x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The probability distribution of the errors is normal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The probability distribution of the errors has constant variance</a:t>
            </a:r>
          </a:p>
          <a:p>
            <a:pPr algn="just" eaLnBrk="1" hangingPunct="1">
              <a:spcBef>
                <a:spcPct val="40000"/>
              </a:spcBef>
            </a:pPr>
            <a:r>
              <a:rPr lang="en-US" sz="2800" dirty="0"/>
              <a:t>The underlying relationship between the </a:t>
            </a:r>
            <a:r>
              <a:rPr lang="en-US" sz="2800" i="1" dirty="0"/>
              <a:t>x</a:t>
            </a:r>
            <a:r>
              <a:rPr lang="en-US" sz="2800" dirty="0"/>
              <a:t> variable and the </a:t>
            </a:r>
            <a:r>
              <a:rPr lang="en-US" sz="2800" i="1" dirty="0"/>
              <a:t>y</a:t>
            </a:r>
            <a:r>
              <a:rPr lang="en-US" sz="2800" dirty="0"/>
              <a:t> variable is linear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489606C-885B-FE4D-AB72-B7F6E21FA5B6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2294" name="Rectangle 4"/>
          <p:cNvSpPr>
            <a:spLocks noGrp="1" noChangeArrowheads="1"/>
          </p:cNvSpPr>
          <p:nvPr>
            <p:ph type="title"/>
          </p:nvPr>
        </p:nvSpPr>
        <p:spPr>
          <a:xfrm>
            <a:off x="3657600" y="533400"/>
            <a:ext cx="7010400" cy="685800"/>
          </a:xfrm>
        </p:spPr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Population Linear Regression</a:t>
            </a:r>
          </a:p>
        </p:txBody>
      </p:sp>
      <p:sp>
        <p:nvSpPr>
          <p:cNvPr id="12295" name="Text Box 5"/>
          <p:cNvSpPr txBox="1">
            <a:spLocks noChangeArrowheads="1"/>
          </p:cNvSpPr>
          <p:nvPr/>
        </p:nvSpPr>
        <p:spPr bwMode="auto">
          <a:xfrm>
            <a:off x="8991601" y="1600200"/>
            <a:ext cx="13694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sp>
        <p:nvSpPr>
          <p:cNvPr id="12302" name="Rectangle 12"/>
          <p:cNvSpPr>
            <a:spLocks noChangeArrowheads="1"/>
          </p:cNvSpPr>
          <p:nvPr/>
        </p:nvSpPr>
        <p:spPr bwMode="auto">
          <a:xfrm>
            <a:off x="9812339" y="5943600"/>
            <a:ext cx="383119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sz="3600" i="1">
                <a:latin typeface="+mn-lt"/>
              </a:rPr>
              <a:t>x</a:t>
            </a:r>
          </a:p>
        </p:txBody>
      </p:sp>
      <p:graphicFrame>
        <p:nvGraphicFramePr>
          <p:cNvPr id="12332" name="Object 42"/>
          <p:cNvGraphicFramePr>
            <a:graphicFrameLocks noChangeAspect="1"/>
          </p:cNvGraphicFramePr>
          <p:nvPr/>
        </p:nvGraphicFramePr>
        <p:xfrm>
          <a:off x="5443538" y="1905000"/>
          <a:ext cx="3448050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6000" imgH="228600" progId="Equation.3">
                  <p:embed/>
                </p:oleObj>
              </mc:Choice>
              <mc:Fallback>
                <p:oleObj name="Equation" r:id="rId2" imgW="10160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3538" y="1905000"/>
                        <a:ext cx="3448050" cy="7762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Group 50"/>
          <p:cNvGrpSpPr/>
          <p:nvPr/>
        </p:nvGrpSpPr>
        <p:grpSpPr>
          <a:xfrm>
            <a:off x="1676400" y="2076451"/>
            <a:ext cx="8534400" cy="4347865"/>
            <a:chOff x="152400" y="2076450"/>
            <a:chExt cx="8534400" cy="4347865"/>
          </a:xfrm>
        </p:grpSpPr>
        <p:sp>
          <p:nvSpPr>
            <p:cNvPr id="12292" name="Line 2"/>
            <p:cNvSpPr>
              <a:spLocks noChangeShapeType="1"/>
            </p:cNvSpPr>
            <p:nvPr/>
          </p:nvSpPr>
          <p:spPr bwMode="auto">
            <a:xfrm flipH="1" flipV="1">
              <a:off x="2362200" y="4419600"/>
              <a:ext cx="1752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93" name="Line 3"/>
            <p:cNvSpPr>
              <a:spLocks noChangeShapeType="1"/>
            </p:cNvSpPr>
            <p:nvPr/>
          </p:nvSpPr>
          <p:spPr bwMode="auto">
            <a:xfrm flipH="1" flipV="1">
              <a:off x="2362200" y="3124200"/>
              <a:ext cx="1752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96" name="Line 6"/>
            <p:cNvSpPr>
              <a:spLocks noChangeShapeType="1"/>
            </p:cNvSpPr>
            <p:nvPr/>
          </p:nvSpPr>
          <p:spPr bwMode="auto">
            <a:xfrm flipH="1">
              <a:off x="4097338" y="3246438"/>
              <a:ext cx="6350" cy="27924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97" name="Line 7"/>
            <p:cNvSpPr>
              <a:spLocks noChangeShapeType="1"/>
            </p:cNvSpPr>
            <p:nvPr/>
          </p:nvSpPr>
          <p:spPr bwMode="auto">
            <a:xfrm flipV="1">
              <a:off x="2198688" y="3143250"/>
              <a:ext cx="6470650" cy="1830388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98" name="Freeform 8"/>
            <p:cNvSpPr>
              <a:spLocks/>
            </p:cNvSpPr>
            <p:nvPr/>
          </p:nvSpPr>
          <p:spPr bwMode="auto">
            <a:xfrm>
              <a:off x="5087938" y="4895850"/>
              <a:ext cx="454025" cy="454025"/>
            </a:xfrm>
            <a:custGeom>
              <a:avLst/>
              <a:gdLst>
                <a:gd name="T0" fmla="*/ 0 w 286"/>
                <a:gd name="T1" fmla="*/ 2147483647 h 286"/>
                <a:gd name="T2" fmla="*/ 2147483647 w 286"/>
                <a:gd name="T3" fmla="*/ 2147483647 h 286"/>
                <a:gd name="T4" fmla="*/ 2147483647 w 286"/>
                <a:gd name="T5" fmla="*/ 2147483647 h 286"/>
                <a:gd name="T6" fmla="*/ 2147483647 w 286"/>
                <a:gd name="T7" fmla="*/ 2147483647 h 286"/>
                <a:gd name="T8" fmla="*/ 2147483647 w 286"/>
                <a:gd name="T9" fmla="*/ 2147483647 h 286"/>
                <a:gd name="T10" fmla="*/ 2147483647 w 286"/>
                <a:gd name="T11" fmla="*/ 0 h 286"/>
                <a:gd name="T12" fmla="*/ 2147483647 w 286"/>
                <a:gd name="T13" fmla="*/ 2147483647 h 286"/>
                <a:gd name="T14" fmla="*/ 2147483647 w 286"/>
                <a:gd name="T15" fmla="*/ 2147483647 h 286"/>
                <a:gd name="T16" fmla="*/ 2147483647 w 286"/>
                <a:gd name="T17" fmla="*/ 2147483647 h 286"/>
                <a:gd name="T18" fmla="*/ 2147483647 w 286"/>
                <a:gd name="T19" fmla="*/ 2147483647 h 286"/>
                <a:gd name="T20" fmla="*/ 2147483647 w 286"/>
                <a:gd name="T21" fmla="*/ 2147483647 h 286"/>
                <a:gd name="T22" fmla="*/ 2147483647 w 286"/>
                <a:gd name="T23" fmla="*/ 2147483647 h 286"/>
                <a:gd name="T24" fmla="*/ 2147483647 w 286"/>
                <a:gd name="T25" fmla="*/ 2147483647 h 286"/>
                <a:gd name="T26" fmla="*/ 2147483647 w 286"/>
                <a:gd name="T27" fmla="*/ 2147483647 h 286"/>
                <a:gd name="T28" fmla="*/ 2147483647 w 286"/>
                <a:gd name="T29" fmla="*/ 2147483647 h 286"/>
                <a:gd name="T30" fmla="*/ 2147483647 w 286"/>
                <a:gd name="T31" fmla="*/ 2147483647 h 286"/>
                <a:gd name="T32" fmla="*/ 2147483647 w 286"/>
                <a:gd name="T33" fmla="*/ 2147483647 h 286"/>
                <a:gd name="T34" fmla="*/ 2147483647 w 286"/>
                <a:gd name="T35" fmla="*/ 2147483647 h 286"/>
                <a:gd name="T36" fmla="*/ 2147483647 w 286"/>
                <a:gd name="T37" fmla="*/ 2147483647 h 286"/>
                <a:gd name="T38" fmla="*/ 2147483647 w 286"/>
                <a:gd name="T39" fmla="*/ 2147483647 h 286"/>
                <a:gd name="T40" fmla="*/ 0 w 286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6"/>
                <a:gd name="T64" fmla="*/ 0 h 286"/>
                <a:gd name="T65" fmla="*/ 286 w 286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6" h="286">
                  <a:moveTo>
                    <a:pt x="0" y="145"/>
                  </a:moveTo>
                  <a:lnTo>
                    <a:pt x="7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4" y="0"/>
                  </a:lnTo>
                  <a:lnTo>
                    <a:pt x="186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5" y="145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6" y="281"/>
                  </a:lnTo>
                  <a:lnTo>
                    <a:pt x="144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7" y="190"/>
                  </a:lnTo>
                  <a:lnTo>
                    <a:pt x="0" y="145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99" name="Rectangle 9"/>
            <p:cNvSpPr>
              <a:spLocks noChangeArrowheads="1"/>
            </p:cNvSpPr>
            <p:nvPr/>
          </p:nvSpPr>
          <p:spPr bwMode="auto">
            <a:xfrm>
              <a:off x="4973638" y="5489575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00" name="Rectangle 10"/>
            <p:cNvSpPr>
              <a:spLocks noChangeArrowheads="1"/>
            </p:cNvSpPr>
            <p:nvPr/>
          </p:nvSpPr>
          <p:spPr bwMode="auto">
            <a:xfrm>
              <a:off x="5029200" y="4114800"/>
              <a:ext cx="2438400" cy="76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2200" dirty="0">
                  <a:latin typeface="+mn-lt"/>
                </a:rPr>
                <a:t>Random error for this x value (x</a:t>
              </a:r>
              <a:r>
                <a:rPr lang="en-US" sz="2200" baseline="-25000" dirty="0">
                  <a:latin typeface="+mn-lt"/>
                </a:rPr>
                <a:t>i</a:t>
              </a:r>
              <a:r>
                <a:rPr lang="en-US" sz="2200" dirty="0">
                  <a:latin typeface="+mn-lt"/>
                </a:rPr>
                <a:t>)</a:t>
              </a:r>
              <a:endParaRPr lang="en-US" sz="2200" baseline="-25000" dirty="0">
                <a:latin typeface="+mn-lt"/>
              </a:endParaRPr>
            </a:p>
          </p:txBody>
        </p:sp>
        <p:sp>
          <p:nvSpPr>
            <p:cNvPr id="12301" name="Rectangle 11"/>
            <p:cNvSpPr>
              <a:spLocks noChangeArrowheads="1"/>
            </p:cNvSpPr>
            <p:nvPr/>
          </p:nvSpPr>
          <p:spPr bwMode="auto">
            <a:xfrm>
              <a:off x="1887538" y="2076450"/>
              <a:ext cx="391134" cy="643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3600" i="1" dirty="0">
                  <a:latin typeface="+mn-lt"/>
                </a:rPr>
                <a:t>y</a:t>
              </a:r>
            </a:p>
          </p:txBody>
        </p:sp>
        <p:sp>
          <p:nvSpPr>
            <p:cNvPr id="12303" name="Freeform 13"/>
            <p:cNvSpPr>
              <a:spLocks/>
            </p:cNvSpPr>
            <p:nvPr/>
          </p:nvSpPr>
          <p:spPr bwMode="auto">
            <a:xfrm>
              <a:off x="7831138" y="2838450"/>
              <a:ext cx="455612" cy="454025"/>
            </a:xfrm>
            <a:custGeom>
              <a:avLst/>
              <a:gdLst>
                <a:gd name="T0" fmla="*/ 0 w 287"/>
                <a:gd name="T1" fmla="*/ 2147483647 h 286"/>
                <a:gd name="T2" fmla="*/ 2147483647 w 287"/>
                <a:gd name="T3" fmla="*/ 2147483647 h 286"/>
                <a:gd name="T4" fmla="*/ 2147483647 w 287"/>
                <a:gd name="T5" fmla="*/ 2147483647 h 286"/>
                <a:gd name="T6" fmla="*/ 2147483647 w 287"/>
                <a:gd name="T7" fmla="*/ 2147483647 h 286"/>
                <a:gd name="T8" fmla="*/ 2147483647 w 287"/>
                <a:gd name="T9" fmla="*/ 2147483647 h 286"/>
                <a:gd name="T10" fmla="*/ 2147483647 w 287"/>
                <a:gd name="T11" fmla="*/ 0 h 286"/>
                <a:gd name="T12" fmla="*/ 2147483647 w 287"/>
                <a:gd name="T13" fmla="*/ 2147483647 h 286"/>
                <a:gd name="T14" fmla="*/ 2147483647 w 287"/>
                <a:gd name="T15" fmla="*/ 2147483647 h 286"/>
                <a:gd name="T16" fmla="*/ 2147483647 w 287"/>
                <a:gd name="T17" fmla="*/ 2147483647 h 286"/>
                <a:gd name="T18" fmla="*/ 2147483647 w 287"/>
                <a:gd name="T19" fmla="*/ 2147483647 h 286"/>
                <a:gd name="T20" fmla="*/ 2147483647 w 287"/>
                <a:gd name="T21" fmla="*/ 2147483647 h 286"/>
                <a:gd name="T22" fmla="*/ 2147483647 w 287"/>
                <a:gd name="T23" fmla="*/ 2147483647 h 286"/>
                <a:gd name="T24" fmla="*/ 2147483647 w 287"/>
                <a:gd name="T25" fmla="*/ 2147483647 h 286"/>
                <a:gd name="T26" fmla="*/ 2147483647 w 287"/>
                <a:gd name="T27" fmla="*/ 2147483647 h 286"/>
                <a:gd name="T28" fmla="*/ 2147483647 w 287"/>
                <a:gd name="T29" fmla="*/ 2147483647 h 286"/>
                <a:gd name="T30" fmla="*/ 2147483647 w 287"/>
                <a:gd name="T31" fmla="*/ 2147483647 h 286"/>
                <a:gd name="T32" fmla="*/ 2147483647 w 287"/>
                <a:gd name="T33" fmla="*/ 2147483647 h 286"/>
                <a:gd name="T34" fmla="*/ 2147483647 w 287"/>
                <a:gd name="T35" fmla="*/ 2147483647 h 286"/>
                <a:gd name="T36" fmla="*/ 2147483647 w 287"/>
                <a:gd name="T37" fmla="*/ 2147483647 h 286"/>
                <a:gd name="T38" fmla="*/ 2147483647 w 287"/>
                <a:gd name="T39" fmla="*/ 2147483647 h 286"/>
                <a:gd name="T40" fmla="*/ 0 w 287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7"/>
                <a:gd name="T64" fmla="*/ 0 h 286"/>
                <a:gd name="T65" fmla="*/ 287 w 287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7" h="286">
                  <a:moveTo>
                    <a:pt x="0" y="141"/>
                  </a:moveTo>
                  <a:lnTo>
                    <a:pt x="8" y="99"/>
                  </a:lnTo>
                  <a:lnTo>
                    <a:pt x="26" y="57"/>
                  </a:lnTo>
                  <a:lnTo>
                    <a:pt x="57" y="26"/>
                  </a:lnTo>
                  <a:lnTo>
                    <a:pt x="99" y="8"/>
                  </a:lnTo>
                  <a:lnTo>
                    <a:pt x="141" y="0"/>
                  </a:lnTo>
                  <a:lnTo>
                    <a:pt x="187" y="8"/>
                  </a:lnTo>
                  <a:lnTo>
                    <a:pt x="224" y="26"/>
                  </a:lnTo>
                  <a:lnTo>
                    <a:pt x="259" y="57"/>
                  </a:lnTo>
                  <a:lnTo>
                    <a:pt x="278" y="99"/>
                  </a:lnTo>
                  <a:lnTo>
                    <a:pt x="286" y="141"/>
                  </a:lnTo>
                  <a:lnTo>
                    <a:pt x="278" y="186"/>
                  </a:lnTo>
                  <a:lnTo>
                    <a:pt x="259" y="224"/>
                  </a:lnTo>
                  <a:lnTo>
                    <a:pt x="224" y="259"/>
                  </a:lnTo>
                  <a:lnTo>
                    <a:pt x="187" y="278"/>
                  </a:lnTo>
                  <a:lnTo>
                    <a:pt x="141" y="285"/>
                  </a:lnTo>
                  <a:lnTo>
                    <a:pt x="99" y="278"/>
                  </a:lnTo>
                  <a:lnTo>
                    <a:pt x="57" y="259"/>
                  </a:lnTo>
                  <a:lnTo>
                    <a:pt x="26" y="224"/>
                  </a:lnTo>
                  <a:lnTo>
                    <a:pt x="8" y="186"/>
                  </a:lnTo>
                  <a:lnTo>
                    <a:pt x="0" y="141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04" name="Freeform 14"/>
            <p:cNvSpPr>
              <a:spLocks/>
            </p:cNvSpPr>
            <p:nvPr/>
          </p:nvSpPr>
          <p:spPr bwMode="auto">
            <a:xfrm>
              <a:off x="2578100" y="4826000"/>
              <a:ext cx="455613" cy="455613"/>
            </a:xfrm>
            <a:custGeom>
              <a:avLst/>
              <a:gdLst>
                <a:gd name="T0" fmla="*/ 0 w 287"/>
                <a:gd name="T1" fmla="*/ 2147483647 h 287"/>
                <a:gd name="T2" fmla="*/ 2147483647 w 287"/>
                <a:gd name="T3" fmla="*/ 2147483647 h 287"/>
                <a:gd name="T4" fmla="*/ 2147483647 w 287"/>
                <a:gd name="T5" fmla="*/ 2147483647 h 287"/>
                <a:gd name="T6" fmla="*/ 2147483647 w 287"/>
                <a:gd name="T7" fmla="*/ 2147483647 h 287"/>
                <a:gd name="T8" fmla="*/ 2147483647 w 287"/>
                <a:gd name="T9" fmla="*/ 2147483647 h 287"/>
                <a:gd name="T10" fmla="*/ 2147483647 w 287"/>
                <a:gd name="T11" fmla="*/ 0 h 287"/>
                <a:gd name="T12" fmla="*/ 2147483647 w 287"/>
                <a:gd name="T13" fmla="*/ 2147483647 h 287"/>
                <a:gd name="T14" fmla="*/ 2147483647 w 287"/>
                <a:gd name="T15" fmla="*/ 2147483647 h 287"/>
                <a:gd name="T16" fmla="*/ 2147483647 w 287"/>
                <a:gd name="T17" fmla="*/ 2147483647 h 287"/>
                <a:gd name="T18" fmla="*/ 2147483647 w 287"/>
                <a:gd name="T19" fmla="*/ 2147483647 h 287"/>
                <a:gd name="T20" fmla="*/ 2147483647 w 287"/>
                <a:gd name="T21" fmla="*/ 2147483647 h 287"/>
                <a:gd name="T22" fmla="*/ 2147483647 w 287"/>
                <a:gd name="T23" fmla="*/ 2147483647 h 287"/>
                <a:gd name="T24" fmla="*/ 2147483647 w 287"/>
                <a:gd name="T25" fmla="*/ 2147483647 h 287"/>
                <a:gd name="T26" fmla="*/ 2147483647 w 287"/>
                <a:gd name="T27" fmla="*/ 2147483647 h 287"/>
                <a:gd name="T28" fmla="*/ 2147483647 w 287"/>
                <a:gd name="T29" fmla="*/ 2147483647 h 287"/>
                <a:gd name="T30" fmla="*/ 2147483647 w 287"/>
                <a:gd name="T31" fmla="*/ 2147483647 h 287"/>
                <a:gd name="T32" fmla="*/ 2147483647 w 287"/>
                <a:gd name="T33" fmla="*/ 2147483647 h 287"/>
                <a:gd name="T34" fmla="*/ 2147483647 w 287"/>
                <a:gd name="T35" fmla="*/ 2147483647 h 287"/>
                <a:gd name="T36" fmla="*/ 2147483647 w 287"/>
                <a:gd name="T37" fmla="*/ 2147483647 h 287"/>
                <a:gd name="T38" fmla="*/ 2147483647 w 287"/>
                <a:gd name="T39" fmla="*/ 2147483647 h 287"/>
                <a:gd name="T40" fmla="*/ 0 w 287"/>
                <a:gd name="T41" fmla="*/ 2147483647 h 28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7"/>
                <a:gd name="T64" fmla="*/ 0 h 287"/>
                <a:gd name="T65" fmla="*/ 287 w 287"/>
                <a:gd name="T66" fmla="*/ 287 h 287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7" h="287">
                  <a:moveTo>
                    <a:pt x="0" y="145"/>
                  </a:moveTo>
                  <a:lnTo>
                    <a:pt x="8" y="99"/>
                  </a:lnTo>
                  <a:lnTo>
                    <a:pt x="27" y="62"/>
                  </a:lnTo>
                  <a:lnTo>
                    <a:pt x="58" y="27"/>
                  </a:lnTo>
                  <a:lnTo>
                    <a:pt x="99" y="8"/>
                  </a:lnTo>
                  <a:lnTo>
                    <a:pt x="141" y="0"/>
                  </a:lnTo>
                  <a:lnTo>
                    <a:pt x="187" y="8"/>
                  </a:lnTo>
                  <a:lnTo>
                    <a:pt x="225" y="27"/>
                  </a:lnTo>
                  <a:lnTo>
                    <a:pt x="260" y="62"/>
                  </a:lnTo>
                  <a:lnTo>
                    <a:pt x="278" y="99"/>
                  </a:lnTo>
                  <a:lnTo>
                    <a:pt x="286" y="145"/>
                  </a:lnTo>
                  <a:lnTo>
                    <a:pt x="278" y="187"/>
                  </a:lnTo>
                  <a:lnTo>
                    <a:pt x="260" y="228"/>
                  </a:lnTo>
                  <a:lnTo>
                    <a:pt x="225" y="260"/>
                  </a:lnTo>
                  <a:lnTo>
                    <a:pt x="187" y="278"/>
                  </a:lnTo>
                  <a:lnTo>
                    <a:pt x="141" y="286"/>
                  </a:lnTo>
                  <a:lnTo>
                    <a:pt x="99" y="278"/>
                  </a:lnTo>
                  <a:lnTo>
                    <a:pt x="58" y="260"/>
                  </a:lnTo>
                  <a:lnTo>
                    <a:pt x="27" y="228"/>
                  </a:lnTo>
                  <a:lnTo>
                    <a:pt x="8" y="187"/>
                  </a:lnTo>
                  <a:lnTo>
                    <a:pt x="0" y="145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05" name="Rectangle 15"/>
            <p:cNvSpPr>
              <a:spLocks noChangeArrowheads="1"/>
            </p:cNvSpPr>
            <p:nvPr/>
          </p:nvSpPr>
          <p:spPr bwMode="auto">
            <a:xfrm>
              <a:off x="3214688" y="5089525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06" name="Freeform 16"/>
            <p:cNvSpPr>
              <a:spLocks/>
            </p:cNvSpPr>
            <p:nvPr/>
          </p:nvSpPr>
          <p:spPr bwMode="auto">
            <a:xfrm>
              <a:off x="7086600" y="3962400"/>
              <a:ext cx="455613" cy="454025"/>
            </a:xfrm>
            <a:custGeom>
              <a:avLst/>
              <a:gdLst>
                <a:gd name="T0" fmla="*/ 0 w 287"/>
                <a:gd name="T1" fmla="*/ 2147483647 h 286"/>
                <a:gd name="T2" fmla="*/ 2147483647 w 287"/>
                <a:gd name="T3" fmla="*/ 2147483647 h 286"/>
                <a:gd name="T4" fmla="*/ 2147483647 w 287"/>
                <a:gd name="T5" fmla="*/ 2147483647 h 286"/>
                <a:gd name="T6" fmla="*/ 2147483647 w 287"/>
                <a:gd name="T7" fmla="*/ 2147483647 h 286"/>
                <a:gd name="T8" fmla="*/ 2147483647 w 287"/>
                <a:gd name="T9" fmla="*/ 2147483647 h 286"/>
                <a:gd name="T10" fmla="*/ 2147483647 w 287"/>
                <a:gd name="T11" fmla="*/ 0 h 286"/>
                <a:gd name="T12" fmla="*/ 2147483647 w 287"/>
                <a:gd name="T13" fmla="*/ 2147483647 h 286"/>
                <a:gd name="T14" fmla="*/ 2147483647 w 287"/>
                <a:gd name="T15" fmla="*/ 2147483647 h 286"/>
                <a:gd name="T16" fmla="*/ 2147483647 w 287"/>
                <a:gd name="T17" fmla="*/ 2147483647 h 286"/>
                <a:gd name="T18" fmla="*/ 2147483647 w 287"/>
                <a:gd name="T19" fmla="*/ 2147483647 h 286"/>
                <a:gd name="T20" fmla="*/ 2147483647 w 287"/>
                <a:gd name="T21" fmla="*/ 2147483647 h 286"/>
                <a:gd name="T22" fmla="*/ 2147483647 w 287"/>
                <a:gd name="T23" fmla="*/ 2147483647 h 286"/>
                <a:gd name="T24" fmla="*/ 2147483647 w 287"/>
                <a:gd name="T25" fmla="*/ 2147483647 h 286"/>
                <a:gd name="T26" fmla="*/ 2147483647 w 287"/>
                <a:gd name="T27" fmla="*/ 2147483647 h 286"/>
                <a:gd name="T28" fmla="*/ 2147483647 w 287"/>
                <a:gd name="T29" fmla="*/ 2147483647 h 286"/>
                <a:gd name="T30" fmla="*/ 2147483647 w 287"/>
                <a:gd name="T31" fmla="*/ 2147483647 h 286"/>
                <a:gd name="T32" fmla="*/ 2147483647 w 287"/>
                <a:gd name="T33" fmla="*/ 2147483647 h 286"/>
                <a:gd name="T34" fmla="*/ 2147483647 w 287"/>
                <a:gd name="T35" fmla="*/ 2147483647 h 286"/>
                <a:gd name="T36" fmla="*/ 2147483647 w 287"/>
                <a:gd name="T37" fmla="*/ 2147483647 h 286"/>
                <a:gd name="T38" fmla="*/ 2147483647 w 287"/>
                <a:gd name="T39" fmla="*/ 2147483647 h 286"/>
                <a:gd name="T40" fmla="*/ 0 w 287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7"/>
                <a:gd name="T64" fmla="*/ 0 h 286"/>
                <a:gd name="T65" fmla="*/ 287 w 287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7" h="286">
                  <a:moveTo>
                    <a:pt x="0" y="144"/>
                  </a:moveTo>
                  <a:lnTo>
                    <a:pt x="8" y="99"/>
                  </a:lnTo>
                  <a:lnTo>
                    <a:pt x="26" y="61"/>
                  </a:lnTo>
                  <a:lnTo>
                    <a:pt x="58" y="26"/>
                  </a:lnTo>
                  <a:lnTo>
                    <a:pt x="99" y="7"/>
                  </a:lnTo>
                  <a:lnTo>
                    <a:pt x="141" y="0"/>
                  </a:lnTo>
                  <a:lnTo>
                    <a:pt x="187" y="7"/>
                  </a:lnTo>
                  <a:lnTo>
                    <a:pt x="225" y="26"/>
                  </a:lnTo>
                  <a:lnTo>
                    <a:pt x="260" y="61"/>
                  </a:lnTo>
                  <a:lnTo>
                    <a:pt x="278" y="99"/>
                  </a:lnTo>
                  <a:lnTo>
                    <a:pt x="286" y="144"/>
                  </a:lnTo>
                  <a:lnTo>
                    <a:pt x="278" y="186"/>
                  </a:lnTo>
                  <a:lnTo>
                    <a:pt x="260" y="228"/>
                  </a:lnTo>
                  <a:lnTo>
                    <a:pt x="225" y="259"/>
                  </a:lnTo>
                  <a:lnTo>
                    <a:pt x="187" y="277"/>
                  </a:lnTo>
                  <a:lnTo>
                    <a:pt x="141" y="285"/>
                  </a:lnTo>
                  <a:lnTo>
                    <a:pt x="99" y="277"/>
                  </a:lnTo>
                  <a:lnTo>
                    <a:pt x="58" y="259"/>
                  </a:lnTo>
                  <a:lnTo>
                    <a:pt x="26" y="228"/>
                  </a:lnTo>
                  <a:lnTo>
                    <a:pt x="8" y="186"/>
                  </a:lnTo>
                  <a:lnTo>
                    <a:pt x="0" y="144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07" name="Freeform 17"/>
            <p:cNvSpPr>
              <a:spLocks/>
            </p:cNvSpPr>
            <p:nvPr/>
          </p:nvSpPr>
          <p:spPr bwMode="auto">
            <a:xfrm>
              <a:off x="5621338" y="3295650"/>
              <a:ext cx="455612" cy="454025"/>
            </a:xfrm>
            <a:custGeom>
              <a:avLst/>
              <a:gdLst>
                <a:gd name="T0" fmla="*/ 0 w 287"/>
                <a:gd name="T1" fmla="*/ 2147483647 h 286"/>
                <a:gd name="T2" fmla="*/ 2147483647 w 287"/>
                <a:gd name="T3" fmla="*/ 2147483647 h 286"/>
                <a:gd name="T4" fmla="*/ 2147483647 w 287"/>
                <a:gd name="T5" fmla="*/ 2147483647 h 286"/>
                <a:gd name="T6" fmla="*/ 2147483647 w 287"/>
                <a:gd name="T7" fmla="*/ 2147483647 h 286"/>
                <a:gd name="T8" fmla="*/ 2147483647 w 287"/>
                <a:gd name="T9" fmla="*/ 2147483647 h 286"/>
                <a:gd name="T10" fmla="*/ 2147483647 w 287"/>
                <a:gd name="T11" fmla="*/ 0 h 286"/>
                <a:gd name="T12" fmla="*/ 2147483647 w 287"/>
                <a:gd name="T13" fmla="*/ 2147483647 h 286"/>
                <a:gd name="T14" fmla="*/ 2147483647 w 287"/>
                <a:gd name="T15" fmla="*/ 2147483647 h 286"/>
                <a:gd name="T16" fmla="*/ 2147483647 w 287"/>
                <a:gd name="T17" fmla="*/ 2147483647 h 286"/>
                <a:gd name="T18" fmla="*/ 2147483647 w 287"/>
                <a:gd name="T19" fmla="*/ 2147483647 h 286"/>
                <a:gd name="T20" fmla="*/ 2147483647 w 287"/>
                <a:gd name="T21" fmla="*/ 2147483647 h 286"/>
                <a:gd name="T22" fmla="*/ 2147483647 w 287"/>
                <a:gd name="T23" fmla="*/ 2147483647 h 286"/>
                <a:gd name="T24" fmla="*/ 2147483647 w 287"/>
                <a:gd name="T25" fmla="*/ 2147483647 h 286"/>
                <a:gd name="T26" fmla="*/ 2147483647 w 287"/>
                <a:gd name="T27" fmla="*/ 2147483647 h 286"/>
                <a:gd name="T28" fmla="*/ 2147483647 w 287"/>
                <a:gd name="T29" fmla="*/ 2147483647 h 286"/>
                <a:gd name="T30" fmla="*/ 2147483647 w 287"/>
                <a:gd name="T31" fmla="*/ 2147483647 h 286"/>
                <a:gd name="T32" fmla="*/ 2147483647 w 287"/>
                <a:gd name="T33" fmla="*/ 2147483647 h 286"/>
                <a:gd name="T34" fmla="*/ 2147483647 w 287"/>
                <a:gd name="T35" fmla="*/ 2147483647 h 286"/>
                <a:gd name="T36" fmla="*/ 2147483647 w 287"/>
                <a:gd name="T37" fmla="*/ 2147483647 h 286"/>
                <a:gd name="T38" fmla="*/ 2147483647 w 287"/>
                <a:gd name="T39" fmla="*/ 2147483647 h 286"/>
                <a:gd name="T40" fmla="*/ 0 w 287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7"/>
                <a:gd name="T64" fmla="*/ 0 h 286"/>
                <a:gd name="T65" fmla="*/ 287 w 287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7" h="286">
                  <a:moveTo>
                    <a:pt x="0" y="140"/>
                  </a:moveTo>
                  <a:lnTo>
                    <a:pt x="8" y="99"/>
                  </a:lnTo>
                  <a:lnTo>
                    <a:pt x="26" y="57"/>
                  </a:lnTo>
                  <a:lnTo>
                    <a:pt x="61" y="26"/>
                  </a:lnTo>
                  <a:lnTo>
                    <a:pt x="99" y="7"/>
                  </a:lnTo>
                  <a:lnTo>
                    <a:pt x="145" y="0"/>
                  </a:lnTo>
                  <a:lnTo>
                    <a:pt x="187" y="7"/>
                  </a:lnTo>
                  <a:lnTo>
                    <a:pt x="228" y="26"/>
                  </a:lnTo>
                  <a:lnTo>
                    <a:pt x="259" y="57"/>
                  </a:lnTo>
                  <a:lnTo>
                    <a:pt x="278" y="99"/>
                  </a:lnTo>
                  <a:lnTo>
                    <a:pt x="286" y="140"/>
                  </a:lnTo>
                  <a:lnTo>
                    <a:pt x="278" y="186"/>
                  </a:lnTo>
                  <a:lnTo>
                    <a:pt x="259" y="224"/>
                  </a:lnTo>
                  <a:lnTo>
                    <a:pt x="228" y="259"/>
                  </a:lnTo>
                  <a:lnTo>
                    <a:pt x="187" y="277"/>
                  </a:lnTo>
                  <a:lnTo>
                    <a:pt x="145" y="285"/>
                  </a:lnTo>
                  <a:lnTo>
                    <a:pt x="99" y="277"/>
                  </a:lnTo>
                  <a:lnTo>
                    <a:pt x="61" y="259"/>
                  </a:lnTo>
                  <a:lnTo>
                    <a:pt x="26" y="224"/>
                  </a:lnTo>
                  <a:lnTo>
                    <a:pt x="8" y="186"/>
                  </a:lnTo>
                  <a:lnTo>
                    <a:pt x="0" y="140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08" name="Rectangle 18"/>
            <p:cNvSpPr>
              <a:spLocks noChangeArrowheads="1"/>
            </p:cNvSpPr>
            <p:nvPr/>
          </p:nvSpPr>
          <p:spPr bwMode="auto">
            <a:xfrm>
              <a:off x="2851150" y="4262438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09" name="Rectangle 19"/>
            <p:cNvSpPr>
              <a:spLocks noChangeArrowheads="1"/>
            </p:cNvSpPr>
            <p:nvPr/>
          </p:nvSpPr>
          <p:spPr bwMode="auto">
            <a:xfrm>
              <a:off x="4011613" y="3146425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10" name="Rectangle 20"/>
            <p:cNvSpPr>
              <a:spLocks noChangeArrowheads="1"/>
            </p:cNvSpPr>
            <p:nvPr/>
          </p:nvSpPr>
          <p:spPr bwMode="auto">
            <a:xfrm>
              <a:off x="4011613" y="3206750"/>
              <a:ext cx="184150" cy="92075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11" name="Rectangle 21"/>
            <p:cNvSpPr>
              <a:spLocks noChangeArrowheads="1"/>
            </p:cNvSpPr>
            <p:nvPr/>
          </p:nvSpPr>
          <p:spPr bwMode="auto">
            <a:xfrm>
              <a:off x="4511675" y="3176588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12" name="Freeform 22"/>
            <p:cNvSpPr>
              <a:spLocks/>
            </p:cNvSpPr>
            <p:nvPr/>
          </p:nvSpPr>
          <p:spPr bwMode="auto">
            <a:xfrm>
              <a:off x="2362200" y="2590800"/>
              <a:ext cx="6323013" cy="3452813"/>
            </a:xfrm>
            <a:custGeom>
              <a:avLst/>
              <a:gdLst>
                <a:gd name="T0" fmla="*/ 2147483647 w 3983"/>
                <a:gd name="T1" fmla="*/ 0 h 2175"/>
                <a:gd name="T2" fmla="*/ 0 w 3983"/>
                <a:gd name="T3" fmla="*/ 2147483647 h 2175"/>
                <a:gd name="T4" fmla="*/ 2147483647 w 3983"/>
                <a:gd name="T5" fmla="*/ 2147483647 h 2175"/>
                <a:gd name="T6" fmla="*/ 0 60000 65536"/>
                <a:gd name="T7" fmla="*/ 0 60000 65536"/>
                <a:gd name="T8" fmla="*/ 0 60000 65536"/>
                <a:gd name="T9" fmla="*/ 0 w 3983"/>
                <a:gd name="T10" fmla="*/ 0 h 2175"/>
                <a:gd name="T11" fmla="*/ 3983 w 3983"/>
                <a:gd name="T12" fmla="*/ 2175 h 2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83" h="2175">
                  <a:moveTo>
                    <a:pt x="1" y="0"/>
                  </a:moveTo>
                  <a:lnTo>
                    <a:pt x="0" y="2175"/>
                  </a:lnTo>
                  <a:lnTo>
                    <a:pt x="3983" y="2175"/>
                  </a:lnTo>
                </a:path>
              </a:pathLst>
            </a:custGeom>
            <a:noFill/>
            <a:ln w="762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3" name="Line 23"/>
            <p:cNvSpPr>
              <a:spLocks noChangeShapeType="1"/>
            </p:cNvSpPr>
            <p:nvPr/>
          </p:nvSpPr>
          <p:spPr bwMode="auto">
            <a:xfrm>
              <a:off x="1976438" y="2668588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4" name="Line 24"/>
            <p:cNvSpPr>
              <a:spLocks noChangeShapeType="1"/>
            </p:cNvSpPr>
            <p:nvPr/>
          </p:nvSpPr>
          <p:spPr bwMode="auto">
            <a:xfrm>
              <a:off x="1976438" y="3228975"/>
              <a:ext cx="1587" cy="1588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5" name="Line 25"/>
            <p:cNvSpPr>
              <a:spLocks noChangeShapeType="1"/>
            </p:cNvSpPr>
            <p:nvPr/>
          </p:nvSpPr>
          <p:spPr bwMode="auto">
            <a:xfrm>
              <a:off x="1976438" y="3543300"/>
              <a:ext cx="1587" cy="1588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6" name="Line 26"/>
            <p:cNvSpPr>
              <a:spLocks noChangeShapeType="1"/>
            </p:cNvSpPr>
            <p:nvPr/>
          </p:nvSpPr>
          <p:spPr bwMode="auto">
            <a:xfrm>
              <a:off x="1976438" y="3851275"/>
              <a:ext cx="1587" cy="1588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7" name="Line 27"/>
            <p:cNvSpPr>
              <a:spLocks noChangeShapeType="1"/>
            </p:cNvSpPr>
            <p:nvPr/>
          </p:nvSpPr>
          <p:spPr bwMode="auto">
            <a:xfrm>
              <a:off x="1976438" y="4167188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8" name="Line 28"/>
            <p:cNvSpPr>
              <a:spLocks noChangeShapeType="1"/>
            </p:cNvSpPr>
            <p:nvPr/>
          </p:nvSpPr>
          <p:spPr bwMode="auto">
            <a:xfrm>
              <a:off x="1976438" y="4481513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19" name="Line 29"/>
            <p:cNvSpPr>
              <a:spLocks noChangeShapeType="1"/>
            </p:cNvSpPr>
            <p:nvPr/>
          </p:nvSpPr>
          <p:spPr bwMode="auto">
            <a:xfrm>
              <a:off x="1976438" y="4789488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0" name="Line 30"/>
            <p:cNvSpPr>
              <a:spLocks noChangeShapeType="1"/>
            </p:cNvSpPr>
            <p:nvPr/>
          </p:nvSpPr>
          <p:spPr bwMode="auto">
            <a:xfrm>
              <a:off x="1976438" y="5103813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1" name="Line 31"/>
            <p:cNvSpPr>
              <a:spLocks noChangeShapeType="1"/>
            </p:cNvSpPr>
            <p:nvPr/>
          </p:nvSpPr>
          <p:spPr bwMode="auto">
            <a:xfrm>
              <a:off x="1976438" y="5411788"/>
              <a:ext cx="1587" cy="1587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2" name="Line 32"/>
            <p:cNvSpPr>
              <a:spLocks noChangeShapeType="1"/>
            </p:cNvSpPr>
            <p:nvPr/>
          </p:nvSpPr>
          <p:spPr bwMode="auto">
            <a:xfrm>
              <a:off x="1976438" y="5727700"/>
              <a:ext cx="1587" cy="1588"/>
            </a:xfrm>
            <a:prstGeom prst="line">
              <a:avLst/>
            </a:prstGeom>
            <a:noFill/>
            <a:ln w="76200">
              <a:solidFill>
                <a:srgbClr val="CDCDC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3" name="Rectangle 33"/>
            <p:cNvSpPr>
              <a:spLocks noChangeArrowheads="1"/>
            </p:cNvSpPr>
            <p:nvPr/>
          </p:nvSpPr>
          <p:spPr bwMode="auto">
            <a:xfrm>
              <a:off x="1835150" y="4389438"/>
              <a:ext cx="92075" cy="184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24" name="Rectangle 34"/>
            <p:cNvSpPr>
              <a:spLocks noChangeArrowheads="1"/>
            </p:cNvSpPr>
            <p:nvPr/>
          </p:nvSpPr>
          <p:spPr bwMode="auto">
            <a:xfrm>
              <a:off x="5400675" y="6316663"/>
              <a:ext cx="184150" cy="92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25" name="Rectangle 35"/>
            <p:cNvSpPr>
              <a:spLocks noChangeArrowheads="1"/>
            </p:cNvSpPr>
            <p:nvPr/>
          </p:nvSpPr>
          <p:spPr bwMode="auto">
            <a:xfrm>
              <a:off x="228600" y="2819400"/>
              <a:ext cx="2057400" cy="76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dirty="0">
                  <a:latin typeface="+mn-lt"/>
                </a:rPr>
                <a:t>Observed Value of </a:t>
              </a:r>
              <a:r>
                <a:rPr lang="en-US" sz="2200" i="1" dirty="0">
                  <a:latin typeface="+mn-lt"/>
                </a:rPr>
                <a:t>y</a:t>
              </a:r>
              <a:r>
                <a:rPr lang="en-US" sz="2200" dirty="0">
                  <a:latin typeface="+mn-lt"/>
                </a:rPr>
                <a:t> for </a:t>
              </a:r>
              <a:r>
                <a:rPr lang="en-US" sz="2200" i="1" dirty="0">
                  <a:latin typeface="+mn-lt"/>
                </a:rPr>
                <a:t>x</a:t>
              </a:r>
              <a:r>
                <a:rPr lang="en-US" sz="2200" i="1" baseline="-25000" dirty="0">
                  <a:latin typeface="+mn-lt"/>
                </a:rPr>
                <a:t>i</a:t>
              </a:r>
            </a:p>
          </p:txBody>
        </p:sp>
        <p:sp>
          <p:nvSpPr>
            <p:cNvPr id="12326" name="AutoShape 36"/>
            <p:cNvSpPr>
              <a:spLocks/>
            </p:cNvSpPr>
            <p:nvPr/>
          </p:nvSpPr>
          <p:spPr bwMode="auto">
            <a:xfrm>
              <a:off x="2039938" y="5048250"/>
              <a:ext cx="152400" cy="9144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27" name="Line 37"/>
            <p:cNvSpPr>
              <a:spLocks noChangeShapeType="1"/>
            </p:cNvSpPr>
            <p:nvPr/>
          </p:nvSpPr>
          <p:spPr bwMode="auto">
            <a:xfrm>
              <a:off x="6781800" y="3657600"/>
              <a:ext cx="1676400" cy="1588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8" name="Line 38"/>
            <p:cNvSpPr>
              <a:spLocks noChangeShapeType="1"/>
            </p:cNvSpPr>
            <p:nvPr/>
          </p:nvSpPr>
          <p:spPr bwMode="auto">
            <a:xfrm>
              <a:off x="8458200" y="3200400"/>
              <a:ext cx="1588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29" name="AutoShape 39"/>
            <p:cNvSpPr>
              <a:spLocks/>
            </p:cNvSpPr>
            <p:nvPr/>
          </p:nvSpPr>
          <p:spPr bwMode="auto">
            <a:xfrm flipH="1">
              <a:off x="4173538" y="3371850"/>
              <a:ext cx="152400" cy="990600"/>
            </a:xfrm>
            <a:prstGeom prst="leftBrace">
              <a:avLst>
                <a:gd name="adj1" fmla="val 54167"/>
                <a:gd name="adj2" fmla="val 48958"/>
              </a:avLst>
            </a:pr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12330" name="Freeform 40"/>
            <p:cNvSpPr>
              <a:spLocks/>
            </p:cNvSpPr>
            <p:nvPr/>
          </p:nvSpPr>
          <p:spPr bwMode="auto">
            <a:xfrm>
              <a:off x="4021138" y="4362450"/>
              <a:ext cx="152400" cy="152400"/>
            </a:xfrm>
            <a:custGeom>
              <a:avLst/>
              <a:gdLst>
                <a:gd name="T0" fmla="*/ 0 w 286"/>
                <a:gd name="T1" fmla="*/ 2147483647 h 286"/>
                <a:gd name="T2" fmla="*/ 2147483647 w 286"/>
                <a:gd name="T3" fmla="*/ 2147483647 h 286"/>
                <a:gd name="T4" fmla="*/ 2147483647 w 286"/>
                <a:gd name="T5" fmla="*/ 2147483647 h 286"/>
                <a:gd name="T6" fmla="*/ 2147483647 w 286"/>
                <a:gd name="T7" fmla="*/ 2147483647 h 286"/>
                <a:gd name="T8" fmla="*/ 2147483647 w 286"/>
                <a:gd name="T9" fmla="*/ 2147483647 h 286"/>
                <a:gd name="T10" fmla="*/ 2147483647 w 286"/>
                <a:gd name="T11" fmla="*/ 0 h 286"/>
                <a:gd name="T12" fmla="*/ 2147483647 w 286"/>
                <a:gd name="T13" fmla="*/ 2147483647 h 286"/>
                <a:gd name="T14" fmla="*/ 2147483647 w 286"/>
                <a:gd name="T15" fmla="*/ 2147483647 h 286"/>
                <a:gd name="T16" fmla="*/ 2147483647 w 286"/>
                <a:gd name="T17" fmla="*/ 2147483647 h 286"/>
                <a:gd name="T18" fmla="*/ 2147483647 w 286"/>
                <a:gd name="T19" fmla="*/ 2147483647 h 286"/>
                <a:gd name="T20" fmla="*/ 2147483647 w 286"/>
                <a:gd name="T21" fmla="*/ 2147483647 h 286"/>
                <a:gd name="T22" fmla="*/ 2147483647 w 286"/>
                <a:gd name="T23" fmla="*/ 2147483647 h 286"/>
                <a:gd name="T24" fmla="*/ 2147483647 w 286"/>
                <a:gd name="T25" fmla="*/ 2147483647 h 286"/>
                <a:gd name="T26" fmla="*/ 2147483647 w 286"/>
                <a:gd name="T27" fmla="*/ 2147483647 h 286"/>
                <a:gd name="T28" fmla="*/ 2147483647 w 286"/>
                <a:gd name="T29" fmla="*/ 2147483647 h 286"/>
                <a:gd name="T30" fmla="*/ 2147483647 w 286"/>
                <a:gd name="T31" fmla="*/ 2147483647 h 286"/>
                <a:gd name="T32" fmla="*/ 2147483647 w 286"/>
                <a:gd name="T33" fmla="*/ 2147483647 h 286"/>
                <a:gd name="T34" fmla="*/ 2147483647 w 286"/>
                <a:gd name="T35" fmla="*/ 2147483647 h 286"/>
                <a:gd name="T36" fmla="*/ 2147483647 w 286"/>
                <a:gd name="T37" fmla="*/ 2147483647 h 286"/>
                <a:gd name="T38" fmla="*/ 2147483647 w 286"/>
                <a:gd name="T39" fmla="*/ 2147483647 h 286"/>
                <a:gd name="T40" fmla="*/ 0 w 286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6"/>
                <a:gd name="T64" fmla="*/ 0 h 286"/>
                <a:gd name="T65" fmla="*/ 286 w 286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6" h="286">
                  <a:moveTo>
                    <a:pt x="0" y="145"/>
                  </a:moveTo>
                  <a:lnTo>
                    <a:pt x="7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4" y="0"/>
                  </a:lnTo>
                  <a:lnTo>
                    <a:pt x="186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5" y="145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6" y="281"/>
                  </a:lnTo>
                  <a:lnTo>
                    <a:pt x="144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7" y="190"/>
                  </a:lnTo>
                  <a:lnTo>
                    <a:pt x="0" y="145"/>
                  </a:lnTo>
                </a:path>
              </a:pathLst>
            </a:cu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31" name="Rectangle 41"/>
            <p:cNvSpPr>
              <a:spLocks noChangeArrowheads="1"/>
            </p:cNvSpPr>
            <p:nvPr/>
          </p:nvSpPr>
          <p:spPr bwMode="auto">
            <a:xfrm>
              <a:off x="304800" y="4038600"/>
              <a:ext cx="1981200" cy="766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 dirty="0">
                  <a:latin typeface="+mn-lt"/>
                </a:rPr>
                <a:t>Predicted Value of </a:t>
              </a:r>
              <a:r>
                <a:rPr lang="en-US" sz="2200" i="1" dirty="0">
                  <a:latin typeface="+mn-lt"/>
                </a:rPr>
                <a:t>y</a:t>
              </a:r>
              <a:r>
                <a:rPr lang="en-US" sz="2200" dirty="0">
                  <a:latin typeface="+mn-lt"/>
                </a:rPr>
                <a:t> for </a:t>
              </a:r>
              <a:r>
                <a:rPr lang="en-US" sz="2200" i="1" dirty="0">
                  <a:latin typeface="+mn-lt"/>
                </a:rPr>
                <a:t>x</a:t>
              </a:r>
              <a:r>
                <a:rPr lang="en-US" sz="2200" i="1" baseline="-25000" dirty="0">
                  <a:latin typeface="+mn-lt"/>
                </a:rPr>
                <a:t>i</a:t>
              </a:r>
              <a:r>
                <a:rPr lang="en-US" sz="2200" i="1" dirty="0">
                  <a:latin typeface="+mn-lt"/>
                </a:rPr>
                <a:t> </a:t>
              </a:r>
            </a:p>
          </p:txBody>
        </p:sp>
        <p:sp>
          <p:nvSpPr>
            <p:cNvPr id="12333" name="Text Box 43"/>
            <p:cNvSpPr txBox="1">
              <a:spLocks noChangeArrowheads="1"/>
            </p:cNvSpPr>
            <p:nvPr/>
          </p:nvSpPr>
          <p:spPr bwMode="auto">
            <a:xfrm>
              <a:off x="3944938" y="5962650"/>
              <a:ext cx="36420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x</a:t>
              </a:r>
              <a:r>
                <a:rPr lang="en-US" i="1" baseline="-25000" dirty="0">
                  <a:latin typeface="+mn-lt"/>
                </a:rPr>
                <a:t>i</a:t>
              </a:r>
            </a:p>
          </p:txBody>
        </p:sp>
        <p:sp>
          <p:nvSpPr>
            <p:cNvPr id="12334" name="Freeform 44"/>
            <p:cNvSpPr>
              <a:spLocks/>
            </p:cNvSpPr>
            <p:nvPr/>
          </p:nvSpPr>
          <p:spPr bwMode="auto">
            <a:xfrm>
              <a:off x="3868738" y="2914650"/>
              <a:ext cx="455612" cy="454025"/>
            </a:xfrm>
            <a:custGeom>
              <a:avLst/>
              <a:gdLst>
                <a:gd name="T0" fmla="*/ 0 w 287"/>
                <a:gd name="T1" fmla="*/ 2147483647 h 286"/>
                <a:gd name="T2" fmla="*/ 2147483647 w 287"/>
                <a:gd name="T3" fmla="*/ 2147483647 h 286"/>
                <a:gd name="T4" fmla="*/ 2147483647 w 287"/>
                <a:gd name="T5" fmla="*/ 2147483647 h 286"/>
                <a:gd name="T6" fmla="*/ 2147483647 w 287"/>
                <a:gd name="T7" fmla="*/ 2147483647 h 286"/>
                <a:gd name="T8" fmla="*/ 2147483647 w 287"/>
                <a:gd name="T9" fmla="*/ 2147483647 h 286"/>
                <a:gd name="T10" fmla="*/ 2147483647 w 287"/>
                <a:gd name="T11" fmla="*/ 0 h 286"/>
                <a:gd name="T12" fmla="*/ 2147483647 w 287"/>
                <a:gd name="T13" fmla="*/ 2147483647 h 286"/>
                <a:gd name="T14" fmla="*/ 2147483647 w 287"/>
                <a:gd name="T15" fmla="*/ 2147483647 h 286"/>
                <a:gd name="T16" fmla="*/ 2147483647 w 287"/>
                <a:gd name="T17" fmla="*/ 2147483647 h 286"/>
                <a:gd name="T18" fmla="*/ 2147483647 w 287"/>
                <a:gd name="T19" fmla="*/ 2147483647 h 286"/>
                <a:gd name="T20" fmla="*/ 2147483647 w 287"/>
                <a:gd name="T21" fmla="*/ 2147483647 h 286"/>
                <a:gd name="T22" fmla="*/ 2147483647 w 287"/>
                <a:gd name="T23" fmla="*/ 2147483647 h 286"/>
                <a:gd name="T24" fmla="*/ 2147483647 w 287"/>
                <a:gd name="T25" fmla="*/ 2147483647 h 286"/>
                <a:gd name="T26" fmla="*/ 2147483647 w 287"/>
                <a:gd name="T27" fmla="*/ 2147483647 h 286"/>
                <a:gd name="T28" fmla="*/ 2147483647 w 287"/>
                <a:gd name="T29" fmla="*/ 2147483647 h 286"/>
                <a:gd name="T30" fmla="*/ 2147483647 w 287"/>
                <a:gd name="T31" fmla="*/ 2147483647 h 286"/>
                <a:gd name="T32" fmla="*/ 2147483647 w 287"/>
                <a:gd name="T33" fmla="*/ 2147483647 h 286"/>
                <a:gd name="T34" fmla="*/ 2147483647 w 287"/>
                <a:gd name="T35" fmla="*/ 2147483647 h 286"/>
                <a:gd name="T36" fmla="*/ 2147483647 w 287"/>
                <a:gd name="T37" fmla="*/ 2147483647 h 286"/>
                <a:gd name="T38" fmla="*/ 2147483647 w 287"/>
                <a:gd name="T39" fmla="*/ 2147483647 h 286"/>
                <a:gd name="T40" fmla="*/ 0 w 287"/>
                <a:gd name="T41" fmla="*/ 2147483647 h 28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87"/>
                <a:gd name="T64" fmla="*/ 0 h 286"/>
                <a:gd name="T65" fmla="*/ 287 w 287"/>
                <a:gd name="T66" fmla="*/ 286 h 28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87" h="286">
                  <a:moveTo>
                    <a:pt x="0" y="144"/>
                  </a:moveTo>
                  <a:lnTo>
                    <a:pt x="8" y="99"/>
                  </a:lnTo>
                  <a:lnTo>
                    <a:pt x="26" y="61"/>
                  </a:lnTo>
                  <a:lnTo>
                    <a:pt x="61" y="30"/>
                  </a:lnTo>
                  <a:lnTo>
                    <a:pt x="99" y="8"/>
                  </a:lnTo>
                  <a:lnTo>
                    <a:pt x="145" y="0"/>
                  </a:lnTo>
                  <a:lnTo>
                    <a:pt x="187" y="8"/>
                  </a:lnTo>
                  <a:lnTo>
                    <a:pt x="228" y="30"/>
                  </a:lnTo>
                  <a:lnTo>
                    <a:pt x="259" y="61"/>
                  </a:lnTo>
                  <a:lnTo>
                    <a:pt x="278" y="99"/>
                  </a:lnTo>
                  <a:lnTo>
                    <a:pt x="286" y="144"/>
                  </a:lnTo>
                  <a:lnTo>
                    <a:pt x="278" y="190"/>
                  </a:lnTo>
                  <a:lnTo>
                    <a:pt x="259" y="228"/>
                  </a:lnTo>
                  <a:lnTo>
                    <a:pt x="228" y="259"/>
                  </a:lnTo>
                  <a:lnTo>
                    <a:pt x="187" y="281"/>
                  </a:lnTo>
                  <a:lnTo>
                    <a:pt x="145" y="285"/>
                  </a:lnTo>
                  <a:lnTo>
                    <a:pt x="99" y="281"/>
                  </a:lnTo>
                  <a:lnTo>
                    <a:pt x="61" y="259"/>
                  </a:lnTo>
                  <a:lnTo>
                    <a:pt x="26" y="228"/>
                  </a:lnTo>
                  <a:lnTo>
                    <a:pt x="8" y="190"/>
                  </a:lnTo>
                  <a:lnTo>
                    <a:pt x="0" y="144"/>
                  </a:lnTo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35" name="Line 45"/>
            <p:cNvSpPr>
              <a:spLocks noChangeShapeType="1"/>
            </p:cNvSpPr>
            <p:nvPr/>
          </p:nvSpPr>
          <p:spPr bwMode="auto">
            <a:xfrm flipH="1" flipV="1">
              <a:off x="4800600" y="4038600"/>
              <a:ext cx="304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36" name="Line 46"/>
            <p:cNvSpPr>
              <a:spLocks noChangeShapeType="1"/>
            </p:cNvSpPr>
            <p:nvPr/>
          </p:nvSpPr>
          <p:spPr bwMode="auto">
            <a:xfrm>
              <a:off x="6629400" y="2667000"/>
              <a:ext cx="838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37" name="Rectangle 47"/>
            <p:cNvSpPr>
              <a:spLocks noChangeArrowheads="1"/>
            </p:cNvSpPr>
            <p:nvPr/>
          </p:nvSpPr>
          <p:spPr bwMode="auto">
            <a:xfrm>
              <a:off x="7010400" y="3581400"/>
              <a:ext cx="167640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r>
                <a:rPr lang="en-US" sz="2200" dirty="0">
                  <a:latin typeface="+mn-lt"/>
                </a:rPr>
                <a:t>Slope = </a:t>
              </a:r>
              <a:r>
                <a:rPr lang="el-GR" sz="2200" dirty="0">
                  <a:latin typeface="+mn-lt"/>
                  <a:cs typeface="Arial" charset="0"/>
                </a:rPr>
                <a:t>β</a:t>
              </a:r>
              <a:r>
                <a:rPr lang="en-US" sz="2200" baseline="-25000" dirty="0">
                  <a:latin typeface="+mn-lt"/>
                  <a:cs typeface="Arial" charset="0"/>
                </a:rPr>
                <a:t>1</a:t>
              </a:r>
              <a:endParaRPr lang="el-GR" sz="2200" baseline="-25000" dirty="0">
                <a:latin typeface="+mn-lt"/>
                <a:cs typeface="Arial" charset="0"/>
              </a:endParaRPr>
            </a:p>
          </p:txBody>
        </p:sp>
        <p:sp>
          <p:nvSpPr>
            <p:cNvPr id="12338" name="Rectangle 48"/>
            <p:cNvSpPr>
              <a:spLocks noChangeArrowheads="1"/>
            </p:cNvSpPr>
            <p:nvPr/>
          </p:nvSpPr>
          <p:spPr bwMode="auto">
            <a:xfrm>
              <a:off x="152400" y="5257800"/>
              <a:ext cx="1828800" cy="428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200">
                  <a:latin typeface="+mn-lt"/>
                </a:rPr>
                <a:t>Intercept = </a:t>
              </a:r>
              <a:r>
                <a:rPr lang="el-GR" sz="2200">
                  <a:latin typeface="+mn-lt"/>
                  <a:cs typeface="Arial" charset="0"/>
                </a:rPr>
                <a:t>β</a:t>
              </a:r>
              <a:r>
                <a:rPr lang="en-US" sz="2200" baseline="-25000">
                  <a:latin typeface="+mn-lt"/>
                  <a:cs typeface="Arial" charset="0"/>
                </a:rPr>
                <a:t>0</a:t>
              </a:r>
              <a:r>
                <a:rPr lang="en-US" sz="2200">
                  <a:latin typeface="+mn-lt"/>
                </a:rPr>
                <a:t>  </a:t>
              </a:r>
            </a:p>
          </p:txBody>
        </p:sp>
        <p:sp>
          <p:nvSpPr>
            <p:cNvPr id="12339" name="Text Box 49"/>
            <p:cNvSpPr txBox="1">
              <a:spLocks noChangeArrowheads="1"/>
            </p:cNvSpPr>
            <p:nvPr/>
          </p:nvSpPr>
          <p:spPr bwMode="auto">
            <a:xfrm>
              <a:off x="4267200" y="3505200"/>
              <a:ext cx="5334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l-GR" sz="3200">
                  <a:latin typeface="+mn-lt"/>
                  <a:cs typeface="Arial" charset="0"/>
                </a:rPr>
                <a:t>ε</a:t>
              </a:r>
              <a:r>
                <a:rPr lang="en-US" sz="3200" baseline="-25000">
                  <a:latin typeface="+mn-lt"/>
                  <a:cs typeface="Arial" charset="0"/>
                </a:rPr>
                <a:t>i</a:t>
              </a:r>
              <a:endParaRPr lang="el-GR" sz="3200" baseline="-25000">
                <a:latin typeface="+mn-lt"/>
                <a:cs typeface="Arial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2A9EECF-30AB-0A4A-AE82-E9BC32801096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3316" name="Object 2"/>
          <p:cNvGraphicFramePr>
            <a:graphicFrameLocks noChangeAspect="1"/>
          </p:cNvGraphicFramePr>
          <p:nvPr/>
        </p:nvGraphicFramePr>
        <p:xfrm>
          <a:off x="4114801" y="4191000"/>
          <a:ext cx="3573463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228600" progId="Equation.3">
                  <p:embed/>
                </p:oleObj>
              </mc:Choice>
              <mc:Fallback>
                <p:oleObj name="Equation" r:id="rId2" imgW="825500" imgH="228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1" y="4191000"/>
                        <a:ext cx="3573463" cy="9921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3"/>
          <p:cNvSpPr txBox="1">
            <a:spLocks noChangeArrowheads="1"/>
          </p:cNvSpPr>
          <p:nvPr/>
        </p:nvSpPr>
        <p:spPr bwMode="auto">
          <a:xfrm>
            <a:off x="2667000" y="1600201"/>
            <a:ext cx="7086600" cy="954107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2800" dirty="0">
                <a:latin typeface="+mn-lt"/>
              </a:rPr>
              <a:t>The sample regression line provides an </a:t>
            </a:r>
            <a:r>
              <a:rPr lang="en-US" sz="2800" dirty="0">
                <a:solidFill>
                  <a:srgbClr val="C00000"/>
                </a:solidFill>
                <a:latin typeface="+mn-lt"/>
              </a:rPr>
              <a:t>estimate </a:t>
            </a:r>
            <a:r>
              <a:rPr lang="en-US" sz="2800" dirty="0">
                <a:latin typeface="+mn-lt"/>
              </a:rPr>
              <a:t>of the population regression line</a:t>
            </a:r>
          </a:p>
        </p:txBody>
      </p:sp>
      <p:sp>
        <p:nvSpPr>
          <p:cNvPr id="1331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Estimated Regression Model</a:t>
            </a:r>
          </a:p>
        </p:txBody>
      </p:sp>
      <p:sp>
        <p:nvSpPr>
          <p:cNvPr id="13319" name="Rectangle 5"/>
          <p:cNvSpPr>
            <a:spLocks noChangeArrowheads="1"/>
          </p:cNvSpPr>
          <p:nvPr/>
        </p:nvSpPr>
        <p:spPr bwMode="auto">
          <a:xfrm>
            <a:off x="4953000" y="2819401"/>
            <a:ext cx="1828800" cy="1105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>
                <a:latin typeface="+mn-lt"/>
              </a:rPr>
              <a:t>Estimate of the regression </a:t>
            </a:r>
            <a:br>
              <a:rPr lang="en-US" sz="2200">
                <a:latin typeface="+mn-lt"/>
              </a:rPr>
            </a:br>
            <a:r>
              <a:rPr lang="en-US" sz="2200">
                <a:latin typeface="+mn-lt"/>
              </a:rPr>
              <a:t>intercept</a:t>
            </a:r>
            <a:endParaRPr lang="en-US" sz="2200" baseline="-25000">
              <a:latin typeface="+mn-lt"/>
            </a:endParaRPr>
          </a:p>
        </p:txBody>
      </p:sp>
      <p:sp>
        <p:nvSpPr>
          <p:cNvPr id="13320" name="Rectangle 6"/>
          <p:cNvSpPr>
            <a:spLocks noChangeArrowheads="1"/>
          </p:cNvSpPr>
          <p:nvPr/>
        </p:nvSpPr>
        <p:spPr bwMode="auto">
          <a:xfrm>
            <a:off x="6934200" y="2895601"/>
            <a:ext cx="2057400" cy="992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>
                <a:latin typeface="+mn-lt"/>
              </a:rPr>
              <a:t>Estimate of the regression slope</a:t>
            </a:r>
            <a:br>
              <a:rPr lang="en-US" sz="2200">
                <a:latin typeface="+mn-lt"/>
              </a:rPr>
            </a:br>
            <a:endParaRPr lang="en-US" sz="2200" baseline="-25000">
              <a:latin typeface="+mn-lt"/>
            </a:endParaRPr>
          </a:p>
        </p:txBody>
      </p:sp>
      <p:sp>
        <p:nvSpPr>
          <p:cNvPr id="13321" name="Line 7"/>
          <p:cNvSpPr>
            <a:spLocks noChangeShapeType="1"/>
          </p:cNvSpPr>
          <p:nvPr/>
        </p:nvSpPr>
        <p:spPr bwMode="auto">
          <a:xfrm>
            <a:off x="5334000" y="3810000"/>
            <a:ext cx="762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3322" name="Line 8"/>
          <p:cNvSpPr>
            <a:spLocks noChangeShapeType="1"/>
          </p:cNvSpPr>
          <p:nvPr/>
        </p:nvSpPr>
        <p:spPr bwMode="auto">
          <a:xfrm flipH="1">
            <a:off x="6934200" y="3581400"/>
            <a:ext cx="22860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3323" name="Rectangle 9"/>
          <p:cNvSpPr>
            <a:spLocks noChangeArrowheads="1"/>
          </p:cNvSpPr>
          <p:nvPr/>
        </p:nvSpPr>
        <p:spPr bwMode="auto">
          <a:xfrm>
            <a:off x="2743200" y="2819401"/>
            <a:ext cx="1752600" cy="1105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dirty="0">
                <a:latin typeface="+mn-lt"/>
              </a:rPr>
              <a:t>Estimated  (or predicted) </a:t>
            </a:r>
            <a:r>
              <a:rPr lang="en-US" sz="2200" i="1" dirty="0">
                <a:latin typeface="+mn-lt"/>
              </a:rPr>
              <a:t>y</a:t>
            </a:r>
            <a:r>
              <a:rPr lang="en-US" sz="2200" dirty="0">
                <a:latin typeface="+mn-lt"/>
              </a:rPr>
              <a:t> value</a:t>
            </a:r>
            <a:endParaRPr lang="en-US" sz="2200" baseline="-25000" dirty="0">
              <a:latin typeface="+mn-lt"/>
            </a:endParaRPr>
          </a:p>
        </p:txBody>
      </p:sp>
      <p:sp>
        <p:nvSpPr>
          <p:cNvPr id="13324" name="Line 10"/>
          <p:cNvSpPr>
            <a:spLocks noChangeShapeType="1"/>
          </p:cNvSpPr>
          <p:nvPr/>
        </p:nvSpPr>
        <p:spPr bwMode="auto">
          <a:xfrm>
            <a:off x="3657600" y="3810000"/>
            <a:ext cx="53340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3325" name="Rectangle 11"/>
          <p:cNvSpPr>
            <a:spLocks noChangeArrowheads="1"/>
          </p:cNvSpPr>
          <p:nvPr/>
        </p:nvSpPr>
        <p:spPr bwMode="auto">
          <a:xfrm>
            <a:off x="8153400" y="3962401"/>
            <a:ext cx="1752600" cy="766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200" dirty="0">
                <a:latin typeface="+mn-lt"/>
              </a:rPr>
              <a:t>Independent variable</a:t>
            </a:r>
          </a:p>
        </p:txBody>
      </p:sp>
      <p:sp>
        <p:nvSpPr>
          <p:cNvPr id="13326" name="Line 12"/>
          <p:cNvSpPr>
            <a:spLocks noChangeShapeType="1"/>
          </p:cNvSpPr>
          <p:nvPr/>
        </p:nvSpPr>
        <p:spPr bwMode="auto">
          <a:xfrm flipH="1">
            <a:off x="7620000" y="4343400"/>
            <a:ext cx="53340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13327" name="Rectangle 13"/>
          <p:cNvSpPr>
            <a:spLocks noChangeArrowheads="1"/>
          </p:cNvSpPr>
          <p:nvPr/>
        </p:nvSpPr>
        <p:spPr bwMode="auto">
          <a:xfrm>
            <a:off x="2286000" y="5638800"/>
            <a:ext cx="7696200" cy="4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C00000"/>
                </a:solidFill>
                <a:latin typeface="+mn-lt"/>
              </a:rPr>
              <a:t>The individual random error terms  </a:t>
            </a:r>
            <a:r>
              <a:rPr lang="en-US" sz="2400" i="1" dirty="0" err="1">
                <a:solidFill>
                  <a:srgbClr val="C00000"/>
                </a:solidFill>
                <a:latin typeface="+mn-lt"/>
              </a:rPr>
              <a:t>e</a:t>
            </a:r>
            <a:r>
              <a:rPr lang="en-US" sz="2400" i="1" baseline="-25000" dirty="0" err="1">
                <a:solidFill>
                  <a:srgbClr val="C00000"/>
                </a:solidFill>
                <a:latin typeface="+mn-lt"/>
              </a:rPr>
              <a:t>i</a:t>
            </a:r>
            <a:r>
              <a:rPr lang="en-US" sz="2400" dirty="0">
                <a:solidFill>
                  <a:srgbClr val="C00000"/>
                </a:solidFill>
                <a:latin typeface="+mn-lt"/>
              </a:rPr>
              <a:t>  have a mean of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70C7283E-A662-BD47-A682-2B533413F5D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Least Squares Criterion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4564" y="1984376"/>
            <a:ext cx="7685087" cy="1552575"/>
          </a:xfrm>
        </p:spPr>
        <p:txBody>
          <a:bodyPr/>
          <a:lstStyle/>
          <a:p>
            <a:pPr marL="320675" indent="-320675" algn="just" defTabSz="852488" eaLnBrk="1" hangingPunct="1"/>
            <a:r>
              <a:rPr lang="en-US" sz="2800" i="1" dirty="0"/>
              <a:t>b</a:t>
            </a:r>
            <a:r>
              <a:rPr lang="en-US" sz="2800" i="1" baseline="-25000" dirty="0"/>
              <a:t>0</a:t>
            </a:r>
            <a:r>
              <a:rPr lang="en-US" sz="2800" dirty="0"/>
              <a:t>  and  </a:t>
            </a: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  are obtained by finding the values of  </a:t>
            </a:r>
            <a:r>
              <a:rPr lang="en-US" sz="2800" i="1" dirty="0"/>
              <a:t>b</a:t>
            </a:r>
            <a:r>
              <a:rPr lang="en-US" sz="2800" i="1" baseline="-25000" dirty="0"/>
              <a:t>0</a:t>
            </a:r>
            <a:r>
              <a:rPr lang="en-US" sz="2800" dirty="0"/>
              <a:t>  and  </a:t>
            </a: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  that </a:t>
            </a:r>
            <a:r>
              <a:rPr lang="en-US" sz="2800" dirty="0">
                <a:solidFill>
                  <a:srgbClr val="C00000"/>
                </a:solidFill>
              </a:rPr>
              <a:t>minimize the sum of the squared residuals</a:t>
            </a:r>
          </a:p>
        </p:txBody>
      </p:sp>
      <p:graphicFrame>
        <p:nvGraphicFramePr>
          <p:cNvPr id="14342" name="Object 4"/>
          <p:cNvGraphicFramePr>
            <a:graphicFrameLocks noChangeAspect="1"/>
          </p:cNvGraphicFramePr>
          <p:nvPr/>
        </p:nvGraphicFramePr>
        <p:xfrm>
          <a:off x="3276601" y="3581400"/>
          <a:ext cx="5076825" cy="179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500" imgH="609600" progId="Equation.3">
                  <p:embed/>
                </p:oleObj>
              </mc:Choice>
              <mc:Fallback>
                <p:oleObj name="Equation" r:id="rId2" imgW="1714500" imgH="609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1" y="3581400"/>
                        <a:ext cx="5076825" cy="17970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107BAAA-B861-3246-9985-43447AE6974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The Least Squares Equation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76401"/>
            <a:ext cx="6210300" cy="542925"/>
          </a:xfrm>
        </p:spPr>
        <p:txBody>
          <a:bodyPr/>
          <a:lstStyle/>
          <a:p>
            <a:pPr marL="320675" indent="-320675" defTabSz="852488" eaLnBrk="1" hangingPunct="1"/>
            <a:r>
              <a:rPr lang="en-US" sz="2800" dirty="0"/>
              <a:t>The formulas for  </a:t>
            </a: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  and  </a:t>
            </a:r>
            <a:r>
              <a:rPr lang="en-US" sz="2800" i="1" dirty="0"/>
              <a:t>b</a:t>
            </a:r>
            <a:r>
              <a:rPr lang="en-US" sz="2800" i="1" baseline="-25000" dirty="0"/>
              <a:t>0</a:t>
            </a:r>
            <a:r>
              <a:rPr lang="en-US" sz="2800" dirty="0"/>
              <a:t>  are:</a:t>
            </a:r>
          </a:p>
        </p:txBody>
      </p:sp>
      <p:sp>
        <p:nvSpPr>
          <p:cNvPr id="15366" name="Rectangle 4"/>
          <p:cNvSpPr>
            <a:spLocks noChangeArrowheads="1"/>
          </p:cNvSpPr>
          <p:nvPr/>
        </p:nvSpPr>
        <p:spPr bwMode="auto">
          <a:xfrm>
            <a:off x="2514600" y="3581400"/>
            <a:ext cx="41148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latin typeface="+mn-lt"/>
              </a:rPr>
              <a:t>algebraic equivalent:</a:t>
            </a:r>
          </a:p>
        </p:txBody>
      </p:sp>
      <p:graphicFrame>
        <p:nvGraphicFramePr>
          <p:cNvPr id="15367" name="Object 5"/>
          <p:cNvGraphicFramePr>
            <a:graphicFrameLocks noChangeAspect="1"/>
          </p:cNvGraphicFramePr>
          <p:nvPr/>
        </p:nvGraphicFramePr>
        <p:xfrm>
          <a:off x="3048000" y="4114800"/>
          <a:ext cx="3048000" cy="188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900" imgH="838200" progId="Equation.3">
                  <p:embed/>
                </p:oleObj>
              </mc:Choice>
              <mc:Fallback>
                <p:oleObj name="Equation" r:id="rId2" imgW="1358900" imgH="838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14800"/>
                        <a:ext cx="3048000" cy="18811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6"/>
          <p:cNvGraphicFramePr>
            <a:graphicFrameLocks noChangeAspect="1"/>
          </p:cNvGraphicFramePr>
          <p:nvPr/>
        </p:nvGraphicFramePr>
        <p:xfrm>
          <a:off x="3048000" y="2286001"/>
          <a:ext cx="3200400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500" imgH="482600" progId="Equation.3">
                  <p:embed/>
                </p:oleObj>
              </mc:Choice>
              <mc:Fallback>
                <p:oleObj name="Equation" r:id="rId4" imgW="1333500" imgH="482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286001"/>
                        <a:ext cx="3200400" cy="11541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7"/>
          <p:cNvGraphicFramePr>
            <a:graphicFrameLocks noChangeAspect="1"/>
          </p:cNvGraphicFramePr>
          <p:nvPr/>
        </p:nvGraphicFramePr>
        <p:xfrm>
          <a:off x="7239000" y="4343401"/>
          <a:ext cx="1981200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36600" imgH="228600" progId="Equation.3">
                  <p:embed/>
                </p:oleObj>
              </mc:Choice>
              <mc:Fallback>
                <p:oleObj name="Equation" r:id="rId6" imgW="73660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4343401"/>
                        <a:ext cx="1981200" cy="6143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70" name="Rectangle 8"/>
          <p:cNvSpPr>
            <a:spLocks noChangeArrowheads="1"/>
          </p:cNvSpPr>
          <p:nvPr/>
        </p:nvSpPr>
        <p:spPr bwMode="auto">
          <a:xfrm>
            <a:off x="7162800" y="3581400"/>
            <a:ext cx="914400" cy="5334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sz="2800" dirty="0">
                <a:latin typeface="+mn-lt"/>
              </a:rPr>
              <a:t>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4ECF7D6-89AB-A248-9321-C8FE032118F1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Interpretation of the </a:t>
            </a:r>
            <a:br>
              <a:rPr lang="en-US" sz="4400" dirty="0">
                <a:latin typeface="+mn-lt"/>
              </a:rPr>
            </a:br>
            <a:r>
              <a:rPr lang="en-US" sz="4400" dirty="0">
                <a:latin typeface="+mn-lt"/>
              </a:rPr>
              <a:t>Slope and the Intercept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981201"/>
            <a:ext cx="8001000" cy="4144963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spcBef>
                <a:spcPct val="45000"/>
              </a:spcBef>
            </a:pPr>
            <a:r>
              <a:rPr lang="en-US" i="1" dirty="0"/>
              <a:t>b</a:t>
            </a:r>
            <a:r>
              <a:rPr lang="en-US" i="1" baseline="-25000" dirty="0"/>
              <a:t>0</a:t>
            </a:r>
            <a:r>
              <a:rPr lang="en-US" dirty="0"/>
              <a:t> is the estimated average value of </a:t>
            </a:r>
            <a:r>
              <a:rPr lang="en-US" i="1" dirty="0"/>
              <a:t>y</a:t>
            </a:r>
            <a:r>
              <a:rPr lang="en-US" dirty="0"/>
              <a:t> when the value of </a:t>
            </a:r>
            <a:r>
              <a:rPr lang="en-US" i="1" dirty="0"/>
              <a:t>x</a:t>
            </a:r>
            <a:r>
              <a:rPr lang="en-US" dirty="0"/>
              <a:t> is zero</a:t>
            </a:r>
          </a:p>
          <a:p>
            <a:pPr algn="just" eaLnBrk="1" hangingPunct="1">
              <a:lnSpc>
                <a:spcPct val="110000"/>
              </a:lnSpc>
              <a:spcBef>
                <a:spcPct val="45000"/>
              </a:spcBef>
            </a:pPr>
            <a:endParaRPr lang="en-US" sz="1600" dirty="0"/>
          </a:p>
          <a:p>
            <a:pPr algn="just" eaLnBrk="1" hangingPunct="1">
              <a:lnSpc>
                <a:spcPct val="110000"/>
              </a:lnSpc>
              <a:spcBef>
                <a:spcPct val="45000"/>
              </a:spcBef>
            </a:pPr>
            <a:r>
              <a:rPr lang="en-US" i="1" dirty="0"/>
              <a:t>b</a:t>
            </a:r>
            <a:r>
              <a:rPr lang="en-US" i="1" baseline="-25000" dirty="0"/>
              <a:t>1</a:t>
            </a:r>
            <a:r>
              <a:rPr lang="en-US" dirty="0"/>
              <a:t> is the estimated change in the average value of </a:t>
            </a:r>
            <a:r>
              <a:rPr lang="en-US" i="1" dirty="0"/>
              <a:t>y</a:t>
            </a:r>
            <a:r>
              <a:rPr lang="en-US" dirty="0"/>
              <a:t> as a result of a one-unit change in </a:t>
            </a:r>
            <a:r>
              <a:rPr lang="en-US" i="1" dirty="0"/>
              <a:t>x</a:t>
            </a:r>
          </a:p>
          <a:p>
            <a:pPr algn="just" eaLnBrk="1" hangingPunct="1"/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A4C102B-4F90-9F4D-AD92-C0651B614C3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Finding the Least Squares Equation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1905001"/>
            <a:ext cx="8077200" cy="4221163"/>
          </a:xfrm>
        </p:spPr>
        <p:txBody>
          <a:bodyPr/>
          <a:lstStyle/>
          <a:p>
            <a:pPr eaLnBrk="1" hangingPunct="1"/>
            <a:r>
              <a:rPr lang="en-US" sz="2800" dirty="0"/>
              <a:t>The coefficients  </a:t>
            </a:r>
            <a:r>
              <a:rPr lang="en-US" sz="2800" i="1" dirty="0"/>
              <a:t>b</a:t>
            </a:r>
            <a:r>
              <a:rPr lang="en-US" sz="2800" i="1" baseline="-25000" dirty="0"/>
              <a:t>0</a:t>
            </a:r>
            <a:r>
              <a:rPr lang="en-US" sz="2800" dirty="0"/>
              <a:t>  and  </a:t>
            </a: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  will usually be found using computer software, such as </a:t>
            </a:r>
            <a:r>
              <a:rPr lang="en-US" sz="2800" i="1" dirty="0"/>
              <a:t>R</a:t>
            </a:r>
            <a:r>
              <a:rPr lang="en-US" sz="2800" dirty="0"/>
              <a:t>, Excel or SPSS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Other regression measures will also be computed as part of computer-based regression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2D846AE-2286-D744-AC49-63CE7793B073}" type="slidenum">
              <a:rPr lang="en-US" sz="1000">
                <a:solidFill>
                  <a:schemeClr val="bg1"/>
                </a:solidFill>
                <a:latin typeface="+mn-lt"/>
              </a:rPr>
              <a:pPr/>
              <a:t>18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40386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828800"/>
            <a:ext cx="8229600" cy="4191000"/>
          </a:xfrm>
        </p:spPr>
        <p:txBody>
          <a:bodyPr/>
          <a:lstStyle/>
          <a:p>
            <a:pPr algn="just" eaLnBrk="1" hangingPunct="1"/>
            <a:r>
              <a:rPr lang="en-US" sz="2800" dirty="0"/>
              <a:t>A real estate agent wishes to examine the relationship between the selling price of a home and its size (measured in square feet)</a:t>
            </a:r>
          </a:p>
          <a:p>
            <a:pPr algn="just" eaLnBrk="1" hangingPunct="1"/>
            <a:endParaRPr lang="en-US" sz="1100" dirty="0"/>
          </a:p>
          <a:p>
            <a:pPr algn="just" eaLnBrk="1" hangingPunct="1"/>
            <a:r>
              <a:rPr lang="en-US" sz="2800" dirty="0"/>
              <a:t>A random sample of 10 houses is selected</a:t>
            </a:r>
          </a:p>
          <a:p>
            <a:pPr lvl="1" algn="just" eaLnBrk="1" hangingPunct="1"/>
            <a:r>
              <a:rPr lang="en-US" sz="2400" dirty="0">
                <a:solidFill>
                  <a:srgbClr val="C00000"/>
                </a:solidFill>
              </a:rPr>
              <a:t>Dependent variable (</a:t>
            </a:r>
            <a:r>
              <a:rPr lang="en-US" sz="2400" i="1" dirty="0">
                <a:solidFill>
                  <a:srgbClr val="C00000"/>
                </a:solidFill>
              </a:rPr>
              <a:t>y</a:t>
            </a:r>
            <a:r>
              <a:rPr lang="en-US" sz="2400" dirty="0">
                <a:solidFill>
                  <a:srgbClr val="C00000"/>
                </a:solidFill>
              </a:rPr>
              <a:t>) = house price </a:t>
            </a:r>
            <a:r>
              <a:rPr lang="en-US" dirty="0">
                <a:solidFill>
                  <a:srgbClr val="C00000"/>
                </a:solidFill>
              </a:rPr>
              <a:t>in $1000s</a:t>
            </a:r>
          </a:p>
          <a:p>
            <a:pPr lvl="1" algn="just" eaLnBrk="1" hangingPunct="1"/>
            <a:r>
              <a:rPr lang="en-US" sz="2400" dirty="0">
                <a:solidFill>
                  <a:srgbClr val="C00000"/>
                </a:solidFill>
              </a:rPr>
              <a:t>Independent variable (</a:t>
            </a:r>
            <a:r>
              <a:rPr lang="en-US" sz="2400" i="1" dirty="0">
                <a:solidFill>
                  <a:srgbClr val="C00000"/>
                </a:solidFill>
              </a:rPr>
              <a:t>x</a:t>
            </a:r>
            <a:r>
              <a:rPr lang="en-US" sz="2400" dirty="0">
                <a:solidFill>
                  <a:srgbClr val="C00000"/>
                </a:solidFill>
              </a:rPr>
              <a:t>) = square feet</a:t>
            </a:r>
          </a:p>
          <a:p>
            <a:pPr algn="just" eaLnBrk="1" hangingPunct="1"/>
            <a:endParaRPr lang="en-US" sz="1800" dirty="0"/>
          </a:p>
        </p:txBody>
      </p:sp>
      <p:pic>
        <p:nvPicPr>
          <p:cNvPr id="18438" name="Picture 4" descr="hou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53400" y="4953001"/>
            <a:ext cx="1981200" cy="1304925"/>
          </a:xfr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7E4EA81-DBA9-3A43-904C-E34563ED1F33}" type="slidenum">
              <a:rPr lang="en-US" sz="1000">
                <a:solidFill>
                  <a:schemeClr val="bg1"/>
                </a:solidFill>
              </a:rPr>
              <a:pPr/>
              <a:t>19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>
          <a:xfrm>
            <a:off x="4191000" y="3810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graphicFrame>
        <p:nvGraphicFramePr>
          <p:cNvPr id="104496" name="Group 48"/>
          <p:cNvGraphicFramePr>
            <a:graphicFrameLocks noGrp="1"/>
          </p:cNvGraphicFramePr>
          <p:nvPr>
            <p:ph idx="1"/>
          </p:nvPr>
        </p:nvGraphicFramePr>
        <p:xfrm>
          <a:off x="3505200" y="1600200"/>
          <a:ext cx="5638800" cy="466953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706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House Price in $1000s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Square Feet 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altLang="en-US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8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18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18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18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188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A6F2167-7E41-0643-BE70-1A270577EE73}" type="slidenum">
              <a:rPr lang="en-US" sz="1000">
                <a:solidFill>
                  <a:schemeClr val="bg1"/>
                </a:solidFill>
              </a:rPr>
              <a:pPr/>
              <a:t>20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>
          <a:xfrm>
            <a:off x="3276600" y="228600"/>
            <a:ext cx="6779096" cy="11430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graphicFrame>
        <p:nvGraphicFramePr>
          <p:cNvPr id="136846" name="Group 65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82629842"/>
              </p:ext>
            </p:extLst>
          </p:nvPr>
        </p:nvGraphicFramePr>
        <p:xfrm>
          <a:off x="2209800" y="1356624"/>
          <a:ext cx="8077200" cy="512037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47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1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xy</a:t>
                      </a:r>
                      <a:endParaRPr kumimoji="0" lang="en-US" altLang="en-US" sz="2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kumimoji="0" lang="en-US" altLang="en-US" sz="22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T="45709" marB="45709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245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1400</a:t>
                      </a:r>
                      <a:endParaRPr kumimoji="0" lang="en-US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343000</a:t>
                      </a:r>
                      <a:endParaRPr kumimoji="0" lang="en-US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1960000</a:t>
                      </a:r>
                      <a:endParaRPr kumimoji="0" lang="en-US" altLang="en-US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312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1600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499200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2560000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279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1700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474300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2890000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308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1875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577500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3515625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199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1100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218900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1210000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219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1550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339450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2402500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405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2350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951750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5522500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324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2450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793800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6002500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319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1425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454575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2030625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255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1700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433500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2890000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187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  <a:sym typeface="Symbol" pitchFamily="18" charset="2"/>
                        </a:rPr>
                        <a:t>y=</a:t>
                      </a: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2865</a:t>
                      </a:r>
                      <a:endParaRPr kumimoji="0" lang="en-US" altLang="en-US" sz="2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pitchFamily="34" charset="-128"/>
                        <a:cs typeface="Arial" charset="0"/>
                      </a:endParaRPr>
                    </a:p>
                  </a:txBody>
                  <a:tcPr marT="45709" marB="45709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b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  <a:sym typeface="Symbol" pitchFamily="18" charset="2"/>
                        </a:rPr>
                        <a:t></a:t>
                      </a: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x= 17150</a:t>
                      </a:r>
                    </a:p>
                  </a:txBody>
                  <a:tcPr marT="45709" marB="45709"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  <a:sym typeface="Symbol" pitchFamily="18" charset="2"/>
                        </a:rPr>
                        <a:t></a:t>
                      </a: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xy= 5085975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342900" marR="0" lvl="0" indent="-342900" algn="ctr" defTabSz="914400" rtl="0" eaLnBrk="0" fontAlgn="t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  <a:sym typeface="Symbol" pitchFamily="18" charset="2"/>
                        </a:rPr>
                        <a:t></a:t>
                      </a: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x</a:t>
                      </a:r>
                      <a:r>
                        <a:rPr kumimoji="0" lang="en-US" altLang="en-US" sz="22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2</a:t>
                      </a: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pitchFamily="34" charset="-128"/>
                          <a:cs typeface="Arial" charset="0"/>
                        </a:rPr>
                        <a:t>=30983750</a:t>
                      </a:r>
                    </a:p>
                  </a:txBody>
                  <a:tcPr marT="45709" marB="45709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E15EC69A-B211-D249-899E-F5AED53C290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1148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Example</a:t>
            </a:r>
          </a:p>
        </p:txBody>
      </p:sp>
      <p:graphicFrame>
        <p:nvGraphicFramePr>
          <p:cNvPr id="21509" name="Object 4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057401" y="1981201"/>
          <a:ext cx="2767013" cy="172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84300" imgH="863600" progId="Equation.3">
                  <p:embed/>
                </p:oleObj>
              </mc:Choice>
              <mc:Fallback>
                <p:oleObj name="Equation" r:id="rId2" imgW="1384300" imgH="863600" progId="Equation.3">
                  <p:embed/>
                  <p:pic>
                    <p:nvPicPr>
                      <p:cNvPr id="0" name="Picture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1" y="1981201"/>
                        <a:ext cx="2767013" cy="172561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257801" y="1828801"/>
          <a:ext cx="3859213" cy="243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30400" imgH="1219200" progId="Equation.3">
                  <p:embed/>
                </p:oleObj>
              </mc:Choice>
              <mc:Fallback>
                <p:oleObj name="Equation" r:id="rId4" imgW="1930400" imgH="1219200" progId="Equation.3">
                  <p:embed/>
                  <p:pic>
                    <p:nvPicPr>
                      <p:cNvPr id="0" name="Picture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1" y="1828801"/>
                        <a:ext cx="3859213" cy="24368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09801" y="5029200"/>
          <a:ext cx="15478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4" imgH="228501" progId="Equation.3">
                  <p:embed/>
                </p:oleObj>
              </mc:Choice>
              <mc:Fallback>
                <p:oleObj name="Equation" r:id="rId6" imgW="774364" imgH="228501" progId="Equation.3">
                  <p:embed/>
                  <p:pic>
                    <p:nvPicPr>
                      <p:cNvPr id="0" name="Picture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5029200"/>
                        <a:ext cx="1547813" cy="4572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2" name="Object 10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5334001" y="4953001"/>
          <a:ext cx="4037013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300" imgH="406400" progId="Equation.3">
                  <p:embed/>
                </p:oleObj>
              </mc:Choice>
              <mc:Fallback>
                <p:oleObj name="Equation" r:id="rId8" imgW="2019300" imgH="406400" progId="Equation.3">
                  <p:embed/>
                  <p:pic>
                    <p:nvPicPr>
                      <p:cNvPr id="0" name="Picture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1" y="4953001"/>
                        <a:ext cx="4037013" cy="8112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9EA772B-895B-8846-9F58-C2FFB57D3DB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5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Graphical Presentation</a:t>
            </a:r>
          </a:p>
        </p:txBody>
      </p:sp>
      <p:sp>
        <p:nvSpPr>
          <p:cNvPr id="2355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447800"/>
            <a:ext cx="7924800" cy="1085850"/>
          </a:xfrm>
        </p:spPr>
        <p:txBody>
          <a:bodyPr/>
          <a:lstStyle/>
          <a:p>
            <a:pPr marL="320675" indent="-320675" defTabSz="852488" eaLnBrk="1" hangingPunct="1"/>
            <a:r>
              <a:rPr lang="en-US" sz="2800" dirty="0"/>
              <a:t>House price model:  scatter plot and regression line</a:t>
            </a:r>
          </a:p>
        </p:txBody>
      </p:sp>
      <p:graphicFrame>
        <p:nvGraphicFramePr>
          <p:cNvPr id="23560" name="Object 6"/>
          <p:cNvGraphicFramePr>
            <a:graphicFrameLocks noChangeAspect="1"/>
          </p:cNvGraphicFramePr>
          <p:nvPr/>
        </p:nvGraphicFramePr>
        <p:xfrm>
          <a:off x="4953001" y="5867400"/>
          <a:ext cx="345782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203112" progId="Equation.3">
                  <p:embed/>
                </p:oleObj>
              </mc:Choice>
              <mc:Fallback>
                <p:oleObj name="Equation" r:id="rId2" imgW="1320227" imgH="203112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1" y="5867400"/>
                        <a:ext cx="345782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D5D9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2819400" y="1852018"/>
            <a:ext cx="6553200" cy="4091583"/>
            <a:chOff x="1219200" y="2048469"/>
            <a:chExt cx="6553200" cy="4091583"/>
          </a:xfrm>
        </p:grpSpPr>
        <p:graphicFrame>
          <p:nvGraphicFramePr>
            <p:cNvPr id="23556" name="Object 2"/>
            <p:cNvGraphicFramePr>
              <a:graphicFrameLocks noChangeAspect="1"/>
            </p:cNvGraphicFramePr>
            <p:nvPr/>
          </p:nvGraphicFramePr>
          <p:xfrm>
            <a:off x="1752600" y="2048469"/>
            <a:ext cx="6019800" cy="40915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4" imgW="5562600" imgH="3781552" progId="Excel.Chart.8">
                    <p:embed/>
                  </p:oleObj>
                </mc:Choice>
                <mc:Fallback>
                  <p:oleObj name="Chart" r:id="rId4" imgW="5562600" imgH="3781552" progId="Excel.Chart.8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2600" y="2048469"/>
                          <a:ext cx="6019800" cy="40915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CC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1" name="Line 7"/>
            <p:cNvSpPr>
              <a:spLocks noChangeShapeType="1"/>
            </p:cNvSpPr>
            <p:nvPr/>
          </p:nvSpPr>
          <p:spPr bwMode="auto">
            <a:xfrm flipH="1">
              <a:off x="2743200" y="3810000"/>
              <a:ext cx="1676400" cy="7620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562" name="Rectangle 9"/>
            <p:cNvSpPr>
              <a:spLocks noChangeArrowheads="1"/>
            </p:cNvSpPr>
            <p:nvPr/>
          </p:nvSpPr>
          <p:spPr bwMode="auto">
            <a:xfrm>
              <a:off x="5943600" y="3505200"/>
              <a:ext cx="1371600" cy="705321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/>
              <a:r>
                <a:rPr lang="en-US" sz="2000">
                  <a:latin typeface="+mn-lt"/>
                </a:rPr>
                <a:t>Slope </a:t>
              </a:r>
            </a:p>
            <a:p>
              <a:pPr algn="ctr"/>
              <a:r>
                <a:rPr lang="en-US" sz="2000">
                  <a:latin typeface="+mn-lt"/>
                </a:rPr>
                <a:t>= 0.110</a:t>
              </a:r>
              <a:endParaRPr lang="en-US" sz="2000" baseline="-25000">
                <a:latin typeface="+mn-lt"/>
              </a:endParaRPr>
            </a:p>
          </p:txBody>
        </p:sp>
        <p:sp>
          <p:nvSpPr>
            <p:cNvPr id="23563" name="Rectangle 10"/>
            <p:cNvSpPr>
              <a:spLocks noChangeArrowheads="1"/>
            </p:cNvSpPr>
            <p:nvPr/>
          </p:nvSpPr>
          <p:spPr bwMode="auto">
            <a:xfrm>
              <a:off x="1219200" y="5029200"/>
              <a:ext cx="1219200" cy="711477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Intercept </a:t>
              </a:r>
            </a:p>
            <a:p>
              <a:pPr algn="ctr">
                <a:lnSpc>
                  <a:spcPct val="40000"/>
                </a:lnSpc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= 98.248  </a:t>
              </a:r>
            </a:p>
          </p:txBody>
        </p:sp>
        <p:sp>
          <p:nvSpPr>
            <p:cNvPr id="23564" name="Line 11"/>
            <p:cNvSpPr>
              <a:spLocks noChangeShapeType="1"/>
            </p:cNvSpPr>
            <p:nvPr/>
          </p:nvSpPr>
          <p:spPr bwMode="auto">
            <a:xfrm flipH="1">
              <a:off x="5943600" y="2362200"/>
              <a:ext cx="1676400" cy="762000"/>
            </a:xfrm>
            <a:prstGeom prst="line">
              <a:avLst/>
            </a:prstGeom>
            <a:noFill/>
            <a:ln w="12700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565" name="Freeform 12"/>
            <p:cNvSpPr>
              <a:spLocks/>
            </p:cNvSpPr>
            <p:nvPr/>
          </p:nvSpPr>
          <p:spPr bwMode="auto">
            <a:xfrm>
              <a:off x="6400800" y="3048000"/>
              <a:ext cx="184731" cy="369332"/>
            </a:xfrm>
            <a:custGeom>
              <a:avLst/>
              <a:gdLst>
                <a:gd name="T0" fmla="*/ 2147483647 w 384"/>
                <a:gd name="T1" fmla="*/ 2147483647 h 288"/>
                <a:gd name="T2" fmla="*/ 2147483647 w 384"/>
                <a:gd name="T3" fmla="*/ 2147483647 h 288"/>
                <a:gd name="T4" fmla="*/ 0 w 384"/>
                <a:gd name="T5" fmla="*/ 0 h 288"/>
                <a:gd name="T6" fmla="*/ 0 60000 65536"/>
                <a:gd name="T7" fmla="*/ 0 60000 65536"/>
                <a:gd name="T8" fmla="*/ 0 60000 65536"/>
                <a:gd name="T9" fmla="*/ 0 w 384"/>
                <a:gd name="T10" fmla="*/ 0 h 288"/>
                <a:gd name="T11" fmla="*/ 384 w 384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4" h="288">
                  <a:moveTo>
                    <a:pt x="384" y="288"/>
                  </a:moveTo>
                  <a:cubicBezTo>
                    <a:pt x="272" y="288"/>
                    <a:pt x="160" y="288"/>
                    <a:pt x="96" y="240"/>
                  </a:cubicBezTo>
                  <a:cubicBezTo>
                    <a:pt x="32" y="192"/>
                    <a:pt x="16" y="96"/>
                    <a:pt x="0" y="0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3566" name="Freeform 13"/>
            <p:cNvSpPr>
              <a:spLocks/>
            </p:cNvSpPr>
            <p:nvPr/>
          </p:nvSpPr>
          <p:spPr bwMode="auto">
            <a:xfrm>
              <a:off x="2438400" y="4724400"/>
              <a:ext cx="304800" cy="369332"/>
            </a:xfrm>
            <a:custGeom>
              <a:avLst/>
              <a:gdLst>
                <a:gd name="T0" fmla="*/ 0 w 480"/>
                <a:gd name="T1" fmla="*/ 2147483647 h 400"/>
                <a:gd name="T2" fmla="*/ 2147483647 w 480"/>
                <a:gd name="T3" fmla="*/ 2147483647 h 400"/>
                <a:gd name="T4" fmla="*/ 2147483647 w 480"/>
                <a:gd name="T5" fmla="*/ 0 h 400"/>
                <a:gd name="T6" fmla="*/ 0 60000 65536"/>
                <a:gd name="T7" fmla="*/ 0 60000 65536"/>
                <a:gd name="T8" fmla="*/ 0 60000 65536"/>
                <a:gd name="T9" fmla="*/ 0 w 480"/>
                <a:gd name="T10" fmla="*/ 0 h 400"/>
                <a:gd name="T11" fmla="*/ 480 w 480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0" h="400">
                  <a:moveTo>
                    <a:pt x="0" y="384"/>
                  </a:moveTo>
                  <a:cubicBezTo>
                    <a:pt x="152" y="392"/>
                    <a:pt x="304" y="400"/>
                    <a:pt x="384" y="336"/>
                  </a:cubicBezTo>
                  <a:cubicBezTo>
                    <a:pt x="464" y="272"/>
                    <a:pt x="464" y="56"/>
                    <a:pt x="480" y="0"/>
                  </a:cubicBezTo>
                </a:path>
              </a:pathLst>
            </a:custGeom>
            <a:noFill/>
            <a:ln w="1905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en-US">
                <a:latin typeface="+mn-lt"/>
              </a:endParaRPr>
            </a:p>
          </p:txBody>
        </p:sp>
      </p:grpSp>
      <p:pic>
        <p:nvPicPr>
          <p:cNvPr id="23567" name="Picture 14" descr="house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638800"/>
            <a:ext cx="129540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42754B2-371A-E546-8693-4E9EC2FA029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5257800" y="1776412"/>
            <a:ext cx="1219200" cy="369332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AU">
              <a:latin typeface="+mn-lt"/>
            </a:endParaRPr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133600" y="2667000"/>
            <a:ext cx="8077200" cy="3287054"/>
          </a:xfrm>
          <a:noFill/>
        </p:spPr>
        <p:txBody>
          <a:bodyPr>
            <a:spAutoFit/>
          </a:bodyPr>
          <a:lstStyle/>
          <a:p>
            <a:pPr marL="320675" indent="-320675" algn="just" defTabSz="852488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sz="2800" i="1" dirty="0"/>
              <a:t>b</a:t>
            </a:r>
            <a:r>
              <a:rPr lang="en-US" sz="2800" i="1" baseline="-25000" dirty="0"/>
              <a:t>0</a:t>
            </a:r>
            <a:r>
              <a:rPr lang="en-US" sz="2800" dirty="0"/>
              <a:t> is the estimated average value of </a:t>
            </a:r>
            <a:r>
              <a:rPr lang="en-US" sz="2800" i="1" dirty="0"/>
              <a:t>Y</a:t>
            </a:r>
            <a:r>
              <a:rPr lang="en-US" sz="2800" dirty="0"/>
              <a:t> when the value of </a:t>
            </a:r>
            <a:r>
              <a:rPr lang="en-US" sz="2800" i="1" dirty="0"/>
              <a:t>X</a:t>
            </a:r>
            <a:r>
              <a:rPr lang="en-US" sz="2800" dirty="0"/>
              <a:t> is zero (if </a:t>
            </a:r>
            <a:r>
              <a:rPr lang="en-US" sz="2800" i="1" dirty="0"/>
              <a:t>x</a:t>
            </a:r>
            <a:r>
              <a:rPr lang="en-US" sz="2800" dirty="0"/>
              <a:t> = 0 is in the range of observed </a:t>
            </a:r>
            <a:r>
              <a:rPr lang="en-US" sz="2800" i="1" dirty="0"/>
              <a:t>x</a:t>
            </a:r>
            <a:r>
              <a:rPr lang="en-US" sz="2800" dirty="0"/>
              <a:t> values)</a:t>
            </a:r>
          </a:p>
          <a:p>
            <a:pPr marL="693738" lvl="1" indent="-268288" algn="just" defTabSz="852488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sz="2400" dirty="0"/>
              <a:t>Here, no houses had 0 square feet, so b</a:t>
            </a:r>
            <a:r>
              <a:rPr lang="en-US" sz="2400" baseline="-25000" dirty="0"/>
              <a:t>0</a:t>
            </a:r>
            <a:r>
              <a:rPr lang="en-US" sz="2400" dirty="0"/>
              <a:t> = 98.248 just indicates that, for houses within the range of sizes observed, $98,248.33 is the portion of the house price not explained by square feet</a:t>
            </a:r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4572000" y="1776412"/>
          <a:ext cx="33020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227" imgH="203112" progId="Equation.3">
                  <p:embed/>
                </p:oleObj>
              </mc:Choice>
              <mc:Fallback>
                <p:oleObj name="Equation" r:id="rId2" imgW="1320227" imgH="203112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1776412"/>
                        <a:ext cx="33020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584" name="Picture 9" descr="hous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5562600"/>
            <a:ext cx="129540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5" name="Rectangle 10"/>
          <p:cNvSpPr>
            <a:spLocks noChangeArrowheads="1"/>
          </p:cNvSpPr>
          <p:nvPr/>
        </p:nvSpPr>
        <p:spPr bwMode="auto">
          <a:xfrm>
            <a:off x="5105400" y="685800"/>
            <a:ext cx="5029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Interpretation of the Intercept,  b</a:t>
            </a:r>
            <a:r>
              <a:rPr lang="en-US" baseline="-25000">
                <a:solidFill>
                  <a:schemeClr val="bg1"/>
                </a:solidFill>
                <a:latin typeface="+mn-lt"/>
              </a:rPr>
              <a:t>0</a:t>
            </a: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810000" y="304800"/>
            <a:ext cx="649763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 defTabSz="852488">
              <a:lnSpc>
                <a:spcPct val="80000"/>
              </a:lnSpc>
              <a:defRPr/>
            </a:pPr>
            <a:r>
              <a:rPr lang="en-US" sz="4400" dirty="0">
                <a:latin typeface="+mn-lt"/>
              </a:rPr>
              <a:t>Interpretation of the Intersection Coefficient,  </a:t>
            </a:r>
            <a:r>
              <a:rPr lang="en-US" sz="4400" i="1" dirty="0">
                <a:latin typeface="+mn-lt"/>
              </a:rPr>
              <a:t>b</a:t>
            </a:r>
            <a:r>
              <a:rPr lang="en-US" sz="4400" i="1" baseline="-25000" dirty="0">
                <a:latin typeface="+mn-lt"/>
              </a:rPr>
              <a:t>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D2E48ED-F20B-D241-A8A6-BED5D653FA52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6497638" cy="9906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Interpretation of the Slope Coefficient,  </a:t>
            </a:r>
            <a:r>
              <a:rPr lang="en-US" sz="4400" i="1" dirty="0">
                <a:latin typeface="+mn-lt"/>
              </a:rPr>
              <a:t>b</a:t>
            </a:r>
            <a:r>
              <a:rPr lang="en-US" sz="4400" i="1" baseline="-25000" dirty="0">
                <a:latin typeface="+mn-lt"/>
              </a:rPr>
              <a:t>1</a:t>
            </a:r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133600" y="2743201"/>
            <a:ext cx="8077200" cy="3084819"/>
          </a:xfrm>
          <a:noFill/>
        </p:spPr>
        <p:txBody>
          <a:bodyPr>
            <a:spAutoFit/>
          </a:bodyPr>
          <a:lstStyle/>
          <a:p>
            <a:pPr marL="320675" indent="-320675" algn="just" defTabSz="852488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 measures the estimated change in the average value of </a:t>
            </a:r>
            <a:r>
              <a:rPr lang="en-US" sz="2800" i="1" dirty="0"/>
              <a:t>Y</a:t>
            </a:r>
            <a:r>
              <a:rPr lang="en-US" sz="2800" dirty="0"/>
              <a:t> as a result of a one-unit change in </a:t>
            </a:r>
            <a:r>
              <a:rPr lang="en-US" sz="2800" i="1" dirty="0"/>
              <a:t>X</a:t>
            </a:r>
          </a:p>
          <a:p>
            <a:pPr marL="693738" lvl="1" indent="-268288" algn="just" defTabSz="852488" eaLnBrk="1" hangingPunct="1">
              <a:lnSpc>
                <a:spcPct val="110000"/>
              </a:lnSpc>
              <a:spcBef>
                <a:spcPct val="40000"/>
              </a:spcBef>
            </a:pPr>
            <a:r>
              <a:rPr lang="en-US" dirty="0"/>
              <a:t>Here, </a:t>
            </a:r>
            <a:r>
              <a:rPr lang="en-US" i="1" dirty="0"/>
              <a:t>b</a:t>
            </a:r>
            <a:r>
              <a:rPr lang="en-US" i="1" baseline="-25000" dirty="0"/>
              <a:t>1</a:t>
            </a:r>
            <a:r>
              <a:rPr lang="en-US" dirty="0"/>
              <a:t> = 0.110 tells us that the average value of a house increases by 0.110 ($1000) = $110, on average, for each additional one square foot of size</a:t>
            </a:r>
          </a:p>
        </p:txBody>
      </p:sp>
      <p:pic>
        <p:nvPicPr>
          <p:cNvPr id="25606" name="Picture 9" descr="house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5486400"/>
            <a:ext cx="129540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4648200" y="1905000"/>
            <a:ext cx="3352800" cy="509588"/>
            <a:chOff x="3429000" y="2133600"/>
            <a:chExt cx="3352800" cy="509588"/>
          </a:xfrm>
        </p:grpSpPr>
        <p:sp>
          <p:nvSpPr>
            <p:cNvPr id="25607" name="Rectangle 10"/>
            <p:cNvSpPr>
              <a:spLocks noChangeArrowheads="1"/>
            </p:cNvSpPr>
            <p:nvPr/>
          </p:nvSpPr>
          <p:spPr bwMode="auto">
            <a:xfrm>
              <a:off x="5638800" y="2133600"/>
              <a:ext cx="1143000" cy="36933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endParaRPr lang="en-AU">
                <a:latin typeface="+mn-lt"/>
              </a:endParaRPr>
            </a:p>
          </p:txBody>
        </p:sp>
        <p:graphicFrame>
          <p:nvGraphicFramePr>
            <p:cNvPr id="25608" name="Object 11"/>
            <p:cNvGraphicFramePr>
              <a:graphicFrameLocks noChangeAspect="1"/>
            </p:cNvGraphicFramePr>
            <p:nvPr/>
          </p:nvGraphicFramePr>
          <p:xfrm>
            <a:off x="3429000" y="2133600"/>
            <a:ext cx="3302000" cy="509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320227" imgH="203112" progId="Equation.3">
                    <p:embed/>
                  </p:oleObj>
                </mc:Choice>
                <mc:Fallback>
                  <p:oleObj name="Equation" r:id="rId3" imgW="1320227" imgH="203112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9000" y="2133600"/>
                          <a:ext cx="3302000" cy="509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045C194-5772-8A49-B81D-ED0ACCA14051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304800"/>
            <a:ext cx="6629400" cy="990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Least Squares Regression Properties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2" y="1794130"/>
            <a:ext cx="8305799" cy="4530471"/>
          </a:xfr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sz="2800" dirty="0"/>
              <a:t>The sum of the residuals from the least squares regression line is 0   (                   )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sz="2800" dirty="0"/>
              <a:t>The sum of the squared residuals is a minimum (minimized                    )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sz="2800" dirty="0"/>
              <a:t>The simple regression line always passes through the mean of the </a:t>
            </a:r>
            <a:r>
              <a:rPr lang="en-US" sz="2800" i="1" dirty="0"/>
              <a:t>y</a:t>
            </a:r>
            <a:r>
              <a:rPr lang="en-US" sz="2800" dirty="0"/>
              <a:t> variable and the mean of the </a:t>
            </a:r>
            <a:r>
              <a:rPr lang="en-US" sz="2800" i="1" dirty="0"/>
              <a:t>x</a:t>
            </a:r>
            <a:r>
              <a:rPr lang="en-US" sz="2800" dirty="0"/>
              <a:t> variable</a:t>
            </a:r>
          </a:p>
          <a:p>
            <a:pPr algn="just" eaLnBrk="1" hangingPunct="1">
              <a:lnSpc>
                <a:spcPct val="110000"/>
              </a:lnSpc>
              <a:spcBef>
                <a:spcPct val="50000"/>
              </a:spcBef>
            </a:pPr>
            <a:r>
              <a:rPr lang="en-US" sz="2800" dirty="0"/>
              <a:t>The least squares coefficients are unbiased estimates of  </a:t>
            </a:r>
            <a:r>
              <a:rPr lang="el-GR" sz="2800" dirty="0">
                <a:cs typeface="Arial" charset="0"/>
                <a:sym typeface="Symbol" charset="0"/>
              </a:rPr>
              <a:t>β</a:t>
            </a:r>
            <a:r>
              <a:rPr lang="en-US" sz="2800" baseline="-25000" dirty="0">
                <a:sym typeface="Symbol" charset="0"/>
              </a:rPr>
              <a:t>0</a:t>
            </a:r>
            <a:r>
              <a:rPr lang="en-US" sz="2800" dirty="0">
                <a:sym typeface="Symbol" charset="0"/>
              </a:rPr>
              <a:t>  and  </a:t>
            </a:r>
            <a:r>
              <a:rPr lang="el-GR" sz="2800" dirty="0">
                <a:cs typeface="Arial" charset="0"/>
                <a:sym typeface="Symbol" charset="0"/>
              </a:rPr>
              <a:t>β</a:t>
            </a:r>
            <a:r>
              <a:rPr lang="en-US" sz="2800" baseline="-25000" dirty="0">
                <a:sym typeface="Symbol" charset="0"/>
              </a:rPr>
              <a:t>1 </a:t>
            </a:r>
            <a:endParaRPr lang="en-US" sz="2800" dirty="0"/>
          </a:p>
        </p:txBody>
      </p:sp>
      <p:graphicFrame>
        <p:nvGraphicFramePr>
          <p:cNvPr id="26630" name="Object 4"/>
          <p:cNvGraphicFramePr>
            <a:graphicFrameLocks noChangeAspect="1"/>
          </p:cNvGraphicFramePr>
          <p:nvPr/>
        </p:nvGraphicFramePr>
        <p:xfrm>
          <a:off x="5410200" y="2362200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37836" imgH="253890" progId="Equation.3">
                  <p:embed/>
                </p:oleObj>
              </mc:Choice>
              <mc:Fallback>
                <p:oleObj name="Equation" r:id="rId2" imgW="837836" imgH="25389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362200"/>
                        <a:ext cx="1600200" cy="4826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5"/>
          <p:cNvGraphicFramePr>
            <a:graphicFrameLocks noChangeAspect="1"/>
          </p:cNvGraphicFramePr>
          <p:nvPr/>
        </p:nvGraphicFramePr>
        <p:xfrm>
          <a:off x="4114800" y="3379788"/>
          <a:ext cx="1524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60113" imgH="253890" progId="Equation.3">
                  <p:embed/>
                </p:oleObj>
              </mc:Choice>
              <mc:Fallback>
                <p:oleObj name="Equation" r:id="rId4" imgW="660113" imgH="25389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379788"/>
                        <a:ext cx="1524000" cy="5826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8E20C2E4-B38B-D440-A00C-60C6C404F70E}" type="slidenum">
              <a:rPr lang="en-US" sz="2800">
                <a:solidFill>
                  <a:schemeClr val="bg1"/>
                </a:solidFill>
                <a:latin typeface="+mn-lt"/>
              </a:rPr>
              <a:pPr/>
              <a:t>26</a:t>
            </a:fld>
            <a:endParaRPr lang="en-US" sz="28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38862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#1</a:t>
            </a:r>
          </a:p>
        </p:txBody>
      </p:sp>
      <p:sp>
        <p:nvSpPr>
          <p:cNvPr id="4608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828800"/>
            <a:ext cx="8229600" cy="4191000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2400" dirty="0"/>
              <a:t>Representative data on </a:t>
            </a:r>
            <a:r>
              <a:rPr lang="en-US" sz="2400" i="1" dirty="0"/>
              <a:t>x</a:t>
            </a:r>
            <a:r>
              <a:rPr lang="en-US" sz="2400" dirty="0"/>
              <a:t> = carbonation depth (in millimeters) and </a:t>
            </a:r>
            <a:r>
              <a:rPr lang="en-US" sz="2400" i="1" dirty="0"/>
              <a:t>y </a:t>
            </a:r>
            <a:r>
              <a:rPr lang="en-US" sz="2400" dirty="0"/>
              <a:t>= strength (in mega pascals) for a sample of concrete core specimens taken from a particular building were read from a plot in the article “The Carbonation of Concrete Structures in the Tropical Environment of Singapore” (Magazine of Concrete Research [1996]: 293-300);</a:t>
            </a:r>
          </a:p>
          <a:p>
            <a:pPr eaLnBrk="1" hangingPunct="1"/>
            <a:endParaRPr lang="en-US" sz="2400" dirty="0"/>
          </a:p>
        </p:txBody>
      </p:sp>
      <p:graphicFrame>
        <p:nvGraphicFramePr>
          <p:cNvPr id="130090" name="Group 42"/>
          <p:cNvGraphicFramePr>
            <a:graphicFrameLocks noGrp="1"/>
          </p:cNvGraphicFramePr>
          <p:nvPr>
            <p:ph sz="half" idx="2"/>
          </p:nvPr>
        </p:nvGraphicFramePr>
        <p:xfrm>
          <a:off x="2057401" y="4419600"/>
          <a:ext cx="8047355" cy="1524000"/>
        </p:xfrm>
        <a:graphic>
          <a:graphicData uri="http://schemas.openxmlformats.org/drawingml/2006/table">
            <a:tbl>
              <a:tblPr/>
              <a:tblGrid>
                <a:gridCol w="1351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45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7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136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Depth,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Strength,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22.8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17.1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21.1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3880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A503CED4-D3A4-EE4F-B33A-10FC18A95A7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27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7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1"/>
            <a:ext cx="8153400" cy="4525963"/>
          </a:xfrm>
        </p:spPr>
        <p:txBody>
          <a:bodyPr/>
          <a:lstStyle/>
          <a:p>
            <a:pPr algn="just" eaLnBrk="1" hangingPunct="1"/>
            <a:r>
              <a:rPr lang="en-US" sz="2800" dirty="0"/>
              <a:t>Construct a scatterplot. Does the relationship between carbonation depth and strength appear to be linear?</a:t>
            </a:r>
          </a:p>
          <a:p>
            <a:pPr algn="just" eaLnBrk="1" hangingPunct="1"/>
            <a:r>
              <a:rPr lang="en-US" sz="2800" dirty="0"/>
              <a:t>Find the equation of the least-square line.</a:t>
            </a:r>
          </a:p>
          <a:p>
            <a:pPr algn="just" eaLnBrk="1" hangingPunct="1"/>
            <a:r>
              <a:rPr lang="en-US" sz="2800" dirty="0"/>
              <a:t>What would you predict for strength when carbonation depth is 25 mm?</a:t>
            </a:r>
          </a:p>
          <a:p>
            <a:pPr algn="just" eaLnBrk="1" hangingPunct="1"/>
            <a:r>
              <a:rPr lang="en-US" sz="2800" dirty="0"/>
              <a:t>Explain why it would not be reasonable to use the least-square line to predict strength when carbonation depth is 100 mm.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886200" y="304800"/>
            <a:ext cx="5181600" cy="685800"/>
          </a:xfrm>
        </p:spPr>
        <p:txBody>
          <a:bodyPr/>
          <a:lstStyle/>
          <a:p>
            <a:pPr eaLnBrk="1" hangingPunct="1"/>
            <a:r>
              <a:rPr lang="en-US" sz="4400" dirty="0">
                <a:latin typeface="+mn-lt"/>
              </a:rPr>
              <a:t>Exercise #1</a:t>
            </a:r>
          </a:p>
        </p:txBody>
      </p:sp>
    </p:spTree>
    <p:extLst>
      <p:ext uri="{BB962C8B-B14F-4D97-AF65-F5344CB8AC3E}">
        <p14:creationId xmlns:p14="http://schemas.microsoft.com/office/powerpoint/2010/main" val="117556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49B19-3CE2-1033-F4F0-596AB7654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54E2897E-2E31-1788-EFF1-F83CDB20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28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DC484AE3-979D-4A74-2944-E98A8952C0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2097208A-6D83-9779-E0D4-1EE5360493D9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9C490ACE-BCA6-57B1-2121-DFB9F48E9252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651944DA-F6E8-AC56-93A3-E21B9E9E529E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072B3858-ED84-B077-0D51-855A91569695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6AF24B13-08B5-B1CE-6A29-907581B1B175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076A9C2A-9887-F018-B51B-34A425047097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2: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LINEAR REGRESSION MODEL (2)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Find the Coefficient of Determination (R)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11A574BC-B5E8-3148-C26F-2F1C9A235ED5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852CB0A7-8578-50CA-6009-B0BEA42EADEA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FD8C53E5-AB0E-38D7-F980-F9472A113DA3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EB493257-30BF-EC0A-AA2D-7BE171DD11A6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2984315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CC7DE-C356-4144-BD32-877AC7F8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b="1" dirty="0"/>
              <a:t>Coefficient of Determination </a:t>
            </a:r>
            <a:r>
              <a:rPr lang="en-MY" dirty="0"/>
              <a:t>R</a:t>
            </a:r>
            <a:r>
              <a:rPr lang="en-MY" baseline="30000" dirty="0"/>
              <a:t>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7A08-7A37-3447-836A-3783F6B25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1452791"/>
            <a:ext cx="8382000" cy="4708525"/>
          </a:xfrm>
        </p:spPr>
        <p:txBody>
          <a:bodyPr/>
          <a:lstStyle/>
          <a:p>
            <a:r>
              <a:rPr lang="en-MY" dirty="0"/>
              <a:t>The </a:t>
            </a:r>
            <a:r>
              <a:rPr lang="en-MY" b="1" dirty="0"/>
              <a:t>coefficient of determination</a:t>
            </a:r>
            <a:r>
              <a:rPr lang="en-MY" dirty="0"/>
              <a:t> (denoted by R</a:t>
            </a:r>
            <a:r>
              <a:rPr lang="en-MY" baseline="30000" dirty="0"/>
              <a:t>2</a:t>
            </a:r>
            <a:r>
              <a:rPr lang="en-MY" dirty="0"/>
              <a:t>) is a key output of regression analysis. </a:t>
            </a:r>
          </a:p>
          <a:p>
            <a:r>
              <a:rPr lang="en-MY" dirty="0"/>
              <a:t>It is interpreted as the proportion of the variance in the dependent variable that is predictable from the independent variable.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7C872-ECCB-584E-AA70-2606647CC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AD96D6-FCAC-BF48-A744-D10BE5BBB539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694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648200" y="6172200"/>
            <a:ext cx="2895600" cy="323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000">
                <a:solidFill>
                  <a:srgbClr val="AE3221"/>
                </a:solidFill>
                <a:latin typeface="+mn-lt"/>
              </a:rPr>
              <a:t>prepared by Razana Alwee</a:t>
            </a:r>
          </a:p>
        </p:txBody>
      </p:sp>
      <p:sp>
        <p:nvSpPr>
          <p:cNvPr id="2765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29C7690-D4E0-4541-8A12-27C0DB42BFF6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30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6650038" cy="1143000"/>
          </a:xfrm>
        </p:spPr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Explained and Unexplained Variation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1" y="1752601"/>
            <a:ext cx="7142163" cy="620713"/>
          </a:xfrm>
        </p:spPr>
        <p:txBody>
          <a:bodyPr/>
          <a:lstStyle/>
          <a:p>
            <a:pPr marL="320675" indent="-320675" defTabSz="852488" eaLnBrk="1" hangingPunct="1"/>
            <a:r>
              <a:rPr lang="en-US" sz="2800" dirty="0"/>
              <a:t>Total variation is made up of two parts:</a:t>
            </a:r>
          </a:p>
        </p:txBody>
      </p:sp>
      <p:graphicFrame>
        <p:nvGraphicFramePr>
          <p:cNvPr id="27654" name="Object 4"/>
          <p:cNvGraphicFramePr>
            <a:graphicFrameLocks noChangeAspect="1"/>
          </p:cNvGraphicFramePr>
          <p:nvPr/>
        </p:nvGraphicFramePr>
        <p:xfrm>
          <a:off x="2459039" y="2362201"/>
          <a:ext cx="7208837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88367" imgH="177723" progId="Equation.3">
                  <p:embed/>
                </p:oleObj>
              </mc:Choice>
              <mc:Fallback>
                <p:oleObj name="Equation" r:id="rId2" imgW="1688367" imgH="177723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9" y="2362201"/>
                        <a:ext cx="7208837" cy="7524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5"/>
          <p:cNvSpPr>
            <a:spLocks noChangeArrowheads="1"/>
          </p:cNvSpPr>
          <p:nvPr/>
        </p:nvSpPr>
        <p:spPr bwMode="auto">
          <a:xfrm>
            <a:off x="2209800" y="3352800"/>
            <a:ext cx="1600200" cy="762000"/>
          </a:xfrm>
          <a:prstGeom prst="rect">
            <a:avLst/>
          </a:prstGeom>
          <a:solidFill>
            <a:srgbClr val="FDE0B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</a:pPr>
            <a:r>
              <a:rPr lang="en-US" sz="2000" dirty="0">
                <a:latin typeface="+mn-lt"/>
              </a:rPr>
              <a:t>Total sum of Squares</a:t>
            </a:r>
          </a:p>
        </p:txBody>
      </p:sp>
      <p:sp>
        <p:nvSpPr>
          <p:cNvPr id="27656" name="Rectangle 6"/>
          <p:cNvSpPr>
            <a:spLocks noChangeArrowheads="1"/>
          </p:cNvSpPr>
          <p:nvPr/>
        </p:nvSpPr>
        <p:spPr bwMode="auto">
          <a:xfrm>
            <a:off x="8077200" y="3352800"/>
            <a:ext cx="2057400" cy="762000"/>
          </a:xfrm>
          <a:prstGeom prst="rect">
            <a:avLst/>
          </a:prstGeom>
          <a:solidFill>
            <a:srgbClr val="C4E6C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</a:pPr>
            <a:r>
              <a:rPr lang="en-US" sz="2000">
                <a:latin typeface="+mn-lt"/>
              </a:rPr>
              <a:t>Sum of Squares Regression</a:t>
            </a:r>
          </a:p>
        </p:txBody>
      </p:sp>
      <p:sp>
        <p:nvSpPr>
          <p:cNvPr id="27657" name="Rectangle 7"/>
          <p:cNvSpPr>
            <a:spLocks noChangeArrowheads="1"/>
          </p:cNvSpPr>
          <p:nvPr/>
        </p:nvSpPr>
        <p:spPr bwMode="auto">
          <a:xfrm>
            <a:off x="4875213" y="3352800"/>
            <a:ext cx="2057400" cy="762000"/>
          </a:xfrm>
          <a:prstGeom prst="rect">
            <a:avLst/>
          </a:prstGeom>
          <a:solidFill>
            <a:srgbClr val="FFE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</a:pPr>
            <a:r>
              <a:rPr lang="en-US" sz="2000">
                <a:latin typeface="+mn-lt"/>
              </a:rPr>
              <a:t>Sum of Squares Error</a:t>
            </a:r>
          </a:p>
        </p:txBody>
      </p:sp>
      <p:graphicFrame>
        <p:nvGraphicFramePr>
          <p:cNvPr id="27658" name="Object 8"/>
          <p:cNvGraphicFramePr>
            <a:graphicFrameLocks noChangeAspect="1"/>
          </p:cNvGraphicFramePr>
          <p:nvPr/>
        </p:nvGraphicFramePr>
        <p:xfrm>
          <a:off x="1676401" y="4419601"/>
          <a:ext cx="26590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7893" imgH="253890" progId="Equation.3">
                  <p:embed/>
                </p:oleObj>
              </mc:Choice>
              <mc:Fallback>
                <p:oleObj name="Equation" r:id="rId4" imgW="1167893" imgH="25389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1" y="4419601"/>
                        <a:ext cx="2659063" cy="574675"/>
                      </a:xfrm>
                      <a:prstGeom prst="rect">
                        <a:avLst/>
                      </a:prstGeom>
                      <a:solidFill>
                        <a:srgbClr val="FDE0BD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9" name="Object 9"/>
          <p:cNvGraphicFramePr>
            <a:graphicFrameLocks noChangeAspect="1"/>
          </p:cNvGraphicFramePr>
          <p:nvPr/>
        </p:nvGraphicFramePr>
        <p:xfrm>
          <a:off x="4724401" y="4419601"/>
          <a:ext cx="26574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67893" imgH="253890" progId="Equation.3">
                  <p:embed/>
                </p:oleObj>
              </mc:Choice>
              <mc:Fallback>
                <p:oleObj name="Equation" r:id="rId6" imgW="1167893" imgH="25389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4401" y="4419601"/>
                        <a:ext cx="2657475" cy="576263"/>
                      </a:xfrm>
                      <a:prstGeom prst="rect">
                        <a:avLst/>
                      </a:prstGeom>
                      <a:solidFill>
                        <a:srgbClr val="FFE9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0" name="Object 10"/>
          <p:cNvGraphicFramePr>
            <a:graphicFrameLocks noChangeAspect="1"/>
          </p:cNvGraphicFramePr>
          <p:nvPr/>
        </p:nvGraphicFramePr>
        <p:xfrm>
          <a:off x="7772400" y="4419600"/>
          <a:ext cx="2592388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80588" imgH="253890" progId="Equation.3">
                  <p:embed/>
                </p:oleObj>
              </mc:Choice>
              <mc:Fallback>
                <p:oleObj name="Equation" r:id="rId8" imgW="1180588" imgH="25389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419600"/>
                        <a:ext cx="2592388" cy="554038"/>
                      </a:xfrm>
                      <a:prstGeom prst="rect">
                        <a:avLst/>
                      </a:prstGeom>
                      <a:solidFill>
                        <a:srgbClr val="C4E6C9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1" name="Rectangle 11"/>
          <p:cNvSpPr>
            <a:spLocks noChangeArrowheads="1"/>
          </p:cNvSpPr>
          <p:nvPr/>
        </p:nvSpPr>
        <p:spPr bwMode="auto">
          <a:xfrm>
            <a:off x="3429000" y="5029201"/>
            <a:ext cx="6324600" cy="148348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sz="2000" dirty="0">
                <a:latin typeface="+mn-lt"/>
              </a:rPr>
              <a:t>where: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 dirty="0">
                <a:latin typeface="+mn-lt"/>
              </a:rPr>
              <a:t>	</a:t>
            </a:r>
            <a:r>
              <a:rPr lang="en-US" sz="2000" i="1" dirty="0">
                <a:latin typeface="+mn-lt"/>
              </a:rPr>
              <a:t>  </a:t>
            </a:r>
            <a:r>
              <a:rPr lang="en-US" sz="2000" dirty="0">
                <a:latin typeface="+mn-lt"/>
              </a:rPr>
              <a:t> = Average value of the dependent variable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 dirty="0">
                <a:latin typeface="+mn-lt"/>
              </a:rPr>
              <a:t>	</a:t>
            </a:r>
            <a:r>
              <a:rPr lang="en-US" sz="2000" i="1" dirty="0">
                <a:latin typeface="+mn-lt"/>
              </a:rPr>
              <a:t>y</a:t>
            </a:r>
            <a:r>
              <a:rPr lang="en-US" sz="2000" dirty="0">
                <a:latin typeface="+mn-lt"/>
              </a:rPr>
              <a:t> = Observed values of the dependent variable</a:t>
            </a:r>
          </a:p>
          <a:p>
            <a:pPr eaLnBrk="1" hangingPunct="1">
              <a:lnSpc>
                <a:spcPct val="120000"/>
              </a:lnSpc>
            </a:pPr>
            <a:r>
              <a:rPr lang="en-US" sz="2000" dirty="0">
                <a:latin typeface="+mn-lt"/>
              </a:rPr>
              <a:t>	   = Estimated value of y for the given x value</a:t>
            </a:r>
          </a:p>
        </p:txBody>
      </p:sp>
      <p:graphicFrame>
        <p:nvGraphicFramePr>
          <p:cNvPr id="27662" name="Object 12"/>
          <p:cNvGraphicFramePr>
            <a:graphicFrameLocks noChangeAspect="1"/>
          </p:cNvGraphicFramePr>
          <p:nvPr/>
        </p:nvGraphicFramePr>
        <p:xfrm>
          <a:off x="4343400" y="6096000"/>
          <a:ext cx="2730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9639" imgH="203112" progId="Equation.3">
                  <p:embed/>
                </p:oleObj>
              </mc:Choice>
              <mc:Fallback>
                <p:oleObj name="Equation" r:id="rId10" imgW="139639" imgH="203112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6096000"/>
                        <a:ext cx="273050" cy="3937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3"/>
          <p:cNvGraphicFramePr>
            <a:graphicFrameLocks noChangeAspect="1"/>
          </p:cNvGraphicFramePr>
          <p:nvPr/>
        </p:nvGraphicFramePr>
        <p:xfrm>
          <a:off x="4343400" y="5486401"/>
          <a:ext cx="27305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39639" imgH="190417" progId="Equation.3">
                  <p:embed/>
                </p:oleObj>
              </mc:Choice>
              <mc:Fallback>
                <p:oleObj name="Equation" r:id="rId12" imgW="139639" imgH="190417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5486401"/>
                        <a:ext cx="273050" cy="3730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209DCD7-DEDB-9D4E-A3F1-3AF6F4DDAE4D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31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8676" name="Rectangle 2"/>
          <p:cNvSpPr>
            <a:spLocks noChangeArrowheads="1"/>
          </p:cNvSpPr>
          <p:nvPr/>
        </p:nvSpPr>
        <p:spPr bwMode="auto">
          <a:xfrm>
            <a:off x="2362200" y="3048000"/>
            <a:ext cx="4419600" cy="369332"/>
          </a:xfrm>
          <a:prstGeom prst="rect">
            <a:avLst/>
          </a:prstGeom>
          <a:solidFill>
            <a:srgbClr val="FFE9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endParaRPr lang="en-AU">
              <a:latin typeface="+mn-lt"/>
            </a:endParaRPr>
          </a:p>
        </p:txBody>
      </p:sp>
      <p:sp>
        <p:nvSpPr>
          <p:cNvPr id="28677" name="Rectangle 3"/>
          <p:cNvSpPr>
            <a:spLocks noChangeArrowheads="1"/>
          </p:cNvSpPr>
          <p:nvPr/>
        </p:nvSpPr>
        <p:spPr bwMode="auto">
          <a:xfrm>
            <a:off x="2362200" y="4659868"/>
            <a:ext cx="5334000" cy="369332"/>
          </a:xfrm>
          <a:prstGeom prst="rect">
            <a:avLst/>
          </a:prstGeom>
          <a:solidFill>
            <a:srgbClr val="C4E6C9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endParaRPr lang="en-AU">
              <a:latin typeface="+mn-lt"/>
            </a:endParaRPr>
          </a:p>
        </p:txBody>
      </p:sp>
      <p:sp>
        <p:nvSpPr>
          <p:cNvPr id="28678" name="Rectangle 4"/>
          <p:cNvSpPr>
            <a:spLocks noChangeArrowheads="1"/>
          </p:cNvSpPr>
          <p:nvPr/>
        </p:nvSpPr>
        <p:spPr bwMode="auto">
          <a:xfrm>
            <a:off x="2362200" y="1828800"/>
            <a:ext cx="4343400" cy="369332"/>
          </a:xfrm>
          <a:prstGeom prst="rect">
            <a:avLst/>
          </a:prstGeom>
          <a:solidFill>
            <a:srgbClr val="FDE0BD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endParaRPr lang="en-AU">
              <a:latin typeface="+mn-lt"/>
            </a:endParaRPr>
          </a:p>
        </p:txBody>
      </p:sp>
      <p:sp>
        <p:nvSpPr>
          <p:cNvPr id="28680" name="Text Box 6"/>
          <p:cNvSpPr txBox="1">
            <a:spLocks noChangeArrowheads="1"/>
          </p:cNvSpPr>
          <p:nvPr/>
        </p:nvSpPr>
        <p:spPr bwMode="auto">
          <a:xfrm>
            <a:off x="8991601" y="1219200"/>
            <a:ext cx="13694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sp>
        <p:nvSpPr>
          <p:cNvPr id="28681" name="Rectangle 7"/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6858000" cy="12192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defTabSz="852488" eaLnBrk="1" hangingPunct="1"/>
            <a:r>
              <a:rPr lang="en-US" sz="4400" dirty="0">
                <a:latin typeface="+mn-lt"/>
              </a:rPr>
              <a:t>Explained and Unexplained Variation</a:t>
            </a:r>
          </a:p>
        </p:txBody>
      </p:sp>
      <p:sp>
        <p:nvSpPr>
          <p:cNvPr id="2867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8382000" cy="4114800"/>
          </a:xfrm>
        </p:spPr>
        <p:txBody>
          <a:bodyPr/>
          <a:lstStyle/>
          <a:p>
            <a:pPr marL="320675" indent="-320675" algn="just" defTabSz="852488" eaLnBrk="1" hangingPunct="1">
              <a:spcBef>
                <a:spcPct val="40000"/>
              </a:spcBef>
            </a:pPr>
            <a:r>
              <a:rPr lang="en-US" dirty="0"/>
              <a:t>SST = total sum of squares </a:t>
            </a:r>
          </a:p>
          <a:p>
            <a:pPr marL="693738" lvl="1" indent="-268288" algn="just" defTabSz="852488" eaLnBrk="1" hangingPunct="1">
              <a:spcBef>
                <a:spcPct val="40000"/>
              </a:spcBef>
            </a:pPr>
            <a:r>
              <a:rPr lang="en-US" sz="2400" dirty="0"/>
              <a:t>Measures the variation of the </a:t>
            </a:r>
            <a:r>
              <a:rPr lang="en-US" sz="2400" i="1" dirty="0" err="1"/>
              <a:t>y</a:t>
            </a:r>
            <a:r>
              <a:rPr lang="en-US" sz="2400" i="1" baseline="-25000" dirty="0" err="1"/>
              <a:t>i</a:t>
            </a:r>
            <a:r>
              <a:rPr lang="en-US" sz="2400" dirty="0"/>
              <a:t> values around their mean </a:t>
            </a:r>
            <a:r>
              <a:rPr lang="en-US" sz="2400" i="1" dirty="0"/>
              <a:t>y</a:t>
            </a:r>
          </a:p>
          <a:p>
            <a:pPr marL="320675" indent="-320675" algn="just" defTabSz="852488" eaLnBrk="1" hangingPunct="1">
              <a:spcBef>
                <a:spcPct val="40000"/>
              </a:spcBef>
            </a:pPr>
            <a:r>
              <a:rPr lang="en-US" dirty="0"/>
              <a:t>SSE = error sum of squares </a:t>
            </a:r>
          </a:p>
          <a:p>
            <a:pPr marL="693738" lvl="1" indent="-268288" algn="just" defTabSz="852488" eaLnBrk="1" hangingPunct="1">
              <a:spcBef>
                <a:spcPct val="40000"/>
              </a:spcBef>
            </a:pPr>
            <a:r>
              <a:rPr lang="en-US" sz="2400" dirty="0"/>
              <a:t>Variation attributable to factors other than the relationship between </a:t>
            </a:r>
            <a:r>
              <a:rPr lang="en-US" sz="2400" i="1" dirty="0"/>
              <a:t>x</a:t>
            </a:r>
            <a:r>
              <a:rPr lang="en-US" sz="2400" dirty="0"/>
              <a:t> and </a:t>
            </a:r>
            <a:r>
              <a:rPr lang="en-US" sz="2400" i="1" dirty="0"/>
              <a:t>y</a:t>
            </a:r>
          </a:p>
          <a:p>
            <a:pPr marL="320675" indent="-320675" algn="just" defTabSz="852488" eaLnBrk="1" hangingPunct="1">
              <a:spcBef>
                <a:spcPct val="40000"/>
              </a:spcBef>
            </a:pPr>
            <a:r>
              <a:rPr lang="en-US" dirty="0"/>
              <a:t>SSR = regression sum of squares </a:t>
            </a:r>
          </a:p>
          <a:p>
            <a:pPr marL="693738" lvl="1" indent="-268288" algn="just" defTabSz="852488" eaLnBrk="1" hangingPunct="1">
              <a:spcBef>
                <a:spcPct val="40000"/>
              </a:spcBef>
            </a:pPr>
            <a:r>
              <a:rPr lang="en-US" sz="2400" dirty="0"/>
              <a:t>Explained variation attributable to the relationship between </a:t>
            </a:r>
            <a:r>
              <a:rPr lang="en-US" sz="2400" i="1" dirty="0"/>
              <a:t>x</a:t>
            </a:r>
            <a:r>
              <a:rPr lang="en-US" sz="2400" dirty="0"/>
              <a:t> and </a:t>
            </a:r>
            <a:r>
              <a:rPr lang="en-US" sz="2400" i="1" dirty="0"/>
              <a:t>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48DB66B-5739-3242-99A9-129C16A7E31F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32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705" name="Text Box 7"/>
          <p:cNvSpPr txBox="1">
            <a:spLocks noChangeArrowheads="1"/>
          </p:cNvSpPr>
          <p:nvPr/>
        </p:nvSpPr>
        <p:spPr bwMode="auto">
          <a:xfrm>
            <a:off x="8991601" y="1219200"/>
            <a:ext cx="13694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sp>
        <p:nvSpPr>
          <p:cNvPr id="29728" name="Rectangle 30"/>
          <p:cNvSpPr>
            <a:spLocks noGrp="1" noChangeArrowheads="1"/>
          </p:cNvSpPr>
          <p:nvPr>
            <p:ph type="title"/>
          </p:nvPr>
        </p:nvSpPr>
        <p:spPr>
          <a:xfrm>
            <a:off x="3505200" y="609600"/>
            <a:ext cx="7162800" cy="9144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defTabSz="852488" eaLnBrk="1" hangingPunct="1"/>
            <a:r>
              <a:rPr lang="en-US" sz="4400" dirty="0">
                <a:latin typeface="+mn-lt"/>
              </a:rPr>
              <a:t>Explained and Unexplained Variation</a:t>
            </a:r>
          </a:p>
        </p:txBody>
      </p:sp>
      <p:sp>
        <p:nvSpPr>
          <p:cNvPr id="29731" name="Rectangle 33"/>
          <p:cNvSpPr>
            <a:spLocks noChangeArrowheads="1"/>
          </p:cNvSpPr>
          <p:nvPr/>
        </p:nvSpPr>
        <p:spPr bwMode="auto">
          <a:xfrm>
            <a:off x="1905001" y="1524000"/>
            <a:ext cx="466725" cy="51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 dirty="0">
                <a:latin typeface="+mn-lt"/>
              </a:rPr>
              <a:t>y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1752601" y="1828801"/>
            <a:ext cx="8543925" cy="4590133"/>
            <a:chOff x="228600" y="1828800"/>
            <a:chExt cx="8543925" cy="4590133"/>
          </a:xfrm>
        </p:grpSpPr>
        <p:sp>
          <p:nvSpPr>
            <p:cNvPr id="29700" name="Line 2"/>
            <p:cNvSpPr>
              <a:spLocks noChangeShapeType="1"/>
            </p:cNvSpPr>
            <p:nvPr/>
          </p:nvSpPr>
          <p:spPr bwMode="auto">
            <a:xfrm flipH="1">
              <a:off x="685800" y="4724400"/>
              <a:ext cx="304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01" name="Line 3"/>
            <p:cNvSpPr>
              <a:spLocks noChangeShapeType="1"/>
            </p:cNvSpPr>
            <p:nvPr/>
          </p:nvSpPr>
          <p:spPr bwMode="auto">
            <a:xfrm flipH="1">
              <a:off x="685800" y="2209800"/>
              <a:ext cx="3200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06" name="Line 8"/>
            <p:cNvSpPr>
              <a:spLocks noChangeShapeType="1"/>
            </p:cNvSpPr>
            <p:nvPr/>
          </p:nvSpPr>
          <p:spPr bwMode="auto">
            <a:xfrm>
              <a:off x="685800" y="1828800"/>
              <a:ext cx="0" cy="41592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07" name="Line 9"/>
            <p:cNvSpPr>
              <a:spLocks noChangeShapeType="1"/>
            </p:cNvSpPr>
            <p:nvPr/>
          </p:nvSpPr>
          <p:spPr bwMode="auto">
            <a:xfrm>
              <a:off x="685800" y="6019800"/>
              <a:ext cx="7639050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08" name="Line 10"/>
            <p:cNvSpPr>
              <a:spLocks noChangeShapeType="1"/>
            </p:cNvSpPr>
            <p:nvPr/>
          </p:nvSpPr>
          <p:spPr bwMode="auto">
            <a:xfrm flipV="1">
              <a:off x="1209675" y="2454275"/>
              <a:ext cx="6269038" cy="2713038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09" name="Oval 11"/>
            <p:cNvSpPr>
              <a:spLocks noChangeArrowheads="1"/>
            </p:cNvSpPr>
            <p:nvPr/>
          </p:nvSpPr>
          <p:spPr bwMode="auto">
            <a:xfrm>
              <a:off x="3810000" y="2057400"/>
              <a:ext cx="304800" cy="3048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29710" name="Line 12"/>
            <p:cNvSpPr>
              <a:spLocks noChangeShapeType="1"/>
            </p:cNvSpPr>
            <p:nvPr/>
          </p:nvSpPr>
          <p:spPr bwMode="auto">
            <a:xfrm>
              <a:off x="3962400" y="2386013"/>
              <a:ext cx="0" cy="2319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11" name="Rectangle 13"/>
            <p:cNvSpPr>
              <a:spLocks noChangeArrowheads="1"/>
            </p:cNvSpPr>
            <p:nvPr/>
          </p:nvSpPr>
          <p:spPr bwMode="auto">
            <a:xfrm>
              <a:off x="3735388" y="6021388"/>
              <a:ext cx="835025" cy="3975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i="1" dirty="0">
                  <a:latin typeface="+mn-lt"/>
                </a:rPr>
                <a:t>X</a:t>
              </a:r>
              <a:r>
                <a:rPr lang="en-US" sz="2000" i="1" baseline="-25000" dirty="0">
                  <a:latin typeface="+mn-lt"/>
                </a:rPr>
                <a:t>i</a:t>
              </a:r>
              <a:endParaRPr lang="en-US" i="1" baseline="-25000" dirty="0">
                <a:latin typeface="+mn-lt"/>
              </a:endParaRPr>
            </a:p>
          </p:txBody>
        </p:sp>
        <p:sp>
          <p:nvSpPr>
            <p:cNvPr id="29712" name="Line 14"/>
            <p:cNvSpPr>
              <a:spLocks noChangeShapeType="1"/>
            </p:cNvSpPr>
            <p:nvPr/>
          </p:nvSpPr>
          <p:spPr bwMode="auto">
            <a:xfrm>
              <a:off x="950913" y="4724400"/>
              <a:ext cx="7170737" cy="0"/>
            </a:xfrm>
            <a:prstGeom prst="line">
              <a:avLst/>
            </a:prstGeom>
            <a:noFill/>
            <a:ln w="254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14" name="Rectangle 16"/>
            <p:cNvSpPr>
              <a:spLocks noChangeArrowheads="1"/>
            </p:cNvSpPr>
            <p:nvPr/>
          </p:nvSpPr>
          <p:spPr bwMode="auto">
            <a:xfrm>
              <a:off x="8305800" y="5867400"/>
              <a:ext cx="466725" cy="5159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 i="1" dirty="0">
                  <a:latin typeface="+mn-lt"/>
                </a:rPr>
                <a:t>x</a:t>
              </a:r>
            </a:p>
          </p:txBody>
        </p:sp>
        <p:sp>
          <p:nvSpPr>
            <p:cNvPr id="29716" name="Freeform 18"/>
            <p:cNvSpPr>
              <a:spLocks/>
            </p:cNvSpPr>
            <p:nvPr/>
          </p:nvSpPr>
          <p:spPr bwMode="auto">
            <a:xfrm>
              <a:off x="3125788" y="2208213"/>
              <a:ext cx="534987" cy="2519362"/>
            </a:xfrm>
            <a:custGeom>
              <a:avLst/>
              <a:gdLst>
                <a:gd name="T0" fmla="*/ 2147483647 w 337"/>
                <a:gd name="T1" fmla="*/ 0 h 1587"/>
                <a:gd name="T2" fmla="*/ 2147483647 w 337"/>
                <a:gd name="T3" fmla="*/ 2147483647 h 1587"/>
                <a:gd name="T4" fmla="*/ 2147483647 w 337"/>
                <a:gd name="T5" fmla="*/ 2147483647 h 1587"/>
                <a:gd name="T6" fmla="*/ 2147483647 w 337"/>
                <a:gd name="T7" fmla="*/ 2147483647 h 1587"/>
                <a:gd name="T8" fmla="*/ 2147483647 w 337"/>
                <a:gd name="T9" fmla="*/ 2147483647 h 1587"/>
                <a:gd name="T10" fmla="*/ 2147483647 w 337"/>
                <a:gd name="T11" fmla="*/ 2147483647 h 1587"/>
                <a:gd name="T12" fmla="*/ 2147483647 w 337"/>
                <a:gd name="T13" fmla="*/ 2147483647 h 1587"/>
                <a:gd name="T14" fmla="*/ 2147483647 w 337"/>
                <a:gd name="T15" fmla="*/ 2147483647 h 1587"/>
                <a:gd name="T16" fmla="*/ 2147483647 w 337"/>
                <a:gd name="T17" fmla="*/ 2147483647 h 1587"/>
                <a:gd name="T18" fmla="*/ 2147483647 w 337"/>
                <a:gd name="T19" fmla="*/ 2147483647 h 1587"/>
                <a:gd name="T20" fmla="*/ 2147483647 w 337"/>
                <a:gd name="T21" fmla="*/ 2147483647 h 1587"/>
                <a:gd name="T22" fmla="*/ 2147483647 w 337"/>
                <a:gd name="T23" fmla="*/ 2147483647 h 1587"/>
                <a:gd name="T24" fmla="*/ 2147483647 w 337"/>
                <a:gd name="T25" fmla="*/ 2147483647 h 1587"/>
                <a:gd name="T26" fmla="*/ 2147483647 w 337"/>
                <a:gd name="T27" fmla="*/ 2147483647 h 1587"/>
                <a:gd name="T28" fmla="*/ 2147483647 w 337"/>
                <a:gd name="T29" fmla="*/ 2147483647 h 1587"/>
                <a:gd name="T30" fmla="*/ 2147483647 w 337"/>
                <a:gd name="T31" fmla="*/ 2147483647 h 1587"/>
                <a:gd name="T32" fmla="*/ 2147483647 w 337"/>
                <a:gd name="T33" fmla="*/ 2147483647 h 1587"/>
                <a:gd name="T34" fmla="*/ 0 w 337"/>
                <a:gd name="T35" fmla="*/ 2147483647 h 1587"/>
                <a:gd name="T36" fmla="*/ 2147483647 w 337"/>
                <a:gd name="T37" fmla="*/ 2147483647 h 1587"/>
                <a:gd name="T38" fmla="*/ 2147483647 w 337"/>
                <a:gd name="T39" fmla="*/ 2147483647 h 1587"/>
                <a:gd name="T40" fmla="*/ 2147483647 w 337"/>
                <a:gd name="T41" fmla="*/ 2147483647 h 1587"/>
                <a:gd name="T42" fmla="*/ 2147483647 w 337"/>
                <a:gd name="T43" fmla="*/ 2147483647 h 1587"/>
                <a:gd name="T44" fmla="*/ 2147483647 w 337"/>
                <a:gd name="T45" fmla="*/ 2147483647 h 1587"/>
                <a:gd name="T46" fmla="*/ 2147483647 w 337"/>
                <a:gd name="T47" fmla="*/ 2147483647 h 1587"/>
                <a:gd name="T48" fmla="*/ 2147483647 w 337"/>
                <a:gd name="T49" fmla="*/ 2147483647 h 1587"/>
                <a:gd name="T50" fmla="*/ 2147483647 w 337"/>
                <a:gd name="T51" fmla="*/ 2147483647 h 1587"/>
                <a:gd name="T52" fmla="*/ 2147483647 w 337"/>
                <a:gd name="T53" fmla="*/ 2147483647 h 1587"/>
                <a:gd name="T54" fmla="*/ 2147483647 w 337"/>
                <a:gd name="T55" fmla="*/ 2147483647 h 1587"/>
                <a:gd name="T56" fmla="*/ 2147483647 w 337"/>
                <a:gd name="T57" fmla="*/ 2147483647 h 1587"/>
                <a:gd name="T58" fmla="*/ 2147483647 w 337"/>
                <a:gd name="T59" fmla="*/ 2147483647 h 1587"/>
                <a:gd name="T60" fmla="*/ 2147483647 w 337"/>
                <a:gd name="T61" fmla="*/ 2147483647 h 1587"/>
                <a:gd name="T62" fmla="*/ 2147483647 w 337"/>
                <a:gd name="T63" fmla="*/ 2147483647 h 1587"/>
                <a:gd name="T64" fmla="*/ 2147483647 w 337"/>
                <a:gd name="T65" fmla="*/ 2147483647 h 1587"/>
                <a:gd name="T66" fmla="*/ 2147483647 w 337"/>
                <a:gd name="T67" fmla="*/ 2147483647 h 1587"/>
                <a:gd name="T68" fmla="*/ 2147483647 w 337"/>
                <a:gd name="T69" fmla="*/ 2147483647 h 1587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7"/>
                <a:gd name="T106" fmla="*/ 0 h 1587"/>
                <a:gd name="T107" fmla="*/ 337 w 337"/>
                <a:gd name="T108" fmla="*/ 1587 h 1587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7" h="1587">
                  <a:moveTo>
                    <a:pt x="336" y="0"/>
                  </a:moveTo>
                  <a:lnTo>
                    <a:pt x="303" y="5"/>
                  </a:lnTo>
                  <a:lnTo>
                    <a:pt x="270" y="10"/>
                  </a:lnTo>
                  <a:lnTo>
                    <a:pt x="240" y="23"/>
                  </a:lnTo>
                  <a:lnTo>
                    <a:pt x="218" y="42"/>
                  </a:lnTo>
                  <a:lnTo>
                    <a:pt x="196" y="60"/>
                  </a:lnTo>
                  <a:lnTo>
                    <a:pt x="181" y="83"/>
                  </a:lnTo>
                  <a:lnTo>
                    <a:pt x="170" y="106"/>
                  </a:lnTo>
                  <a:lnTo>
                    <a:pt x="166" y="134"/>
                  </a:lnTo>
                  <a:lnTo>
                    <a:pt x="166" y="659"/>
                  </a:lnTo>
                  <a:lnTo>
                    <a:pt x="163" y="687"/>
                  </a:lnTo>
                  <a:lnTo>
                    <a:pt x="155" y="710"/>
                  </a:lnTo>
                  <a:lnTo>
                    <a:pt x="137" y="733"/>
                  </a:lnTo>
                  <a:lnTo>
                    <a:pt x="118" y="756"/>
                  </a:lnTo>
                  <a:lnTo>
                    <a:pt x="93" y="770"/>
                  </a:lnTo>
                  <a:lnTo>
                    <a:pt x="67" y="784"/>
                  </a:lnTo>
                  <a:lnTo>
                    <a:pt x="34" y="789"/>
                  </a:lnTo>
                  <a:lnTo>
                    <a:pt x="0" y="793"/>
                  </a:lnTo>
                  <a:lnTo>
                    <a:pt x="34" y="798"/>
                  </a:lnTo>
                  <a:lnTo>
                    <a:pt x="67" y="802"/>
                  </a:lnTo>
                  <a:lnTo>
                    <a:pt x="93" y="816"/>
                  </a:lnTo>
                  <a:lnTo>
                    <a:pt x="118" y="835"/>
                  </a:lnTo>
                  <a:lnTo>
                    <a:pt x="137" y="853"/>
                  </a:lnTo>
                  <a:lnTo>
                    <a:pt x="155" y="876"/>
                  </a:lnTo>
                  <a:lnTo>
                    <a:pt x="163" y="899"/>
                  </a:lnTo>
                  <a:lnTo>
                    <a:pt x="166" y="927"/>
                  </a:lnTo>
                  <a:lnTo>
                    <a:pt x="166" y="1452"/>
                  </a:lnTo>
                  <a:lnTo>
                    <a:pt x="170" y="1480"/>
                  </a:lnTo>
                  <a:lnTo>
                    <a:pt x="181" y="1503"/>
                  </a:lnTo>
                  <a:lnTo>
                    <a:pt x="196" y="1526"/>
                  </a:lnTo>
                  <a:lnTo>
                    <a:pt x="218" y="1549"/>
                  </a:lnTo>
                  <a:lnTo>
                    <a:pt x="240" y="1563"/>
                  </a:lnTo>
                  <a:lnTo>
                    <a:pt x="270" y="1577"/>
                  </a:lnTo>
                  <a:lnTo>
                    <a:pt x="303" y="1581"/>
                  </a:lnTo>
                  <a:lnTo>
                    <a:pt x="336" y="1586"/>
                  </a:lnTo>
                </a:path>
              </a:pathLst>
            </a:custGeom>
            <a:noFill/>
            <a:ln w="25400" cap="rnd" cmpd="sng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18" name="Freeform 20"/>
            <p:cNvSpPr>
              <a:spLocks/>
            </p:cNvSpPr>
            <p:nvPr/>
          </p:nvSpPr>
          <p:spPr bwMode="auto">
            <a:xfrm>
              <a:off x="4114800" y="2209800"/>
              <a:ext cx="304800" cy="1606550"/>
            </a:xfrm>
            <a:custGeom>
              <a:avLst/>
              <a:gdLst>
                <a:gd name="T0" fmla="*/ 0 w 196"/>
                <a:gd name="T1" fmla="*/ 0 h 1012"/>
                <a:gd name="T2" fmla="*/ 2147483647 w 196"/>
                <a:gd name="T3" fmla="*/ 2147483647 h 1012"/>
                <a:gd name="T4" fmla="*/ 2147483647 w 196"/>
                <a:gd name="T5" fmla="*/ 2147483647 h 1012"/>
                <a:gd name="T6" fmla="*/ 2147483647 w 196"/>
                <a:gd name="T7" fmla="*/ 2147483647 h 1012"/>
                <a:gd name="T8" fmla="*/ 2147483647 w 196"/>
                <a:gd name="T9" fmla="*/ 2147483647 h 1012"/>
                <a:gd name="T10" fmla="*/ 2147483647 w 196"/>
                <a:gd name="T11" fmla="*/ 2147483647 h 1012"/>
                <a:gd name="T12" fmla="*/ 2147483647 w 196"/>
                <a:gd name="T13" fmla="*/ 2147483647 h 1012"/>
                <a:gd name="T14" fmla="*/ 2147483647 w 196"/>
                <a:gd name="T15" fmla="*/ 2147483647 h 1012"/>
                <a:gd name="T16" fmla="*/ 2147483647 w 196"/>
                <a:gd name="T17" fmla="*/ 2147483647 h 1012"/>
                <a:gd name="T18" fmla="*/ 2147483647 w 196"/>
                <a:gd name="T19" fmla="*/ 2147483647 h 1012"/>
                <a:gd name="T20" fmla="*/ 2147483647 w 196"/>
                <a:gd name="T21" fmla="*/ 2147483647 h 1012"/>
                <a:gd name="T22" fmla="*/ 2147483647 w 196"/>
                <a:gd name="T23" fmla="*/ 2147483647 h 1012"/>
                <a:gd name="T24" fmla="*/ 2147483647 w 196"/>
                <a:gd name="T25" fmla="*/ 2147483647 h 1012"/>
                <a:gd name="T26" fmla="*/ 2147483647 w 196"/>
                <a:gd name="T27" fmla="*/ 2147483647 h 1012"/>
                <a:gd name="T28" fmla="*/ 2147483647 w 196"/>
                <a:gd name="T29" fmla="*/ 2147483647 h 1012"/>
                <a:gd name="T30" fmla="*/ 2147483647 w 196"/>
                <a:gd name="T31" fmla="*/ 2147483647 h 1012"/>
                <a:gd name="T32" fmla="*/ 2147483647 w 196"/>
                <a:gd name="T33" fmla="*/ 2147483647 h 1012"/>
                <a:gd name="T34" fmla="*/ 2147483647 w 196"/>
                <a:gd name="T35" fmla="*/ 2147483647 h 1012"/>
                <a:gd name="T36" fmla="*/ 2147483647 w 196"/>
                <a:gd name="T37" fmla="*/ 2147483647 h 1012"/>
                <a:gd name="T38" fmla="*/ 2147483647 w 196"/>
                <a:gd name="T39" fmla="*/ 2147483647 h 1012"/>
                <a:gd name="T40" fmla="*/ 0 w 196"/>
                <a:gd name="T41" fmla="*/ 2147483647 h 101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196"/>
                <a:gd name="T64" fmla="*/ 0 h 1012"/>
                <a:gd name="T65" fmla="*/ 196 w 196"/>
                <a:gd name="T66" fmla="*/ 1012 h 101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196" h="1012">
                  <a:moveTo>
                    <a:pt x="0" y="0"/>
                  </a:moveTo>
                  <a:lnTo>
                    <a:pt x="18" y="4"/>
                  </a:lnTo>
                  <a:lnTo>
                    <a:pt x="41" y="8"/>
                  </a:lnTo>
                  <a:lnTo>
                    <a:pt x="73" y="26"/>
                  </a:lnTo>
                  <a:lnTo>
                    <a:pt x="91" y="52"/>
                  </a:lnTo>
                  <a:lnTo>
                    <a:pt x="100" y="85"/>
                  </a:lnTo>
                  <a:lnTo>
                    <a:pt x="100" y="421"/>
                  </a:lnTo>
                  <a:lnTo>
                    <a:pt x="109" y="454"/>
                  </a:lnTo>
                  <a:lnTo>
                    <a:pt x="127" y="480"/>
                  </a:lnTo>
                  <a:lnTo>
                    <a:pt x="159" y="498"/>
                  </a:lnTo>
                  <a:lnTo>
                    <a:pt x="195" y="506"/>
                  </a:lnTo>
                  <a:lnTo>
                    <a:pt x="159" y="513"/>
                  </a:lnTo>
                  <a:lnTo>
                    <a:pt x="127" y="532"/>
                  </a:lnTo>
                  <a:lnTo>
                    <a:pt x="109" y="557"/>
                  </a:lnTo>
                  <a:lnTo>
                    <a:pt x="100" y="591"/>
                  </a:lnTo>
                  <a:lnTo>
                    <a:pt x="100" y="926"/>
                  </a:lnTo>
                  <a:lnTo>
                    <a:pt x="91" y="959"/>
                  </a:lnTo>
                  <a:lnTo>
                    <a:pt x="73" y="985"/>
                  </a:lnTo>
                  <a:lnTo>
                    <a:pt x="41" y="1004"/>
                  </a:lnTo>
                  <a:lnTo>
                    <a:pt x="18" y="1011"/>
                  </a:lnTo>
                  <a:lnTo>
                    <a:pt x="0" y="1011"/>
                  </a:lnTo>
                </a:path>
              </a:pathLst>
            </a:custGeom>
            <a:noFill/>
            <a:ln w="25400" cap="rnd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21" name="Freeform 23"/>
            <p:cNvSpPr>
              <a:spLocks/>
            </p:cNvSpPr>
            <p:nvPr/>
          </p:nvSpPr>
          <p:spPr bwMode="auto">
            <a:xfrm>
              <a:off x="4114800" y="3962400"/>
              <a:ext cx="228600" cy="765175"/>
            </a:xfrm>
            <a:custGeom>
              <a:avLst/>
              <a:gdLst>
                <a:gd name="T0" fmla="*/ 0 w 144"/>
                <a:gd name="T1" fmla="*/ 0 h 577"/>
                <a:gd name="T2" fmla="*/ 2147483647 w 144"/>
                <a:gd name="T3" fmla="*/ 2147483647 h 577"/>
                <a:gd name="T4" fmla="*/ 2147483647 w 144"/>
                <a:gd name="T5" fmla="*/ 2147483647 h 577"/>
                <a:gd name="T6" fmla="*/ 2147483647 w 144"/>
                <a:gd name="T7" fmla="*/ 2147483647 h 577"/>
                <a:gd name="T8" fmla="*/ 2147483647 w 144"/>
                <a:gd name="T9" fmla="*/ 2147483647 h 577"/>
                <a:gd name="T10" fmla="*/ 2147483647 w 144"/>
                <a:gd name="T11" fmla="*/ 2147483647 h 577"/>
                <a:gd name="T12" fmla="*/ 2147483647 w 144"/>
                <a:gd name="T13" fmla="*/ 2147483647 h 577"/>
                <a:gd name="T14" fmla="*/ 2147483647 w 144"/>
                <a:gd name="T15" fmla="*/ 2147483647 h 577"/>
                <a:gd name="T16" fmla="*/ 2147483647 w 144"/>
                <a:gd name="T17" fmla="*/ 2147483647 h 577"/>
                <a:gd name="T18" fmla="*/ 2147483647 w 144"/>
                <a:gd name="T19" fmla="*/ 2147483647 h 577"/>
                <a:gd name="T20" fmla="*/ 2147483647 w 144"/>
                <a:gd name="T21" fmla="*/ 2147483647 h 577"/>
                <a:gd name="T22" fmla="*/ 2147483647 w 144"/>
                <a:gd name="T23" fmla="*/ 2147483647 h 577"/>
                <a:gd name="T24" fmla="*/ 2147483647 w 144"/>
                <a:gd name="T25" fmla="*/ 2147483647 h 577"/>
                <a:gd name="T26" fmla="*/ 2147483647 w 144"/>
                <a:gd name="T27" fmla="*/ 2147483647 h 577"/>
                <a:gd name="T28" fmla="*/ 2147483647 w 144"/>
                <a:gd name="T29" fmla="*/ 2147483647 h 577"/>
                <a:gd name="T30" fmla="*/ 2147483647 w 144"/>
                <a:gd name="T31" fmla="*/ 2147483647 h 577"/>
                <a:gd name="T32" fmla="*/ 2147483647 w 144"/>
                <a:gd name="T33" fmla="*/ 2147483647 h 577"/>
                <a:gd name="T34" fmla="*/ 2147483647 w 144"/>
                <a:gd name="T35" fmla="*/ 2147483647 h 577"/>
                <a:gd name="T36" fmla="*/ 0 w 144"/>
                <a:gd name="T37" fmla="*/ 2147483647 h 57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144"/>
                <a:gd name="T58" fmla="*/ 0 h 577"/>
                <a:gd name="T59" fmla="*/ 144 w 144"/>
                <a:gd name="T60" fmla="*/ 577 h 57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144" h="577">
                  <a:moveTo>
                    <a:pt x="0" y="0"/>
                  </a:moveTo>
                  <a:lnTo>
                    <a:pt x="28" y="4"/>
                  </a:lnTo>
                  <a:lnTo>
                    <a:pt x="51" y="14"/>
                  </a:lnTo>
                  <a:lnTo>
                    <a:pt x="65" y="27"/>
                  </a:lnTo>
                  <a:lnTo>
                    <a:pt x="69" y="46"/>
                  </a:lnTo>
                  <a:lnTo>
                    <a:pt x="69" y="239"/>
                  </a:lnTo>
                  <a:lnTo>
                    <a:pt x="74" y="258"/>
                  </a:lnTo>
                  <a:lnTo>
                    <a:pt x="92" y="272"/>
                  </a:lnTo>
                  <a:lnTo>
                    <a:pt x="115" y="281"/>
                  </a:lnTo>
                  <a:lnTo>
                    <a:pt x="143" y="286"/>
                  </a:lnTo>
                  <a:lnTo>
                    <a:pt x="115" y="290"/>
                  </a:lnTo>
                  <a:lnTo>
                    <a:pt x="92" y="299"/>
                  </a:lnTo>
                  <a:lnTo>
                    <a:pt x="74" y="318"/>
                  </a:lnTo>
                  <a:lnTo>
                    <a:pt x="69" y="336"/>
                  </a:lnTo>
                  <a:lnTo>
                    <a:pt x="69" y="525"/>
                  </a:lnTo>
                  <a:lnTo>
                    <a:pt x="65" y="544"/>
                  </a:lnTo>
                  <a:lnTo>
                    <a:pt x="51" y="562"/>
                  </a:lnTo>
                  <a:lnTo>
                    <a:pt x="28" y="571"/>
                  </a:lnTo>
                  <a:lnTo>
                    <a:pt x="0" y="576"/>
                  </a:lnTo>
                </a:path>
              </a:pathLst>
            </a:custGeom>
            <a:noFill/>
            <a:ln w="25400" cap="rnd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24" name="Line 26"/>
            <p:cNvSpPr>
              <a:spLocks noChangeShapeType="1"/>
            </p:cNvSpPr>
            <p:nvPr/>
          </p:nvSpPr>
          <p:spPr bwMode="auto">
            <a:xfrm>
              <a:off x="3962400" y="4748213"/>
              <a:ext cx="0" cy="12525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9729" name="Rectangle 31"/>
            <p:cNvSpPr>
              <a:spLocks noChangeArrowheads="1"/>
            </p:cNvSpPr>
            <p:nvPr/>
          </p:nvSpPr>
          <p:spPr bwMode="auto">
            <a:xfrm>
              <a:off x="7543800" y="2286000"/>
              <a:ext cx="324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2400" i="1" dirty="0">
                  <a:solidFill>
                    <a:schemeClr val="hlink"/>
                  </a:solidFill>
                  <a:latin typeface="+mn-lt"/>
                </a:rPr>
                <a:t>y</a:t>
              </a:r>
            </a:p>
          </p:txBody>
        </p:sp>
        <p:sp>
          <p:nvSpPr>
            <p:cNvPr id="29732" name="Line 34"/>
            <p:cNvSpPr>
              <a:spLocks noChangeShapeType="1"/>
            </p:cNvSpPr>
            <p:nvPr/>
          </p:nvSpPr>
          <p:spPr bwMode="auto">
            <a:xfrm flipH="1">
              <a:off x="685800" y="3962400"/>
              <a:ext cx="327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graphicFrame>
          <p:nvGraphicFramePr>
            <p:cNvPr id="40" name="Object 39"/>
            <p:cNvGraphicFramePr>
              <a:graphicFrameLocks noChangeAspect="1"/>
            </p:cNvGraphicFramePr>
            <p:nvPr/>
          </p:nvGraphicFramePr>
          <p:xfrm>
            <a:off x="838200" y="3200400"/>
            <a:ext cx="245364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168200" imgH="253800" progId="Equation.3">
                    <p:embed/>
                  </p:oleObj>
                </mc:Choice>
                <mc:Fallback>
                  <p:oleObj name="Equation" r:id="rId2" imgW="1168200" imgH="2538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200" y="3200400"/>
                          <a:ext cx="245364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7" name="Object 3"/>
            <p:cNvGraphicFramePr>
              <a:graphicFrameLocks noChangeAspect="1"/>
            </p:cNvGraphicFramePr>
            <p:nvPr/>
          </p:nvGraphicFramePr>
          <p:xfrm>
            <a:off x="4343400" y="2438400"/>
            <a:ext cx="2454275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68200" imgH="253800" progId="Equation.3">
                    <p:embed/>
                  </p:oleObj>
                </mc:Choice>
                <mc:Fallback>
                  <p:oleObj name="Equation" r:id="rId4" imgW="1168200" imgH="25380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400" y="2438400"/>
                          <a:ext cx="2454275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28" name="Object 4"/>
            <p:cNvGraphicFramePr>
              <a:graphicFrameLocks noChangeAspect="1"/>
            </p:cNvGraphicFramePr>
            <p:nvPr/>
          </p:nvGraphicFramePr>
          <p:xfrm>
            <a:off x="4370388" y="4114800"/>
            <a:ext cx="24003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3000" imgH="253800" progId="Equation.3">
                    <p:embed/>
                  </p:oleObj>
                </mc:Choice>
                <mc:Fallback>
                  <p:oleObj name="Equation" r:id="rId6" imgW="1143000" imgH="2538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0388" y="4114800"/>
                          <a:ext cx="2400300" cy="533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3" name="Object 42"/>
            <p:cNvGraphicFramePr>
              <a:graphicFrameLocks noChangeAspect="1"/>
            </p:cNvGraphicFramePr>
            <p:nvPr/>
          </p:nvGraphicFramePr>
          <p:xfrm>
            <a:off x="228600" y="1981200"/>
            <a:ext cx="4572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4880" imgH="228600" progId="Equation.3">
                    <p:embed/>
                  </p:oleObj>
                </mc:Choice>
                <mc:Fallback>
                  <p:oleObj name="Equation" r:id="rId8" imgW="164880" imgH="22860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1981200"/>
                          <a:ext cx="457200" cy="4572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0" name="Object 6"/>
            <p:cNvGraphicFramePr>
              <a:graphicFrameLocks noChangeAspect="1"/>
            </p:cNvGraphicFramePr>
            <p:nvPr/>
          </p:nvGraphicFramePr>
          <p:xfrm>
            <a:off x="263525" y="3683000"/>
            <a:ext cx="38735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39680" imgH="203040" progId="Equation.3">
                    <p:embed/>
                  </p:oleObj>
                </mc:Choice>
                <mc:Fallback>
                  <p:oleObj name="Equation" r:id="rId10" imgW="139680" imgH="2030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525" y="3683000"/>
                          <a:ext cx="387350" cy="4064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631" name="Object 7"/>
            <p:cNvGraphicFramePr>
              <a:graphicFrameLocks noChangeAspect="1"/>
            </p:cNvGraphicFramePr>
            <p:nvPr/>
          </p:nvGraphicFramePr>
          <p:xfrm>
            <a:off x="263525" y="4495800"/>
            <a:ext cx="38735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39680" imgH="190440" progId="Equation.3">
                    <p:embed/>
                  </p:oleObj>
                </mc:Choice>
                <mc:Fallback>
                  <p:oleObj name="Equation" r:id="rId12" imgW="139680" imgH="1904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3525" y="4495800"/>
                          <a:ext cx="387350" cy="381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A5D75BA-1D3E-6545-957D-9EDA114BDBB9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33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057401" y="1828800"/>
            <a:ext cx="8077199" cy="4191000"/>
          </a:xfrm>
        </p:spPr>
        <p:txBody>
          <a:bodyPr/>
          <a:lstStyle/>
          <a:p>
            <a:pPr marL="320675" indent="-320675" algn="just" defTabSz="852488" eaLnBrk="1" hangingPunct="1"/>
            <a:r>
              <a:rPr lang="en-US" sz="2800" dirty="0"/>
              <a:t>The </a:t>
            </a:r>
            <a:r>
              <a:rPr lang="en-US" sz="2800" dirty="0">
                <a:solidFill>
                  <a:srgbClr val="C00000"/>
                </a:solidFill>
              </a:rPr>
              <a:t>coefficient of determination </a:t>
            </a:r>
            <a:r>
              <a:rPr lang="en-US" sz="2800" dirty="0"/>
              <a:t>is the portion of the total variation in the dependent variable that is explained by variation in the independent variable</a:t>
            </a:r>
          </a:p>
          <a:p>
            <a:pPr marL="320675" indent="-320675" algn="just" defTabSz="852488" eaLnBrk="1" hangingPunct="1"/>
            <a:endParaRPr lang="en-US" sz="1600" dirty="0"/>
          </a:p>
          <a:p>
            <a:pPr marL="320675" indent="-320675" algn="just" defTabSz="852488" eaLnBrk="1" hangingPunct="1"/>
            <a:r>
              <a:rPr lang="en-US" sz="2800" dirty="0"/>
              <a:t>The coefficient of determination is also called </a:t>
            </a:r>
            <a:r>
              <a:rPr lang="en-US" sz="2800" dirty="0">
                <a:solidFill>
                  <a:srgbClr val="C00000"/>
                </a:solidFill>
              </a:rPr>
              <a:t>R-squared</a:t>
            </a:r>
            <a:r>
              <a:rPr lang="en-US" sz="2800" dirty="0"/>
              <a:t> and is denoted as </a:t>
            </a:r>
            <a:r>
              <a:rPr lang="en-US" sz="2800" dirty="0">
                <a:solidFill>
                  <a:srgbClr val="C00000"/>
                </a:solidFill>
              </a:rPr>
              <a:t>R</a:t>
            </a:r>
            <a:r>
              <a:rPr lang="en-US" sz="2800" baseline="30000" dirty="0">
                <a:solidFill>
                  <a:srgbClr val="C00000"/>
                </a:solidFill>
              </a:rPr>
              <a:t>2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title"/>
          </p:nvPr>
        </p:nvSpPr>
        <p:spPr>
          <a:xfrm>
            <a:off x="3733800" y="228600"/>
            <a:ext cx="6705600" cy="12192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400" dirty="0">
                <a:latin typeface="+mn-lt"/>
              </a:rPr>
              <a:t>Coefficient of Determination, </a:t>
            </a:r>
            <a:r>
              <a:rPr lang="en-US" sz="4400" i="1" dirty="0">
                <a:latin typeface="+mn-lt"/>
              </a:rPr>
              <a:t>R</a:t>
            </a:r>
            <a:r>
              <a:rPr lang="en-US" sz="4400" i="1" baseline="30000" dirty="0">
                <a:latin typeface="+mn-lt"/>
              </a:rPr>
              <a:t>2</a:t>
            </a:r>
          </a:p>
        </p:txBody>
      </p:sp>
      <p:graphicFrame>
        <p:nvGraphicFramePr>
          <p:cNvPr id="30726" name="Object 4"/>
          <p:cNvGraphicFramePr>
            <a:graphicFrameLocks noChangeAspect="1"/>
          </p:cNvGraphicFramePr>
          <p:nvPr/>
        </p:nvGraphicFramePr>
        <p:xfrm>
          <a:off x="3810000" y="4705350"/>
          <a:ext cx="1968500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393529" progId="Equation.3">
                  <p:embed/>
                </p:oleObj>
              </mc:Choice>
              <mc:Fallback>
                <p:oleObj name="Equation" r:id="rId2" imgW="710891" imgH="393529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705350"/>
                        <a:ext cx="1968500" cy="10858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5"/>
          <p:cNvGraphicFramePr>
            <a:graphicFrameLocks noChangeAspect="1"/>
          </p:cNvGraphicFramePr>
          <p:nvPr/>
        </p:nvGraphicFramePr>
        <p:xfrm>
          <a:off x="7239000" y="5086350"/>
          <a:ext cx="16764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203112" progId="Equation.3">
                  <p:embed/>
                </p:oleObj>
              </mc:Choice>
              <mc:Fallback>
                <p:oleObj name="Equation" r:id="rId4" imgW="672808" imgH="203112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086350"/>
                        <a:ext cx="1676400" cy="503238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Text Box 6"/>
          <p:cNvSpPr txBox="1">
            <a:spLocks noChangeArrowheads="1"/>
          </p:cNvSpPr>
          <p:nvPr/>
        </p:nvSpPr>
        <p:spPr bwMode="auto">
          <a:xfrm>
            <a:off x="6096000" y="508635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atin typeface="+mn-lt"/>
              </a:rPr>
              <a:t>where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44D90273-A98A-4C4C-80DB-2BAFE75845E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136776" y="1828800"/>
            <a:ext cx="7840663" cy="4191000"/>
          </a:xfrm>
        </p:spPr>
        <p:txBody>
          <a:bodyPr/>
          <a:lstStyle/>
          <a:p>
            <a:pPr marL="320675" indent="-320675" defTabSz="852488" eaLnBrk="1" hangingPunct="1">
              <a:buNone/>
            </a:pPr>
            <a:r>
              <a:rPr lang="en-US" sz="2800" b="1" dirty="0">
                <a:solidFill>
                  <a:srgbClr val="C00000"/>
                </a:solidFill>
              </a:rPr>
              <a:t>Coefficient of determination</a:t>
            </a:r>
            <a:r>
              <a:rPr lang="en-US" sz="2800" dirty="0">
                <a:solidFill>
                  <a:srgbClr val="C00000"/>
                </a:solidFill>
              </a:rPr>
              <a:t> </a:t>
            </a:r>
          </a:p>
        </p:txBody>
      </p:sp>
      <p:graphicFrame>
        <p:nvGraphicFramePr>
          <p:cNvPr id="31750" name="Object 4"/>
          <p:cNvGraphicFramePr>
            <a:graphicFrameLocks noChangeAspect="1"/>
          </p:cNvGraphicFramePr>
          <p:nvPr/>
        </p:nvGraphicFramePr>
        <p:xfrm>
          <a:off x="2733676" y="2590800"/>
          <a:ext cx="6951663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00400" imgH="419040" progId="Equation.3">
                  <p:embed/>
                </p:oleObj>
              </mc:Choice>
              <mc:Fallback>
                <p:oleObj name="Equation" r:id="rId2" imgW="3200400" imgH="4190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3676" y="2590800"/>
                        <a:ext cx="6951663" cy="9017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2362200" y="3810001"/>
            <a:ext cx="7315200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/>
            <a:r>
              <a:rPr lang="en-US" sz="2400" dirty="0">
                <a:latin typeface="+mn-lt"/>
              </a:rPr>
              <a:t>Note:  In the single independent variable case, the coefficient of determination is</a:t>
            </a:r>
          </a:p>
          <a:p>
            <a:pPr algn="just" eaLnBrk="1" hangingPunct="1"/>
            <a:endParaRPr lang="en-US" sz="2000" dirty="0">
              <a:latin typeface="+mn-lt"/>
            </a:endParaRPr>
          </a:p>
          <a:p>
            <a:pPr algn="just" eaLnBrk="1" hangingPunct="1"/>
            <a:endParaRPr lang="en-US" sz="2000" dirty="0">
              <a:latin typeface="+mn-lt"/>
            </a:endParaRPr>
          </a:p>
          <a:p>
            <a:pPr algn="just" eaLnBrk="1" hangingPunct="1"/>
            <a:r>
              <a:rPr lang="en-US" sz="2400" dirty="0">
                <a:latin typeface="+mn-lt"/>
              </a:rPr>
              <a:t>	where:</a:t>
            </a:r>
          </a:p>
          <a:p>
            <a:pPr algn="just" eaLnBrk="1" hangingPunct="1"/>
            <a:r>
              <a:rPr lang="en-US" sz="2400" dirty="0">
                <a:latin typeface="+mn-lt"/>
              </a:rPr>
              <a:t>		</a:t>
            </a:r>
            <a:r>
              <a:rPr lang="en-US" sz="2400" i="1" dirty="0">
                <a:latin typeface="+mn-lt"/>
              </a:rPr>
              <a:t>R</a:t>
            </a:r>
            <a:r>
              <a:rPr lang="en-US" sz="2400" i="1" baseline="30000" dirty="0">
                <a:latin typeface="+mn-lt"/>
              </a:rPr>
              <a:t>2</a:t>
            </a:r>
            <a:r>
              <a:rPr lang="en-US" sz="2400" dirty="0">
                <a:latin typeface="+mn-lt"/>
              </a:rPr>
              <a:t> = Coefficient of determination</a:t>
            </a:r>
          </a:p>
          <a:p>
            <a:pPr algn="just" eaLnBrk="1" hangingPunct="1"/>
            <a:r>
              <a:rPr lang="en-US" sz="2400" dirty="0">
                <a:latin typeface="+mn-lt"/>
              </a:rPr>
              <a:t>	 	</a:t>
            </a:r>
            <a:r>
              <a:rPr lang="en-US" sz="2400" i="1" dirty="0">
                <a:latin typeface="+mn-lt"/>
              </a:rPr>
              <a:t>r</a:t>
            </a:r>
            <a:r>
              <a:rPr lang="en-US" sz="2400" dirty="0">
                <a:latin typeface="+mn-lt"/>
              </a:rPr>
              <a:t> = Simple correlation coefficient</a:t>
            </a:r>
          </a:p>
        </p:txBody>
      </p:sp>
      <p:graphicFrame>
        <p:nvGraphicFramePr>
          <p:cNvPr id="31752" name="Object 7"/>
          <p:cNvGraphicFramePr>
            <a:graphicFrameLocks noChangeAspect="1"/>
          </p:cNvGraphicFramePr>
          <p:nvPr/>
        </p:nvGraphicFramePr>
        <p:xfrm>
          <a:off x="5715000" y="4727576"/>
          <a:ext cx="13716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085" imgH="190417" progId="Equation.3">
                  <p:embed/>
                </p:oleObj>
              </mc:Choice>
              <mc:Fallback>
                <p:oleObj name="Equation" r:id="rId4" imgW="495085" imgH="190417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727576"/>
                        <a:ext cx="1371600" cy="5302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3733800" y="228600"/>
            <a:ext cx="6705600" cy="12192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z="4400" dirty="0">
                <a:latin typeface="+mn-lt"/>
              </a:rPr>
              <a:t>Coefficient of Determination, </a:t>
            </a:r>
            <a:r>
              <a:rPr lang="en-US" sz="4400" i="1" dirty="0">
                <a:latin typeface="+mn-lt"/>
              </a:rPr>
              <a:t>R</a:t>
            </a:r>
            <a:r>
              <a:rPr lang="en-US" sz="4400" i="1" baseline="30000" dirty="0">
                <a:latin typeface="+mn-lt"/>
              </a:rP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7085890-769F-C349-A4D5-DA73131A5279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277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6497638" cy="11430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Examples of Approximate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R</a:t>
            </a:r>
            <a:r>
              <a:rPr lang="en-US" sz="4400" i="1" baseline="30000" dirty="0">
                <a:latin typeface="+mn-lt"/>
              </a:rPr>
              <a:t>2</a:t>
            </a:r>
            <a:r>
              <a:rPr lang="en-US" sz="4400" dirty="0">
                <a:latin typeface="+mn-lt"/>
              </a:rPr>
              <a:t>  Values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2133601" y="1676401"/>
            <a:ext cx="4533045" cy="4755495"/>
            <a:chOff x="609600" y="1760538"/>
            <a:chExt cx="4533045" cy="4755495"/>
          </a:xfrm>
        </p:grpSpPr>
        <p:sp>
          <p:nvSpPr>
            <p:cNvPr id="32772" name="Text Box 2"/>
            <p:cNvSpPr txBox="1">
              <a:spLocks noChangeArrowheads="1"/>
            </p:cNvSpPr>
            <p:nvPr/>
          </p:nvSpPr>
          <p:spPr bwMode="auto">
            <a:xfrm>
              <a:off x="1614488" y="5992813"/>
              <a:ext cx="1207382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= +1</a:t>
              </a:r>
            </a:p>
          </p:txBody>
        </p:sp>
        <p:sp>
          <p:nvSpPr>
            <p:cNvPr id="32774" name="Line 4"/>
            <p:cNvSpPr>
              <a:spLocks noChangeShapeType="1"/>
            </p:cNvSpPr>
            <p:nvPr/>
          </p:nvSpPr>
          <p:spPr bwMode="auto">
            <a:xfrm flipH="1">
              <a:off x="931863" y="2295525"/>
              <a:ext cx="0" cy="152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75" name="Line 5"/>
            <p:cNvSpPr>
              <a:spLocks noChangeShapeType="1"/>
            </p:cNvSpPr>
            <p:nvPr/>
          </p:nvSpPr>
          <p:spPr bwMode="auto">
            <a:xfrm flipH="1" flipV="1">
              <a:off x="947738" y="2447925"/>
              <a:ext cx="2574925" cy="914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76" name="Oval 6"/>
            <p:cNvSpPr>
              <a:spLocks noChangeArrowheads="1"/>
            </p:cNvSpPr>
            <p:nvPr/>
          </p:nvSpPr>
          <p:spPr bwMode="auto">
            <a:xfrm rot="7282380" flipH="1">
              <a:off x="3065463" y="31337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77" name="Oval 7"/>
            <p:cNvSpPr>
              <a:spLocks noChangeArrowheads="1"/>
            </p:cNvSpPr>
            <p:nvPr/>
          </p:nvSpPr>
          <p:spPr bwMode="auto">
            <a:xfrm rot="7282380" flipH="1">
              <a:off x="2455863" y="29051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78" name="Oval 8"/>
            <p:cNvSpPr>
              <a:spLocks noChangeArrowheads="1"/>
            </p:cNvSpPr>
            <p:nvPr/>
          </p:nvSpPr>
          <p:spPr bwMode="auto">
            <a:xfrm rot="7282380" flipH="1">
              <a:off x="1998663" y="27527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79" name="Oval 9"/>
            <p:cNvSpPr>
              <a:spLocks noChangeArrowheads="1"/>
            </p:cNvSpPr>
            <p:nvPr/>
          </p:nvSpPr>
          <p:spPr bwMode="auto">
            <a:xfrm rot="7282380" flipH="1">
              <a:off x="1008063" y="23717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80" name="Oval 10"/>
            <p:cNvSpPr>
              <a:spLocks noChangeArrowheads="1"/>
            </p:cNvSpPr>
            <p:nvPr/>
          </p:nvSpPr>
          <p:spPr bwMode="auto">
            <a:xfrm rot="7282380" flipH="1">
              <a:off x="1389063" y="25241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81" name="Oval 11"/>
            <p:cNvSpPr>
              <a:spLocks noChangeArrowheads="1"/>
            </p:cNvSpPr>
            <p:nvPr/>
          </p:nvSpPr>
          <p:spPr bwMode="auto">
            <a:xfrm rot="7282380" flipH="1">
              <a:off x="1770063" y="26765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/>
            <a:p>
              <a:pPr algn="ctr"/>
              <a:endParaRPr lang="en-US" sz="2000">
                <a:latin typeface="+mn-lt"/>
              </a:endParaRPr>
            </a:p>
          </p:txBody>
        </p:sp>
        <p:sp>
          <p:nvSpPr>
            <p:cNvPr id="32782" name="Text Box 12"/>
            <p:cNvSpPr txBox="1">
              <a:spLocks noChangeArrowheads="1"/>
            </p:cNvSpPr>
            <p:nvPr/>
          </p:nvSpPr>
          <p:spPr bwMode="auto">
            <a:xfrm>
              <a:off x="755650" y="1760538"/>
              <a:ext cx="346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y</a:t>
              </a:r>
            </a:p>
          </p:txBody>
        </p:sp>
        <p:sp>
          <p:nvSpPr>
            <p:cNvPr id="32783" name="Line 13"/>
            <p:cNvSpPr>
              <a:spLocks noChangeShapeType="1"/>
            </p:cNvSpPr>
            <p:nvPr/>
          </p:nvSpPr>
          <p:spPr bwMode="auto">
            <a:xfrm>
              <a:off x="931863" y="3819525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84" name="Oval 14"/>
            <p:cNvSpPr>
              <a:spLocks noChangeArrowheads="1"/>
            </p:cNvSpPr>
            <p:nvPr/>
          </p:nvSpPr>
          <p:spPr bwMode="auto">
            <a:xfrm rot="7282380" flipH="1">
              <a:off x="2684463" y="29813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85" name="Text Box 15"/>
            <p:cNvSpPr txBox="1">
              <a:spLocks noChangeArrowheads="1"/>
            </p:cNvSpPr>
            <p:nvPr/>
          </p:nvSpPr>
          <p:spPr bwMode="auto">
            <a:xfrm>
              <a:off x="3194050" y="3589338"/>
              <a:ext cx="340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>
                  <a:latin typeface="+mn-lt"/>
                </a:rPr>
                <a:t>x</a:t>
              </a:r>
            </a:p>
          </p:txBody>
        </p:sp>
        <p:sp>
          <p:nvSpPr>
            <p:cNvPr id="32786" name="Line 16"/>
            <p:cNvSpPr>
              <a:spLocks noChangeShapeType="1"/>
            </p:cNvSpPr>
            <p:nvPr/>
          </p:nvSpPr>
          <p:spPr bwMode="auto">
            <a:xfrm>
              <a:off x="938213" y="44958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87" name="Line 17"/>
            <p:cNvSpPr>
              <a:spLocks noChangeShapeType="1"/>
            </p:cNvSpPr>
            <p:nvPr/>
          </p:nvSpPr>
          <p:spPr bwMode="auto">
            <a:xfrm flipV="1">
              <a:off x="1090613" y="4800600"/>
              <a:ext cx="2667000" cy="7207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88" name="Text Box 18"/>
            <p:cNvSpPr txBox="1">
              <a:spLocks noChangeArrowheads="1"/>
            </p:cNvSpPr>
            <p:nvPr/>
          </p:nvSpPr>
          <p:spPr bwMode="auto">
            <a:xfrm>
              <a:off x="609600" y="4265613"/>
              <a:ext cx="346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y</a:t>
              </a:r>
            </a:p>
          </p:txBody>
        </p:sp>
        <p:sp>
          <p:nvSpPr>
            <p:cNvPr id="32789" name="Line 19"/>
            <p:cNvSpPr>
              <a:spLocks noChangeShapeType="1"/>
            </p:cNvSpPr>
            <p:nvPr/>
          </p:nvSpPr>
          <p:spPr bwMode="auto">
            <a:xfrm>
              <a:off x="938213" y="59436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2790" name="Oval 20"/>
            <p:cNvSpPr>
              <a:spLocks noChangeArrowheads="1"/>
            </p:cNvSpPr>
            <p:nvPr/>
          </p:nvSpPr>
          <p:spPr bwMode="auto">
            <a:xfrm rot="-7282380">
              <a:off x="1243013" y="5334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1" name="Text Box 21"/>
            <p:cNvSpPr txBox="1">
              <a:spLocks noChangeArrowheads="1"/>
            </p:cNvSpPr>
            <p:nvPr/>
          </p:nvSpPr>
          <p:spPr bwMode="auto">
            <a:xfrm>
              <a:off x="3200400" y="5789613"/>
              <a:ext cx="340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x</a:t>
              </a:r>
            </a:p>
          </p:txBody>
        </p:sp>
        <p:sp>
          <p:nvSpPr>
            <p:cNvPr id="32792" name="Text Box 22"/>
            <p:cNvSpPr txBox="1">
              <a:spLocks noChangeArrowheads="1"/>
            </p:cNvSpPr>
            <p:nvPr/>
          </p:nvSpPr>
          <p:spPr bwMode="auto">
            <a:xfrm>
              <a:off x="1600200" y="3886200"/>
              <a:ext cx="1027845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= 1</a:t>
              </a:r>
            </a:p>
          </p:txBody>
        </p:sp>
        <p:sp>
          <p:nvSpPr>
            <p:cNvPr id="32793" name="Oval 23"/>
            <p:cNvSpPr>
              <a:spLocks noChangeArrowheads="1"/>
            </p:cNvSpPr>
            <p:nvPr/>
          </p:nvSpPr>
          <p:spPr bwMode="auto">
            <a:xfrm rot="-7282380">
              <a:off x="1547813" y="5257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4" name="Oval 24"/>
            <p:cNvSpPr>
              <a:spLocks noChangeArrowheads="1"/>
            </p:cNvSpPr>
            <p:nvPr/>
          </p:nvSpPr>
          <p:spPr bwMode="auto">
            <a:xfrm rot="-7282380">
              <a:off x="1852613" y="5181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5" name="Oval 25"/>
            <p:cNvSpPr>
              <a:spLocks noChangeArrowheads="1"/>
            </p:cNvSpPr>
            <p:nvPr/>
          </p:nvSpPr>
          <p:spPr bwMode="auto">
            <a:xfrm rot="-7282380">
              <a:off x="2157413" y="5105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6" name="Oval 26"/>
            <p:cNvSpPr>
              <a:spLocks noChangeArrowheads="1"/>
            </p:cNvSpPr>
            <p:nvPr/>
          </p:nvSpPr>
          <p:spPr bwMode="auto">
            <a:xfrm rot="-7282380">
              <a:off x="2614613" y="4953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7" name="Oval 27"/>
            <p:cNvSpPr>
              <a:spLocks noChangeArrowheads="1"/>
            </p:cNvSpPr>
            <p:nvPr/>
          </p:nvSpPr>
          <p:spPr bwMode="auto">
            <a:xfrm rot="-7282380">
              <a:off x="2919413" y="4876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8" name="Oval 28"/>
            <p:cNvSpPr>
              <a:spLocks noChangeArrowheads="1"/>
            </p:cNvSpPr>
            <p:nvPr/>
          </p:nvSpPr>
          <p:spPr bwMode="auto">
            <a:xfrm rot="-7282380">
              <a:off x="3452813" y="4724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2799" name="Text Box 29"/>
            <p:cNvSpPr txBox="1">
              <a:spLocks noChangeArrowheads="1"/>
            </p:cNvSpPr>
            <p:nvPr/>
          </p:nvSpPr>
          <p:spPr bwMode="auto">
            <a:xfrm>
              <a:off x="4114800" y="2286000"/>
              <a:ext cx="1027845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= 1</a:t>
              </a:r>
            </a:p>
          </p:txBody>
        </p:sp>
      </p:grpSp>
      <p:sp>
        <p:nvSpPr>
          <p:cNvPr id="32800" name="Text Box 30"/>
          <p:cNvSpPr txBox="1">
            <a:spLocks noChangeArrowheads="1"/>
          </p:cNvSpPr>
          <p:nvPr/>
        </p:nvSpPr>
        <p:spPr bwMode="auto">
          <a:xfrm>
            <a:off x="5638800" y="3048001"/>
            <a:ext cx="4191000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800" dirty="0">
                <a:latin typeface="+mn-lt"/>
              </a:rPr>
              <a:t>Perfect linear relationship between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 and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:  </a:t>
            </a:r>
          </a:p>
          <a:p>
            <a:pPr algn="just"/>
            <a:endParaRPr lang="en-US" sz="2800" dirty="0">
              <a:latin typeface="+mn-lt"/>
            </a:endParaRPr>
          </a:p>
          <a:p>
            <a:pPr algn="just"/>
            <a:r>
              <a:rPr lang="en-US" sz="2800" dirty="0">
                <a:latin typeface="+mn-lt"/>
              </a:rPr>
              <a:t>100% of the variation in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 is explained by variation in </a:t>
            </a:r>
            <a:r>
              <a:rPr lang="en-US" sz="2800" i="1" dirty="0">
                <a:latin typeface="+mn-lt"/>
              </a:rPr>
              <a:t>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B1060884-33D2-7E4F-B150-57C61E069548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457200"/>
            <a:ext cx="6573838" cy="11430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Examples of Approximate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R</a:t>
            </a:r>
            <a:r>
              <a:rPr lang="en-US" sz="4400" i="1" baseline="30000" dirty="0">
                <a:latin typeface="+mn-lt"/>
              </a:rPr>
              <a:t>2</a:t>
            </a:r>
            <a:r>
              <a:rPr lang="en-US" sz="4400" dirty="0">
                <a:latin typeface="+mn-lt"/>
              </a:rPr>
              <a:t>  Values</a:t>
            </a:r>
          </a:p>
        </p:txBody>
      </p:sp>
      <p:sp>
        <p:nvSpPr>
          <p:cNvPr id="33813" name="Text Box 19"/>
          <p:cNvSpPr txBox="1">
            <a:spLocks noChangeArrowheads="1"/>
          </p:cNvSpPr>
          <p:nvPr/>
        </p:nvSpPr>
        <p:spPr bwMode="auto">
          <a:xfrm>
            <a:off x="2332038" y="1743075"/>
            <a:ext cx="34657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2800" i="1" dirty="0">
                <a:latin typeface="+mn-lt"/>
              </a:rPr>
              <a:t>y</a:t>
            </a:r>
          </a:p>
        </p:txBody>
      </p:sp>
      <p:sp>
        <p:nvSpPr>
          <p:cNvPr id="33844" name="Text Box 50"/>
          <p:cNvSpPr txBox="1">
            <a:spLocks noChangeArrowheads="1"/>
          </p:cNvSpPr>
          <p:nvPr/>
        </p:nvSpPr>
        <p:spPr bwMode="auto">
          <a:xfrm>
            <a:off x="5638800" y="3048000"/>
            <a:ext cx="41910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800" dirty="0">
                <a:latin typeface="+mn-lt"/>
              </a:rPr>
              <a:t>Weaker linear relationship between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 and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:  </a:t>
            </a:r>
          </a:p>
          <a:p>
            <a:pPr algn="just"/>
            <a:endParaRPr lang="en-US" sz="2800" dirty="0">
              <a:latin typeface="+mn-lt"/>
            </a:endParaRPr>
          </a:p>
          <a:p>
            <a:pPr algn="just"/>
            <a:r>
              <a:rPr lang="en-US" sz="2800" dirty="0">
                <a:latin typeface="+mn-lt"/>
              </a:rPr>
              <a:t>Some but not all of the variation in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 is explained by variation in </a:t>
            </a:r>
            <a:r>
              <a:rPr lang="en-US" sz="2800" i="1" dirty="0">
                <a:latin typeface="+mn-lt"/>
              </a:rPr>
              <a:t>x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179638" y="2125663"/>
            <a:ext cx="5012792" cy="4331632"/>
            <a:chOff x="655638" y="2125663"/>
            <a:chExt cx="5012792" cy="4331632"/>
          </a:xfrm>
        </p:grpSpPr>
        <p:sp>
          <p:nvSpPr>
            <p:cNvPr id="33797" name="Line 3"/>
            <p:cNvSpPr>
              <a:spLocks noChangeShapeType="1"/>
            </p:cNvSpPr>
            <p:nvPr/>
          </p:nvSpPr>
          <p:spPr bwMode="auto">
            <a:xfrm flipH="1">
              <a:off x="990600" y="23622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798" name="Line 4"/>
            <p:cNvSpPr>
              <a:spLocks noChangeShapeType="1"/>
            </p:cNvSpPr>
            <p:nvPr/>
          </p:nvSpPr>
          <p:spPr bwMode="auto">
            <a:xfrm flipH="1" flipV="1">
              <a:off x="1000125" y="2506663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799" name="Oval 5"/>
            <p:cNvSpPr>
              <a:spLocks noChangeArrowheads="1"/>
            </p:cNvSpPr>
            <p:nvPr/>
          </p:nvSpPr>
          <p:spPr bwMode="auto">
            <a:xfrm rot="-7282380">
              <a:off x="3276600" y="3429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0" name="Oval 6"/>
            <p:cNvSpPr>
              <a:spLocks noChangeArrowheads="1"/>
            </p:cNvSpPr>
            <p:nvPr/>
          </p:nvSpPr>
          <p:spPr bwMode="auto">
            <a:xfrm rot="-7282380">
              <a:off x="3041650" y="3116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1" name="Oval 7"/>
            <p:cNvSpPr>
              <a:spLocks noChangeArrowheads="1"/>
            </p:cNvSpPr>
            <p:nvPr/>
          </p:nvSpPr>
          <p:spPr bwMode="auto">
            <a:xfrm rot="-7282380">
              <a:off x="1212850" y="2125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2" name="Oval 8"/>
            <p:cNvSpPr>
              <a:spLocks noChangeArrowheads="1"/>
            </p:cNvSpPr>
            <p:nvPr/>
          </p:nvSpPr>
          <p:spPr bwMode="auto">
            <a:xfrm rot="-7282380">
              <a:off x="1570038" y="2506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3" name="Oval 9"/>
            <p:cNvSpPr>
              <a:spLocks noChangeArrowheads="1"/>
            </p:cNvSpPr>
            <p:nvPr/>
          </p:nvSpPr>
          <p:spPr bwMode="auto">
            <a:xfrm rot="-7282380">
              <a:off x="2736850" y="3344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4" name="Oval 10"/>
            <p:cNvSpPr>
              <a:spLocks noChangeArrowheads="1"/>
            </p:cNvSpPr>
            <p:nvPr/>
          </p:nvSpPr>
          <p:spPr bwMode="auto">
            <a:xfrm rot="-7282380">
              <a:off x="1060450" y="28114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5" name="Oval 11"/>
            <p:cNvSpPr>
              <a:spLocks noChangeArrowheads="1"/>
            </p:cNvSpPr>
            <p:nvPr/>
          </p:nvSpPr>
          <p:spPr bwMode="auto">
            <a:xfrm rot="-7282380">
              <a:off x="2332038" y="3268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6" name="Oval 12"/>
            <p:cNvSpPr>
              <a:spLocks noChangeArrowheads="1"/>
            </p:cNvSpPr>
            <p:nvPr/>
          </p:nvSpPr>
          <p:spPr bwMode="auto">
            <a:xfrm rot="-7282380">
              <a:off x="1752600" y="2286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7" name="Oval 13"/>
            <p:cNvSpPr>
              <a:spLocks noChangeArrowheads="1"/>
            </p:cNvSpPr>
            <p:nvPr/>
          </p:nvSpPr>
          <p:spPr bwMode="auto">
            <a:xfrm rot="-7282380">
              <a:off x="2590800" y="2590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8" name="Oval 14"/>
            <p:cNvSpPr>
              <a:spLocks noChangeArrowheads="1"/>
            </p:cNvSpPr>
            <p:nvPr/>
          </p:nvSpPr>
          <p:spPr bwMode="auto">
            <a:xfrm rot="-7282380">
              <a:off x="3048000" y="27432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09" name="Oval 15"/>
            <p:cNvSpPr>
              <a:spLocks noChangeArrowheads="1"/>
            </p:cNvSpPr>
            <p:nvPr/>
          </p:nvSpPr>
          <p:spPr bwMode="auto">
            <a:xfrm rot="-7282380">
              <a:off x="1417638" y="2963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10" name="Oval 16"/>
            <p:cNvSpPr>
              <a:spLocks noChangeArrowheads="1"/>
            </p:cNvSpPr>
            <p:nvPr/>
          </p:nvSpPr>
          <p:spPr bwMode="auto">
            <a:xfrm rot="-7282380">
              <a:off x="2209800" y="2590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pPr algn="ctr"/>
              <a:endParaRPr lang="en-US" sz="2000">
                <a:latin typeface="+mn-lt"/>
              </a:endParaRPr>
            </a:p>
          </p:txBody>
        </p:sp>
        <p:sp>
          <p:nvSpPr>
            <p:cNvPr id="33811" name="Oval 17"/>
            <p:cNvSpPr>
              <a:spLocks noChangeArrowheads="1"/>
            </p:cNvSpPr>
            <p:nvPr/>
          </p:nvSpPr>
          <p:spPr bwMode="auto">
            <a:xfrm rot="-7282380">
              <a:off x="1752600" y="2895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12" name="Oval 18"/>
            <p:cNvSpPr>
              <a:spLocks noChangeArrowheads="1"/>
            </p:cNvSpPr>
            <p:nvPr/>
          </p:nvSpPr>
          <p:spPr bwMode="auto">
            <a:xfrm rot="-7282380">
              <a:off x="2179638" y="2963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14" name="Line 20"/>
            <p:cNvSpPr>
              <a:spLocks noChangeShapeType="1"/>
            </p:cNvSpPr>
            <p:nvPr/>
          </p:nvSpPr>
          <p:spPr bwMode="auto">
            <a:xfrm>
              <a:off x="990600" y="3810000"/>
              <a:ext cx="23622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815" name="Text Box 21"/>
            <p:cNvSpPr txBox="1">
              <a:spLocks noChangeArrowheads="1"/>
            </p:cNvSpPr>
            <p:nvPr/>
          </p:nvSpPr>
          <p:spPr bwMode="auto">
            <a:xfrm>
              <a:off x="3276600" y="3657600"/>
              <a:ext cx="340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x</a:t>
              </a:r>
            </a:p>
          </p:txBody>
        </p:sp>
        <p:sp>
          <p:nvSpPr>
            <p:cNvPr id="33816" name="Line 22"/>
            <p:cNvSpPr>
              <a:spLocks noChangeShapeType="1"/>
            </p:cNvSpPr>
            <p:nvPr/>
          </p:nvSpPr>
          <p:spPr bwMode="auto">
            <a:xfrm flipH="1">
              <a:off x="984250" y="4640263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817" name="Line 23"/>
            <p:cNvSpPr>
              <a:spLocks noChangeShapeType="1"/>
            </p:cNvSpPr>
            <p:nvPr/>
          </p:nvSpPr>
          <p:spPr bwMode="auto">
            <a:xfrm flipV="1">
              <a:off x="1000125" y="4792663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818" name="Oval 24"/>
            <p:cNvSpPr>
              <a:spLocks noChangeArrowheads="1"/>
            </p:cNvSpPr>
            <p:nvPr/>
          </p:nvSpPr>
          <p:spPr bwMode="auto">
            <a:xfrm rot="-7282380">
              <a:off x="1212850" y="57070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19" name="Oval 25"/>
            <p:cNvSpPr>
              <a:spLocks noChangeArrowheads="1"/>
            </p:cNvSpPr>
            <p:nvPr/>
          </p:nvSpPr>
          <p:spPr bwMode="auto">
            <a:xfrm rot="-7282380">
              <a:off x="1212850" y="5402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0" name="Oval 26"/>
            <p:cNvSpPr>
              <a:spLocks noChangeArrowheads="1"/>
            </p:cNvSpPr>
            <p:nvPr/>
          </p:nvSpPr>
          <p:spPr bwMode="auto">
            <a:xfrm rot="-7282380">
              <a:off x="2965450" y="4411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1" name="Oval 27"/>
            <p:cNvSpPr>
              <a:spLocks noChangeArrowheads="1"/>
            </p:cNvSpPr>
            <p:nvPr/>
          </p:nvSpPr>
          <p:spPr bwMode="auto">
            <a:xfrm rot="-7282380">
              <a:off x="3117850" y="4792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2" name="Oval 28"/>
            <p:cNvSpPr>
              <a:spLocks noChangeArrowheads="1"/>
            </p:cNvSpPr>
            <p:nvPr/>
          </p:nvSpPr>
          <p:spPr bwMode="auto">
            <a:xfrm rot="-7282380">
              <a:off x="1670050" y="5630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3" name="Oval 29"/>
            <p:cNvSpPr>
              <a:spLocks noChangeArrowheads="1"/>
            </p:cNvSpPr>
            <p:nvPr/>
          </p:nvSpPr>
          <p:spPr bwMode="auto">
            <a:xfrm rot="-7282380">
              <a:off x="2965450" y="5021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4" name="Oval 30"/>
            <p:cNvSpPr>
              <a:spLocks noChangeArrowheads="1"/>
            </p:cNvSpPr>
            <p:nvPr/>
          </p:nvSpPr>
          <p:spPr bwMode="auto">
            <a:xfrm rot="-7282380">
              <a:off x="2508250" y="5630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5" name="Oval 31"/>
            <p:cNvSpPr>
              <a:spLocks noChangeArrowheads="1"/>
            </p:cNvSpPr>
            <p:nvPr/>
          </p:nvSpPr>
          <p:spPr bwMode="auto">
            <a:xfrm rot="-7282380">
              <a:off x="2584450" y="4411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6" name="Oval 32"/>
            <p:cNvSpPr>
              <a:spLocks noChangeArrowheads="1"/>
            </p:cNvSpPr>
            <p:nvPr/>
          </p:nvSpPr>
          <p:spPr bwMode="auto">
            <a:xfrm rot="-7282380">
              <a:off x="2051050" y="45640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7" name="Oval 33"/>
            <p:cNvSpPr>
              <a:spLocks noChangeArrowheads="1"/>
            </p:cNvSpPr>
            <p:nvPr/>
          </p:nvSpPr>
          <p:spPr bwMode="auto">
            <a:xfrm rot="-7282380">
              <a:off x="1136650" y="5021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8" name="Oval 34"/>
            <p:cNvSpPr>
              <a:spLocks noChangeArrowheads="1"/>
            </p:cNvSpPr>
            <p:nvPr/>
          </p:nvSpPr>
          <p:spPr bwMode="auto">
            <a:xfrm rot="-7282380">
              <a:off x="1365250" y="4640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29" name="Oval 35"/>
            <p:cNvSpPr>
              <a:spLocks noChangeArrowheads="1"/>
            </p:cNvSpPr>
            <p:nvPr/>
          </p:nvSpPr>
          <p:spPr bwMode="auto">
            <a:xfrm rot="-7282380">
              <a:off x="1746250" y="5208588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pPr algn="ctr"/>
              <a:endParaRPr lang="en-US" sz="2000">
                <a:latin typeface="+mn-lt"/>
              </a:endParaRPr>
            </a:p>
          </p:txBody>
        </p:sp>
        <p:sp>
          <p:nvSpPr>
            <p:cNvPr id="33830" name="Oval 36"/>
            <p:cNvSpPr>
              <a:spLocks noChangeArrowheads="1"/>
            </p:cNvSpPr>
            <p:nvPr/>
          </p:nvSpPr>
          <p:spPr bwMode="auto">
            <a:xfrm rot="-7282380">
              <a:off x="2584450" y="5173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1" name="Oval 37"/>
            <p:cNvSpPr>
              <a:spLocks noChangeArrowheads="1"/>
            </p:cNvSpPr>
            <p:nvPr/>
          </p:nvSpPr>
          <p:spPr bwMode="auto">
            <a:xfrm rot="-7282380">
              <a:off x="2203450" y="53260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2" name="Oval 38"/>
            <p:cNvSpPr>
              <a:spLocks noChangeArrowheads="1"/>
            </p:cNvSpPr>
            <p:nvPr/>
          </p:nvSpPr>
          <p:spPr bwMode="auto">
            <a:xfrm rot="-7282380">
              <a:off x="2051050" y="57832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3" name="Text Box 39"/>
            <p:cNvSpPr txBox="1">
              <a:spLocks noChangeArrowheads="1"/>
            </p:cNvSpPr>
            <p:nvPr/>
          </p:nvSpPr>
          <p:spPr bwMode="auto">
            <a:xfrm>
              <a:off x="655638" y="4333875"/>
              <a:ext cx="346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y</a:t>
              </a:r>
            </a:p>
          </p:txBody>
        </p:sp>
        <p:sp>
          <p:nvSpPr>
            <p:cNvPr id="33834" name="Line 40"/>
            <p:cNvSpPr>
              <a:spLocks noChangeShapeType="1"/>
            </p:cNvSpPr>
            <p:nvPr/>
          </p:nvSpPr>
          <p:spPr bwMode="auto">
            <a:xfrm>
              <a:off x="984250" y="6088063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3835" name="Oval 41"/>
            <p:cNvSpPr>
              <a:spLocks noChangeArrowheads="1"/>
            </p:cNvSpPr>
            <p:nvPr/>
          </p:nvSpPr>
          <p:spPr bwMode="auto">
            <a:xfrm rot="-7282380">
              <a:off x="3346450" y="5249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6" name="Text Box 42"/>
            <p:cNvSpPr txBox="1">
              <a:spLocks noChangeArrowheads="1"/>
            </p:cNvSpPr>
            <p:nvPr/>
          </p:nvSpPr>
          <p:spPr bwMode="auto">
            <a:xfrm>
              <a:off x="3246438" y="5934075"/>
              <a:ext cx="340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x</a:t>
              </a:r>
            </a:p>
          </p:txBody>
        </p:sp>
        <p:sp>
          <p:nvSpPr>
            <p:cNvPr id="33837" name="Oval 43"/>
            <p:cNvSpPr>
              <a:spLocks noChangeArrowheads="1"/>
            </p:cNvSpPr>
            <p:nvPr/>
          </p:nvSpPr>
          <p:spPr bwMode="auto">
            <a:xfrm rot="-7282380">
              <a:off x="2508250" y="4868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8" name="Oval 44"/>
            <p:cNvSpPr>
              <a:spLocks noChangeArrowheads="1"/>
            </p:cNvSpPr>
            <p:nvPr/>
          </p:nvSpPr>
          <p:spPr bwMode="auto">
            <a:xfrm rot="-7282380">
              <a:off x="2355850" y="45640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39" name="Oval 45"/>
            <p:cNvSpPr>
              <a:spLocks noChangeArrowheads="1"/>
            </p:cNvSpPr>
            <p:nvPr/>
          </p:nvSpPr>
          <p:spPr bwMode="auto">
            <a:xfrm rot="-7282380">
              <a:off x="1822450" y="48688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40" name="Oval 46"/>
            <p:cNvSpPr>
              <a:spLocks noChangeArrowheads="1"/>
            </p:cNvSpPr>
            <p:nvPr/>
          </p:nvSpPr>
          <p:spPr bwMode="auto">
            <a:xfrm rot="-7282380">
              <a:off x="2636838" y="2887663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41" name="Oval 47"/>
            <p:cNvSpPr>
              <a:spLocks noChangeArrowheads="1"/>
            </p:cNvSpPr>
            <p:nvPr/>
          </p:nvSpPr>
          <p:spPr bwMode="auto">
            <a:xfrm rot="-7282380">
              <a:off x="1905000" y="2590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42" name="Oval 48"/>
            <p:cNvSpPr>
              <a:spLocks noChangeArrowheads="1"/>
            </p:cNvSpPr>
            <p:nvPr/>
          </p:nvSpPr>
          <p:spPr bwMode="auto">
            <a:xfrm rot="-7282380">
              <a:off x="1905000" y="31242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3843" name="Text Box 49"/>
            <p:cNvSpPr txBox="1">
              <a:spLocks noChangeArrowheads="1"/>
            </p:cNvSpPr>
            <p:nvPr/>
          </p:nvSpPr>
          <p:spPr bwMode="auto">
            <a:xfrm>
              <a:off x="4114800" y="2286000"/>
              <a:ext cx="1553630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dirty="0">
                  <a:latin typeface="+mn-lt"/>
                </a:rPr>
                <a:t>0 &lt; </a:t>
              </a:r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&lt; 1</a:t>
              </a:r>
            </a:p>
          </p:txBody>
        </p:sp>
        <p:sp>
          <p:nvSpPr>
            <p:cNvPr id="33845" name="Oval 51"/>
            <p:cNvSpPr>
              <a:spLocks noChangeArrowheads="1"/>
            </p:cNvSpPr>
            <p:nvPr/>
          </p:nvSpPr>
          <p:spPr bwMode="auto">
            <a:xfrm rot="-7282380">
              <a:off x="3048000" y="54102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FDF33FB-C12F-2345-BF24-08198EDD8D1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533400"/>
            <a:ext cx="6497638" cy="9144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Examples of Approximate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R</a:t>
            </a:r>
            <a:r>
              <a:rPr lang="en-US" sz="4400" i="1" baseline="30000" dirty="0">
                <a:latin typeface="+mn-lt"/>
              </a:rPr>
              <a:t>2</a:t>
            </a:r>
            <a:r>
              <a:rPr lang="en-US" sz="4400" dirty="0">
                <a:latin typeface="+mn-lt"/>
              </a:rPr>
              <a:t>  Values</a:t>
            </a:r>
          </a:p>
        </p:txBody>
      </p:sp>
      <p:sp>
        <p:nvSpPr>
          <p:cNvPr id="34822" name="Text Box 4"/>
          <p:cNvSpPr txBox="1">
            <a:spLocks noChangeArrowheads="1"/>
          </p:cNvSpPr>
          <p:nvPr/>
        </p:nvSpPr>
        <p:spPr bwMode="auto">
          <a:xfrm>
            <a:off x="5638800" y="3048001"/>
            <a:ext cx="4191000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just"/>
            <a:r>
              <a:rPr lang="en-US" sz="2800" dirty="0">
                <a:latin typeface="+mn-lt"/>
              </a:rPr>
              <a:t>No linear relationship between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 and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:  </a:t>
            </a:r>
          </a:p>
          <a:p>
            <a:pPr algn="just"/>
            <a:endParaRPr lang="en-US" sz="2800" dirty="0">
              <a:latin typeface="+mn-lt"/>
            </a:endParaRPr>
          </a:p>
          <a:p>
            <a:pPr algn="just"/>
            <a:r>
              <a:rPr lang="en-US" sz="2800" dirty="0">
                <a:latin typeface="+mn-lt"/>
              </a:rPr>
              <a:t>The value of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 does not depend on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.  (None of the variation in </a:t>
            </a:r>
            <a:r>
              <a:rPr lang="en-US" sz="2800" i="1" dirty="0">
                <a:latin typeface="+mn-lt"/>
              </a:rPr>
              <a:t>y</a:t>
            </a:r>
            <a:r>
              <a:rPr lang="en-US" sz="2800" dirty="0">
                <a:latin typeface="+mn-lt"/>
              </a:rPr>
              <a:t> is explained by variation in </a:t>
            </a:r>
            <a:r>
              <a:rPr lang="en-US" sz="2800" i="1" dirty="0">
                <a:latin typeface="+mn-lt"/>
              </a:rPr>
              <a:t>x</a:t>
            </a:r>
            <a:r>
              <a:rPr lang="en-US" sz="2800" dirty="0">
                <a:latin typeface="+mn-lt"/>
              </a:rPr>
              <a:t>)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157413" y="2286001"/>
            <a:ext cx="4509232" cy="2850495"/>
            <a:chOff x="633413" y="2286000"/>
            <a:chExt cx="4509232" cy="2850495"/>
          </a:xfrm>
        </p:grpSpPr>
        <p:sp>
          <p:nvSpPr>
            <p:cNvPr id="34821" name="Text Box 3"/>
            <p:cNvSpPr txBox="1">
              <a:spLocks noChangeArrowheads="1"/>
            </p:cNvSpPr>
            <p:nvPr/>
          </p:nvSpPr>
          <p:spPr bwMode="auto">
            <a:xfrm>
              <a:off x="4114800" y="2286000"/>
              <a:ext cx="1027845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= 0</a:t>
              </a:r>
            </a:p>
          </p:txBody>
        </p:sp>
        <p:sp>
          <p:nvSpPr>
            <p:cNvPr id="34823" name="Line 5"/>
            <p:cNvSpPr>
              <a:spLocks noChangeShapeType="1"/>
            </p:cNvSpPr>
            <p:nvPr/>
          </p:nvSpPr>
          <p:spPr bwMode="auto">
            <a:xfrm flipH="1">
              <a:off x="890588" y="2936875"/>
              <a:ext cx="0" cy="1600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4824" name="Oval 6"/>
            <p:cNvSpPr>
              <a:spLocks noChangeArrowheads="1"/>
            </p:cNvSpPr>
            <p:nvPr/>
          </p:nvSpPr>
          <p:spPr bwMode="auto">
            <a:xfrm rot="-7282380">
              <a:off x="1143000" y="36988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25" name="Oval 7"/>
            <p:cNvSpPr>
              <a:spLocks noChangeArrowheads="1"/>
            </p:cNvSpPr>
            <p:nvPr/>
          </p:nvSpPr>
          <p:spPr bwMode="auto">
            <a:xfrm rot="-7282380">
              <a:off x="2971800" y="33178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26" name="Oval 8"/>
            <p:cNvSpPr>
              <a:spLocks noChangeArrowheads="1"/>
            </p:cNvSpPr>
            <p:nvPr/>
          </p:nvSpPr>
          <p:spPr bwMode="auto">
            <a:xfrm rot="-7282380">
              <a:off x="2667000" y="34702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27" name="Oval 9"/>
            <p:cNvSpPr>
              <a:spLocks noChangeArrowheads="1"/>
            </p:cNvSpPr>
            <p:nvPr/>
          </p:nvSpPr>
          <p:spPr bwMode="auto">
            <a:xfrm rot="-7282380">
              <a:off x="2286000" y="37750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28" name="Oval 10"/>
            <p:cNvSpPr>
              <a:spLocks noChangeArrowheads="1"/>
            </p:cNvSpPr>
            <p:nvPr/>
          </p:nvSpPr>
          <p:spPr bwMode="auto">
            <a:xfrm rot="-7282380">
              <a:off x="2362200" y="31654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29" name="Oval 11"/>
            <p:cNvSpPr>
              <a:spLocks noChangeArrowheads="1"/>
            </p:cNvSpPr>
            <p:nvPr/>
          </p:nvSpPr>
          <p:spPr bwMode="auto">
            <a:xfrm rot="-7282380">
              <a:off x="1905000" y="31654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0" name="Oval 12"/>
            <p:cNvSpPr>
              <a:spLocks noChangeArrowheads="1"/>
            </p:cNvSpPr>
            <p:nvPr/>
          </p:nvSpPr>
          <p:spPr bwMode="auto">
            <a:xfrm rot="-7282380">
              <a:off x="1066800" y="32416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1" name="Oval 13"/>
            <p:cNvSpPr>
              <a:spLocks noChangeArrowheads="1"/>
            </p:cNvSpPr>
            <p:nvPr/>
          </p:nvSpPr>
          <p:spPr bwMode="auto">
            <a:xfrm rot="-7282380">
              <a:off x="1371600" y="33940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2" name="Oval 14"/>
            <p:cNvSpPr>
              <a:spLocks noChangeArrowheads="1"/>
            </p:cNvSpPr>
            <p:nvPr/>
          </p:nvSpPr>
          <p:spPr bwMode="auto">
            <a:xfrm rot="-7282380">
              <a:off x="1676400" y="3581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pPr algn="ctr"/>
              <a:endParaRPr lang="en-US" sz="2000">
                <a:latin typeface="+mn-lt"/>
              </a:endParaRPr>
            </a:p>
          </p:txBody>
        </p:sp>
        <p:sp>
          <p:nvSpPr>
            <p:cNvPr id="34833" name="Oval 15"/>
            <p:cNvSpPr>
              <a:spLocks noChangeArrowheads="1"/>
            </p:cNvSpPr>
            <p:nvPr/>
          </p:nvSpPr>
          <p:spPr bwMode="auto">
            <a:xfrm rot="-7282380">
              <a:off x="2057400" y="35464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4" name="Oval 16"/>
            <p:cNvSpPr>
              <a:spLocks noChangeArrowheads="1"/>
            </p:cNvSpPr>
            <p:nvPr/>
          </p:nvSpPr>
          <p:spPr bwMode="auto">
            <a:xfrm rot="-7282380">
              <a:off x="1828800" y="38512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5" name="Text Box 17"/>
            <p:cNvSpPr txBox="1">
              <a:spLocks noChangeArrowheads="1"/>
            </p:cNvSpPr>
            <p:nvPr/>
          </p:nvSpPr>
          <p:spPr bwMode="auto">
            <a:xfrm>
              <a:off x="633413" y="2554288"/>
              <a:ext cx="34496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y</a:t>
              </a:r>
            </a:p>
          </p:txBody>
        </p:sp>
        <p:sp>
          <p:nvSpPr>
            <p:cNvPr id="34836" name="Line 18"/>
            <p:cNvSpPr>
              <a:spLocks noChangeShapeType="1"/>
            </p:cNvSpPr>
            <p:nvPr/>
          </p:nvSpPr>
          <p:spPr bwMode="auto">
            <a:xfrm>
              <a:off x="914400" y="4537075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4837" name="Oval 19"/>
            <p:cNvSpPr>
              <a:spLocks noChangeArrowheads="1"/>
            </p:cNvSpPr>
            <p:nvPr/>
          </p:nvSpPr>
          <p:spPr bwMode="auto">
            <a:xfrm rot="-7282380">
              <a:off x="2795588" y="369887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 sz="2000">
                <a:latin typeface="+mn-lt"/>
              </a:endParaRPr>
            </a:p>
          </p:txBody>
        </p:sp>
        <p:sp>
          <p:nvSpPr>
            <p:cNvPr id="34838" name="Text Box 20"/>
            <p:cNvSpPr txBox="1">
              <a:spLocks noChangeArrowheads="1"/>
            </p:cNvSpPr>
            <p:nvPr/>
          </p:nvSpPr>
          <p:spPr bwMode="auto">
            <a:xfrm>
              <a:off x="3048000" y="4459288"/>
              <a:ext cx="34015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sz="2800" i="1" dirty="0">
                  <a:latin typeface="+mn-lt"/>
                </a:rPr>
                <a:t>x</a:t>
              </a:r>
            </a:p>
          </p:txBody>
        </p:sp>
        <p:sp>
          <p:nvSpPr>
            <p:cNvPr id="34839" name="Line 21"/>
            <p:cNvSpPr>
              <a:spLocks noChangeShapeType="1"/>
            </p:cNvSpPr>
            <p:nvPr/>
          </p:nvSpPr>
          <p:spPr bwMode="auto">
            <a:xfrm>
              <a:off x="966788" y="3622675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>
                <a:latin typeface="+mn-lt"/>
              </a:endParaRPr>
            </a:p>
          </p:txBody>
        </p:sp>
        <p:sp>
          <p:nvSpPr>
            <p:cNvPr id="34840" name="Text Box 22"/>
            <p:cNvSpPr txBox="1">
              <a:spLocks noChangeArrowheads="1"/>
            </p:cNvSpPr>
            <p:nvPr/>
          </p:nvSpPr>
          <p:spPr bwMode="auto">
            <a:xfrm>
              <a:off x="1629630" y="4613275"/>
              <a:ext cx="1027845" cy="52322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r"/>
              <a:r>
                <a:rPr lang="en-US" sz="2800" i="1" dirty="0">
                  <a:latin typeface="+mn-lt"/>
                </a:rPr>
                <a:t>R</a:t>
              </a:r>
              <a:r>
                <a:rPr lang="en-US" sz="2800" i="1" baseline="30000" dirty="0">
                  <a:latin typeface="+mn-lt"/>
                </a:rPr>
                <a:t>2</a:t>
              </a:r>
              <a:r>
                <a:rPr lang="en-US" sz="2800" dirty="0">
                  <a:latin typeface="+mn-lt"/>
                </a:rPr>
                <a:t> = 0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sz="4400" dirty="0"/>
              <a:t>Example</a:t>
            </a:r>
            <a:endParaRPr lang="en-GB" sz="4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AD96D6-FCAC-BF48-A744-D10BE5BBB53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roup 4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29382841"/>
                  </p:ext>
                </p:extLst>
              </p:nvPr>
            </p:nvGraphicFramePr>
            <p:xfrm>
              <a:off x="1676400" y="1447800"/>
              <a:ext cx="4848606" cy="4391726"/>
            </p:xfrm>
            <a:graphic>
              <a:graphicData uri="http://schemas.openxmlformats.org/drawingml/2006/table">
                <a:tbl>
                  <a:tblPr/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56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96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2590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27063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House Price in $1000s</a:t>
                          </a:r>
                        </a:p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</a:t>
                          </a:r>
                          <a:r>
                            <a:rPr kumimoji="0" lang="en-US" altLang="en-US" sz="16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y</a:t>
                          </a: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Square Feet </a:t>
                          </a:r>
                        </a:p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</a:t>
                          </a:r>
                          <a:r>
                            <a:rPr kumimoji="0" lang="en-US" altLang="en-US" sz="16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kumimoji="0" lang="en-US" alt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kumimoji="0" lang="en-US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en-US" alt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MY" altLang="en-US" sz="1600" b="1" i="1" u="none" strike="noStrike" cap="none" normalizeH="0" baseline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kumimoji="0" lang="en-MY" altLang="en-US" sz="1600" b="1" i="1" u="none" strike="noStrike" cap="none" normalizeH="0" baseline="0" smtClean="0">
                                        <a:ln>
                                          <a:noFill/>
                                        </a:ln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𝟐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kumimoji="0" lang="en-US" altLang="en-US" sz="16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</a:endParaRP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245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1173.06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1722.25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312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1600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274.25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150.06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650.25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279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285.25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18.06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308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1875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304.50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324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462.25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199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1100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219.25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4522.56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7656.25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219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1550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268.75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315.05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4556.25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405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2350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356.75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4935.06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14042.25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324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2450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367.75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6601.56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255.00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992.25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1056.25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285.25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992.25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roup 48"/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829382841"/>
                  </p:ext>
                </p:extLst>
              </p:nvPr>
            </p:nvGraphicFramePr>
            <p:xfrm>
              <a:off x="1676400" y="1447800"/>
              <a:ext cx="4848606" cy="4391726"/>
            </p:xfrm>
            <a:graphic>
              <a:graphicData uri="http://schemas.openxmlformats.org/drawingml/2006/table">
                <a:tbl>
                  <a:tblPr/>
                  <a:tblGrid>
                    <a:gridCol w="1219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8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56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6964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02590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27786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House Price in $1000s</a:t>
                          </a:r>
                        </a:p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</a:t>
                          </a:r>
                          <a:r>
                            <a:rPr kumimoji="0" lang="en-US" altLang="en-US" sz="16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y</a:t>
                          </a: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Square Feet </a:t>
                          </a:r>
                        </a:p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8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(</a:t>
                          </a:r>
                          <a:r>
                            <a:rPr kumimoji="0" lang="en-US" altLang="en-US" sz="1600" b="1" i="1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x</a:t>
                          </a:r>
                          <a:r>
                            <a:rPr kumimoji="0" lang="en-US" altLang="en-US" sz="1600" b="1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)</a:t>
                          </a:r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CC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62308" t="-1471" r="-260000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294375" t="-1471" r="-111250" b="-43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blipFill>
                          <a:blip r:embed="rId2"/>
                          <a:stretch>
                            <a:fillRect l="-375595" t="-1471" r="-5952" b="-43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245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1173.06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1722.25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312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1600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274.25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150.06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650.25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279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285.25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18.06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308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1875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304.50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324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462.25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199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1100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219.25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4522.56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7656.25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219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1550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268.75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315.05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4556.25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405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2350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356.75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4935.06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14042.25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324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2450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367.75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6601.56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1406.25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357188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319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1425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255.00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992.25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1056.25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355600"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255</a:t>
                          </a:r>
                        </a:p>
                      </a:txBody>
                      <a:tcPr horzOverflow="overflow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>
                          <a:lvl1pPr defTabSz="852488">
                            <a:spcBef>
                              <a:spcPct val="20000"/>
                            </a:spcBef>
                            <a:defRPr sz="2000"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1pPr>
                          <a:lvl2pPr marL="425450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2pPr>
                          <a:lvl3pPr marL="852488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3pPr>
                          <a:lvl4pPr marL="128111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4pPr>
                          <a:lvl5pPr marL="1706563" defTabSz="852488">
                            <a:spcBef>
                              <a:spcPct val="20000"/>
                            </a:spcBef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5pPr>
                          <a:lvl6pPr marL="21637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6pPr>
                          <a:lvl7pPr marL="26209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7pPr>
                          <a:lvl8pPr marL="30781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8pPr>
                          <a:lvl9pPr marL="3535363" defTabSz="852488" fontAlgn="base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defRPr>
                              <a:solidFill>
                                <a:schemeClr val="tx1"/>
                              </a:solidFill>
                              <a:latin typeface="Arial" charset="0"/>
                            </a:defRPr>
                          </a:lvl9pPr>
                        </a:lstStyle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1700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285.25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1.56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52488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</a:pPr>
                          <a:r>
                            <a:rPr kumimoji="0" lang="en-US" altLang="en-US" sz="1600" b="0" i="0" u="none" strike="noStrike" cap="none" normalizeH="0" baseline="0" dirty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</a:rPr>
                            <a:t>992.25</a:t>
                          </a:r>
                        </a:p>
                      </a:txBody>
                      <a:tcPr horzOverflow="overflow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miter lim="800000"/>
                          <a:headEnd type="none" w="med" len="med"/>
                          <a:tailEnd type="none" w="med" len="med"/>
                        </a:lnB>
                        <a:lnTlToBr>
                          <a:noFill/>
                        </a:lnTlToBr>
                        <a:lnBlToTr>
                          <a:noFill/>
                        </a:lnBlToTr>
                        <a:solidFill>
                          <a:srgbClr val="FFFFC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6619292"/>
              </p:ext>
            </p:extLst>
          </p:nvPr>
        </p:nvGraphicFramePr>
        <p:xfrm>
          <a:off x="7437795" y="1524000"/>
          <a:ext cx="2108200" cy="33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82700" imgH="203200" progId="Equation.3">
                  <p:embed/>
                </p:oleObj>
              </mc:Choice>
              <mc:Fallback>
                <p:oleObj name="Equation" r:id="rId3" imgW="12827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7795" y="1524000"/>
                        <a:ext cx="2108200" cy="335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49221" y="1981201"/>
                <a:ext cx="2685351" cy="62780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MY" b="0" i="1" smtClean="0"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MY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MY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MY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nary>
                        </m:num>
                        <m:den>
                          <m:r>
                            <a:rPr lang="en-MY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MY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MY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b="0" i="1" smtClean="0">
                              <a:latin typeface="Cambria Math"/>
                            </a:rPr>
                            <m:t>2865</m:t>
                          </m:r>
                        </m:num>
                        <m:den>
                          <m:r>
                            <a:rPr lang="en-MY" b="0" i="1" smtClean="0">
                              <a:latin typeface="Cambria Math"/>
                            </a:rPr>
                            <m:t>10</m:t>
                          </m:r>
                        </m:den>
                      </m:f>
                      <m:r>
                        <a:rPr lang="en-MY" b="0" i="1" smtClean="0">
                          <a:latin typeface="Cambria Math"/>
                        </a:rPr>
                        <m:t>=286.5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221" y="1981201"/>
                <a:ext cx="2685351" cy="6278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48752" y="2793916"/>
                <a:ext cx="3385863" cy="763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b="0" i="1" smtClean="0">
                          <a:latin typeface="Cambria Math"/>
                        </a:rPr>
                        <m:t>𝑆𝑆𝑅</m:t>
                      </m:r>
                      <m:r>
                        <a:rPr lang="en-MY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MY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MY" altLang="en-US" i="1">
                                  <a:latin typeface="Cambria Math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MY" alt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MY" altLang="en-US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MY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MY" alt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MY" alt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MY" alt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en-US" dirty="0"/>
                            <m:t> </m:t>
                          </m:r>
                          <m:r>
                            <a:rPr lang="en-MY" altLang="en-US" i="1" dirty="0">
                              <a:latin typeface="Cambria Math"/>
                            </a:rPr>
                            <m:t>=19033.22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752" y="2793916"/>
                <a:ext cx="3385863" cy="763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6924952" y="3549937"/>
                <a:ext cx="3438249" cy="763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i="1" smtClean="0">
                          <a:latin typeface="Cambria Math"/>
                        </a:rPr>
                        <m:t>𝑆𝑆</m:t>
                      </m:r>
                      <m:r>
                        <a:rPr lang="en-MY" b="0" i="1" smtClean="0">
                          <a:latin typeface="Cambria Math"/>
                        </a:rPr>
                        <m:t>𝑇</m:t>
                      </m:r>
                      <m:r>
                        <a:rPr lang="en-MY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MY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MY" alt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MY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altLang="en-US" b="0" i="1" smtClean="0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MY" altLang="en-US" b="0" i="1" smtClean="0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MY" altLang="en-US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MY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MY" alt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MY" altLang="en-US" i="1">
                                  <a:latin typeface="Cambria Math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MY" altLang="en-US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en-US" dirty="0"/>
                            <m:t> </m:t>
                          </m:r>
                          <m:r>
                            <a:rPr lang="en-MY" altLang="en-US" i="1" dirty="0">
                              <a:latin typeface="Cambria Math"/>
                            </a:rPr>
                            <m:t>=</m:t>
                          </m:r>
                          <m:r>
                            <a:rPr lang="en-MY" altLang="en-US" b="0" i="1" dirty="0" smtClean="0">
                              <a:latin typeface="Cambria Math"/>
                            </a:rPr>
                            <m:t>13667.23</m:t>
                          </m:r>
                        </m:e>
                      </m:nary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4952" y="3549937"/>
                <a:ext cx="3438249" cy="763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153551" y="4313032"/>
                <a:ext cx="2711512" cy="4875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MY" b="0" i="1" smtClean="0">
                            <a:latin typeface="Cambria Math"/>
                          </a:rPr>
                          <m:t>𝑅</m:t>
                        </m:r>
                      </m:e>
                      <m:sup>
                        <m:r>
                          <a:rPr lang="en-MY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MY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/>
                          </a:rPr>
                          <m:t>𝑆𝑆𝑅</m:t>
                        </m:r>
                      </m:num>
                      <m:den>
                        <m:r>
                          <a:rPr lang="en-MY" b="0" i="1" smtClean="0">
                            <a:latin typeface="Cambria Math"/>
                          </a:rPr>
                          <m:t>𝑆𝑆𝑇</m:t>
                        </m:r>
                      </m:den>
                    </m:f>
                    <m:r>
                      <a:rPr lang="en-MY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MY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MY" b="0" i="1" smtClean="0">
                            <a:latin typeface="Cambria Math"/>
                          </a:rPr>
                          <m:t>19033.22</m:t>
                        </m:r>
                      </m:num>
                      <m:den>
                        <m:r>
                          <a:rPr lang="en-MY" b="0" i="1" smtClean="0">
                            <a:latin typeface="Cambria Math"/>
                          </a:rPr>
                          <m:t>31700.5</m:t>
                        </m:r>
                      </m:den>
                    </m:f>
                    <m:r>
                      <a:rPr lang="en-MY" b="0" i="1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dirty="0"/>
                  <a:t>0.60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3551" y="4313032"/>
                <a:ext cx="2711512" cy="487569"/>
              </a:xfrm>
              <a:prstGeom prst="rect">
                <a:avLst/>
              </a:prstGeom>
              <a:blipFill>
                <a:blip r:embed="rId8"/>
                <a:stretch>
                  <a:fillRect r="-1124" b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912335" y="4953001"/>
            <a:ext cx="3159125" cy="1025525"/>
          </a:xfrm>
          <a:prstGeom prst="rect">
            <a:avLst/>
          </a:prstGeom>
          <a:solidFill>
            <a:srgbClr val="FFFFCC"/>
          </a:solidFill>
          <a:ln w="1905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2000" dirty="0">
                <a:effectLst>
                  <a:outerShdw blurRad="38100" dist="38100" dir="2700000" algn="tl">
                    <a:srgbClr val="FFFFFF"/>
                  </a:outerShdw>
                </a:effectLst>
                <a:ea typeface="ＭＳ Ｐゴシック" pitchFamily="34" charset="-128"/>
                <a:cs typeface="+mn-cs"/>
              </a:rPr>
              <a:t>60%</a:t>
            </a:r>
            <a:r>
              <a:rPr lang="en-US" altLang="en-US" sz="2000" dirty="0">
                <a:ea typeface="ＭＳ Ｐゴシック" pitchFamily="34" charset="-128"/>
                <a:cs typeface="+mn-cs"/>
              </a:rPr>
              <a:t> of the variation in house prices is explained by variation in square feet</a:t>
            </a:r>
          </a:p>
        </p:txBody>
      </p:sp>
    </p:spTree>
    <p:extLst>
      <p:ext uri="{BB962C8B-B14F-4D97-AF65-F5344CB8AC3E}">
        <p14:creationId xmlns:p14="http://schemas.microsoft.com/office/powerpoint/2010/main" val="28869833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A357854-6C35-DA4D-9073-C2DA3874825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39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Standard Error of Estimate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76400"/>
            <a:ext cx="8382000" cy="1371600"/>
          </a:xfrm>
        </p:spPr>
        <p:txBody>
          <a:bodyPr/>
          <a:lstStyle/>
          <a:p>
            <a:pPr marL="320675" indent="-320675" algn="just" defTabSz="852488" eaLnBrk="1" hangingPunct="1"/>
            <a:r>
              <a:rPr lang="en-US" sz="2800" dirty="0"/>
              <a:t>The standard deviation of the variation of observations around the regression line is estimated by</a:t>
            </a:r>
          </a:p>
        </p:txBody>
      </p:sp>
      <p:graphicFrame>
        <p:nvGraphicFramePr>
          <p:cNvPr id="36870" name="Object 4"/>
          <p:cNvGraphicFramePr>
            <a:graphicFrameLocks noChangeAspect="1"/>
          </p:cNvGraphicFramePr>
          <p:nvPr/>
        </p:nvGraphicFramePr>
        <p:xfrm>
          <a:off x="152400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35285" imgH="677109" progId="">
                  <p:embed/>
                </p:oleObj>
              </mc:Choice>
              <mc:Fallback>
                <p:oleObj name="Equation" r:id="rId2" imgW="435285" imgH="677109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0"/>
                        <a:ext cx="914400" cy="1984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1" name="Object 5"/>
          <p:cNvGraphicFramePr>
            <a:graphicFrameLocks noChangeAspect="1"/>
          </p:cNvGraphicFramePr>
          <p:nvPr/>
        </p:nvGraphicFramePr>
        <p:xfrm>
          <a:off x="4648200" y="3200401"/>
          <a:ext cx="2730500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77476" imgH="444307" progId="Equation.3">
                  <p:embed/>
                </p:oleObj>
              </mc:Choice>
              <mc:Fallback>
                <p:oleObj name="Equation" r:id="rId4" imgW="977476" imgH="444307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200401"/>
                        <a:ext cx="2730500" cy="1236663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Rectangle 6"/>
          <p:cNvSpPr>
            <a:spLocks noChangeArrowheads="1"/>
          </p:cNvSpPr>
          <p:nvPr/>
        </p:nvSpPr>
        <p:spPr bwMode="auto">
          <a:xfrm>
            <a:off x="2057400" y="4572000"/>
            <a:ext cx="8610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      Where</a:t>
            </a: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	  SSE = Sum of squares error</a:t>
            </a: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	      </a:t>
            </a:r>
            <a:r>
              <a:rPr lang="en-US" sz="2400" i="1" dirty="0">
                <a:solidFill>
                  <a:srgbClr val="000000"/>
                </a:solidFill>
                <a:latin typeface="+mn-lt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 = Sample size</a:t>
            </a:r>
          </a:p>
          <a:p>
            <a:r>
              <a:rPr lang="en-US" sz="2400" dirty="0">
                <a:solidFill>
                  <a:srgbClr val="000000"/>
                </a:solidFill>
                <a:latin typeface="+mn-lt"/>
              </a:rPr>
              <a:t>   	      </a:t>
            </a:r>
            <a:r>
              <a:rPr lang="en-US" sz="2400" i="1" dirty="0">
                <a:solidFill>
                  <a:srgbClr val="000000"/>
                </a:solidFill>
                <a:latin typeface="+mn-lt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+mn-lt"/>
              </a:rPr>
              <a:t> = number of independent variables in the model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2220D07-69D8-4E4D-BB29-B7647CBD28E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40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8132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528" y="274638"/>
            <a:ext cx="6563072" cy="1143000"/>
          </a:xfrm>
        </p:spPr>
        <p:txBody>
          <a:bodyPr/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  <a:latin typeface="+mn-lt"/>
              </a:rPr>
              <a:t>Exercise #2</a:t>
            </a:r>
          </a:p>
        </p:txBody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9800" y="1600201"/>
            <a:ext cx="8001000" cy="4525963"/>
          </a:xfrm>
        </p:spPr>
        <p:txBody>
          <a:bodyPr/>
          <a:lstStyle/>
          <a:p>
            <a:pPr marL="0" indent="0" algn="just" eaLnBrk="1" hangingPunct="1">
              <a:buNone/>
            </a:pPr>
            <a:r>
              <a:rPr lang="en-US" sz="2800" dirty="0"/>
              <a:t>The following data on sale, size, and land-to-building ratio for 10 large industrial properties appeared in the paper “Using Multiple Regression Analysis in Real Estate Appraisal” (Appraisal Journal [2002]: 424-430):</a:t>
            </a:r>
          </a:p>
        </p:txBody>
      </p:sp>
    </p:spTree>
    <p:extLst>
      <p:ext uri="{BB962C8B-B14F-4D97-AF65-F5344CB8AC3E}">
        <p14:creationId xmlns:p14="http://schemas.microsoft.com/office/powerpoint/2010/main" val="2446007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Footer Placeholder 4"/>
          <p:cNvSpPr>
            <a:spLocks noGrp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000">
                <a:solidFill>
                  <a:srgbClr val="AE3221"/>
                </a:solidFill>
              </a:rPr>
              <a:t>prepared by Razana Alwee</a:t>
            </a:r>
          </a:p>
        </p:txBody>
      </p:sp>
      <p:sp>
        <p:nvSpPr>
          <p:cNvPr id="4915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026B4DCE-52E6-1E40-AE53-29BC63E88446}" type="slidenum">
              <a:rPr lang="en-US" sz="1000">
                <a:solidFill>
                  <a:schemeClr val="bg1"/>
                </a:solidFill>
              </a:rPr>
              <a:pPr/>
              <a:t>41</a:t>
            </a:fld>
            <a:endParaRPr lang="en-US" sz="1000">
              <a:solidFill>
                <a:schemeClr val="bg1"/>
              </a:solidFill>
            </a:endParaRPr>
          </a:p>
        </p:txBody>
      </p:sp>
      <p:graphicFrame>
        <p:nvGraphicFramePr>
          <p:cNvPr id="147487" name="Group 31"/>
          <p:cNvGraphicFramePr>
            <a:graphicFrameLocks noGrp="1"/>
          </p:cNvGraphicFramePr>
          <p:nvPr>
            <p:ph idx="1"/>
          </p:nvPr>
        </p:nvGraphicFramePr>
        <p:xfrm>
          <a:off x="1981200" y="1331964"/>
          <a:ext cx="8229600" cy="514503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590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Property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Sale Price (millions of dollars)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Size (thousands of sq. ft.)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Land-to-Building Ratio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833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8.0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4.5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2166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751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2422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224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3917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2866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1698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1046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405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3.5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1.7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4.8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17.2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528" y="274638"/>
            <a:ext cx="6563072" cy="1143000"/>
          </a:xfrm>
        </p:spPr>
        <p:txBody>
          <a:bodyPr/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  <a:latin typeface="+mn-lt"/>
              </a:rPr>
              <a:t>Exercise #2</a:t>
            </a:r>
          </a:p>
        </p:txBody>
      </p:sp>
    </p:spTree>
    <p:extLst>
      <p:ext uri="{BB962C8B-B14F-4D97-AF65-F5344CB8AC3E}">
        <p14:creationId xmlns:p14="http://schemas.microsoft.com/office/powerpoint/2010/main" val="41685261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A9FF35E-D819-324E-BA96-BD7B0965566D}" type="slidenum">
              <a:rPr lang="en-US" sz="1000">
                <a:solidFill>
                  <a:schemeClr val="bg1"/>
                </a:solidFill>
              </a:rPr>
              <a:pPr/>
              <a:t>42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501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1"/>
            <a:ext cx="8229600" cy="4525963"/>
          </a:xfrm>
        </p:spPr>
        <p:txBody>
          <a:bodyPr/>
          <a:lstStyle/>
          <a:p>
            <a:pPr marL="457200" indent="-457200" algn="just" eaLnBrk="1" hangingPunct="1">
              <a:buFontTx/>
              <a:buAutoNum type="alphaLcParenR"/>
            </a:pPr>
            <a:r>
              <a:rPr lang="en-US" sz="2400" dirty="0"/>
              <a:t>Calculate and interpret the value of the correlation coefficient between sale price and size.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400" dirty="0"/>
              <a:t>Calculate and interpret the value of the correlation co-efficient between sale price and land-to-building ratio.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400" dirty="0"/>
              <a:t>If you wanted to predict sale price and you could use either size or land-to-building ratio as the basis for making predictions, which would you use? Explain.</a:t>
            </a:r>
          </a:p>
          <a:p>
            <a:pPr marL="457200" indent="-457200" algn="just" eaLnBrk="1" hangingPunct="1">
              <a:buFontTx/>
              <a:buAutoNum type="alphaLcParenR"/>
            </a:pPr>
            <a:r>
              <a:rPr lang="en-US" sz="2400" dirty="0"/>
              <a:t>Based on your choice in Part (c), find the equation of the least-square regression line you would use for predicting </a:t>
            </a:r>
            <a:r>
              <a:rPr lang="en-US" sz="2400" i="1" dirty="0"/>
              <a:t>y </a:t>
            </a:r>
            <a:r>
              <a:rPr lang="en-US" sz="2400" dirty="0"/>
              <a:t>= sale price.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190528" y="274638"/>
            <a:ext cx="6563072" cy="1143000"/>
          </a:xfrm>
        </p:spPr>
        <p:txBody>
          <a:bodyPr/>
          <a:lstStyle/>
          <a:p>
            <a:pPr eaLnBrk="1" hangingPunct="1"/>
            <a:r>
              <a:rPr lang="en-US" sz="4400" dirty="0">
                <a:solidFill>
                  <a:srgbClr val="C00000"/>
                </a:solidFill>
                <a:latin typeface="+mn-lt"/>
              </a:rPr>
              <a:t>Exercise #2</a:t>
            </a:r>
          </a:p>
        </p:txBody>
      </p:sp>
    </p:spTree>
    <p:extLst>
      <p:ext uri="{BB962C8B-B14F-4D97-AF65-F5344CB8AC3E}">
        <p14:creationId xmlns:p14="http://schemas.microsoft.com/office/powerpoint/2010/main" val="2600887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34A1-2DD4-C680-54DD-BCDC55A05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6">
            <a:extLst>
              <a:ext uri="{FF2B5EF4-FFF2-40B4-BE49-F238E27FC236}">
                <a16:creationId xmlns:a16="http://schemas.microsoft.com/office/drawing/2014/main" id="{00101490-DB31-473A-D65E-D0E5AA94A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-128"/>
                <a:cs typeface="+mn-cs"/>
              </a:defRPr>
            </a:lvl9pPr>
          </a:lstStyle>
          <a:p>
            <a:fld id="{E84E0A14-FAA9-F840-8F6E-CF85F7234053}" type="slidenum">
              <a:rPr lang="en-US" altLang="x-none" smtClean="0"/>
              <a:pPr/>
              <a:t>43</a:t>
            </a:fld>
            <a:endParaRPr lang="en-US" altLang="en-US" sz="1000">
              <a:solidFill>
                <a:schemeClr val="bg1"/>
              </a:solidFill>
            </a:endParaRPr>
          </a:p>
        </p:txBody>
      </p:sp>
      <p:sp>
        <p:nvSpPr>
          <p:cNvPr id="261" name="Google Shape;261;p1">
            <a:extLst>
              <a:ext uri="{FF2B5EF4-FFF2-40B4-BE49-F238E27FC236}">
                <a16:creationId xmlns:a16="http://schemas.microsoft.com/office/drawing/2014/main" id="{876948E3-E7A6-D8B9-BEC3-E17128A570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610062" h="1086267" extrusionOk="0">
                <a:moveTo>
                  <a:pt x="10933" y="0"/>
                </a:moveTo>
                <a:lnTo>
                  <a:pt x="1599129" y="0"/>
                </a:lnTo>
                <a:cubicBezTo>
                  <a:pt x="1602029" y="0"/>
                  <a:pt x="1604810" y="1152"/>
                  <a:pt x="1606860" y="3202"/>
                </a:cubicBezTo>
                <a:cubicBezTo>
                  <a:pt x="1608910" y="5253"/>
                  <a:pt x="1610062" y="8033"/>
                  <a:pt x="1610062" y="10933"/>
                </a:cubicBezTo>
                <a:lnTo>
                  <a:pt x="1610062" y="1075334"/>
                </a:lnTo>
                <a:cubicBezTo>
                  <a:pt x="1610062" y="1078234"/>
                  <a:pt x="1608910" y="1081014"/>
                  <a:pt x="1606860" y="1083065"/>
                </a:cubicBezTo>
                <a:cubicBezTo>
                  <a:pt x="1604810" y="1085115"/>
                  <a:pt x="1602029" y="1086267"/>
                  <a:pt x="1599129" y="1086267"/>
                </a:cubicBezTo>
                <a:lnTo>
                  <a:pt x="10933" y="1086267"/>
                </a:lnTo>
                <a:cubicBezTo>
                  <a:pt x="8033" y="1086267"/>
                  <a:pt x="5253" y="1085115"/>
                  <a:pt x="3202" y="1083065"/>
                </a:cubicBezTo>
                <a:cubicBezTo>
                  <a:pt x="1152" y="1081014"/>
                  <a:pt x="0" y="1078234"/>
                  <a:pt x="0" y="1075334"/>
                </a:cubicBezTo>
                <a:lnTo>
                  <a:pt x="0" y="10933"/>
                </a:lnTo>
                <a:cubicBezTo>
                  <a:pt x="0" y="8033"/>
                  <a:pt x="1152" y="5253"/>
                  <a:pt x="3202" y="3202"/>
                </a:cubicBezTo>
                <a:cubicBezTo>
                  <a:pt x="5253" y="1152"/>
                  <a:pt x="8033" y="0"/>
                  <a:pt x="10933" y="0"/>
                </a:cubicBez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l="-9963" t="2" r="-9976" b="-529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" name="Google Shape;263;p1">
            <a:extLst>
              <a:ext uri="{FF2B5EF4-FFF2-40B4-BE49-F238E27FC236}">
                <a16:creationId xmlns:a16="http://schemas.microsoft.com/office/drawing/2014/main" id="{949CE8CD-1FF3-17F6-FB7C-7D7C8A6A80BD}"/>
              </a:ext>
            </a:extLst>
          </p:cNvPr>
          <p:cNvGrpSpPr/>
          <p:nvPr/>
        </p:nvGrpSpPr>
        <p:grpSpPr>
          <a:xfrm>
            <a:off x="11707824" y="0"/>
            <a:ext cx="179377" cy="6858000"/>
            <a:chOff x="0" y="-47625"/>
            <a:chExt cx="72806" cy="2756958"/>
          </a:xfrm>
        </p:grpSpPr>
        <p:sp>
          <p:nvSpPr>
            <p:cNvPr id="6" name="Google Shape;264;p1">
              <a:extLst>
                <a:ext uri="{FF2B5EF4-FFF2-40B4-BE49-F238E27FC236}">
                  <a16:creationId xmlns:a16="http://schemas.microsoft.com/office/drawing/2014/main" id="{3A2D2E4D-2B31-661C-6D59-4FDC3EBA65E4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65;p1">
              <a:extLst>
                <a:ext uri="{FF2B5EF4-FFF2-40B4-BE49-F238E27FC236}">
                  <a16:creationId xmlns:a16="http://schemas.microsoft.com/office/drawing/2014/main" id="{B5BCCD41-30CC-D7AC-BF2F-9C50538F0F7C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269;p1">
            <a:extLst>
              <a:ext uri="{FF2B5EF4-FFF2-40B4-BE49-F238E27FC236}">
                <a16:creationId xmlns:a16="http://schemas.microsoft.com/office/drawing/2014/main" id="{7F905F8C-5EE5-2241-D908-1C91A5C1754A}"/>
              </a:ext>
            </a:extLst>
          </p:cNvPr>
          <p:cNvSpPr txBox="1"/>
          <p:nvPr/>
        </p:nvSpPr>
        <p:spPr>
          <a:xfrm>
            <a:off x="609600" y="6356351"/>
            <a:ext cx="3671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dirty="0">
                <a:solidFill>
                  <a:srgbClr val="901042"/>
                </a:solidFill>
                <a:latin typeface="Poppins"/>
                <a:ea typeface="Poppins"/>
                <a:cs typeface="Poppins"/>
                <a:sym typeface="Poppins"/>
              </a:rPr>
              <a:t>Innovating Sustainable Solutions</a:t>
            </a:r>
            <a:endParaRPr sz="1500" b="1" i="1" dirty="0">
              <a:solidFill>
                <a:srgbClr val="901042"/>
              </a:solidFill>
            </a:endParaRPr>
          </a:p>
        </p:txBody>
      </p:sp>
      <p:sp>
        <p:nvSpPr>
          <p:cNvPr id="11" name="Title 14">
            <a:extLst>
              <a:ext uri="{FF2B5EF4-FFF2-40B4-BE49-F238E27FC236}">
                <a16:creationId xmlns:a16="http://schemas.microsoft.com/office/drawing/2014/main" id="{B963D126-16E5-C85D-0CB8-5D8F953E315C}"/>
              </a:ext>
            </a:extLst>
          </p:cNvPr>
          <p:cNvSpPr txBox="1">
            <a:spLocks/>
          </p:cNvSpPr>
          <p:nvPr/>
        </p:nvSpPr>
        <p:spPr bwMode="auto">
          <a:xfrm>
            <a:off x="1" y="1524000"/>
            <a:ext cx="12192000" cy="1712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altLang="en-US" sz="6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SCST1223</a:t>
            </a:r>
          </a:p>
          <a:p>
            <a:pPr algn="ctr">
              <a:defRPr/>
            </a:pPr>
            <a:r>
              <a:rPr lang="en-US" alt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latin typeface="+mj-lt"/>
                <a:ea typeface="ＭＳ Ｐゴシック" charset="0"/>
              </a:rPr>
              <a:t>Probability &amp; statistical data analysis</a:t>
            </a:r>
          </a:p>
        </p:txBody>
      </p:sp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2F178D1B-F7A9-16D9-A400-98EA35FFF73C}"/>
              </a:ext>
            </a:extLst>
          </p:cNvPr>
          <p:cNvSpPr txBox="1">
            <a:spLocks/>
          </p:cNvSpPr>
          <p:nvPr/>
        </p:nvSpPr>
        <p:spPr bwMode="auto">
          <a:xfrm>
            <a:off x="2208213" y="3236168"/>
            <a:ext cx="7777162" cy="2455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en-US" altLang="x-none" sz="4800" b="1" dirty="0">
                <a:latin typeface="+mj-lt"/>
              </a:rPr>
              <a:t>CHAPTER 7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4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PART 2: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LINEAR REGRESSION MODEL (3)</a:t>
            </a:r>
          </a:p>
          <a:p>
            <a:pPr algn="ctr" eaLnBrk="1" hangingPunct="1">
              <a:buFont typeface="Arial" charset="0"/>
              <a:buNone/>
            </a:pPr>
            <a:r>
              <a:rPr lang="en-US" altLang="en-US" sz="36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Test the Inference using T test</a:t>
            </a:r>
          </a:p>
        </p:txBody>
      </p:sp>
      <p:grpSp>
        <p:nvGrpSpPr>
          <p:cNvPr id="13" name="Google Shape;263;p1">
            <a:extLst>
              <a:ext uri="{FF2B5EF4-FFF2-40B4-BE49-F238E27FC236}">
                <a16:creationId xmlns:a16="http://schemas.microsoft.com/office/drawing/2014/main" id="{8773DC7E-43BD-DC01-BB16-18B07DC87D5B}"/>
              </a:ext>
            </a:extLst>
          </p:cNvPr>
          <p:cNvGrpSpPr/>
          <p:nvPr/>
        </p:nvGrpSpPr>
        <p:grpSpPr>
          <a:xfrm>
            <a:off x="11728422" y="0"/>
            <a:ext cx="158778" cy="6858000"/>
            <a:chOff x="0" y="-47625"/>
            <a:chExt cx="72806" cy="2756958"/>
          </a:xfrm>
        </p:grpSpPr>
        <p:sp>
          <p:nvSpPr>
            <p:cNvPr id="14" name="Google Shape;264;p1">
              <a:extLst>
                <a:ext uri="{FF2B5EF4-FFF2-40B4-BE49-F238E27FC236}">
                  <a16:creationId xmlns:a16="http://schemas.microsoft.com/office/drawing/2014/main" id="{FAEB67FE-1256-BC61-3B50-CE81C74B7DFD}"/>
                </a:ext>
              </a:extLst>
            </p:cNvPr>
            <p:cNvSpPr/>
            <p:nvPr/>
          </p:nvSpPr>
          <p:spPr>
            <a:xfrm>
              <a:off x="0" y="0"/>
              <a:ext cx="72806" cy="2709333"/>
            </a:xfrm>
            <a:custGeom>
              <a:avLst/>
              <a:gdLst/>
              <a:ahLst/>
              <a:cxnLst/>
              <a:rect l="l" t="t" r="r" b="b"/>
              <a:pathLst>
                <a:path w="72806" h="2709333" extrusionOk="0">
                  <a:moveTo>
                    <a:pt x="0" y="0"/>
                  </a:moveTo>
                  <a:lnTo>
                    <a:pt x="72806" y="0"/>
                  </a:lnTo>
                  <a:lnTo>
                    <a:pt x="7280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01042"/>
            </a:solidFill>
            <a:ln>
              <a:noFill/>
            </a:ln>
          </p:spPr>
          <p:txBody>
            <a:bodyPr spcFirstLastPara="1" wrap="square" lIns="177700" tIns="88825" rIns="177700" bIns="8882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65;p1">
              <a:extLst>
                <a:ext uri="{FF2B5EF4-FFF2-40B4-BE49-F238E27FC236}">
                  <a16:creationId xmlns:a16="http://schemas.microsoft.com/office/drawing/2014/main" id="{01781DEB-8819-9413-99A8-593C789C4061}"/>
                </a:ext>
              </a:extLst>
            </p:cNvPr>
            <p:cNvSpPr txBox="1"/>
            <p:nvPr/>
          </p:nvSpPr>
          <p:spPr>
            <a:xfrm>
              <a:off x="0" y="-47625"/>
              <a:ext cx="72806" cy="27569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8725" tIns="98725" rIns="98725" bIns="98725" anchor="ctr" anchorCtr="0">
              <a:noAutofit/>
            </a:bodyPr>
            <a:lstStyle/>
            <a:p>
              <a:pPr marL="0" marR="0" lvl="0" indent="0" algn="ctr" rtl="0">
                <a:lnSpc>
                  <a:spcPct val="203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349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68;p1">
            <a:extLst>
              <a:ext uri="{FF2B5EF4-FFF2-40B4-BE49-F238E27FC236}">
                <a16:creationId xmlns:a16="http://schemas.microsoft.com/office/drawing/2014/main" id="{827AB0BE-92E0-FE8D-88C3-BBE59C5C1C6D}"/>
              </a:ext>
            </a:extLst>
          </p:cNvPr>
          <p:cNvSpPr/>
          <p:nvPr/>
        </p:nvSpPr>
        <p:spPr>
          <a:xfrm>
            <a:off x="631247" y="225438"/>
            <a:ext cx="1577797" cy="536562"/>
          </a:xfrm>
          <a:custGeom>
            <a:avLst/>
            <a:gdLst/>
            <a:ahLst/>
            <a:cxnLst/>
            <a:rect l="l" t="t" r="r" b="b"/>
            <a:pathLst>
              <a:path w="2072975" h="704957" extrusionOk="0">
                <a:moveTo>
                  <a:pt x="0" y="0"/>
                </a:moveTo>
                <a:lnTo>
                  <a:pt x="2072975" y="0"/>
                </a:lnTo>
                <a:lnTo>
                  <a:pt x="2072975" y="704957"/>
                </a:lnTo>
                <a:lnTo>
                  <a:pt x="0" y="7049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7017882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13181BC7-9564-1249-8F26-17E306F445B6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44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>
          <a:xfrm>
            <a:off x="3657600" y="304800"/>
            <a:ext cx="6650038" cy="10668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The Standard Deviation of the Regression Slope</a:t>
            </a:r>
          </a:p>
        </p:txBody>
      </p:sp>
      <p:sp>
        <p:nvSpPr>
          <p:cNvPr id="378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600201"/>
            <a:ext cx="8153400" cy="4525963"/>
          </a:xfrm>
        </p:spPr>
        <p:txBody>
          <a:bodyPr/>
          <a:lstStyle/>
          <a:p>
            <a:pPr marL="320675" indent="-320675" algn="just" defTabSz="852488" eaLnBrk="1" hangingPunct="1"/>
            <a:r>
              <a:rPr lang="en-US" sz="2800" dirty="0"/>
              <a:t>The standard error of the regression slope coefficient (</a:t>
            </a:r>
            <a:r>
              <a:rPr lang="en-US" sz="2800" i="1" dirty="0"/>
              <a:t>b</a:t>
            </a:r>
            <a:r>
              <a:rPr lang="en-US" sz="2800" i="1" baseline="-25000" dirty="0"/>
              <a:t>1</a:t>
            </a:r>
            <a:r>
              <a:rPr lang="en-US" sz="2800" dirty="0"/>
              <a:t>) is estimated by</a:t>
            </a:r>
          </a:p>
        </p:txBody>
      </p:sp>
      <p:graphicFrame>
        <p:nvGraphicFramePr>
          <p:cNvPr id="37894" name="Object 4"/>
          <p:cNvGraphicFramePr>
            <a:graphicFrameLocks noChangeAspect="1"/>
          </p:cNvGraphicFramePr>
          <p:nvPr/>
        </p:nvGraphicFramePr>
        <p:xfrm>
          <a:off x="3581400" y="2819400"/>
          <a:ext cx="5919788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00300" imgH="660400" progId="Equation.3">
                  <p:embed/>
                </p:oleObj>
              </mc:Choice>
              <mc:Fallback>
                <p:oleObj name="Equation" r:id="rId2" imgW="2400300" imgH="6604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819400"/>
                        <a:ext cx="5919788" cy="16271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5" name="Rectangle 5"/>
          <p:cNvSpPr>
            <a:spLocks noChangeArrowheads="1"/>
          </p:cNvSpPr>
          <p:nvPr/>
        </p:nvSpPr>
        <p:spPr bwMode="auto">
          <a:xfrm>
            <a:off x="2209800" y="4648200"/>
            <a:ext cx="8305800" cy="168783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ＭＳ Ｐゴシック" pitchFamily="34" charset="-128"/>
                <a:cs typeface="+mn-cs"/>
              </a:rPr>
              <a:t>where:</a:t>
            </a:r>
          </a:p>
          <a:p>
            <a:pPr>
              <a:lnSpc>
                <a:spcPct val="160000"/>
              </a:lnSpc>
              <a:defRPr/>
            </a:pPr>
            <a:r>
              <a:rPr lang="en-US" altLang="en-US" sz="2400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ＭＳ Ｐゴシック" pitchFamily="34" charset="-128"/>
                <a:cs typeface="+mn-cs"/>
              </a:rPr>
              <a:t>	</a:t>
            </a:r>
            <a:r>
              <a:rPr lang="en-US" altLang="en-US" sz="2400" dirty="0">
                <a:solidFill>
                  <a:srgbClr val="000000"/>
                </a:solidFill>
                <a:latin typeface="+mn-lt"/>
                <a:ea typeface="ＭＳ Ｐゴシック" pitchFamily="34" charset="-128"/>
                <a:cs typeface="+mn-cs"/>
              </a:rPr>
              <a:t>= Estimate of the standard error of the least squares slope</a:t>
            </a:r>
          </a:p>
          <a:p>
            <a:pPr>
              <a:lnSpc>
                <a:spcPct val="200000"/>
              </a:lnSpc>
              <a:defRPr/>
            </a:pPr>
            <a:r>
              <a:rPr lang="en-US" altLang="en-US" sz="2400" dirty="0">
                <a:solidFill>
                  <a:srgbClr val="000000"/>
                </a:solidFill>
                <a:latin typeface="+mn-lt"/>
                <a:ea typeface="ＭＳ Ｐゴシック" pitchFamily="34" charset="-128"/>
                <a:cs typeface="+mn-cs"/>
              </a:rPr>
              <a:t>		= Sample standard error of the estimate</a:t>
            </a:r>
          </a:p>
        </p:txBody>
      </p:sp>
      <p:graphicFrame>
        <p:nvGraphicFramePr>
          <p:cNvPr id="37896" name="Object 6"/>
          <p:cNvGraphicFramePr>
            <a:graphicFrameLocks noChangeAspect="1"/>
          </p:cNvGraphicFramePr>
          <p:nvPr/>
        </p:nvGraphicFramePr>
        <p:xfrm>
          <a:off x="2667000" y="4876800"/>
          <a:ext cx="6175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713" imgH="241091" progId="Equation.3">
                  <p:embed/>
                </p:oleObj>
              </mc:Choice>
              <mc:Fallback>
                <p:oleObj name="Equation" r:id="rId4" imgW="215713" imgH="241091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4876800"/>
                        <a:ext cx="617538" cy="685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7" name="Object 7"/>
          <p:cNvGraphicFramePr>
            <a:graphicFrameLocks noChangeAspect="1"/>
          </p:cNvGraphicFramePr>
          <p:nvPr/>
        </p:nvGraphicFramePr>
        <p:xfrm>
          <a:off x="2590800" y="5638801"/>
          <a:ext cx="14922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87058" imgH="444307" progId="Equation.3">
                  <p:embed/>
                </p:oleObj>
              </mc:Choice>
              <mc:Fallback>
                <p:oleObj name="Equation" r:id="rId6" imgW="787058" imgH="444307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5638801"/>
                        <a:ext cx="1492250" cy="8429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57F5DF16-9FEE-2041-A6D9-A5600D2FB0FE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45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/>
            <a:r>
              <a:rPr lang="en-US" sz="4400" dirty="0">
                <a:latin typeface="+mn-lt"/>
              </a:rPr>
              <a:t>Comparing Standard Errors</a:t>
            </a:r>
          </a:p>
        </p:txBody>
      </p:sp>
      <p:sp>
        <p:nvSpPr>
          <p:cNvPr id="40005" name="Text Box 67"/>
          <p:cNvSpPr txBox="1">
            <a:spLocks noChangeArrowheads="1"/>
          </p:cNvSpPr>
          <p:nvPr/>
        </p:nvSpPr>
        <p:spPr bwMode="auto">
          <a:xfrm>
            <a:off x="2514600" y="1371601"/>
            <a:ext cx="2971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+mn-lt"/>
              </a:rPr>
              <a:t>Variation of observed y values from the regression line</a:t>
            </a:r>
          </a:p>
        </p:txBody>
      </p:sp>
      <p:sp>
        <p:nvSpPr>
          <p:cNvPr id="40006" name="Text Box 68"/>
          <p:cNvSpPr txBox="1">
            <a:spLocks noChangeArrowheads="1"/>
          </p:cNvSpPr>
          <p:nvPr/>
        </p:nvSpPr>
        <p:spPr bwMode="auto">
          <a:xfrm>
            <a:off x="7010400" y="1371600"/>
            <a:ext cx="3505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1800" dirty="0">
                <a:latin typeface="+mn-lt"/>
              </a:rPr>
              <a:t>Variation in the slope of regression lines from different possible samples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2185988" y="1676401"/>
            <a:ext cx="7567612" cy="4860925"/>
            <a:chOff x="661988" y="1676400"/>
            <a:chExt cx="7567612" cy="4860925"/>
          </a:xfrm>
        </p:grpSpPr>
        <p:sp>
          <p:nvSpPr>
            <p:cNvPr id="39941" name="Line 3"/>
            <p:cNvSpPr>
              <a:spLocks noChangeShapeType="1"/>
            </p:cNvSpPr>
            <p:nvPr/>
          </p:nvSpPr>
          <p:spPr bwMode="auto">
            <a:xfrm flipH="1">
              <a:off x="990600" y="45720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42" name="Line 4"/>
            <p:cNvSpPr>
              <a:spLocks noChangeShapeType="1"/>
            </p:cNvSpPr>
            <p:nvPr/>
          </p:nvSpPr>
          <p:spPr bwMode="auto">
            <a:xfrm flipV="1">
              <a:off x="1006475" y="4724400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43" name="Oval 5"/>
            <p:cNvSpPr>
              <a:spLocks noChangeArrowheads="1"/>
            </p:cNvSpPr>
            <p:nvPr/>
          </p:nvSpPr>
          <p:spPr bwMode="auto">
            <a:xfrm rot="-7282380">
              <a:off x="1219200" y="5638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4" name="Oval 6"/>
            <p:cNvSpPr>
              <a:spLocks noChangeArrowheads="1"/>
            </p:cNvSpPr>
            <p:nvPr/>
          </p:nvSpPr>
          <p:spPr bwMode="auto">
            <a:xfrm rot="-7282380">
              <a:off x="1219200" y="5334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5" name="Oval 7"/>
            <p:cNvSpPr>
              <a:spLocks noChangeArrowheads="1"/>
            </p:cNvSpPr>
            <p:nvPr/>
          </p:nvSpPr>
          <p:spPr bwMode="auto">
            <a:xfrm rot="-7282380">
              <a:off x="2971800" y="4343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6" name="Oval 8"/>
            <p:cNvSpPr>
              <a:spLocks noChangeArrowheads="1"/>
            </p:cNvSpPr>
            <p:nvPr/>
          </p:nvSpPr>
          <p:spPr bwMode="auto">
            <a:xfrm rot="-7282380">
              <a:off x="3124200" y="4724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7" name="Oval 9"/>
            <p:cNvSpPr>
              <a:spLocks noChangeArrowheads="1"/>
            </p:cNvSpPr>
            <p:nvPr/>
          </p:nvSpPr>
          <p:spPr bwMode="auto">
            <a:xfrm rot="-7282380">
              <a:off x="1676400" y="5562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8" name="Oval 10"/>
            <p:cNvSpPr>
              <a:spLocks noChangeArrowheads="1"/>
            </p:cNvSpPr>
            <p:nvPr/>
          </p:nvSpPr>
          <p:spPr bwMode="auto">
            <a:xfrm rot="-7282380">
              <a:off x="2971800" y="4953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49" name="Oval 11"/>
            <p:cNvSpPr>
              <a:spLocks noChangeArrowheads="1"/>
            </p:cNvSpPr>
            <p:nvPr/>
          </p:nvSpPr>
          <p:spPr bwMode="auto">
            <a:xfrm rot="-7282380">
              <a:off x="2514600" y="5562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0" name="Oval 12"/>
            <p:cNvSpPr>
              <a:spLocks noChangeArrowheads="1"/>
            </p:cNvSpPr>
            <p:nvPr/>
          </p:nvSpPr>
          <p:spPr bwMode="auto">
            <a:xfrm rot="-7282380">
              <a:off x="2590800" y="4343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1" name="Oval 13"/>
            <p:cNvSpPr>
              <a:spLocks noChangeArrowheads="1"/>
            </p:cNvSpPr>
            <p:nvPr/>
          </p:nvSpPr>
          <p:spPr bwMode="auto">
            <a:xfrm rot="-7282380">
              <a:off x="2057400" y="4495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2" name="Oval 14"/>
            <p:cNvSpPr>
              <a:spLocks noChangeArrowheads="1"/>
            </p:cNvSpPr>
            <p:nvPr/>
          </p:nvSpPr>
          <p:spPr bwMode="auto">
            <a:xfrm rot="-7282380">
              <a:off x="1143000" y="4953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3" name="Oval 15"/>
            <p:cNvSpPr>
              <a:spLocks noChangeArrowheads="1"/>
            </p:cNvSpPr>
            <p:nvPr/>
          </p:nvSpPr>
          <p:spPr bwMode="auto">
            <a:xfrm rot="-7282380">
              <a:off x="1371600" y="4572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4" name="Oval 16"/>
            <p:cNvSpPr>
              <a:spLocks noChangeArrowheads="1"/>
            </p:cNvSpPr>
            <p:nvPr/>
          </p:nvSpPr>
          <p:spPr bwMode="auto">
            <a:xfrm rot="-7282380">
              <a:off x="1752600" y="5140325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39955" name="Oval 17"/>
            <p:cNvSpPr>
              <a:spLocks noChangeArrowheads="1"/>
            </p:cNvSpPr>
            <p:nvPr/>
          </p:nvSpPr>
          <p:spPr bwMode="auto">
            <a:xfrm rot="-7282380">
              <a:off x="2590800" y="5105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6" name="Oval 18"/>
            <p:cNvSpPr>
              <a:spLocks noChangeArrowheads="1"/>
            </p:cNvSpPr>
            <p:nvPr/>
          </p:nvSpPr>
          <p:spPr bwMode="auto">
            <a:xfrm rot="-7282380">
              <a:off x="2209800" y="5257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7" name="Oval 19"/>
            <p:cNvSpPr>
              <a:spLocks noChangeArrowheads="1"/>
            </p:cNvSpPr>
            <p:nvPr/>
          </p:nvSpPr>
          <p:spPr bwMode="auto">
            <a:xfrm rot="-7282380">
              <a:off x="2057400" y="5715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58" name="Text Box 20"/>
            <p:cNvSpPr txBox="1">
              <a:spLocks noChangeArrowheads="1"/>
            </p:cNvSpPr>
            <p:nvPr/>
          </p:nvSpPr>
          <p:spPr bwMode="auto">
            <a:xfrm>
              <a:off x="661988" y="4265613"/>
              <a:ext cx="324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39959" name="Line 21"/>
            <p:cNvSpPr>
              <a:spLocks noChangeShapeType="1"/>
            </p:cNvSpPr>
            <p:nvPr/>
          </p:nvSpPr>
          <p:spPr bwMode="auto">
            <a:xfrm>
              <a:off x="990600" y="60198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60" name="Oval 22"/>
            <p:cNvSpPr>
              <a:spLocks noChangeArrowheads="1"/>
            </p:cNvSpPr>
            <p:nvPr/>
          </p:nvSpPr>
          <p:spPr bwMode="auto">
            <a:xfrm rot="-7282380">
              <a:off x="3352800" y="5181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1" name="Oval 23"/>
            <p:cNvSpPr>
              <a:spLocks noChangeArrowheads="1"/>
            </p:cNvSpPr>
            <p:nvPr/>
          </p:nvSpPr>
          <p:spPr bwMode="auto">
            <a:xfrm rot="-7282380">
              <a:off x="2514600" y="4800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2" name="Oval 24"/>
            <p:cNvSpPr>
              <a:spLocks noChangeArrowheads="1"/>
            </p:cNvSpPr>
            <p:nvPr/>
          </p:nvSpPr>
          <p:spPr bwMode="auto">
            <a:xfrm rot="-7282380">
              <a:off x="2362200" y="4495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3" name="Oval 25"/>
            <p:cNvSpPr>
              <a:spLocks noChangeArrowheads="1"/>
            </p:cNvSpPr>
            <p:nvPr/>
          </p:nvSpPr>
          <p:spPr bwMode="auto">
            <a:xfrm rot="-7282380">
              <a:off x="1828800" y="4800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4" name="Oval 26"/>
            <p:cNvSpPr>
              <a:spLocks noChangeArrowheads="1"/>
            </p:cNvSpPr>
            <p:nvPr/>
          </p:nvSpPr>
          <p:spPr bwMode="auto">
            <a:xfrm rot="-7282380">
              <a:off x="3054350" y="5341938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5" name="Line 27"/>
            <p:cNvSpPr>
              <a:spLocks noChangeShapeType="1"/>
            </p:cNvSpPr>
            <p:nvPr/>
          </p:nvSpPr>
          <p:spPr bwMode="auto">
            <a:xfrm flipH="1">
              <a:off x="990600" y="2057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66" name="Line 28"/>
            <p:cNvSpPr>
              <a:spLocks noChangeShapeType="1"/>
            </p:cNvSpPr>
            <p:nvPr/>
          </p:nvSpPr>
          <p:spPr bwMode="auto">
            <a:xfrm flipV="1">
              <a:off x="1006475" y="2209800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67" name="Oval 29"/>
            <p:cNvSpPr>
              <a:spLocks noChangeArrowheads="1"/>
            </p:cNvSpPr>
            <p:nvPr/>
          </p:nvSpPr>
          <p:spPr bwMode="auto">
            <a:xfrm rot="-7282380">
              <a:off x="1143000" y="3048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8" name="Oval 30"/>
            <p:cNvSpPr>
              <a:spLocks noChangeArrowheads="1"/>
            </p:cNvSpPr>
            <p:nvPr/>
          </p:nvSpPr>
          <p:spPr bwMode="auto">
            <a:xfrm rot="-7282380">
              <a:off x="1219200" y="2819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69" name="Oval 31"/>
            <p:cNvSpPr>
              <a:spLocks noChangeArrowheads="1"/>
            </p:cNvSpPr>
            <p:nvPr/>
          </p:nvSpPr>
          <p:spPr bwMode="auto">
            <a:xfrm rot="-7282380">
              <a:off x="3352800" y="2057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0" name="Oval 32"/>
            <p:cNvSpPr>
              <a:spLocks noChangeArrowheads="1"/>
            </p:cNvSpPr>
            <p:nvPr/>
          </p:nvSpPr>
          <p:spPr bwMode="auto">
            <a:xfrm rot="-7282380">
              <a:off x="3124200" y="2209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1" name="Oval 33"/>
            <p:cNvSpPr>
              <a:spLocks noChangeArrowheads="1"/>
            </p:cNvSpPr>
            <p:nvPr/>
          </p:nvSpPr>
          <p:spPr bwMode="auto">
            <a:xfrm rot="-7282380">
              <a:off x="1600200" y="2819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2" name="Oval 34"/>
            <p:cNvSpPr>
              <a:spLocks noChangeArrowheads="1"/>
            </p:cNvSpPr>
            <p:nvPr/>
          </p:nvSpPr>
          <p:spPr bwMode="auto">
            <a:xfrm rot="-7282380">
              <a:off x="2971800" y="2438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3" name="Oval 35"/>
            <p:cNvSpPr>
              <a:spLocks noChangeArrowheads="1"/>
            </p:cNvSpPr>
            <p:nvPr/>
          </p:nvSpPr>
          <p:spPr bwMode="auto">
            <a:xfrm rot="-7282380">
              <a:off x="2743200" y="2209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4" name="Oval 36"/>
            <p:cNvSpPr>
              <a:spLocks noChangeArrowheads="1"/>
            </p:cNvSpPr>
            <p:nvPr/>
          </p:nvSpPr>
          <p:spPr bwMode="auto">
            <a:xfrm rot="-7282380">
              <a:off x="1447800" y="2667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5" name="Oval 37"/>
            <p:cNvSpPr>
              <a:spLocks noChangeArrowheads="1"/>
            </p:cNvSpPr>
            <p:nvPr/>
          </p:nvSpPr>
          <p:spPr bwMode="auto">
            <a:xfrm rot="-7282380">
              <a:off x="1828800" y="2438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/>
            <a:p>
              <a:pPr algn="ctr"/>
              <a:endParaRPr lang="en-US" b="0">
                <a:latin typeface="+mn-lt"/>
              </a:endParaRPr>
            </a:p>
          </p:txBody>
        </p:sp>
        <p:sp>
          <p:nvSpPr>
            <p:cNvPr id="39976" name="Oval 38"/>
            <p:cNvSpPr>
              <a:spLocks noChangeArrowheads="1"/>
            </p:cNvSpPr>
            <p:nvPr/>
          </p:nvSpPr>
          <p:spPr bwMode="auto">
            <a:xfrm rot="-7282380">
              <a:off x="2590800" y="25908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7" name="Oval 39"/>
            <p:cNvSpPr>
              <a:spLocks noChangeArrowheads="1"/>
            </p:cNvSpPr>
            <p:nvPr/>
          </p:nvSpPr>
          <p:spPr bwMode="auto">
            <a:xfrm rot="-7282380">
              <a:off x="2209800" y="27432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8" name="Oval 40"/>
            <p:cNvSpPr>
              <a:spLocks noChangeArrowheads="1"/>
            </p:cNvSpPr>
            <p:nvPr/>
          </p:nvSpPr>
          <p:spPr bwMode="auto">
            <a:xfrm rot="-7282380">
              <a:off x="1905000" y="2819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79" name="Text Box 41"/>
            <p:cNvSpPr txBox="1">
              <a:spLocks noChangeArrowheads="1"/>
            </p:cNvSpPr>
            <p:nvPr/>
          </p:nvSpPr>
          <p:spPr bwMode="auto">
            <a:xfrm>
              <a:off x="661988" y="1751013"/>
              <a:ext cx="324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39980" name="Line 42"/>
            <p:cNvSpPr>
              <a:spLocks noChangeShapeType="1"/>
            </p:cNvSpPr>
            <p:nvPr/>
          </p:nvSpPr>
          <p:spPr bwMode="auto">
            <a:xfrm>
              <a:off x="990600" y="3505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81" name="Oval 43"/>
            <p:cNvSpPr>
              <a:spLocks noChangeArrowheads="1"/>
            </p:cNvSpPr>
            <p:nvPr/>
          </p:nvSpPr>
          <p:spPr bwMode="auto">
            <a:xfrm rot="-7282380">
              <a:off x="2286000" y="25146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82" name="Oval 44"/>
            <p:cNvSpPr>
              <a:spLocks noChangeArrowheads="1"/>
            </p:cNvSpPr>
            <p:nvPr/>
          </p:nvSpPr>
          <p:spPr bwMode="auto">
            <a:xfrm rot="-7282380">
              <a:off x="2514600" y="2286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83" name="Oval 45"/>
            <p:cNvSpPr>
              <a:spLocks noChangeArrowheads="1"/>
            </p:cNvSpPr>
            <p:nvPr/>
          </p:nvSpPr>
          <p:spPr bwMode="auto">
            <a:xfrm rot="-7282380">
              <a:off x="2057400" y="24384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84" name="Oval 46"/>
            <p:cNvSpPr>
              <a:spLocks noChangeArrowheads="1"/>
            </p:cNvSpPr>
            <p:nvPr/>
          </p:nvSpPr>
          <p:spPr bwMode="auto">
            <a:xfrm rot="-7282380">
              <a:off x="3352800" y="2286000"/>
              <a:ext cx="228600" cy="2286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39985" name="Line 47"/>
            <p:cNvSpPr>
              <a:spLocks noChangeShapeType="1"/>
            </p:cNvSpPr>
            <p:nvPr/>
          </p:nvSpPr>
          <p:spPr bwMode="auto">
            <a:xfrm flipH="1">
              <a:off x="5562600" y="20574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86" name="Line 48"/>
            <p:cNvSpPr>
              <a:spLocks noChangeShapeType="1"/>
            </p:cNvSpPr>
            <p:nvPr/>
          </p:nvSpPr>
          <p:spPr bwMode="auto">
            <a:xfrm flipV="1">
              <a:off x="5578475" y="2209800"/>
              <a:ext cx="2574925" cy="873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87" name="Text Box 49"/>
            <p:cNvSpPr txBox="1">
              <a:spLocks noChangeArrowheads="1"/>
            </p:cNvSpPr>
            <p:nvPr/>
          </p:nvSpPr>
          <p:spPr bwMode="auto">
            <a:xfrm>
              <a:off x="5233988" y="1751013"/>
              <a:ext cx="324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39988" name="Line 50"/>
            <p:cNvSpPr>
              <a:spLocks noChangeShapeType="1"/>
            </p:cNvSpPr>
            <p:nvPr/>
          </p:nvSpPr>
          <p:spPr bwMode="auto">
            <a:xfrm>
              <a:off x="5562600" y="35052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89" name="Text Box 51"/>
            <p:cNvSpPr txBox="1">
              <a:spLocks noChangeArrowheads="1"/>
            </p:cNvSpPr>
            <p:nvPr/>
          </p:nvSpPr>
          <p:spPr bwMode="auto">
            <a:xfrm>
              <a:off x="3200400" y="3427413"/>
              <a:ext cx="3177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39990" name="Text Box 52"/>
            <p:cNvSpPr txBox="1">
              <a:spLocks noChangeArrowheads="1"/>
            </p:cNvSpPr>
            <p:nvPr/>
          </p:nvSpPr>
          <p:spPr bwMode="auto">
            <a:xfrm>
              <a:off x="3206750" y="5949950"/>
              <a:ext cx="3177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39991" name="Text Box 53"/>
            <p:cNvSpPr txBox="1">
              <a:spLocks noChangeArrowheads="1"/>
            </p:cNvSpPr>
            <p:nvPr/>
          </p:nvSpPr>
          <p:spPr bwMode="auto">
            <a:xfrm>
              <a:off x="7772400" y="3427413"/>
              <a:ext cx="3177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39992" name="Line 54"/>
            <p:cNvSpPr>
              <a:spLocks noChangeShapeType="1"/>
            </p:cNvSpPr>
            <p:nvPr/>
          </p:nvSpPr>
          <p:spPr bwMode="auto">
            <a:xfrm flipV="1">
              <a:off x="5638800" y="2286000"/>
              <a:ext cx="25908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93" name="Line 55"/>
            <p:cNvSpPr>
              <a:spLocks noChangeShapeType="1"/>
            </p:cNvSpPr>
            <p:nvPr/>
          </p:nvSpPr>
          <p:spPr bwMode="auto">
            <a:xfrm flipV="1">
              <a:off x="5638800" y="2057400"/>
              <a:ext cx="2362200" cy="11430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94" name="Line 56"/>
            <p:cNvSpPr>
              <a:spLocks noChangeShapeType="1"/>
            </p:cNvSpPr>
            <p:nvPr/>
          </p:nvSpPr>
          <p:spPr bwMode="auto">
            <a:xfrm flipH="1">
              <a:off x="5562600" y="4572000"/>
              <a:ext cx="0" cy="14478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95" name="Line 57"/>
            <p:cNvSpPr>
              <a:spLocks noChangeShapeType="1"/>
            </p:cNvSpPr>
            <p:nvPr/>
          </p:nvSpPr>
          <p:spPr bwMode="auto">
            <a:xfrm flipV="1">
              <a:off x="5867400" y="4495800"/>
              <a:ext cx="2057400" cy="1295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96" name="Text Box 58"/>
            <p:cNvSpPr txBox="1">
              <a:spLocks noChangeArrowheads="1"/>
            </p:cNvSpPr>
            <p:nvPr/>
          </p:nvSpPr>
          <p:spPr bwMode="auto">
            <a:xfrm>
              <a:off x="5233988" y="4265613"/>
              <a:ext cx="32412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y</a:t>
              </a:r>
            </a:p>
          </p:txBody>
        </p:sp>
        <p:sp>
          <p:nvSpPr>
            <p:cNvPr id="39997" name="Line 59"/>
            <p:cNvSpPr>
              <a:spLocks noChangeShapeType="1"/>
            </p:cNvSpPr>
            <p:nvPr/>
          </p:nvSpPr>
          <p:spPr bwMode="auto">
            <a:xfrm>
              <a:off x="5562600" y="6019800"/>
              <a:ext cx="22860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9998" name="Text Box 60"/>
            <p:cNvSpPr txBox="1">
              <a:spLocks noChangeArrowheads="1"/>
            </p:cNvSpPr>
            <p:nvPr/>
          </p:nvSpPr>
          <p:spPr bwMode="auto">
            <a:xfrm>
              <a:off x="7772400" y="5942013"/>
              <a:ext cx="3177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r>
                <a:rPr lang="en-US" i="1" dirty="0">
                  <a:latin typeface="+mn-lt"/>
                </a:rPr>
                <a:t>x</a:t>
              </a:r>
            </a:p>
          </p:txBody>
        </p:sp>
        <p:sp>
          <p:nvSpPr>
            <p:cNvPr id="39999" name="Line 61"/>
            <p:cNvSpPr>
              <a:spLocks noChangeShapeType="1"/>
            </p:cNvSpPr>
            <p:nvPr/>
          </p:nvSpPr>
          <p:spPr bwMode="auto">
            <a:xfrm>
              <a:off x="5791200" y="5105400"/>
              <a:ext cx="2362200" cy="2286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0000" name="Line 62"/>
            <p:cNvSpPr>
              <a:spLocks noChangeShapeType="1"/>
            </p:cNvSpPr>
            <p:nvPr/>
          </p:nvSpPr>
          <p:spPr bwMode="auto">
            <a:xfrm flipV="1">
              <a:off x="5638800" y="4800600"/>
              <a:ext cx="2438400" cy="6858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graphicFrame>
          <p:nvGraphicFramePr>
            <p:cNvPr id="40001" name="Object 63"/>
            <p:cNvGraphicFramePr>
              <a:graphicFrameLocks noChangeAspect="1"/>
            </p:cNvGraphicFramePr>
            <p:nvPr/>
          </p:nvGraphicFramePr>
          <p:xfrm>
            <a:off x="6096000" y="3581400"/>
            <a:ext cx="1090613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96900" imgH="241300" progId="Equation.3">
                    <p:embed/>
                  </p:oleObj>
                </mc:Choice>
                <mc:Fallback>
                  <p:oleObj name="Equation" r:id="rId2" imgW="596900" imgH="24130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96000" y="3581400"/>
                          <a:ext cx="1090613" cy="441325"/>
                        </a:xfrm>
                        <a:prstGeom prst="rect">
                          <a:avLst/>
                        </a:prstGeom>
                        <a:solidFill>
                          <a:srgbClr val="C3FFF4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02" name="Object 64"/>
            <p:cNvGraphicFramePr>
              <a:graphicFrameLocks noChangeAspect="1"/>
            </p:cNvGraphicFramePr>
            <p:nvPr/>
          </p:nvGraphicFramePr>
          <p:xfrm>
            <a:off x="6172200" y="6096000"/>
            <a:ext cx="1066800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583947" imgH="241195" progId="Equation.3">
                    <p:embed/>
                  </p:oleObj>
                </mc:Choice>
                <mc:Fallback>
                  <p:oleObj name="Equation" r:id="rId4" imgW="583947" imgH="241195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72200" y="6096000"/>
                          <a:ext cx="1066800" cy="441325"/>
                        </a:xfrm>
                        <a:prstGeom prst="rect">
                          <a:avLst/>
                        </a:prstGeom>
                        <a:solidFill>
                          <a:srgbClr val="C3FFF4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03" name="Object 65"/>
            <p:cNvGraphicFramePr>
              <a:graphicFrameLocks noChangeAspect="1"/>
            </p:cNvGraphicFramePr>
            <p:nvPr/>
          </p:nvGraphicFramePr>
          <p:xfrm>
            <a:off x="1565275" y="3594100"/>
            <a:ext cx="1020763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558800" imgH="228600" progId="Equation.3">
                    <p:embed/>
                  </p:oleObj>
                </mc:Choice>
                <mc:Fallback>
                  <p:oleObj name="Equation" r:id="rId6" imgW="558800" imgH="2286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5275" y="3594100"/>
                          <a:ext cx="1020763" cy="419100"/>
                        </a:xfrm>
                        <a:prstGeom prst="rect">
                          <a:avLst/>
                        </a:prstGeom>
                        <a:solidFill>
                          <a:srgbClr val="C3FFF4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004" name="Object 66"/>
            <p:cNvGraphicFramePr>
              <a:graphicFrameLocks noChangeAspect="1"/>
            </p:cNvGraphicFramePr>
            <p:nvPr/>
          </p:nvGraphicFramePr>
          <p:xfrm>
            <a:off x="1655763" y="6110288"/>
            <a:ext cx="974725" cy="417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33169" imgH="228501" progId="Equation.3">
                    <p:embed/>
                  </p:oleObj>
                </mc:Choice>
                <mc:Fallback>
                  <p:oleObj name="Equation" r:id="rId8" imgW="533169" imgH="228501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5763" y="6110288"/>
                          <a:ext cx="974725" cy="417512"/>
                        </a:xfrm>
                        <a:prstGeom prst="rect">
                          <a:avLst/>
                        </a:prstGeom>
                        <a:solidFill>
                          <a:srgbClr val="C3FFF4"/>
                        </a:solidFill>
                        <a:ln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8099" dir="2700000" algn="ctr" rotWithShape="0">
                                  <a:srgbClr val="00000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0007" name="Line 69"/>
            <p:cNvSpPr>
              <a:spLocks noChangeShapeType="1"/>
            </p:cNvSpPr>
            <p:nvPr/>
          </p:nvSpPr>
          <p:spPr bwMode="auto">
            <a:xfrm>
              <a:off x="4648200" y="1676400"/>
              <a:ext cx="0" cy="47244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B2F7067-636F-344E-B2A0-942440BF168B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46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0" y="304800"/>
            <a:ext cx="6497638" cy="9906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Inference about the Slope: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t</a:t>
            </a:r>
            <a:r>
              <a:rPr lang="en-US" sz="4400" dirty="0">
                <a:latin typeface="+mn-lt"/>
              </a:rPr>
              <a:t> Test</a:t>
            </a:r>
          </a:p>
        </p:txBody>
      </p:sp>
      <p:sp>
        <p:nvSpPr>
          <p:cNvPr id="409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676400"/>
            <a:ext cx="8686800" cy="4800600"/>
          </a:xfrm>
        </p:spPr>
        <p:txBody>
          <a:bodyPr/>
          <a:lstStyle/>
          <a:p>
            <a:pPr marL="320675" indent="-320675" defTabSz="852488" eaLnBrk="1" hangingPunct="1">
              <a:lnSpc>
                <a:spcPct val="90000"/>
              </a:lnSpc>
            </a:pPr>
            <a:r>
              <a:rPr lang="en-US" sz="2800" i="1" dirty="0"/>
              <a:t>t</a:t>
            </a:r>
            <a:r>
              <a:rPr lang="en-US" sz="2800" dirty="0"/>
              <a:t>-test for a population slope</a:t>
            </a:r>
          </a:p>
          <a:p>
            <a:pPr marL="693738" lvl="1" indent="-268288" defTabSz="852488" eaLnBrk="1" hangingPunct="1">
              <a:lnSpc>
                <a:spcPct val="90000"/>
              </a:lnSpc>
            </a:pPr>
            <a:r>
              <a:rPr lang="en-US" sz="2400" dirty="0"/>
              <a:t>Is there a linear relationship between x and y?</a:t>
            </a:r>
          </a:p>
          <a:p>
            <a:pPr marL="320675" indent="-320675" defTabSz="852488" eaLnBrk="1" hangingPunct="1">
              <a:lnSpc>
                <a:spcPct val="90000"/>
              </a:lnSpc>
            </a:pPr>
            <a:r>
              <a:rPr lang="en-US" sz="2800" dirty="0"/>
              <a:t>Null and alternative hypotheses</a:t>
            </a:r>
          </a:p>
          <a:p>
            <a:pPr marL="693738" lvl="1" indent="-268288" defTabSz="852488" eaLnBrk="1" hangingPunct="1">
              <a:lnSpc>
                <a:spcPct val="90000"/>
              </a:lnSpc>
            </a:pPr>
            <a:r>
              <a:rPr lang="en-US" sz="2400" dirty="0"/>
              <a:t>H</a:t>
            </a:r>
            <a:r>
              <a:rPr lang="en-US" sz="2400" baseline="-25000" dirty="0"/>
              <a:t>0</a:t>
            </a:r>
            <a:r>
              <a:rPr lang="en-US" sz="2400" dirty="0"/>
              <a:t>:  </a:t>
            </a:r>
            <a:r>
              <a:rPr lang="el-GR" sz="2400" dirty="0">
                <a:cs typeface="Arial" charset="0"/>
              </a:rPr>
              <a:t>β</a:t>
            </a:r>
            <a:r>
              <a:rPr lang="en-US" sz="2400" baseline="-25000" dirty="0"/>
              <a:t>1</a:t>
            </a:r>
            <a:r>
              <a:rPr lang="en-US" sz="2400" dirty="0"/>
              <a:t> = 0	(no linear relationship)</a:t>
            </a:r>
          </a:p>
          <a:p>
            <a:pPr marL="693738" lvl="1" indent="-268288" defTabSz="852488" eaLnBrk="1" hangingPunct="1">
              <a:lnSpc>
                <a:spcPct val="90000"/>
              </a:lnSpc>
            </a:pPr>
            <a:r>
              <a:rPr lang="en-US" sz="2400" dirty="0"/>
              <a:t>H</a:t>
            </a:r>
            <a:r>
              <a:rPr lang="en-US" sz="2400" baseline="-25000" dirty="0"/>
              <a:t>1</a:t>
            </a:r>
            <a:r>
              <a:rPr lang="en-US" sz="2400" dirty="0"/>
              <a:t>:  </a:t>
            </a:r>
            <a:r>
              <a:rPr lang="el-GR" sz="2400" dirty="0">
                <a:cs typeface="Arial" charset="0"/>
              </a:rPr>
              <a:t>β</a:t>
            </a:r>
            <a:r>
              <a:rPr lang="en-US" sz="2400" baseline="-25000" dirty="0"/>
              <a:t>1</a:t>
            </a:r>
            <a:r>
              <a:rPr lang="en-US" sz="2400" dirty="0"/>
              <a:t> ≠ 0	(linear relationship does exist)</a:t>
            </a:r>
          </a:p>
          <a:p>
            <a:pPr marL="320675" indent="-320675" defTabSz="852488" eaLnBrk="1" hangingPunct="1">
              <a:lnSpc>
                <a:spcPct val="90000"/>
              </a:lnSpc>
            </a:pPr>
            <a:r>
              <a:rPr lang="en-US" sz="2800" dirty="0"/>
              <a:t>Test statistic</a:t>
            </a:r>
          </a:p>
          <a:p>
            <a:pPr marL="320675" indent="-320675" defTabSz="852488" eaLnBrk="1" hangingPunct="1">
              <a:lnSpc>
                <a:spcPct val="90000"/>
              </a:lnSpc>
            </a:pPr>
            <a:endParaRPr lang="en-US" sz="2800" dirty="0"/>
          </a:p>
          <a:p>
            <a:pPr marL="693738" lvl="1" indent="-268288" defTabSz="852488" eaLnBrk="1" hangingPunct="1">
              <a:lnSpc>
                <a:spcPct val="90000"/>
              </a:lnSpc>
              <a:buNone/>
            </a:pPr>
            <a:endParaRPr lang="en-US" sz="2400" dirty="0"/>
          </a:p>
        </p:txBody>
      </p:sp>
      <p:graphicFrame>
        <p:nvGraphicFramePr>
          <p:cNvPr id="40966" name="Object 4"/>
          <p:cNvGraphicFramePr>
            <a:graphicFrameLocks noChangeAspect="1"/>
          </p:cNvGraphicFramePr>
          <p:nvPr/>
        </p:nvGraphicFramePr>
        <p:xfrm>
          <a:off x="3505201" y="4418012"/>
          <a:ext cx="1947863" cy="1296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85800" imgH="457200" progId="Equation.3">
                  <p:embed/>
                </p:oleObj>
              </mc:Choice>
              <mc:Fallback>
                <p:oleObj name="Equation" r:id="rId2" imgW="685800" imgH="457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4418012"/>
                        <a:ext cx="1947863" cy="129698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5"/>
          <p:cNvGraphicFramePr>
            <a:graphicFrameLocks noChangeAspect="1"/>
          </p:cNvGraphicFramePr>
          <p:nvPr/>
        </p:nvGraphicFramePr>
        <p:xfrm>
          <a:off x="3581400" y="5905500"/>
          <a:ext cx="167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10891" imgH="177723" progId="Equation.3">
                  <p:embed/>
                </p:oleObj>
              </mc:Choice>
              <mc:Fallback>
                <p:oleObj name="Equation" r:id="rId4" imgW="710891" imgH="177723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905500"/>
                        <a:ext cx="1676400" cy="4191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8" name="Rectangle 6"/>
          <p:cNvSpPr>
            <a:spLocks noChangeArrowheads="1"/>
          </p:cNvSpPr>
          <p:nvPr/>
        </p:nvSpPr>
        <p:spPr bwMode="auto">
          <a:xfrm>
            <a:off x="6172200" y="3962400"/>
            <a:ext cx="4038600" cy="254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where:</a:t>
            </a:r>
          </a:p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200" i="1" dirty="0">
                <a:solidFill>
                  <a:srgbClr val="000000"/>
                </a:solidFill>
                <a:latin typeface="+mn-lt"/>
              </a:rPr>
              <a:t>b</a:t>
            </a:r>
            <a:r>
              <a:rPr lang="en-US" sz="2200" i="1" baseline="-25000" dirty="0">
                <a:solidFill>
                  <a:srgbClr val="000000"/>
                </a:solidFill>
                <a:latin typeface="+mn-lt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+mn-lt"/>
              </a:rPr>
              <a:t> = Sample regression slope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         coefficient</a:t>
            </a:r>
          </a:p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l-GR" sz="2200" i="1" dirty="0">
                <a:solidFill>
                  <a:srgbClr val="000000"/>
                </a:solidFill>
                <a:latin typeface="+mn-lt"/>
                <a:cs typeface="Arial" charset="0"/>
                <a:sym typeface="Symbol" charset="0"/>
              </a:rPr>
              <a:t>β</a:t>
            </a:r>
            <a:r>
              <a:rPr lang="en-US" sz="2200" i="1" baseline="-25000" dirty="0">
                <a:solidFill>
                  <a:srgbClr val="000000"/>
                </a:solidFill>
                <a:latin typeface="+mn-lt"/>
                <a:sym typeface="Symbol" charset="0"/>
              </a:rPr>
              <a:t>1</a:t>
            </a:r>
            <a:r>
              <a:rPr lang="en-US" sz="2200" dirty="0">
                <a:solidFill>
                  <a:srgbClr val="000000"/>
                </a:solidFill>
                <a:latin typeface="+mn-lt"/>
              </a:rPr>
              <a:t> = Hypothesized slope</a:t>
            </a:r>
          </a:p>
          <a:p>
            <a:pPr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200" i="1" dirty="0">
                <a:solidFill>
                  <a:srgbClr val="000000"/>
                </a:solidFill>
                <a:latin typeface="+mn-lt"/>
              </a:rPr>
              <a:t>s</a:t>
            </a:r>
            <a:r>
              <a:rPr lang="en-US" sz="2200" i="1" baseline="-25000" dirty="0">
                <a:solidFill>
                  <a:srgbClr val="000000"/>
                </a:solidFill>
                <a:latin typeface="+mn-lt"/>
              </a:rPr>
              <a:t>b1</a:t>
            </a:r>
            <a:r>
              <a:rPr lang="en-US" sz="2200" dirty="0">
                <a:solidFill>
                  <a:srgbClr val="000000"/>
                </a:solidFill>
                <a:latin typeface="+mn-lt"/>
              </a:rPr>
              <a:t> = Estimator of the standard</a:t>
            </a:r>
          </a:p>
          <a:p>
            <a:pPr>
              <a:lnSpc>
                <a:spcPct val="30000"/>
              </a:lnSpc>
              <a:spcBef>
                <a:spcPct val="50000"/>
              </a:spcBef>
            </a:pPr>
            <a:r>
              <a:rPr lang="en-US" sz="2200" dirty="0">
                <a:solidFill>
                  <a:srgbClr val="000000"/>
                </a:solidFill>
                <a:latin typeface="+mn-lt"/>
              </a:rPr>
              <a:t>          error of the slope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9067800" y="6553200"/>
            <a:ext cx="11430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F8096A7A-77DA-1B49-A414-6409C0A1CF4C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47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133122" name="Group 2"/>
          <p:cNvGraphicFramePr>
            <a:graphicFrameLocks noGrp="1"/>
          </p:cNvGraphicFramePr>
          <p:nvPr/>
        </p:nvGraphicFramePr>
        <p:xfrm>
          <a:off x="1676400" y="1356360"/>
          <a:ext cx="3352800" cy="4974336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House Price in $1000s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(y)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Square Feet 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altLang="en-US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42026" name="Object 44"/>
          <p:cNvGraphicFramePr>
            <a:graphicFrameLocks noChangeAspect="1"/>
          </p:cNvGraphicFramePr>
          <p:nvPr/>
        </p:nvGraphicFramePr>
        <p:xfrm>
          <a:off x="5938839" y="2438400"/>
          <a:ext cx="28781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203200" progId="Equation.3">
                  <p:embed/>
                </p:oleObj>
              </mc:Choice>
              <mc:Fallback>
                <p:oleObj name="Equation" r:id="rId2" imgW="1282700" imgH="203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8839" y="2438400"/>
                        <a:ext cx="28781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27" name="Rectangle 46"/>
          <p:cNvSpPr>
            <a:spLocks noChangeArrowheads="1"/>
          </p:cNvSpPr>
          <p:nvPr/>
        </p:nvSpPr>
        <p:spPr bwMode="auto">
          <a:xfrm>
            <a:off x="5029200" y="1747839"/>
            <a:ext cx="5029200" cy="52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dirty="0">
                <a:latin typeface="+mn-lt"/>
              </a:rPr>
              <a:t>Estimated Regression Equation:</a:t>
            </a:r>
          </a:p>
        </p:txBody>
      </p:sp>
      <p:sp>
        <p:nvSpPr>
          <p:cNvPr id="42028" name="Rectangle 47"/>
          <p:cNvSpPr>
            <a:spLocks noChangeArrowheads="1"/>
          </p:cNvSpPr>
          <p:nvPr/>
        </p:nvSpPr>
        <p:spPr bwMode="auto">
          <a:xfrm>
            <a:off x="5334000" y="3505201"/>
            <a:ext cx="4800600" cy="159787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8" tIns="44450" rIns="90488" bIns="44450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2800" dirty="0">
                <a:latin typeface="+mn-lt"/>
              </a:rPr>
              <a:t>The slope of this model is 0.110 </a:t>
            </a:r>
          </a:p>
          <a:p>
            <a:pPr algn="just">
              <a:spcBef>
                <a:spcPct val="50000"/>
              </a:spcBef>
            </a:pPr>
            <a:r>
              <a:rPr lang="en-US" sz="2800" dirty="0">
                <a:latin typeface="+mn-lt"/>
              </a:rPr>
              <a:t>Does square footage of the house affect its sales price?</a:t>
            </a:r>
          </a:p>
        </p:txBody>
      </p:sp>
      <p:sp>
        <p:nvSpPr>
          <p:cNvPr id="42029" name="Rectangle 48"/>
          <p:cNvSpPr>
            <a:spLocks noGrp="1" noChangeArrowheads="1"/>
          </p:cNvSpPr>
          <p:nvPr>
            <p:ph type="title"/>
          </p:nvPr>
        </p:nvSpPr>
        <p:spPr>
          <a:xfrm>
            <a:off x="3657600" y="609600"/>
            <a:ext cx="6650038" cy="685800"/>
          </a:xfrm>
          <a:noFill/>
        </p:spPr>
        <p:txBody>
          <a:bodyPr vert="horz" wrap="square" lIns="85342" tIns="42672" rIns="85342" bIns="42672" numCol="1" anchor="b" anchorCtr="0" compatLnSpc="1">
            <a:prstTxWarp prst="textNoShape">
              <a:avLst/>
            </a:prstTxWarp>
          </a:bodyPr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Inference about the Slope: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t</a:t>
            </a:r>
            <a:r>
              <a:rPr lang="en-US" sz="4400" dirty="0">
                <a:latin typeface="+mn-lt"/>
              </a:rPr>
              <a:t> Test</a:t>
            </a:r>
          </a:p>
        </p:txBody>
      </p:sp>
      <p:sp>
        <p:nvSpPr>
          <p:cNvPr id="42030" name="Text Box 49"/>
          <p:cNvSpPr txBox="1">
            <a:spLocks noChangeArrowheads="1"/>
          </p:cNvSpPr>
          <p:nvPr/>
        </p:nvSpPr>
        <p:spPr bwMode="auto">
          <a:xfrm>
            <a:off x="8991601" y="1219200"/>
            <a:ext cx="13694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i="1">
                <a:solidFill>
                  <a:schemeClr val="tx2"/>
                </a:solidFill>
                <a:latin typeface="+mn-lt"/>
              </a:rPr>
              <a:t>(continued)</a:t>
            </a:r>
          </a:p>
        </p:txBody>
      </p:sp>
      <p:pic>
        <p:nvPicPr>
          <p:cNvPr id="42031" name="Picture 50" descr="house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5562600"/>
            <a:ext cx="1295400" cy="85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3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013972"/>
              </p:ext>
            </p:extLst>
          </p:nvPr>
        </p:nvGraphicFramePr>
        <p:xfrm>
          <a:off x="2362200" y="3657600"/>
          <a:ext cx="2870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700" imgH="203200" progId="Equation.3">
                  <p:embed/>
                </p:oleObj>
              </mc:Choice>
              <mc:Fallback>
                <p:oleObj name="Equation" r:id="rId2" imgW="1282700" imgH="203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3657600"/>
                        <a:ext cx="28702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D295FAC5-9FC9-B644-BBBA-0F26F47B069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48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title"/>
          </p:nvPr>
        </p:nvSpPr>
        <p:spPr>
          <a:xfrm>
            <a:off x="3733800" y="533400"/>
            <a:ext cx="6477000" cy="685800"/>
          </a:xfrm>
        </p:spPr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4400" dirty="0">
                <a:latin typeface="+mn-lt"/>
              </a:rPr>
              <a:t>Inferences about the Slope: </a:t>
            </a:r>
            <a:br>
              <a:rPr lang="en-US" sz="4400" dirty="0">
                <a:latin typeface="+mn-lt"/>
              </a:rPr>
            </a:br>
            <a:r>
              <a:rPr lang="en-US" sz="4400" i="1" dirty="0">
                <a:latin typeface="+mn-lt"/>
              </a:rPr>
              <a:t>t </a:t>
            </a:r>
            <a:r>
              <a:rPr lang="en-US" sz="4400" dirty="0">
                <a:latin typeface="+mn-lt"/>
              </a:rPr>
              <a:t>Test Example</a:t>
            </a:r>
          </a:p>
        </p:txBody>
      </p:sp>
      <p:sp>
        <p:nvSpPr>
          <p:cNvPr id="430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28900" y="1447800"/>
            <a:ext cx="1600200" cy="990600"/>
          </a:xfr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marL="320675" indent="-320675" algn="ctr" defTabSz="852488" eaLnBrk="1" hangingPunct="1">
              <a:buNone/>
            </a:pPr>
            <a:r>
              <a:rPr lang="en-US" sz="2800" dirty="0"/>
              <a:t>H</a:t>
            </a:r>
            <a:r>
              <a:rPr lang="en-US" sz="2800" baseline="-25000" dirty="0"/>
              <a:t>0</a:t>
            </a:r>
            <a:r>
              <a:rPr lang="en-US" sz="2800" dirty="0"/>
              <a:t>: </a:t>
            </a:r>
            <a:r>
              <a:rPr lang="el-GR" sz="2800" dirty="0">
                <a:cs typeface="Arial" charset="0"/>
              </a:rPr>
              <a:t>β</a:t>
            </a:r>
            <a:r>
              <a:rPr lang="en-US" sz="2800" baseline="-25000" dirty="0"/>
              <a:t>1</a:t>
            </a:r>
            <a:r>
              <a:rPr lang="en-US" sz="2800" dirty="0"/>
              <a:t> = 0</a:t>
            </a:r>
          </a:p>
          <a:p>
            <a:pPr marL="320675" indent="-320675" algn="ctr" defTabSz="852488" eaLnBrk="1" hangingPunct="1">
              <a:buNone/>
            </a:pPr>
            <a:r>
              <a:rPr lang="en-US" sz="2800" dirty="0"/>
              <a:t>H</a:t>
            </a:r>
            <a:r>
              <a:rPr lang="en-US" sz="2800" baseline="-25000" dirty="0"/>
              <a:t>A</a:t>
            </a:r>
            <a:r>
              <a:rPr lang="en-US" sz="2800" dirty="0"/>
              <a:t>: </a:t>
            </a:r>
            <a:r>
              <a:rPr lang="el-GR" sz="2800" dirty="0">
                <a:cs typeface="Arial" charset="0"/>
              </a:rPr>
              <a:t>β</a:t>
            </a:r>
            <a:r>
              <a:rPr lang="en-US" sz="2800" baseline="-25000" dirty="0"/>
              <a:t>1</a:t>
            </a:r>
            <a:r>
              <a:rPr lang="en-US" sz="2800" dirty="0"/>
              <a:t> ≠ 0</a:t>
            </a:r>
          </a:p>
        </p:txBody>
      </p:sp>
      <p:sp>
        <p:nvSpPr>
          <p:cNvPr id="43015" name="Oval 34"/>
          <p:cNvSpPr>
            <a:spLocks noChangeArrowheads="1"/>
          </p:cNvSpPr>
          <p:nvPr/>
        </p:nvSpPr>
        <p:spPr bwMode="auto">
          <a:xfrm>
            <a:off x="4267200" y="3581400"/>
            <a:ext cx="762000" cy="533400"/>
          </a:xfrm>
          <a:prstGeom prst="ellips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AU">
              <a:latin typeface="+mn-lt"/>
            </a:endParaRPr>
          </a:p>
        </p:txBody>
      </p:sp>
      <p:sp>
        <p:nvSpPr>
          <p:cNvPr id="43018" name="Line 37"/>
          <p:cNvSpPr>
            <a:spLocks noChangeShapeType="1"/>
          </p:cNvSpPr>
          <p:nvPr/>
        </p:nvSpPr>
        <p:spPr bwMode="auto">
          <a:xfrm>
            <a:off x="3886200" y="3048000"/>
            <a:ext cx="533400" cy="5334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3023" name="Text Box 42"/>
          <p:cNvSpPr txBox="1">
            <a:spLocks noChangeArrowheads="1"/>
          </p:cNvSpPr>
          <p:nvPr/>
        </p:nvSpPr>
        <p:spPr bwMode="auto">
          <a:xfrm>
            <a:off x="3429000" y="2667000"/>
            <a:ext cx="533400" cy="476250"/>
          </a:xfrm>
          <a:prstGeom prst="rect">
            <a:avLst/>
          </a:prstGeom>
          <a:solidFill>
            <a:srgbClr val="ABFFEF"/>
          </a:solidFill>
          <a:ln w="19050">
            <a:solidFill>
              <a:schemeClr val="hlink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dirty="0">
                <a:latin typeface="+mn-lt"/>
              </a:rPr>
              <a:t>b</a:t>
            </a:r>
            <a:r>
              <a:rPr lang="en-US" baseline="-25000" dirty="0">
                <a:latin typeface="+mn-lt"/>
              </a:rPr>
              <a:t>1</a:t>
            </a:r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6773862" y="6019800"/>
          <a:ext cx="33607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66600" imgH="253800" progId="Equation.3">
                  <p:embed/>
                </p:oleObj>
              </mc:Choice>
              <mc:Fallback>
                <p:oleObj name="Equation" r:id="rId4" imgW="1866600" imgH="2538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862" y="6019800"/>
                        <a:ext cx="33607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Group 2"/>
          <p:cNvGraphicFramePr>
            <a:graphicFrameLocks noGrp="1"/>
          </p:cNvGraphicFramePr>
          <p:nvPr/>
        </p:nvGraphicFramePr>
        <p:xfrm>
          <a:off x="5791200" y="1676400"/>
          <a:ext cx="4724400" cy="418065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2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5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House Price in $1000s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(y)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Square Feet </a:t>
                      </a:r>
                    </a:p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alt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252.25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52.56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1600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274.25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1425.06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279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285.25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39.06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1875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304.50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12.25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219.25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410.06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1550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268.75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2475.06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356.75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2328.06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324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367.75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1914.06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319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1425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255.00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4096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413"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255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>
                      <a:lvl1pPr defTabSz="852488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425450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852488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28111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706563" defTabSz="852488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637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6209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781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35363" defTabSz="85248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1700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285.25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915.06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/>
        </p:nvGraphicFramePr>
        <p:xfrm>
          <a:off x="8763000" y="1879600"/>
          <a:ext cx="29845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" imgH="203040" progId="Equation.3">
                  <p:embed/>
                </p:oleObj>
              </mc:Choice>
              <mc:Fallback>
                <p:oleObj name="Equation" r:id="rId6" imgW="139680" imgH="2030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0" y="1879600"/>
                        <a:ext cx="29845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8812400"/>
              </p:ext>
            </p:extLst>
          </p:nvPr>
        </p:nvGraphicFramePr>
        <p:xfrm>
          <a:off x="9296400" y="1828800"/>
          <a:ext cx="11938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58720" imgH="241200" progId="Equation.3">
                  <p:embed/>
                </p:oleObj>
              </mc:Choice>
              <mc:Fallback>
                <p:oleObj name="Equation" r:id="rId8" imgW="55872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1828800"/>
                        <a:ext cx="1193800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511345"/>
              </p:ext>
            </p:extLst>
          </p:nvPr>
        </p:nvGraphicFramePr>
        <p:xfrm>
          <a:off x="2306639" y="4267201"/>
          <a:ext cx="27209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11280" imgH="444240" progId="Equation.3">
                  <p:embed/>
                </p:oleObj>
              </mc:Choice>
              <mc:Fallback>
                <p:oleObj name="Equation" r:id="rId10" imgW="1511280" imgH="4442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639" y="4267201"/>
                        <a:ext cx="2720975" cy="7969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802939"/>
              </p:ext>
            </p:extLst>
          </p:nvPr>
        </p:nvGraphicFramePr>
        <p:xfrm>
          <a:off x="1879764" y="5257801"/>
          <a:ext cx="368283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61960" imgH="622080" progId="Equation.3">
                  <p:embed/>
                </p:oleObj>
              </mc:Choice>
              <mc:Fallback>
                <p:oleObj name="Equation" r:id="rId12" imgW="2361960" imgH="62208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764" y="5257801"/>
                        <a:ext cx="3682837" cy="96837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9ADF3646-5961-3140-9AA3-9159C02C2357}" type="slidenum">
              <a:rPr lang="en-US" sz="1000">
                <a:solidFill>
                  <a:schemeClr val="bg1"/>
                </a:solidFill>
                <a:latin typeface="+mn-lt"/>
              </a:rPr>
              <a:pPr/>
              <a:t>49</a:t>
            </a:fld>
            <a:endParaRPr lang="en-US" sz="100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40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852488" eaLnBrk="1" hangingPunct="1">
              <a:lnSpc>
                <a:spcPct val="80000"/>
              </a:lnSpc>
            </a:pPr>
            <a:r>
              <a:rPr lang="en-US" sz="2400">
                <a:latin typeface="+mn-lt"/>
              </a:rPr>
              <a:t>Inferences about the Slope: </a:t>
            </a:r>
            <a:br>
              <a:rPr lang="en-US" sz="2400">
                <a:latin typeface="+mn-lt"/>
              </a:rPr>
            </a:br>
            <a:r>
              <a:rPr lang="en-US" sz="2400">
                <a:latin typeface="+mn-lt"/>
              </a:rPr>
              <a:t>t</a:t>
            </a:r>
            <a:r>
              <a:rPr lang="en-US" sz="2400" i="1">
                <a:latin typeface="+mn-lt"/>
              </a:rPr>
              <a:t> </a:t>
            </a:r>
            <a:r>
              <a:rPr lang="en-US" sz="2400">
                <a:latin typeface="+mn-lt"/>
              </a:rPr>
              <a:t>Test Example</a:t>
            </a:r>
          </a:p>
        </p:txBody>
      </p:sp>
      <p:sp>
        <p:nvSpPr>
          <p:cNvPr id="44037" name="Rectangle 4"/>
          <p:cNvSpPr>
            <a:spLocks noChangeArrowheads="1"/>
          </p:cNvSpPr>
          <p:nvPr/>
        </p:nvSpPr>
        <p:spPr bwMode="auto">
          <a:xfrm>
            <a:off x="1935480" y="2971800"/>
            <a:ext cx="4038600" cy="533400"/>
          </a:xfrm>
          <a:prstGeom prst="rect">
            <a:avLst/>
          </a:prstGeom>
          <a:solidFill>
            <a:srgbClr val="ABFFE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>
              <a:spcBef>
                <a:spcPct val="20000"/>
              </a:spcBef>
            </a:pPr>
            <a:r>
              <a:rPr lang="en-US" sz="2800" dirty="0">
                <a:latin typeface="+mn-lt"/>
              </a:rPr>
              <a:t>Test Statistic:  </a:t>
            </a:r>
            <a:r>
              <a:rPr lang="en-US" sz="2800" dirty="0">
                <a:solidFill>
                  <a:schemeClr val="hlink"/>
                </a:solidFill>
                <a:latin typeface="+mn-lt"/>
              </a:rPr>
              <a:t>t = 3.67</a:t>
            </a:r>
          </a:p>
        </p:txBody>
      </p:sp>
      <p:sp>
        <p:nvSpPr>
          <p:cNvPr id="44040" name="Freeform 51"/>
          <p:cNvSpPr>
            <a:spLocks/>
          </p:cNvSpPr>
          <p:nvPr/>
        </p:nvSpPr>
        <p:spPr bwMode="auto">
          <a:xfrm>
            <a:off x="8229600" y="1752600"/>
            <a:ext cx="1524000" cy="1295400"/>
          </a:xfrm>
          <a:custGeom>
            <a:avLst/>
            <a:gdLst>
              <a:gd name="T0" fmla="*/ 2147483647 w 576"/>
              <a:gd name="T1" fmla="*/ 2147483647 h 576"/>
              <a:gd name="T2" fmla="*/ 2147483647 w 576"/>
              <a:gd name="T3" fmla="*/ 2147483647 h 576"/>
              <a:gd name="T4" fmla="*/ 2147483647 w 576"/>
              <a:gd name="T5" fmla="*/ 2147483647 h 576"/>
              <a:gd name="T6" fmla="*/ 2147483647 w 576"/>
              <a:gd name="T7" fmla="*/ 2147483647 h 576"/>
              <a:gd name="T8" fmla="*/ 2147483647 w 576"/>
              <a:gd name="T9" fmla="*/ 2147483647 h 576"/>
              <a:gd name="T10" fmla="*/ 2147483647 w 576"/>
              <a:gd name="T11" fmla="*/ 2147483647 h 576"/>
              <a:gd name="T12" fmla="*/ 2147483647 w 576"/>
              <a:gd name="T13" fmla="*/ 2147483647 h 576"/>
              <a:gd name="T14" fmla="*/ 2147483647 w 576"/>
              <a:gd name="T15" fmla="*/ 2147483647 h 576"/>
              <a:gd name="T16" fmla="*/ 2147483647 w 576"/>
              <a:gd name="T17" fmla="*/ 2147483647 h 576"/>
              <a:gd name="T18" fmla="*/ 2147483647 w 576"/>
              <a:gd name="T19" fmla="*/ 2147483647 h 576"/>
              <a:gd name="T20" fmla="*/ 2147483647 w 576"/>
              <a:gd name="T21" fmla="*/ 2147483647 h 576"/>
              <a:gd name="T22" fmla="*/ 2147483647 w 576"/>
              <a:gd name="T23" fmla="*/ 2147483647 h 576"/>
              <a:gd name="T24" fmla="*/ 2147483647 w 576"/>
              <a:gd name="T25" fmla="*/ 2147483647 h 576"/>
              <a:gd name="T26" fmla="*/ 2147483647 w 576"/>
              <a:gd name="T27" fmla="*/ 2147483647 h 576"/>
              <a:gd name="T28" fmla="*/ 2147483647 w 576"/>
              <a:gd name="T29" fmla="*/ 2147483647 h 576"/>
              <a:gd name="T30" fmla="*/ 0 w 576"/>
              <a:gd name="T31" fmla="*/ 0 h 57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576"/>
              <a:gd name="T49" fmla="*/ 0 h 576"/>
              <a:gd name="T50" fmla="*/ 576 w 576"/>
              <a:gd name="T51" fmla="*/ 576 h 57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576" h="576">
                <a:moveTo>
                  <a:pt x="575" y="575"/>
                </a:moveTo>
                <a:lnTo>
                  <a:pt x="515" y="570"/>
                </a:lnTo>
                <a:lnTo>
                  <a:pt x="484" y="562"/>
                </a:lnTo>
                <a:lnTo>
                  <a:pt x="455" y="553"/>
                </a:lnTo>
                <a:lnTo>
                  <a:pt x="424" y="540"/>
                </a:lnTo>
                <a:lnTo>
                  <a:pt x="393" y="521"/>
                </a:lnTo>
                <a:lnTo>
                  <a:pt x="364" y="498"/>
                </a:lnTo>
                <a:lnTo>
                  <a:pt x="303" y="432"/>
                </a:lnTo>
                <a:lnTo>
                  <a:pt x="242" y="338"/>
                </a:lnTo>
                <a:lnTo>
                  <a:pt x="182" y="224"/>
                </a:lnTo>
                <a:lnTo>
                  <a:pt x="151" y="167"/>
                </a:lnTo>
                <a:lnTo>
                  <a:pt x="120" y="114"/>
                </a:lnTo>
                <a:lnTo>
                  <a:pt x="91" y="67"/>
                </a:lnTo>
                <a:lnTo>
                  <a:pt x="60" y="31"/>
                </a:lnTo>
                <a:lnTo>
                  <a:pt x="30" y="8"/>
                </a:lnTo>
                <a:lnTo>
                  <a:pt x="0" y="0"/>
                </a:lnTo>
              </a:path>
            </a:pathLst>
          </a:custGeom>
          <a:noFill/>
          <a:ln w="50800" cap="rnd" cmpd="sng">
            <a:solidFill>
              <a:schemeClr val="folHlink"/>
            </a:solidFill>
            <a:prstDash val="solid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4041" name="Line 60"/>
          <p:cNvSpPr>
            <a:spLocks noChangeShapeType="1"/>
          </p:cNvSpPr>
          <p:nvPr/>
        </p:nvSpPr>
        <p:spPr bwMode="auto">
          <a:xfrm>
            <a:off x="6324600" y="3352800"/>
            <a:ext cx="11430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n-lt"/>
            </a:endParaRPr>
          </a:p>
        </p:txBody>
      </p:sp>
      <p:sp>
        <p:nvSpPr>
          <p:cNvPr id="44042" name="Rectangle 69"/>
          <p:cNvSpPr>
            <a:spLocks noChangeArrowheads="1"/>
          </p:cNvSpPr>
          <p:nvPr/>
        </p:nvSpPr>
        <p:spPr bwMode="auto">
          <a:xfrm flipH="1">
            <a:off x="1935480" y="3856038"/>
            <a:ext cx="3962400" cy="1782763"/>
          </a:xfrm>
          <a:prstGeom prst="rect">
            <a:avLst/>
          </a:prstGeom>
          <a:solidFill>
            <a:srgbClr val="FDE0B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>
                <a:latin typeface="+mn-lt"/>
              </a:rPr>
              <a:t>d.f.</a:t>
            </a:r>
            <a:r>
              <a:rPr lang="en-US" sz="2000" dirty="0">
                <a:latin typeface="+mn-lt"/>
              </a:rPr>
              <a:t> = 10-2 = 8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a =.05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a/2=.025</a:t>
            </a:r>
          </a:p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t</a:t>
            </a:r>
            <a:r>
              <a:rPr lang="el-GR" sz="2000" baseline="-25000" dirty="0">
                <a:latin typeface="+mn-lt"/>
                <a:cs typeface="Arial" charset="0"/>
              </a:rPr>
              <a:t>α</a:t>
            </a:r>
            <a:r>
              <a:rPr lang="en-US" sz="2000" baseline="-25000" dirty="0">
                <a:latin typeface="+mn-lt"/>
                <a:cs typeface="Arial" charset="0"/>
              </a:rPr>
              <a:t>/2 </a:t>
            </a:r>
            <a:r>
              <a:rPr lang="en-US" sz="2000" dirty="0">
                <a:latin typeface="+mn-lt"/>
              </a:rPr>
              <a:t>= 2.3060  (refer to table)</a:t>
            </a:r>
          </a:p>
        </p:txBody>
      </p:sp>
      <p:grpSp>
        <p:nvGrpSpPr>
          <p:cNvPr id="2" name="Group 48"/>
          <p:cNvGrpSpPr>
            <a:grpSpLocks/>
          </p:cNvGrpSpPr>
          <p:nvPr/>
        </p:nvGrpSpPr>
        <p:grpSpPr bwMode="auto">
          <a:xfrm>
            <a:off x="6400800" y="1752601"/>
            <a:ext cx="3886200" cy="2460625"/>
            <a:chOff x="5029200" y="4038600"/>
            <a:chExt cx="3886200" cy="2460625"/>
          </a:xfrm>
        </p:grpSpPr>
        <p:sp>
          <p:nvSpPr>
            <p:cNvPr id="44044" name="Rectangle 44"/>
            <p:cNvSpPr>
              <a:spLocks noChangeArrowheads="1"/>
            </p:cNvSpPr>
            <p:nvPr/>
          </p:nvSpPr>
          <p:spPr bwMode="auto">
            <a:xfrm>
              <a:off x="7086600" y="6172200"/>
              <a:ext cx="914400" cy="228600"/>
            </a:xfrm>
            <a:prstGeom prst="rect">
              <a:avLst/>
            </a:prstGeom>
            <a:solidFill>
              <a:srgbClr val="FDE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44045" name="Rectangle 45"/>
            <p:cNvSpPr>
              <a:spLocks noChangeArrowheads="1"/>
            </p:cNvSpPr>
            <p:nvPr/>
          </p:nvSpPr>
          <p:spPr bwMode="auto">
            <a:xfrm>
              <a:off x="5486400" y="6172200"/>
              <a:ext cx="1066800" cy="228600"/>
            </a:xfrm>
            <a:prstGeom prst="rect">
              <a:avLst/>
            </a:prstGeom>
            <a:solidFill>
              <a:srgbClr val="FDE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AU">
                <a:latin typeface="+mn-lt"/>
              </a:endParaRPr>
            </a:p>
          </p:txBody>
        </p:sp>
        <p:sp>
          <p:nvSpPr>
            <p:cNvPr id="44046" name="Text Box 46"/>
            <p:cNvSpPr txBox="1">
              <a:spLocks noChangeArrowheads="1"/>
            </p:cNvSpPr>
            <p:nvPr/>
          </p:nvSpPr>
          <p:spPr bwMode="auto">
            <a:xfrm>
              <a:off x="7772400" y="5638800"/>
              <a:ext cx="990600" cy="304800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44047" name="Text Box 47"/>
            <p:cNvSpPr txBox="1">
              <a:spLocks noChangeArrowheads="1"/>
            </p:cNvSpPr>
            <p:nvPr/>
          </p:nvSpPr>
          <p:spPr bwMode="auto">
            <a:xfrm>
              <a:off x="5029200" y="5638800"/>
              <a:ext cx="990600" cy="304800"/>
            </a:xfrm>
            <a:prstGeom prst="rect">
              <a:avLst/>
            </a:prstGeom>
            <a:solidFill>
              <a:srgbClr val="FAFE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44048" name="Freeform 48"/>
            <p:cNvSpPr>
              <a:spLocks/>
            </p:cNvSpPr>
            <p:nvPr/>
          </p:nvSpPr>
          <p:spPr bwMode="auto">
            <a:xfrm>
              <a:off x="7543800" y="4876800"/>
              <a:ext cx="850900" cy="561975"/>
            </a:xfrm>
            <a:custGeom>
              <a:avLst/>
              <a:gdLst>
                <a:gd name="T0" fmla="*/ 2147483647 w 536"/>
                <a:gd name="T1" fmla="*/ 2147483647 h 354"/>
                <a:gd name="T2" fmla="*/ 2147483647 w 536"/>
                <a:gd name="T3" fmla="*/ 2147483647 h 354"/>
                <a:gd name="T4" fmla="*/ 2147483647 w 536"/>
                <a:gd name="T5" fmla="*/ 2147483647 h 354"/>
                <a:gd name="T6" fmla="*/ 2147483647 w 536"/>
                <a:gd name="T7" fmla="*/ 2147483647 h 354"/>
                <a:gd name="T8" fmla="*/ 2147483647 w 536"/>
                <a:gd name="T9" fmla="*/ 2147483647 h 354"/>
                <a:gd name="T10" fmla="*/ 2147483647 w 536"/>
                <a:gd name="T11" fmla="*/ 0 h 354"/>
                <a:gd name="T12" fmla="*/ 0 w 536"/>
                <a:gd name="T13" fmla="*/ 2147483647 h 354"/>
                <a:gd name="T14" fmla="*/ 2147483647 w 536"/>
                <a:gd name="T15" fmla="*/ 2147483647 h 354"/>
                <a:gd name="T16" fmla="*/ 2147483647 w 536"/>
                <a:gd name="T17" fmla="*/ 2147483647 h 35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36"/>
                <a:gd name="T28" fmla="*/ 0 h 354"/>
                <a:gd name="T29" fmla="*/ 536 w 536"/>
                <a:gd name="T30" fmla="*/ 354 h 35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36" h="354">
                  <a:moveTo>
                    <a:pt x="536" y="351"/>
                  </a:moveTo>
                  <a:lnTo>
                    <a:pt x="535" y="312"/>
                  </a:lnTo>
                  <a:lnTo>
                    <a:pt x="315" y="273"/>
                  </a:lnTo>
                  <a:lnTo>
                    <a:pt x="188" y="208"/>
                  </a:lnTo>
                  <a:lnTo>
                    <a:pt x="117" y="153"/>
                  </a:lnTo>
                  <a:lnTo>
                    <a:pt x="3" y="0"/>
                  </a:lnTo>
                  <a:lnTo>
                    <a:pt x="0" y="354"/>
                  </a:lnTo>
                  <a:lnTo>
                    <a:pt x="527" y="351"/>
                  </a:lnTo>
                  <a:lnTo>
                    <a:pt x="527" y="347"/>
                  </a:lnTo>
                </a:path>
              </a:pathLst>
            </a:custGeom>
            <a:solidFill>
              <a:srgbClr val="FDE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49" name="Freeform 49"/>
            <p:cNvSpPr>
              <a:spLocks/>
            </p:cNvSpPr>
            <p:nvPr/>
          </p:nvSpPr>
          <p:spPr bwMode="auto">
            <a:xfrm>
              <a:off x="5241925" y="4918075"/>
              <a:ext cx="854075" cy="495300"/>
            </a:xfrm>
            <a:custGeom>
              <a:avLst/>
              <a:gdLst>
                <a:gd name="T0" fmla="*/ 0 w 538"/>
                <a:gd name="T1" fmla="*/ 2147483647 h 312"/>
                <a:gd name="T2" fmla="*/ 0 w 538"/>
                <a:gd name="T3" fmla="*/ 2147483647 h 312"/>
                <a:gd name="T4" fmla="*/ 2147483647 w 538"/>
                <a:gd name="T5" fmla="*/ 2147483647 h 312"/>
                <a:gd name="T6" fmla="*/ 2147483647 w 538"/>
                <a:gd name="T7" fmla="*/ 2147483647 h 312"/>
                <a:gd name="T8" fmla="*/ 2147483647 w 538"/>
                <a:gd name="T9" fmla="*/ 2147483647 h 312"/>
                <a:gd name="T10" fmla="*/ 2147483647 w 538"/>
                <a:gd name="T11" fmla="*/ 0 h 312"/>
                <a:gd name="T12" fmla="*/ 2147483647 w 538"/>
                <a:gd name="T13" fmla="*/ 2147483647 h 312"/>
                <a:gd name="T14" fmla="*/ 2147483647 w 538"/>
                <a:gd name="T15" fmla="*/ 2147483647 h 312"/>
                <a:gd name="T16" fmla="*/ 2147483647 w 538"/>
                <a:gd name="T17" fmla="*/ 2147483647 h 3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38"/>
                <a:gd name="T28" fmla="*/ 0 h 312"/>
                <a:gd name="T29" fmla="*/ 538 w 538"/>
                <a:gd name="T30" fmla="*/ 312 h 3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38" h="312">
                  <a:moveTo>
                    <a:pt x="0" y="312"/>
                  </a:moveTo>
                  <a:lnTo>
                    <a:pt x="0" y="267"/>
                  </a:lnTo>
                  <a:lnTo>
                    <a:pt x="219" y="235"/>
                  </a:lnTo>
                  <a:lnTo>
                    <a:pt x="330" y="190"/>
                  </a:lnTo>
                  <a:lnTo>
                    <a:pt x="403" y="141"/>
                  </a:lnTo>
                  <a:lnTo>
                    <a:pt x="537" y="0"/>
                  </a:lnTo>
                  <a:lnTo>
                    <a:pt x="538" y="309"/>
                  </a:lnTo>
                  <a:lnTo>
                    <a:pt x="18" y="309"/>
                  </a:lnTo>
                  <a:lnTo>
                    <a:pt x="18" y="305"/>
                  </a:lnTo>
                </a:path>
              </a:pathLst>
            </a:custGeom>
            <a:solidFill>
              <a:srgbClr val="FDE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0" name="Freeform 50"/>
            <p:cNvSpPr>
              <a:spLocks/>
            </p:cNvSpPr>
            <p:nvPr/>
          </p:nvSpPr>
          <p:spPr bwMode="auto">
            <a:xfrm>
              <a:off x="5257800" y="4038600"/>
              <a:ext cx="1600200" cy="1295400"/>
            </a:xfrm>
            <a:custGeom>
              <a:avLst/>
              <a:gdLst>
                <a:gd name="T0" fmla="*/ 0 w 600"/>
                <a:gd name="T1" fmla="*/ 2147483647 h 576"/>
                <a:gd name="T2" fmla="*/ 2147483647 w 600"/>
                <a:gd name="T3" fmla="*/ 2147483647 h 576"/>
                <a:gd name="T4" fmla="*/ 2147483647 w 600"/>
                <a:gd name="T5" fmla="*/ 2147483647 h 576"/>
                <a:gd name="T6" fmla="*/ 2147483647 w 600"/>
                <a:gd name="T7" fmla="*/ 2147483647 h 576"/>
                <a:gd name="T8" fmla="*/ 2147483647 w 600"/>
                <a:gd name="T9" fmla="*/ 2147483647 h 576"/>
                <a:gd name="T10" fmla="*/ 2147483647 w 600"/>
                <a:gd name="T11" fmla="*/ 2147483647 h 576"/>
                <a:gd name="T12" fmla="*/ 2147483647 w 600"/>
                <a:gd name="T13" fmla="*/ 2147483647 h 576"/>
                <a:gd name="T14" fmla="*/ 2147483647 w 600"/>
                <a:gd name="T15" fmla="*/ 2147483647 h 576"/>
                <a:gd name="T16" fmla="*/ 2147483647 w 600"/>
                <a:gd name="T17" fmla="*/ 2147483647 h 576"/>
                <a:gd name="T18" fmla="*/ 2147483647 w 600"/>
                <a:gd name="T19" fmla="*/ 2147483647 h 576"/>
                <a:gd name="T20" fmla="*/ 2147483647 w 600"/>
                <a:gd name="T21" fmla="*/ 2147483647 h 576"/>
                <a:gd name="T22" fmla="*/ 2147483647 w 600"/>
                <a:gd name="T23" fmla="*/ 2147483647 h 576"/>
                <a:gd name="T24" fmla="*/ 2147483647 w 600"/>
                <a:gd name="T25" fmla="*/ 2147483647 h 576"/>
                <a:gd name="T26" fmla="*/ 2147483647 w 600"/>
                <a:gd name="T27" fmla="*/ 2147483647 h 576"/>
                <a:gd name="T28" fmla="*/ 2147483647 w 600"/>
                <a:gd name="T29" fmla="*/ 2147483647 h 576"/>
                <a:gd name="T30" fmla="*/ 2147483647 w 600"/>
                <a:gd name="T31" fmla="*/ 0 h 5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600"/>
                <a:gd name="T49" fmla="*/ 0 h 576"/>
                <a:gd name="T50" fmla="*/ 600 w 600"/>
                <a:gd name="T51" fmla="*/ 576 h 57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600" h="576">
                  <a:moveTo>
                    <a:pt x="0" y="575"/>
                  </a:moveTo>
                  <a:lnTo>
                    <a:pt x="63" y="570"/>
                  </a:lnTo>
                  <a:lnTo>
                    <a:pt x="95" y="562"/>
                  </a:lnTo>
                  <a:lnTo>
                    <a:pt x="127" y="553"/>
                  </a:lnTo>
                  <a:lnTo>
                    <a:pt x="158" y="540"/>
                  </a:lnTo>
                  <a:lnTo>
                    <a:pt x="190" y="521"/>
                  </a:lnTo>
                  <a:lnTo>
                    <a:pt x="222" y="498"/>
                  </a:lnTo>
                  <a:lnTo>
                    <a:pt x="284" y="432"/>
                  </a:lnTo>
                  <a:lnTo>
                    <a:pt x="347" y="338"/>
                  </a:lnTo>
                  <a:lnTo>
                    <a:pt x="410" y="224"/>
                  </a:lnTo>
                  <a:lnTo>
                    <a:pt x="441" y="167"/>
                  </a:lnTo>
                  <a:lnTo>
                    <a:pt x="473" y="114"/>
                  </a:lnTo>
                  <a:lnTo>
                    <a:pt x="505" y="67"/>
                  </a:lnTo>
                  <a:lnTo>
                    <a:pt x="535" y="31"/>
                  </a:lnTo>
                  <a:lnTo>
                    <a:pt x="567" y="8"/>
                  </a:lnTo>
                  <a:lnTo>
                    <a:pt x="599" y="0"/>
                  </a:lnTo>
                </a:path>
              </a:pathLst>
            </a:custGeom>
            <a:noFill/>
            <a:ln w="50800" cap="rnd" cmpd="sng">
              <a:solidFill>
                <a:schemeClr val="folHlink"/>
              </a:solidFill>
              <a:prstDash val="solid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1" name="Line 52"/>
            <p:cNvSpPr>
              <a:spLocks noChangeShapeType="1"/>
            </p:cNvSpPr>
            <p:nvPr/>
          </p:nvSpPr>
          <p:spPr bwMode="auto">
            <a:xfrm>
              <a:off x="5181600" y="5410200"/>
              <a:ext cx="32004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2" name="Line 53"/>
            <p:cNvSpPr>
              <a:spLocks noChangeShapeType="1"/>
            </p:cNvSpPr>
            <p:nvPr/>
          </p:nvSpPr>
          <p:spPr bwMode="auto">
            <a:xfrm>
              <a:off x="5715000" y="4876800"/>
              <a:ext cx="2286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3" name="Rectangle 54"/>
            <p:cNvSpPr>
              <a:spLocks noChangeArrowheads="1"/>
            </p:cNvSpPr>
            <p:nvPr/>
          </p:nvSpPr>
          <p:spPr bwMode="auto">
            <a:xfrm flipH="1">
              <a:off x="5105400" y="4191000"/>
              <a:ext cx="1066800" cy="333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+mn-lt"/>
                  <a:cs typeface="Times New Roman"/>
                </a:rPr>
                <a:t>α</a:t>
              </a:r>
              <a:r>
                <a:rPr lang="en-US" sz="1600" dirty="0">
                  <a:latin typeface="+mn-lt"/>
                </a:rPr>
                <a:t>/2=.025</a:t>
              </a:r>
            </a:p>
          </p:txBody>
        </p:sp>
        <p:sp>
          <p:nvSpPr>
            <p:cNvPr id="44054" name="Line 55"/>
            <p:cNvSpPr>
              <a:spLocks noChangeShapeType="1"/>
            </p:cNvSpPr>
            <p:nvPr/>
          </p:nvSpPr>
          <p:spPr bwMode="auto">
            <a:xfrm>
              <a:off x="6858000" y="4038600"/>
              <a:ext cx="0" cy="1371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5" name="Line 56"/>
            <p:cNvSpPr>
              <a:spLocks noChangeShapeType="1"/>
            </p:cNvSpPr>
            <p:nvPr/>
          </p:nvSpPr>
          <p:spPr bwMode="auto">
            <a:xfrm>
              <a:off x="6096000" y="54864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6" name="Text Box 57"/>
            <p:cNvSpPr txBox="1">
              <a:spLocks noChangeArrowheads="1"/>
            </p:cNvSpPr>
            <p:nvPr/>
          </p:nvSpPr>
          <p:spPr bwMode="auto">
            <a:xfrm>
              <a:off x="5715000" y="5715000"/>
              <a:ext cx="6858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-t</a:t>
              </a:r>
              <a:r>
                <a:rPr lang="el-GR" sz="2000" baseline="-25000">
                  <a:latin typeface="+mn-lt"/>
                  <a:cs typeface="Arial" charset="0"/>
                </a:rPr>
                <a:t>α</a:t>
              </a:r>
              <a:r>
                <a:rPr lang="en-US" sz="2000" baseline="-25000">
                  <a:latin typeface="+mn-lt"/>
                  <a:cs typeface="Arial" charset="0"/>
                </a:rPr>
                <a:t>/2</a:t>
              </a:r>
              <a:endParaRPr lang="el-GR" sz="2000" baseline="-25000">
                <a:latin typeface="+mn-lt"/>
                <a:cs typeface="Arial" charset="0"/>
              </a:endParaRPr>
            </a:p>
          </p:txBody>
        </p:sp>
        <p:sp>
          <p:nvSpPr>
            <p:cNvPr id="44057" name="Line 58"/>
            <p:cNvSpPr>
              <a:spLocks noChangeShapeType="1"/>
            </p:cNvSpPr>
            <p:nvPr/>
          </p:nvSpPr>
          <p:spPr bwMode="auto">
            <a:xfrm>
              <a:off x="6096000" y="5638800"/>
              <a:ext cx="1447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58" name="Text Box 59"/>
            <p:cNvSpPr txBox="1">
              <a:spLocks noChangeArrowheads="1"/>
            </p:cNvSpPr>
            <p:nvPr/>
          </p:nvSpPr>
          <p:spPr bwMode="auto">
            <a:xfrm>
              <a:off x="6019800" y="5638800"/>
              <a:ext cx="15240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400">
                  <a:latin typeface="+mn-lt"/>
                </a:rPr>
                <a:t>Do not reject H</a:t>
              </a:r>
              <a:r>
                <a:rPr lang="en-US" sz="1400" baseline="-25000">
                  <a:latin typeface="+mn-lt"/>
                </a:rPr>
                <a:t>0</a:t>
              </a:r>
            </a:p>
          </p:txBody>
        </p:sp>
        <p:sp>
          <p:nvSpPr>
            <p:cNvPr id="44059" name="Text Box 61"/>
            <p:cNvSpPr txBox="1">
              <a:spLocks noChangeArrowheads="1"/>
            </p:cNvSpPr>
            <p:nvPr/>
          </p:nvSpPr>
          <p:spPr bwMode="auto">
            <a:xfrm>
              <a:off x="6629400" y="5867400"/>
              <a:ext cx="4572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1800">
                  <a:latin typeface="+mn-lt"/>
                </a:rPr>
                <a:t>0</a:t>
              </a:r>
              <a:endParaRPr lang="el-GR" sz="1800" baseline="-25000">
                <a:latin typeface="+mn-lt"/>
                <a:cs typeface="Arial" charset="0"/>
              </a:endParaRPr>
            </a:p>
          </p:txBody>
        </p:sp>
        <p:sp>
          <p:nvSpPr>
            <p:cNvPr id="44060" name="Text Box 62"/>
            <p:cNvSpPr txBox="1">
              <a:spLocks noChangeArrowheads="1"/>
            </p:cNvSpPr>
            <p:nvPr/>
          </p:nvSpPr>
          <p:spPr bwMode="auto">
            <a:xfrm>
              <a:off x="7315200" y="5715000"/>
              <a:ext cx="6096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t</a:t>
              </a:r>
              <a:r>
                <a:rPr lang="el-GR" sz="2000" baseline="-25000">
                  <a:latin typeface="+mn-lt"/>
                  <a:cs typeface="Arial" charset="0"/>
                </a:rPr>
                <a:t>α</a:t>
              </a:r>
              <a:r>
                <a:rPr lang="en-US" sz="2000" baseline="-25000">
                  <a:latin typeface="+mn-lt"/>
                  <a:cs typeface="Arial" charset="0"/>
                </a:rPr>
                <a:t>/2</a:t>
              </a:r>
              <a:endParaRPr lang="el-GR" sz="2000" baseline="-25000">
                <a:latin typeface="+mn-lt"/>
                <a:cs typeface="Arial" charset="0"/>
              </a:endParaRPr>
            </a:p>
          </p:txBody>
        </p:sp>
        <p:sp>
          <p:nvSpPr>
            <p:cNvPr id="44061" name="Line 63"/>
            <p:cNvSpPr>
              <a:spLocks noChangeShapeType="1"/>
            </p:cNvSpPr>
            <p:nvPr/>
          </p:nvSpPr>
          <p:spPr bwMode="auto">
            <a:xfrm>
              <a:off x="7543800" y="5486400"/>
              <a:ext cx="0" cy="304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62" name="Freeform 64"/>
            <p:cNvSpPr>
              <a:spLocks/>
            </p:cNvSpPr>
            <p:nvPr/>
          </p:nvSpPr>
          <p:spPr bwMode="auto">
            <a:xfrm>
              <a:off x="7696200" y="4846638"/>
              <a:ext cx="204788" cy="411162"/>
            </a:xfrm>
            <a:custGeom>
              <a:avLst/>
              <a:gdLst>
                <a:gd name="T0" fmla="*/ 2147483647 w 48"/>
                <a:gd name="T1" fmla="*/ 0 h 249"/>
                <a:gd name="T2" fmla="*/ 0 w 48"/>
                <a:gd name="T3" fmla="*/ 2147483647 h 249"/>
                <a:gd name="T4" fmla="*/ 0 60000 65536"/>
                <a:gd name="T5" fmla="*/ 0 60000 65536"/>
                <a:gd name="T6" fmla="*/ 0 w 48"/>
                <a:gd name="T7" fmla="*/ 0 h 249"/>
                <a:gd name="T8" fmla="*/ 48 w 48"/>
                <a:gd name="T9" fmla="*/ 249 h 24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8" h="249">
                  <a:moveTo>
                    <a:pt x="48" y="0"/>
                  </a:moveTo>
                  <a:lnTo>
                    <a:pt x="0" y="24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63" name="Rectangle 65"/>
            <p:cNvSpPr>
              <a:spLocks noChangeArrowheads="1"/>
            </p:cNvSpPr>
            <p:nvPr/>
          </p:nvSpPr>
          <p:spPr bwMode="auto">
            <a:xfrm flipH="1">
              <a:off x="7620000" y="4191000"/>
              <a:ext cx="1219200" cy="333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>
                  <a:latin typeface="+mn-lt"/>
                  <a:cs typeface="Times New Roman"/>
                </a:rPr>
                <a:t>α</a:t>
              </a:r>
              <a:r>
                <a:rPr lang="en-US" sz="1600" dirty="0">
                  <a:latin typeface="+mn-lt"/>
                </a:rPr>
                <a:t>/2=.025</a:t>
              </a:r>
            </a:p>
          </p:txBody>
        </p:sp>
        <p:sp>
          <p:nvSpPr>
            <p:cNvPr id="44064" name="Rectangle 66"/>
            <p:cNvSpPr>
              <a:spLocks noChangeArrowheads="1"/>
            </p:cNvSpPr>
            <p:nvPr/>
          </p:nvSpPr>
          <p:spPr bwMode="auto">
            <a:xfrm flipH="1">
              <a:off x="5486400" y="6096000"/>
              <a:ext cx="12192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-2.3060</a:t>
              </a:r>
            </a:p>
          </p:txBody>
        </p:sp>
        <p:sp>
          <p:nvSpPr>
            <p:cNvPr id="44065" name="Rectangle 67"/>
            <p:cNvSpPr>
              <a:spLocks noChangeArrowheads="1"/>
            </p:cNvSpPr>
            <p:nvPr/>
          </p:nvSpPr>
          <p:spPr bwMode="auto">
            <a:xfrm flipH="1">
              <a:off x="7086600" y="6096000"/>
              <a:ext cx="1219200" cy="39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>
                  <a:latin typeface="+mn-lt"/>
                </a:rPr>
                <a:t>2.3060</a:t>
              </a:r>
            </a:p>
          </p:txBody>
        </p:sp>
        <p:sp>
          <p:nvSpPr>
            <p:cNvPr id="44066" name="Rectangle 68"/>
            <p:cNvSpPr>
              <a:spLocks noChangeArrowheads="1"/>
            </p:cNvSpPr>
            <p:nvPr/>
          </p:nvSpPr>
          <p:spPr bwMode="auto">
            <a:xfrm flipH="1">
              <a:off x="8001000" y="6096000"/>
              <a:ext cx="838200" cy="403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hlink"/>
              </a:solidFill>
              <a:miter lim="800000"/>
              <a:headEnd/>
              <a:tailEnd/>
            </a:ln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>
                  <a:solidFill>
                    <a:schemeClr val="hlink"/>
                  </a:solidFill>
                  <a:latin typeface="+mn-lt"/>
                </a:rPr>
                <a:t>3.67</a:t>
              </a:r>
            </a:p>
          </p:txBody>
        </p:sp>
        <p:sp>
          <p:nvSpPr>
            <p:cNvPr id="44067" name="Line 70"/>
            <p:cNvSpPr>
              <a:spLocks noChangeShapeType="1"/>
            </p:cNvSpPr>
            <p:nvPr/>
          </p:nvSpPr>
          <p:spPr bwMode="auto">
            <a:xfrm>
              <a:off x="7543800" y="5638800"/>
              <a:ext cx="1371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4068" name="Line 71"/>
            <p:cNvSpPr>
              <a:spLocks noChangeShapeType="1"/>
            </p:cNvSpPr>
            <p:nvPr/>
          </p:nvSpPr>
          <p:spPr bwMode="auto">
            <a:xfrm flipV="1">
              <a:off x="8077200" y="5410200"/>
              <a:ext cx="0" cy="68580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latin typeface="+mn-lt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600201" y="1828801"/>
                <a:ext cx="4800600" cy="916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MY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MY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MY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MY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MY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MY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MY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MY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MY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MY" sz="2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MY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r>
                        <a:rPr lang="en-MY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MY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0.110−0</m:t>
                          </m:r>
                        </m:num>
                        <m:den>
                          <m:r>
                            <a:rPr lang="en-MY" sz="2400" i="1">
                              <a:latin typeface="Cambria Math" panose="02040503050406030204" pitchFamily="18" charset="0"/>
                            </a:rPr>
                            <m:t>0.03</m:t>
                          </m:r>
                        </m:den>
                      </m:f>
                      <m:r>
                        <a:rPr lang="en-MY" sz="2400" i="1">
                          <a:latin typeface="Cambria Math" panose="02040503050406030204" pitchFamily="18" charset="0"/>
                        </a:rPr>
                        <m:t>=3.67</m:t>
                      </m:r>
                    </m:oMath>
                  </m:oMathPara>
                </a14:m>
                <a:endParaRPr lang="en-GB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1" y="1828801"/>
                <a:ext cx="4800600" cy="91666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6162676" y="4572000"/>
            <a:ext cx="5343525" cy="1447800"/>
            <a:chOff x="4419600" y="4572000"/>
            <a:chExt cx="5343525" cy="1447800"/>
          </a:xfrm>
        </p:grpSpPr>
        <p:sp>
          <p:nvSpPr>
            <p:cNvPr id="39" name="Rectangle 5"/>
            <p:cNvSpPr>
              <a:spLocks noChangeArrowheads="1"/>
            </p:cNvSpPr>
            <p:nvPr/>
          </p:nvSpPr>
          <p:spPr bwMode="auto">
            <a:xfrm>
              <a:off x="5791200" y="5099035"/>
              <a:ext cx="2895600" cy="9207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 dirty="0">
                  <a:latin typeface="+mn-lt"/>
                </a:rPr>
                <a:t>There is sufficient evidence that square footage affects house price</a:t>
              </a:r>
            </a:p>
          </p:txBody>
        </p:sp>
        <p:sp>
          <p:nvSpPr>
            <p:cNvPr id="40" name="Rectangle 7"/>
            <p:cNvSpPr>
              <a:spLocks noChangeArrowheads="1"/>
            </p:cNvSpPr>
            <p:nvPr/>
          </p:nvSpPr>
          <p:spPr bwMode="auto">
            <a:xfrm>
              <a:off x="5791200" y="4572000"/>
              <a:ext cx="3971925" cy="366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 dirty="0">
                  <a:latin typeface="+mn-lt"/>
                </a:rPr>
                <a:t>Reject H</a:t>
              </a:r>
              <a:r>
                <a:rPr lang="en-US" b="0" baseline="-25000" dirty="0">
                  <a:latin typeface="+mn-lt"/>
                </a:rPr>
                <a:t>0</a:t>
              </a:r>
            </a:p>
          </p:txBody>
        </p:sp>
        <p:sp>
          <p:nvSpPr>
            <p:cNvPr id="41" name="Rectangle 43"/>
            <p:cNvSpPr>
              <a:spLocks noChangeArrowheads="1"/>
            </p:cNvSpPr>
            <p:nvPr/>
          </p:nvSpPr>
          <p:spPr bwMode="auto">
            <a:xfrm>
              <a:off x="4419600" y="4572000"/>
              <a:ext cx="4572000" cy="880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latin typeface="+mn-lt"/>
                </a:rPr>
                <a:t>Decision:</a:t>
              </a:r>
            </a:p>
            <a:p>
              <a:pPr>
                <a:lnSpc>
                  <a:spcPct val="150000"/>
                </a:lnSpc>
                <a:spcBef>
                  <a:spcPct val="50000"/>
                </a:spcBef>
              </a:pPr>
              <a:r>
                <a:rPr lang="en-US" dirty="0">
                  <a:latin typeface="+mn-lt"/>
                </a:rPr>
                <a:t>Conclusion: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7CCEB-37C1-214C-8F2D-9358C4C93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1C51D-154C-D143-BC68-3D0808BD325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D80F985-7531-8A45-BA53-AB8DC000E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528" y="274638"/>
            <a:ext cx="656307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/>
            <a:r>
              <a:rPr lang="en-US" sz="4400" dirty="0">
                <a:solidFill>
                  <a:srgbClr val="C00000"/>
                </a:solidFill>
                <a:latin typeface="+mn-lt"/>
              </a:rPr>
              <a:t>Exercise #3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B191B6-BCD6-C94B-93AE-24E9DFBE8A8D}"/>
              </a:ext>
            </a:extLst>
          </p:cNvPr>
          <p:cNvSpPr/>
          <p:nvPr/>
        </p:nvSpPr>
        <p:spPr>
          <a:xfrm>
            <a:off x="1791494" y="1219201"/>
            <a:ext cx="86090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Medical researchers have noted that adolescent females are much more likely to deliver low-birth-weight babies than adult females. Because low-birth-weight babies have higher mortality rates, a number of studies have examined the relationship between birth weight and mother’s age for babies born to young mothers. One such study is described in the article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“Body Size and Intelligence in 6-Year-Olds: Are Offspring of Teenage Mothers at Risk?”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(Maternal and Child Health Journal [2009]: 847-856). The following data in Table 2 consists of two variables;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x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is the maternal age (in years) and </a:t>
            </a:r>
            <a:r>
              <a:rPr lang="en-US" i="1" dirty="0">
                <a:latin typeface="Calibri" panose="020F0502020204030204" pitchFamily="34" charset="0"/>
                <a:ea typeface="Calibri" panose="020F0502020204030204" pitchFamily="34" charset="0"/>
              </a:rPr>
              <a:t>y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is birth weight of baby (in kilograms) are consistent with summary values given in the referenced article and also with data published by the National Center for Health Statistics. </a:t>
            </a:r>
          </a:p>
          <a:p>
            <a:pPr algn="just"/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ctr"/>
            <a:r>
              <a:rPr lang="en-US" dirty="0">
                <a:latin typeface="Calibri" panose="020F0502020204030204" pitchFamily="34" charset="0"/>
              </a:rPr>
              <a:t>Table 2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5ACE864-2365-6E45-AA5C-3E9798706E7B}"/>
              </a:ext>
            </a:extLst>
          </p:cNvPr>
          <p:cNvPicPr/>
          <p:nvPr/>
        </p:nvPicPr>
        <p:blipFill rotWithShape="1">
          <a:blip r:embed="rId2"/>
          <a:srcRect l="32005" t="36285" r="31884" b="55341"/>
          <a:stretch/>
        </p:blipFill>
        <p:spPr bwMode="auto">
          <a:xfrm>
            <a:off x="3259773" y="4267201"/>
            <a:ext cx="5273040" cy="6877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CA9578-CD83-3D44-B4FF-513A907D4EC4}"/>
                  </a:ext>
                </a:extLst>
              </p:cNvPr>
              <p:cNvSpPr/>
              <p:nvPr/>
            </p:nvSpPr>
            <p:spPr>
              <a:xfrm>
                <a:off x="1791494" y="5051522"/>
                <a:ext cx="8495507" cy="13672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07000"/>
                  </a:lnSpc>
                  <a:buSzPts val="1200"/>
                  <a:buFont typeface="Times New Roman" panose="02020603050405020304" pitchFamily="18" charset="0"/>
                  <a:buAutoNum type="romanLcParenBoth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the equation of estimated regression line,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MY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𝑦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en-MY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ea typeface="Times New Roman" panose="02020603050405020304" pitchFamily="18" charset="0"/>
                    <a:cs typeface="Calibri" panose="020F0502020204030204" pitchFamily="34" charset="0"/>
                  </a:rPr>
                  <a:t>.</a:t>
                </a:r>
                <a:endParaRPr lang="en-MY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just">
                  <a:lnSpc>
                    <a:spcPct val="107000"/>
                  </a:lnSpc>
                  <a:spcAft>
                    <a:spcPts val="800"/>
                  </a:spcAft>
                  <a:buSzPts val="1200"/>
                  <a:buFont typeface="Times New Roman" panose="02020603050405020304" pitchFamily="18" charset="0"/>
                  <a:buAutoNum type="romanLcParenBoth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Predict the birth weight of a baby to be born to a particular 18-year-old mother to be.</a:t>
                </a:r>
              </a:p>
              <a:p>
                <a:pPr marL="342900" indent="-342900" algn="just">
                  <a:lnSpc>
                    <a:spcPct val="107000"/>
                  </a:lnSpc>
                  <a:spcAft>
                    <a:spcPts val="800"/>
                  </a:spcAft>
                  <a:buSzPts val="1200"/>
                  <a:buFont typeface="Times New Roman" panose="02020603050405020304" pitchFamily="18" charset="0"/>
                  <a:buAutoNum type="romanLcParenBoth"/>
                </a:pPr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Does the mother’s age affect the baby’s weight? Test your hypothesis using 95% confidence level.</a:t>
                </a:r>
                <a:endParaRPr lang="en-MY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ACA9578-CD83-3D44-B4FF-513A907D4E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494" y="5051522"/>
                <a:ext cx="8495507" cy="1367234"/>
              </a:xfrm>
              <a:prstGeom prst="rect">
                <a:avLst/>
              </a:prstGeom>
              <a:blipFill>
                <a:blip r:embed="rId3"/>
                <a:stretch>
                  <a:fillRect l="-72" t="-2232" r="-574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4912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1439</TotalTime>
  <Words>2650</Words>
  <Application>Microsoft Office PowerPoint</Application>
  <PresentationFormat>Widescreen</PresentationFormat>
  <Paragraphs>615</Paragraphs>
  <Slides>50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ＭＳ Ｐゴシック</vt:lpstr>
      <vt:lpstr>Arial</vt:lpstr>
      <vt:lpstr>Britannic Bold</vt:lpstr>
      <vt:lpstr>Calibri</vt:lpstr>
      <vt:lpstr>Cambria Math</vt:lpstr>
      <vt:lpstr>Poppins</vt:lpstr>
      <vt:lpstr>Symbol</vt:lpstr>
      <vt:lpstr>Times New Roman</vt:lpstr>
      <vt:lpstr>Office Theme</vt:lpstr>
      <vt:lpstr>Equation</vt:lpstr>
      <vt:lpstr>Chart</vt:lpstr>
      <vt:lpstr>PowerPoint Presentation</vt:lpstr>
      <vt:lpstr>Introduction to Regression Analysis</vt:lpstr>
      <vt:lpstr>Introduction to Regression Analysis</vt:lpstr>
      <vt:lpstr>Introduction to Regression Analysis</vt:lpstr>
      <vt:lpstr>Introduction to Regression Analysis</vt:lpstr>
      <vt:lpstr>Introduction to Regression Analysis</vt:lpstr>
      <vt:lpstr>PowerPoint Presentation</vt:lpstr>
      <vt:lpstr>Simple Linear Regression Model</vt:lpstr>
      <vt:lpstr>Types of Regression Models</vt:lpstr>
      <vt:lpstr>Population Linear Regression</vt:lpstr>
      <vt:lpstr>Linear Regression Assumptions</vt:lpstr>
      <vt:lpstr>Population Linear Regression</vt:lpstr>
      <vt:lpstr>Estimated Regression Model</vt:lpstr>
      <vt:lpstr>Least Squares Criterion</vt:lpstr>
      <vt:lpstr>The Least Squares Equation</vt:lpstr>
      <vt:lpstr>Interpretation of the  Slope and the Intercept</vt:lpstr>
      <vt:lpstr>Finding the Least Squares Equation</vt:lpstr>
      <vt:lpstr>Example</vt:lpstr>
      <vt:lpstr>Example</vt:lpstr>
      <vt:lpstr>Example</vt:lpstr>
      <vt:lpstr>Example</vt:lpstr>
      <vt:lpstr>Graphical Presentation</vt:lpstr>
      <vt:lpstr>PowerPoint Presentation</vt:lpstr>
      <vt:lpstr>Interpretation of the Slope Coefficient,  b1</vt:lpstr>
      <vt:lpstr>Least Squares Regression Properties</vt:lpstr>
      <vt:lpstr>Exercise #1</vt:lpstr>
      <vt:lpstr>Exercise #1</vt:lpstr>
      <vt:lpstr>PowerPoint Presentation</vt:lpstr>
      <vt:lpstr>Coefficient of Determination R2</vt:lpstr>
      <vt:lpstr>Explained and Unexplained Variation</vt:lpstr>
      <vt:lpstr>Explained and Unexplained Variation</vt:lpstr>
      <vt:lpstr>Explained and Unexplained Variation</vt:lpstr>
      <vt:lpstr>Coefficient of Determination, R2</vt:lpstr>
      <vt:lpstr>Coefficient of Determination, R2</vt:lpstr>
      <vt:lpstr>Examples of Approximate  R2  Values</vt:lpstr>
      <vt:lpstr>Examples of Approximate  R2  Values</vt:lpstr>
      <vt:lpstr>Examples of Approximate  R2  Values</vt:lpstr>
      <vt:lpstr>Example</vt:lpstr>
      <vt:lpstr>Standard Error of Estimate</vt:lpstr>
      <vt:lpstr>Exercise #2</vt:lpstr>
      <vt:lpstr>Exercise #2</vt:lpstr>
      <vt:lpstr>Exercise #2</vt:lpstr>
      <vt:lpstr>PowerPoint Presentation</vt:lpstr>
      <vt:lpstr>The Standard Deviation of the Regression Slope</vt:lpstr>
      <vt:lpstr>Comparing Standard Errors</vt:lpstr>
      <vt:lpstr>Inference about the Slope:  t Test</vt:lpstr>
      <vt:lpstr>Inference about the Slope:  t Test</vt:lpstr>
      <vt:lpstr>Inferences about the Slope:  t Test Example</vt:lpstr>
      <vt:lpstr>Inferences about the Slope:  t Test Example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SEAH CHOON SEN 17182</cp:lastModifiedBy>
  <cp:revision>178</cp:revision>
  <cp:lastPrinted>2019-04-25T04:49:38Z</cp:lastPrinted>
  <dcterms:created xsi:type="dcterms:W3CDTF">2013-01-02T01:15:37Z</dcterms:created>
  <dcterms:modified xsi:type="dcterms:W3CDTF">2026-03-27T13:43:57Z</dcterms:modified>
</cp:coreProperties>
</file>