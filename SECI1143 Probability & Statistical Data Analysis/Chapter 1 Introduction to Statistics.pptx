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6"/>
  </p:notesMasterIdLst>
  <p:handoutMasterIdLst>
    <p:handoutMasterId r:id="rId87"/>
  </p:handoutMasterIdLst>
  <p:sldIdLst>
    <p:sldId id="257"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4" r:id="rId16"/>
    <p:sldId id="275"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94" r:id="rId36"/>
    <p:sldId id="297" r:id="rId37"/>
    <p:sldId id="298" r:id="rId38"/>
    <p:sldId id="299" r:id="rId39"/>
    <p:sldId id="300" r:id="rId40"/>
    <p:sldId id="301" r:id="rId41"/>
    <p:sldId id="302" r:id="rId42"/>
    <p:sldId id="303" r:id="rId43"/>
    <p:sldId id="305" r:id="rId44"/>
    <p:sldId id="306" r:id="rId45"/>
    <p:sldId id="307" r:id="rId46"/>
    <p:sldId id="308" r:id="rId47"/>
    <p:sldId id="309" r:id="rId48"/>
    <p:sldId id="311" r:id="rId49"/>
    <p:sldId id="312" r:id="rId50"/>
    <p:sldId id="313" r:id="rId51"/>
    <p:sldId id="314" r:id="rId52"/>
    <p:sldId id="315" r:id="rId53"/>
    <p:sldId id="316" r:id="rId54"/>
    <p:sldId id="317" r:id="rId55"/>
    <p:sldId id="318" r:id="rId56"/>
    <p:sldId id="319" r:id="rId57"/>
    <p:sldId id="320" r:id="rId58"/>
    <p:sldId id="322" r:id="rId59"/>
    <p:sldId id="323" r:id="rId60"/>
    <p:sldId id="324" r:id="rId61"/>
    <p:sldId id="325" r:id="rId62"/>
    <p:sldId id="326" r:id="rId63"/>
    <p:sldId id="327" r:id="rId64"/>
    <p:sldId id="328" r:id="rId65"/>
    <p:sldId id="329" r:id="rId66"/>
    <p:sldId id="330" r:id="rId67"/>
    <p:sldId id="331" r:id="rId68"/>
    <p:sldId id="332" r:id="rId69"/>
    <p:sldId id="333" r:id="rId70"/>
    <p:sldId id="334" r:id="rId71"/>
    <p:sldId id="335" r:id="rId72"/>
    <p:sldId id="336" r:id="rId73"/>
    <p:sldId id="337" r:id="rId74"/>
    <p:sldId id="338" r:id="rId75"/>
    <p:sldId id="339" r:id="rId76"/>
    <p:sldId id="340" r:id="rId77"/>
    <p:sldId id="341" r:id="rId78"/>
    <p:sldId id="342" r:id="rId79"/>
    <p:sldId id="343" r:id="rId80"/>
    <p:sldId id="344" r:id="rId81"/>
    <p:sldId id="345" r:id="rId82"/>
    <p:sldId id="346" r:id="rId83"/>
    <p:sldId id="347" r:id="rId84"/>
    <p:sldId id="349" r:id="rId8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Calibri" charset="0"/>
        <a:ea typeface="ＭＳ Ｐゴシック" charset="-128"/>
        <a:cs typeface="+mn-cs"/>
      </a:defRPr>
    </a:lvl1pPr>
    <a:lvl2pPr marL="457200" algn="l" rtl="0" fontAlgn="base">
      <a:spcBef>
        <a:spcPct val="0"/>
      </a:spcBef>
      <a:spcAft>
        <a:spcPct val="0"/>
      </a:spcAft>
      <a:defRPr kern="1200">
        <a:solidFill>
          <a:schemeClr val="tx1"/>
        </a:solidFill>
        <a:latin typeface="Calibri" charset="0"/>
        <a:ea typeface="ＭＳ Ｐゴシック" charset="-128"/>
        <a:cs typeface="+mn-cs"/>
      </a:defRPr>
    </a:lvl2pPr>
    <a:lvl3pPr marL="914400" algn="l" rtl="0" fontAlgn="base">
      <a:spcBef>
        <a:spcPct val="0"/>
      </a:spcBef>
      <a:spcAft>
        <a:spcPct val="0"/>
      </a:spcAft>
      <a:defRPr kern="1200">
        <a:solidFill>
          <a:schemeClr val="tx1"/>
        </a:solidFill>
        <a:latin typeface="Calibri" charset="0"/>
        <a:ea typeface="ＭＳ Ｐゴシック" charset="-128"/>
        <a:cs typeface="+mn-cs"/>
      </a:defRPr>
    </a:lvl3pPr>
    <a:lvl4pPr marL="1371600" algn="l" rtl="0" fontAlgn="base">
      <a:spcBef>
        <a:spcPct val="0"/>
      </a:spcBef>
      <a:spcAft>
        <a:spcPct val="0"/>
      </a:spcAft>
      <a:defRPr kern="1200">
        <a:solidFill>
          <a:schemeClr val="tx1"/>
        </a:solidFill>
        <a:latin typeface="Calibri" charset="0"/>
        <a:ea typeface="ＭＳ Ｐゴシック" charset="-128"/>
        <a:cs typeface="+mn-cs"/>
      </a:defRPr>
    </a:lvl4pPr>
    <a:lvl5pPr marL="1828800" algn="l" rtl="0" fontAlgn="base">
      <a:spcBef>
        <a:spcPct val="0"/>
      </a:spcBef>
      <a:spcAft>
        <a:spcPct val="0"/>
      </a:spcAft>
      <a:defRPr kern="1200">
        <a:solidFill>
          <a:schemeClr val="tx1"/>
        </a:solidFill>
        <a:latin typeface="Calibri" charset="0"/>
        <a:ea typeface="ＭＳ Ｐゴシック" charset="-128"/>
        <a:cs typeface="+mn-cs"/>
      </a:defRPr>
    </a:lvl5pPr>
    <a:lvl6pPr marL="2286000" algn="l" defTabSz="914400" rtl="0" eaLnBrk="1" latinLnBrk="0" hangingPunct="1">
      <a:defRPr kern="1200">
        <a:solidFill>
          <a:schemeClr val="tx1"/>
        </a:solidFill>
        <a:latin typeface="Calibri" charset="0"/>
        <a:ea typeface="ＭＳ Ｐゴシック" charset="-128"/>
        <a:cs typeface="+mn-cs"/>
      </a:defRPr>
    </a:lvl6pPr>
    <a:lvl7pPr marL="2743200" algn="l" defTabSz="914400" rtl="0" eaLnBrk="1" latinLnBrk="0" hangingPunct="1">
      <a:defRPr kern="1200">
        <a:solidFill>
          <a:schemeClr val="tx1"/>
        </a:solidFill>
        <a:latin typeface="Calibri" charset="0"/>
        <a:ea typeface="ＭＳ Ｐゴシック" charset="-128"/>
        <a:cs typeface="+mn-cs"/>
      </a:defRPr>
    </a:lvl7pPr>
    <a:lvl8pPr marL="3200400" algn="l" defTabSz="914400" rtl="0" eaLnBrk="1" latinLnBrk="0" hangingPunct="1">
      <a:defRPr kern="1200">
        <a:solidFill>
          <a:schemeClr val="tx1"/>
        </a:solidFill>
        <a:latin typeface="Calibri" charset="0"/>
        <a:ea typeface="ＭＳ Ｐゴシック" charset="-128"/>
        <a:cs typeface="+mn-cs"/>
      </a:defRPr>
    </a:lvl8pPr>
    <a:lvl9pPr marL="3657600" algn="l" defTabSz="914400" rtl="0" eaLnBrk="1" latinLnBrk="0" hangingPunct="1">
      <a:defRPr kern="1200">
        <a:solidFill>
          <a:schemeClr val="tx1"/>
        </a:solidFill>
        <a:latin typeface="Calibri"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p:cViewPr varScale="1">
        <p:scale>
          <a:sx n="75" d="100"/>
          <a:sy n="75" d="100"/>
        </p:scale>
        <p:origin x="874" y="4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ＭＳ Ｐゴシック" charset="0"/>
                <a:cs typeface="ＭＳ Ｐゴシック" charset="0"/>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FDAD734F-C671-4747-983B-4FB51CB05965}" type="datetimeFigureOut">
              <a:rPr lang="en-US" altLang="x-none"/>
              <a:pPr/>
              <a:t>3/17/2024</a:t>
            </a:fld>
            <a:endParaRPr lang="en-US" altLang="x-none"/>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ea typeface="ＭＳ Ｐゴシック" charset="0"/>
                <a:cs typeface="ＭＳ Ｐゴシック" charset="0"/>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4460C7FE-CAF7-1049-A6F8-A686B87D8008}" type="slidenum">
              <a:rPr lang="en-US" altLang="x-none"/>
              <a:pPr/>
              <a:t>‹#›</a:t>
            </a:fld>
            <a:endParaRPr lang="en-US" altLang="x-none"/>
          </a:p>
        </p:txBody>
      </p:sp>
    </p:spTree>
    <p:extLst>
      <p:ext uri="{BB962C8B-B14F-4D97-AF65-F5344CB8AC3E}">
        <p14:creationId xmlns:p14="http://schemas.microsoft.com/office/powerpoint/2010/main" val="180774030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ＭＳ Ｐゴシック" charset="0"/>
                <a:cs typeface="ＭＳ Ｐゴシック"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32909EB9-C681-6D48-A30A-B1943F07B63A}" type="datetimeFigureOut">
              <a:rPr lang="en-US" altLang="x-none"/>
              <a:pPr/>
              <a:t>3/17/2024</a:t>
            </a:fld>
            <a:endParaRPr lang="en-US" altLang="x-none"/>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ea typeface="ＭＳ Ｐゴシック" charset="0"/>
                <a:cs typeface="ＭＳ Ｐゴシック"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C54CB1C3-AD3E-C741-BB38-CE2353AEE738}" type="slidenum">
              <a:rPr lang="en-US" altLang="x-none"/>
              <a:pPr/>
              <a:t>‹#›</a:t>
            </a:fld>
            <a:endParaRPr lang="en-US" altLang="x-none"/>
          </a:p>
        </p:txBody>
      </p:sp>
    </p:spTree>
    <p:extLst>
      <p:ext uri="{BB962C8B-B14F-4D97-AF65-F5344CB8AC3E}">
        <p14:creationId xmlns:p14="http://schemas.microsoft.com/office/powerpoint/2010/main" val="3272165269"/>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a:ln/>
        </p:spPr>
      </p:sp>
      <p:sp>
        <p:nvSpPr>
          <p:cNvPr id="9728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Y" altLang="en-US">
              <a:ea typeface="ＭＳ Ｐゴシック" pitchFamily="34" charset="-128"/>
            </a:endParaRPr>
          </a:p>
        </p:txBody>
      </p:sp>
      <p:sp>
        <p:nvSpPr>
          <p:cNvPr id="97284" name="Footer Placeholder 3"/>
          <p:cNvSpPr>
            <a:spLocks noGrp="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249">
              <a:defRPr sz="2200" b="1">
                <a:solidFill>
                  <a:schemeClr val="tx1"/>
                </a:solidFill>
                <a:latin typeface="Arial" charset="0"/>
                <a:ea typeface="ＭＳ Ｐゴシック" pitchFamily="34" charset="-128"/>
              </a:defRPr>
            </a:lvl1pPr>
            <a:lvl2pPr marL="685669" indent="-263719" defTabSz="892249">
              <a:defRPr sz="2200" b="1">
                <a:solidFill>
                  <a:schemeClr val="tx1"/>
                </a:solidFill>
                <a:latin typeface="Arial" charset="0"/>
                <a:ea typeface="ＭＳ Ｐゴシック" pitchFamily="34" charset="-128"/>
              </a:defRPr>
            </a:lvl2pPr>
            <a:lvl3pPr marL="1054875" indent="-210975" defTabSz="892249">
              <a:defRPr sz="2200" b="1">
                <a:solidFill>
                  <a:schemeClr val="tx1"/>
                </a:solidFill>
                <a:latin typeface="Arial" charset="0"/>
                <a:ea typeface="ＭＳ Ｐゴシック" pitchFamily="34" charset="-128"/>
              </a:defRPr>
            </a:lvl3pPr>
            <a:lvl4pPr marL="1476825" indent="-210975" defTabSz="892249">
              <a:defRPr sz="2200" b="1">
                <a:solidFill>
                  <a:schemeClr val="tx1"/>
                </a:solidFill>
                <a:latin typeface="Arial" charset="0"/>
                <a:ea typeface="ＭＳ Ｐゴシック" pitchFamily="34" charset="-128"/>
              </a:defRPr>
            </a:lvl4pPr>
            <a:lvl5pPr marL="1898774" indent="-210975" defTabSz="892249">
              <a:defRPr sz="2200" b="1">
                <a:solidFill>
                  <a:schemeClr val="tx1"/>
                </a:solidFill>
                <a:latin typeface="Arial" charset="0"/>
                <a:ea typeface="ＭＳ Ｐゴシック" pitchFamily="34" charset="-128"/>
              </a:defRPr>
            </a:lvl5pPr>
            <a:lvl6pPr marL="232072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6pPr>
            <a:lvl7pPr marL="274267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7pPr>
            <a:lvl8pPr marL="316462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8pPr>
            <a:lvl9pPr marL="358657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9pPr>
          </a:lstStyle>
          <a:p>
            <a:r>
              <a:rPr lang="en-MY" altLang="en-US" sz="1200" b="0"/>
              <a:t>prepared by Razana Alwee / edited by Suhaila Mohamad Yusuf</a:t>
            </a:r>
            <a:endParaRPr lang="en-US" altLang="en-US" sz="1200" b="0"/>
          </a:p>
        </p:txBody>
      </p:sp>
      <p:sp>
        <p:nvSpPr>
          <p:cNvPr id="97285" name="Slide Number Placeholder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249">
              <a:defRPr sz="2200" b="1">
                <a:solidFill>
                  <a:schemeClr val="tx1"/>
                </a:solidFill>
                <a:latin typeface="Arial" charset="0"/>
                <a:ea typeface="ＭＳ Ｐゴシック" pitchFamily="34" charset="-128"/>
              </a:defRPr>
            </a:lvl1pPr>
            <a:lvl2pPr marL="685669" indent="-263719" defTabSz="892249">
              <a:defRPr sz="2200" b="1">
                <a:solidFill>
                  <a:schemeClr val="tx1"/>
                </a:solidFill>
                <a:latin typeface="Arial" charset="0"/>
                <a:ea typeface="ＭＳ Ｐゴシック" pitchFamily="34" charset="-128"/>
              </a:defRPr>
            </a:lvl2pPr>
            <a:lvl3pPr marL="1054875" indent="-210975" defTabSz="892249">
              <a:defRPr sz="2200" b="1">
                <a:solidFill>
                  <a:schemeClr val="tx1"/>
                </a:solidFill>
                <a:latin typeface="Arial" charset="0"/>
                <a:ea typeface="ＭＳ Ｐゴシック" pitchFamily="34" charset="-128"/>
              </a:defRPr>
            </a:lvl3pPr>
            <a:lvl4pPr marL="1476825" indent="-210975" defTabSz="892249">
              <a:defRPr sz="2200" b="1">
                <a:solidFill>
                  <a:schemeClr val="tx1"/>
                </a:solidFill>
                <a:latin typeface="Arial" charset="0"/>
                <a:ea typeface="ＭＳ Ｐゴシック" pitchFamily="34" charset="-128"/>
              </a:defRPr>
            </a:lvl4pPr>
            <a:lvl5pPr marL="1898774" indent="-210975" defTabSz="892249">
              <a:defRPr sz="2200" b="1">
                <a:solidFill>
                  <a:schemeClr val="tx1"/>
                </a:solidFill>
                <a:latin typeface="Arial" charset="0"/>
                <a:ea typeface="ＭＳ Ｐゴシック" pitchFamily="34" charset="-128"/>
              </a:defRPr>
            </a:lvl5pPr>
            <a:lvl6pPr marL="232072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6pPr>
            <a:lvl7pPr marL="274267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7pPr>
            <a:lvl8pPr marL="316462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8pPr>
            <a:lvl9pPr marL="358657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9pPr>
          </a:lstStyle>
          <a:p>
            <a:fld id="{9E2B35FF-2C05-4E5D-B5D1-428CB668629F}" type="slidenum">
              <a:rPr lang="en-US" altLang="en-US" sz="1200" b="0"/>
              <a:pPr/>
              <a:t>2</a:t>
            </a:fld>
            <a:endParaRPr lang="en-US" altLang="en-US" sz="1200" b="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MY"/>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MY"/>
          </a:p>
        </p:txBody>
      </p:sp>
      <p:sp>
        <p:nvSpPr>
          <p:cNvPr id="4" name="Date Placeholder 3"/>
          <p:cNvSpPr>
            <a:spLocks noGrp="1"/>
          </p:cNvSpPr>
          <p:nvPr>
            <p:ph type="dt" sz="half" idx="10"/>
          </p:nvPr>
        </p:nvSpPr>
        <p:spPr/>
        <p:txBody>
          <a:bodyPr/>
          <a:lstStyle>
            <a:lvl1pPr>
              <a:defRPr/>
            </a:lvl1pPr>
          </a:lstStyle>
          <a:p>
            <a:fld id="{2BF941C7-419A-4D51-BB46-C11F8FD87A85}" type="datetime1">
              <a:rPr lang="en-MY" altLang="x-none" smtClean="0"/>
              <a:pPr/>
              <a:t>17/3/2024</a:t>
            </a:fld>
            <a:endParaRPr lang="en-US" altLang="x-none"/>
          </a:p>
        </p:txBody>
      </p:sp>
      <p:sp>
        <p:nvSpPr>
          <p:cNvPr id="5" name="Footer Placeholder 4"/>
          <p:cNvSpPr>
            <a:spLocks noGrp="1"/>
          </p:cNvSpPr>
          <p:nvPr>
            <p:ph type="ftr" sz="quarter" idx="11"/>
          </p:nvPr>
        </p:nvSpPr>
        <p:spPr/>
        <p:txBody>
          <a:bodyPr/>
          <a:lstStyle>
            <a:lvl1pPr>
              <a:defRPr/>
            </a:lvl1pPr>
          </a:lstStyle>
          <a:p>
            <a:pPr>
              <a:defRPr/>
            </a:pPr>
            <a:endParaRPr lang="en-MY"/>
          </a:p>
        </p:txBody>
      </p:sp>
      <p:sp>
        <p:nvSpPr>
          <p:cNvPr id="6" name="Slide Number Placeholder 5"/>
          <p:cNvSpPr>
            <a:spLocks noGrp="1"/>
          </p:cNvSpPr>
          <p:nvPr>
            <p:ph type="sldNum" sz="quarter" idx="12"/>
          </p:nvPr>
        </p:nvSpPr>
        <p:spPr/>
        <p:txBody>
          <a:bodyPr/>
          <a:lstStyle>
            <a:lvl1pPr>
              <a:defRPr/>
            </a:lvl1pPr>
          </a:lstStyle>
          <a:p>
            <a:fld id="{39545FCB-18C1-B443-9C02-7CAC713BF7A0}" type="slidenum">
              <a:rPr lang="en-US" altLang="x-none"/>
              <a:pPr/>
              <a:t>‹#›</a:t>
            </a:fld>
            <a:endParaRPr lang="en-US" altLang="x-none"/>
          </a:p>
        </p:txBody>
      </p:sp>
    </p:spTree>
    <p:extLst>
      <p:ext uri="{BB962C8B-B14F-4D97-AF65-F5344CB8AC3E}">
        <p14:creationId xmlns:p14="http://schemas.microsoft.com/office/powerpoint/2010/main" val="1509041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p:cNvSpPr>
            <a:spLocks noGrp="1"/>
          </p:cNvSpPr>
          <p:nvPr>
            <p:ph type="dt" sz="half" idx="10"/>
          </p:nvPr>
        </p:nvSpPr>
        <p:spPr/>
        <p:txBody>
          <a:bodyPr/>
          <a:lstStyle>
            <a:lvl1pPr>
              <a:defRPr/>
            </a:lvl1pPr>
          </a:lstStyle>
          <a:p>
            <a:fld id="{A4B19C02-129A-480F-BDB7-C1903C65C612}" type="datetime1">
              <a:rPr lang="en-MY" altLang="x-none" smtClean="0"/>
              <a:pPr/>
              <a:t>17/3/2024</a:t>
            </a:fld>
            <a:endParaRPr lang="en-US" altLang="x-none"/>
          </a:p>
        </p:txBody>
      </p:sp>
      <p:sp>
        <p:nvSpPr>
          <p:cNvPr id="5" name="Footer Placeholder 4"/>
          <p:cNvSpPr>
            <a:spLocks noGrp="1"/>
          </p:cNvSpPr>
          <p:nvPr>
            <p:ph type="ftr" sz="quarter" idx="11"/>
          </p:nvPr>
        </p:nvSpPr>
        <p:spPr/>
        <p:txBody>
          <a:bodyPr/>
          <a:lstStyle>
            <a:lvl1pPr>
              <a:defRPr/>
            </a:lvl1pPr>
          </a:lstStyle>
          <a:p>
            <a:pPr>
              <a:defRPr/>
            </a:pPr>
            <a:endParaRPr lang="en-MY"/>
          </a:p>
        </p:txBody>
      </p:sp>
      <p:sp>
        <p:nvSpPr>
          <p:cNvPr id="6" name="Slide Number Placeholder 5"/>
          <p:cNvSpPr>
            <a:spLocks noGrp="1"/>
          </p:cNvSpPr>
          <p:nvPr>
            <p:ph type="sldNum" sz="quarter" idx="12"/>
          </p:nvPr>
        </p:nvSpPr>
        <p:spPr/>
        <p:txBody>
          <a:bodyPr/>
          <a:lstStyle>
            <a:lvl1pPr>
              <a:defRPr/>
            </a:lvl1pPr>
          </a:lstStyle>
          <a:p>
            <a:fld id="{E84E0A14-FAA9-F840-8F6E-CF85F7234053}" type="slidenum">
              <a:rPr lang="en-US" altLang="x-none"/>
              <a:pPr/>
              <a:t>‹#›</a:t>
            </a:fld>
            <a:endParaRPr lang="en-US" altLang="x-none"/>
          </a:p>
        </p:txBody>
      </p:sp>
    </p:spTree>
    <p:extLst>
      <p:ext uri="{BB962C8B-B14F-4D97-AF65-F5344CB8AC3E}">
        <p14:creationId xmlns:p14="http://schemas.microsoft.com/office/powerpoint/2010/main" val="685560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MY"/>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373EEF4E-6D6D-4BE1-BCAD-79E2CFAE14D0}" type="datetime1">
              <a:rPr lang="en-MY" altLang="x-none" smtClean="0"/>
              <a:pPr/>
              <a:t>17/3/2024</a:t>
            </a:fld>
            <a:endParaRPr lang="en-US" altLang="x-none"/>
          </a:p>
        </p:txBody>
      </p:sp>
      <p:sp>
        <p:nvSpPr>
          <p:cNvPr id="5" name="Footer Placeholder 4"/>
          <p:cNvSpPr>
            <a:spLocks noGrp="1"/>
          </p:cNvSpPr>
          <p:nvPr>
            <p:ph type="ftr" sz="quarter" idx="11"/>
          </p:nvPr>
        </p:nvSpPr>
        <p:spPr/>
        <p:txBody>
          <a:bodyPr/>
          <a:lstStyle>
            <a:lvl1pPr>
              <a:defRPr/>
            </a:lvl1pPr>
          </a:lstStyle>
          <a:p>
            <a:pPr>
              <a:defRPr/>
            </a:pPr>
            <a:endParaRPr lang="en-MY"/>
          </a:p>
        </p:txBody>
      </p:sp>
      <p:sp>
        <p:nvSpPr>
          <p:cNvPr id="6" name="Slide Number Placeholder 5"/>
          <p:cNvSpPr>
            <a:spLocks noGrp="1"/>
          </p:cNvSpPr>
          <p:nvPr>
            <p:ph type="sldNum" sz="quarter" idx="12"/>
          </p:nvPr>
        </p:nvSpPr>
        <p:spPr/>
        <p:txBody>
          <a:bodyPr/>
          <a:lstStyle>
            <a:lvl1pPr>
              <a:defRPr/>
            </a:lvl1pPr>
          </a:lstStyle>
          <a:p>
            <a:fld id="{705AA04D-6ECE-D247-B63F-F2BB1BE1D676}" type="slidenum">
              <a:rPr lang="en-US" altLang="x-none"/>
              <a:pPr/>
              <a:t>‹#›</a:t>
            </a:fld>
            <a:endParaRPr lang="en-US" altLang="x-none"/>
          </a:p>
        </p:txBody>
      </p:sp>
    </p:spTree>
    <p:extLst>
      <p:ext uri="{BB962C8B-B14F-4D97-AF65-F5344CB8AC3E}">
        <p14:creationId xmlns:p14="http://schemas.microsoft.com/office/powerpoint/2010/main" val="969271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3"/>
          <p:cNvSpPr>
            <a:spLocks noGrp="1"/>
          </p:cNvSpPr>
          <p:nvPr>
            <p:ph type="dt" sz="half" idx="10"/>
          </p:nvPr>
        </p:nvSpPr>
        <p:spPr/>
        <p:txBody>
          <a:bodyPr/>
          <a:lstStyle>
            <a:lvl1pPr>
              <a:defRPr/>
            </a:lvl1pPr>
          </a:lstStyle>
          <a:p>
            <a:fld id="{D7384131-524D-4A2C-90DD-DE42C9E7EE64}" type="datetime1">
              <a:rPr lang="en-MY" altLang="x-none" smtClean="0"/>
              <a:pPr/>
              <a:t>17/3/2024</a:t>
            </a:fld>
            <a:endParaRPr lang="en-US" altLang="x-none"/>
          </a:p>
        </p:txBody>
      </p:sp>
      <p:sp>
        <p:nvSpPr>
          <p:cNvPr id="6" name="Footer Placeholder 4"/>
          <p:cNvSpPr>
            <a:spLocks noGrp="1"/>
          </p:cNvSpPr>
          <p:nvPr>
            <p:ph type="ftr" sz="quarter" idx="11"/>
          </p:nvPr>
        </p:nvSpPr>
        <p:spPr/>
        <p:txBody>
          <a:bodyPr/>
          <a:lstStyle>
            <a:lvl1pPr>
              <a:defRPr/>
            </a:lvl1pPr>
          </a:lstStyle>
          <a:p>
            <a:pPr>
              <a:defRPr/>
            </a:pPr>
            <a:endParaRPr lang="en-MY"/>
          </a:p>
        </p:txBody>
      </p:sp>
      <p:sp>
        <p:nvSpPr>
          <p:cNvPr id="7" name="Slide Number Placeholder 5"/>
          <p:cNvSpPr>
            <a:spLocks noGrp="1"/>
          </p:cNvSpPr>
          <p:nvPr>
            <p:ph type="sldNum" sz="quarter" idx="12"/>
          </p:nvPr>
        </p:nvSpPr>
        <p:spPr/>
        <p:txBody>
          <a:bodyPr/>
          <a:lstStyle>
            <a:lvl1pPr>
              <a:defRPr/>
            </a:lvl1pPr>
          </a:lstStyle>
          <a:p>
            <a:fld id="{F51423E8-745E-5C43-95E2-07172DFD47E5}" type="slidenum">
              <a:rPr lang="en-US" altLang="x-none"/>
              <a:pPr/>
              <a:t>‹#›</a:t>
            </a:fld>
            <a:endParaRPr lang="en-US" altLang="x-none"/>
          </a:p>
        </p:txBody>
      </p:sp>
    </p:spTree>
    <p:extLst>
      <p:ext uri="{BB962C8B-B14F-4D97-AF65-F5344CB8AC3E}">
        <p14:creationId xmlns:p14="http://schemas.microsoft.com/office/powerpoint/2010/main" val="1885864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MY"/>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3"/>
          <p:cNvSpPr>
            <a:spLocks noGrp="1"/>
          </p:cNvSpPr>
          <p:nvPr>
            <p:ph type="dt" sz="half" idx="10"/>
          </p:nvPr>
        </p:nvSpPr>
        <p:spPr/>
        <p:txBody>
          <a:bodyPr/>
          <a:lstStyle>
            <a:lvl1pPr>
              <a:defRPr/>
            </a:lvl1pPr>
          </a:lstStyle>
          <a:p>
            <a:fld id="{148B098A-7328-4CA1-8471-2313BAA3301C}" type="datetime1">
              <a:rPr lang="en-MY" altLang="x-none" smtClean="0"/>
              <a:pPr/>
              <a:t>17/3/2024</a:t>
            </a:fld>
            <a:endParaRPr lang="en-US" altLang="x-none"/>
          </a:p>
        </p:txBody>
      </p:sp>
      <p:sp>
        <p:nvSpPr>
          <p:cNvPr id="8" name="Footer Placeholder 4"/>
          <p:cNvSpPr>
            <a:spLocks noGrp="1"/>
          </p:cNvSpPr>
          <p:nvPr>
            <p:ph type="ftr" sz="quarter" idx="11"/>
          </p:nvPr>
        </p:nvSpPr>
        <p:spPr/>
        <p:txBody>
          <a:bodyPr/>
          <a:lstStyle>
            <a:lvl1pPr>
              <a:defRPr/>
            </a:lvl1pPr>
          </a:lstStyle>
          <a:p>
            <a:pPr>
              <a:defRPr/>
            </a:pPr>
            <a:endParaRPr lang="en-MY"/>
          </a:p>
        </p:txBody>
      </p:sp>
      <p:sp>
        <p:nvSpPr>
          <p:cNvPr id="9" name="Slide Number Placeholder 5"/>
          <p:cNvSpPr>
            <a:spLocks noGrp="1"/>
          </p:cNvSpPr>
          <p:nvPr>
            <p:ph type="sldNum" sz="quarter" idx="12"/>
          </p:nvPr>
        </p:nvSpPr>
        <p:spPr/>
        <p:txBody>
          <a:bodyPr/>
          <a:lstStyle>
            <a:lvl1pPr>
              <a:defRPr/>
            </a:lvl1pPr>
          </a:lstStyle>
          <a:p>
            <a:fld id="{54F5B1E2-5B9F-654E-B342-C90FFDBA8BE6}" type="slidenum">
              <a:rPr lang="en-US" altLang="x-none"/>
              <a:pPr/>
              <a:t>‹#›</a:t>
            </a:fld>
            <a:endParaRPr lang="en-US" altLang="x-none"/>
          </a:p>
        </p:txBody>
      </p:sp>
    </p:spTree>
    <p:extLst>
      <p:ext uri="{BB962C8B-B14F-4D97-AF65-F5344CB8AC3E}">
        <p14:creationId xmlns:p14="http://schemas.microsoft.com/office/powerpoint/2010/main" val="1021051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Date Placeholder 3"/>
          <p:cNvSpPr>
            <a:spLocks noGrp="1"/>
          </p:cNvSpPr>
          <p:nvPr>
            <p:ph type="dt" sz="half" idx="10"/>
          </p:nvPr>
        </p:nvSpPr>
        <p:spPr/>
        <p:txBody>
          <a:bodyPr/>
          <a:lstStyle>
            <a:lvl1pPr>
              <a:defRPr/>
            </a:lvl1pPr>
          </a:lstStyle>
          <a:p>
            <a:fld id="{9D4272CC-C410-4500-9030-5AEA8D0113F8}" type="datetime1">
              <a:rPr lang="en-MY" altLang="x-none" smtClean="0"/>
              <a:pPr/>
              <a:t>17/3/2024</a:t>
            </a:fld>
            <a:endParaRPr lang="en-US" altLang="x-none"/>
          </a:p>
        </p:txBody>
      </p:sp>
      <p:sp>
        <p:nvSpPr>
          <p:cNvPr id="4" name="Footer Placeholder 4"/>
          <p:cNvSpPr>
            <a:spLocks noGrp="1"/>
          </p:cNvSpPr>
          <p:nvPr>
            <p:ph type="ftr" sz="quarter" idx="11"/>
          </p:nvPr>
        </p:nvSpPr>
        <p:spPr/>
        <p:txBody>
          <a:bodyPr/>
          <a:lstStyle>
            <a:lvl1pPr>
              <a:defRPr/>
            </a:lvl1pPr>
          </a:lstStyle>
          <a:p>
            <a:pPr>
              <a:defRPr/>
            </a:pPr>
            <a:endParaRPr lang="en-MY"/>
          </a:p>
        </p:txBody>
      </p:sp>
      <p:sp>
        <p:nvSpPr>
          <p:cNvPr id="5" name="Slide Number Placeholder 5"/>
          <p:cNvSpPr>
            <a:spLocks noGrp="1"/>
          </p:cNvSpPr>
          <p:nvPr>
            <p:ph type="sldNum" sz="quarter" idx="12"/>
          </p:nvPr>
        </p:nvSpPr>
        <p:spPr/>
        <p:txBody>
          <a:bodyPr/>
          <a:lstStyle>
            <a:lvl1pPr>
              <a:defRPr/>
            </a:lvl1pPr>
          </a:lstStyle>
          <a:p>
            <a:fld id="{793AD801-36E7-D14C-8BBE-B9CEE8882E42}" type="slidenum">
              <a:rPr lang="en-US" altLang="x-none"/>
              <a:pPr/>
              <a:t>‹#›</a:t>
            </a:fld>
            <a:endParaRPr lang="en-US" altLang="x-none"/>
          </a:p>
        </p:txBody>
      </p:sp>
    </p:spTree>
    <p:extLst>
      <p:ext uri="{BB962C8B-B14F-4D97-AF65-F5344CB8AC3E}">
        <p14:creationId xmlns:p14="http://schemas.microsoft.com/office/powerpoint/2010/main" val="275275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C8B57DC5-F8DF-4065-8776-D75B3E453C40}" type="datetime1">
              <a:rPr lang="en-MY" altLang="x-none" smtClean="0"/>
              <a:pPr/>
              <a:t>17/3/2024</a:t>
            </a:fld>
            <a:endParaRPr lang="en-US" altLang="x-none"/>
          </a:p>
        </p:txBody>
      </p:sp>
      <p:sp>
        <p:nvSpPr>
          <p:cNvPr id="3" name="Footer Placeholder 4"/>
          <p:cNvSpPr>
            <a:spLocks noGrp="1"/>
          </p:cNvSpPr>
          <p:nvPr>
            <p:ph type="ftr" sz="quarter" idx="11"/>
          </p:nvPr>
        </p:nvSpPr>
        <p:spPr/>
        <p:txBody>
          <a:bodyPr/>
          <a:lstStyle>
            <a:lvl1pPr>
              <a:defRPr/>
            </a:lvl1pPr>
          </a:lstStyle>
          <a:p>
            <a:pPr>
              <a:defRPr/>
            </a:pPr>
            <a:endParaRPr lang="en-MY"/>
          </a:p>
        </p:txBody>
      </p:sp>
      <p:sp>
        <p:nvSpPr>
          <p:cNvPr id="4" name="Slide Number Placeholder 5"/>
          <p:cNvSpPr>
            <a:spLocks noGrp="1"/>
          </p:cNvSpPr>
          <p:nvPr>
            <p:ph type="sldNum" sz="quarter" idx="12"/>
          </p:nvPr>
        </p:nvSpPr>
        <p:spPr/>
        <p:txBody>
          <a:bodyPr/>
          <a:lstStyle>
            <a:lvl1pPr>
              <a:defRPr/>
            </a:lvl1pPr>
          </a:lstStyle>
          <a:p>
            <a:fld id="{011F991B-2B43-5B49-AD06-1D3A91BFB6DA}" type="slidenum">
              <a:rPr lang="en-US" altLang="x-none"/>
              <a:pPr/>
              <a:t>‹#›</a:t>
            </a:fld>
            <a:endParaRPr lang="en-US" altLang="x-none"/>
          </a:p>
        </p:txBody>
      </p:sp>
    </p:spTree>
    <p:extLst>
      <p:ext uri="{BB962C8B-B14F-4D97-AF65-F5344CB8AC3E}">
        <p14:creationId xmlns:p14="http://schemas.microsoft.com/office/powerpoint/2010/main" val="8707292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MY"/>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5EFC5F6-5431-451D-831E-53404ADCC7A1}" type="datetime1">
              <a:rPr lang="en-MY" altLang="x-none" smtClean="0"/>
              <a:pPr/>
              <a:t>17/3/2024</a:t>
            </a:fld>
            <a:endParaRPr lang="en-US" altLang="x-none"/>
          </a:p>
        </p:txBody>
      </p:sp>
      <p:sp>
        <p:nvSpPr>
          <p:cNvPr id="6" name="Footer Placeholder 4"/>
          <p:cNvSpPr>
            <a:spLocks noGrp="1"/>
          </p:cNvSpPr>
          <p:nvPr>
            <p:ph type="ftr" sz="quarter" idx="11"/>
          </p:nvPr>
        </p:nvSpPr>
        <p:spPr/>
        <p:txBody>
          <a:bodyPr/>
          <a:lstStyle>
            <a:lvl1pPr>
              <a:defRPr/>
            </a:lvl1pPr>
          </a:lstStyle>
          <a:p>
            <a:pPr>
              <a:defRPr/>
            </a:pPr>
            <a:endParaRPr lang="en-MY"/>
          </a:p>
        </p:txBody>
      </p:sp>
      <p:sp>
        <p:nvSpPr>
          <p:cNvPr id="7" name="Slide Number Placeholder 5"/>
          <p:cNvSpPr>
            <a:spLocks noGrp="1"/>
          </p:cNvSpPr>
          <p:nvPr>
            <p:ph type="sldNum" sz="quarter" idx="12"/>
          </p:nvPr>
        </p:nvSpPr>
        <p:spPr/>
        <p:txBody>
          <a:bodyPr/>
          <a:lstStyle>
            <a:lvl1pPr>
              <a:defRPr/>
            </a:lvl1pPr>
          </a:lstStyle>
          <a:p>
            <a:fld id="{9F076030-6673-E149-9F4B-C5F4EF83FAAF}" type="slidenum">
              <a:rPr lang="en-US" altLang="x-none"/>
              <a:pPr/>
              <a:t>‹#›</a:t>
            </a:fld>
            <a:endParaRPr lang="en-US" altLang="x-none"/>
          </a:p>
        </p:txBody>
      </p:sp>
    </p:spTree>
    <p:extLst>
      <p:ext uri="{BB962C8B-B14F-4D97-AF65-F5344CB8AC3E}">
        <p14:creationId xmlns:p14="http://schemas.microsoft.com/office/powerpoint/2010/main" val="13929845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MY"/>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MY"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8B5CC98A-8D97-485E-8268-391E4F5506FB}" type="datetime1">
              <a:rPr lang="en-MY" altLang="x-none" smtClean="0"/>
              <a:pPr/>
              <a:t>17/3/2024</a:t>
            </a:fld>
            <a:endParaRPr lang="en-US" altLang="x-none"/>
          </a:p>
        </p:txBody>
      </p:sp>
      <p:sp>
        <p:nvSpPr>
          <p:cNvPr id="6" name="Footer Placeholder 4"/>
          <p:cNvSpPr>
            <a:spLocks noGrp="1"/>
          </p:cNvSpPr>
          <p:nvPr>
            <p:ph type="ftr" sz="quarter" idx="11"/>
          </p:nvPr>
        </p:nvSpPr>
        <p:spPr/>
        <p:txBody>
          <a:bodyPr/>
          <a:lstStyle>
            <a:lvl1pPr>
              <a:defRPr/>
            </a:lvl1pPr>
          </a:lstStyle>
          <a:p>
            <a:pPr>
              <a:defRPr/>
            </a:pPr>
            <a:endParaRPr lang="en-MY"/>
          </a:p>
        </p:txBody>
      </p:sp>
      <p:sp>
        <p:nvSpPr>
          <p:cNvPr id="7" name="Slide Number Placeholder 5"/>
          <p:cNvSpPr>
            <a:spLocks noGrp="1"/>
          </p:cNvSpPr>
          <p:nvPr>
            <p:ph type="sldNum" sz="quarter" idx="12"/>
          </p:nvPr>
        </p:nvSpPr>
        <p:spPr/>
        <p:txBody>
          <a:bodyPr/>
          <a:lstStyle>
            <a:lvl1pPr>
              <a:defRPr/>
            </a:lvl1pPr>
          </a:lstStyle>
          <a:p>
            <a:fld id="{7E485750-1DE6-5F4E-81E2-ECAB9D801A59}" type="slidenum">
              <a:rPr lang="en-US" altLang="x-none"/>
              <a:pPr/>
              <a:t>‹#›</a:t>
            </a:fld>
            <a:endParaRPr lang="en-US" altLang="x-none"/>
          </a:p>
        </p:txBody>
      </p:sp>
    </p:spTree>
    <p:extLst>
      <p:ext uri="{BB962C8B-B14F-4D97-AF65-F5344CB8AC3E}">
        <p14:creationId xmlns:p14="http://schemas.microsoft.com/office/powerpoint/2010/main" val="23990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p:cNvSpPr>
            <a:spLocks noGrp="1"/>
          </p:cNvSpPr>
          <p:nvPr>
            <p:ph type="dt" sz="half" idx="10"/>
          </p:nvPr>
        </p:nvSpPr>
        <p:spPr/>
        <p:txBody>
          <a:bodyPr/>
          <a:lstStyle>
            <a:lvl1pPr>
              <a:defRPr/>
            </a:lvl1pPr>
          </a:lstStyle>
          <a:p>
            <a:fld id="{5431F639-FC6A-4BD2-936E-97DBE391E573}" type="datetime1">
              <a:rPr lang="en-MY" altLang="x-none" smtClean="0"/>
              <a:pPr/>
              <a:t>17/3/2024</a:t>
            </a:fld>
            <a:endParaRPr lang="en-US" altLang="x-none"/>
          </a:p>
        </p:txBody>
      </p:sp>
      <p:sp>
        <p:nvSpPr>
          <p:cNvPr id="5" name="Footer Placeholder 4"/>
          <p:cNvSpPr>
            <a:spLocks noGrp="1"/>
          </p:cNvSpPr>
          <p:nvPr>
            <p:ph type="ftr" sz="quarter" idx="11"/>
          </p:nvPr>
        </p:nvSpPr>
        <p:spPr/>
        <p:txBody>
          <a:bodyPr/>
          <a:lstStyle>
            <a:lvl1pPr>
              <a:defRPr/>
            </a:lvl1pPr>
          </a:lstStyle>
          <a:p>
            <a:pPr>
              <a:defRPr/>
            </a:pPr>
            <a:endParaRPr lang="en-MY"/>
          </a:p>
        </p:txBody>
      </p:sp>
      <p:sp>
        <p:nvSpPr>
          <p:cNvPr id="6" name="Slide Number Placeholder 5"/>
          <p:cNvSpPr>
            <a:spLocks noGrp="1"/>
          </p:cNvSpPr>
          <p:nvPr>
            <p:ph type="sldNum" sz="quarter" idx="12"/>
          </p:nvPr>
        </p:nvSpPr>
        <p:spPr/>
        <p:txBody>
          <a:bodyPr/>
          <a:lstStyle>
            <a:lvl1pPr>
              <a:defRPr/>
            </a:lvl1pPr>
          </a:lstStyle>
          <a:p>
            <a:fld id="{B60240F5-A592-CB4C-B3EB-742B1D536E95}" type="slidenum">
              <a:rPr lang="en-US" altLang="x-none"/>
              <a:pPr/>
              <a:t>‹#›</a:t>
            </a:fld>
            <a:endParaRPr lang="en-US" altLang="x-none"/>
          </a:p>
        </p:txBody>
      </p:sp>
    </p:spTree>
    <p:extLst>
      <p:ext uri="{BB962C8B-B14F-4D97-AF65-F5344CB8AC3E}">
        <p14:creationId xmlns:p14="http://schemas.microsoft.com/office/powerpoint/2010/main" val="1627160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MY"/>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p:cNvSpPr>
            <a:spLocks noGrp="1"/>
          </p:cNvSpPr>
          <p:nvPr>
            <p:ph type="dt" sz="half" idx="10"/>
          </p:nvPr>
        </p:nvSpPr>
        <p:spPr/>
        <p:txBody>
          <a:bodyPr/>
          <a:lstStyle>
            <a:lvl1pPr>
              <a:defRPr/>
            </a:lvl1pPr>
          </a:lstStyle>
          <a:p>
            <a:fld id="{316BF230-B64E-4469-8D65-E6C55615883E}" type="datetime1">
              <a:rPr lang="en-MY" altLang="x-none" smtClean="0"/>
              <a:pPr/>
              <a:t>17/3/2024</a:t>
            </a:fld>
            <a:endParaRPr lang="en-US" altLang="x-none"/>
          </a:p>
        </p:txBody>
      </p:sp>
      <p:sp>
        <p:nvSpPr>
          <p:cNvPr id="5" name="Footer Placeholder 4"/>
          <p:cNvSpPr>
            <a:spLocks noGrp="1"/>
          </p:cNvSpPr>
          <p:nvPr>
            <p:ph type="ftr" sz="quarter" idx="11"/>
          </p:nvPr>
        </p:nvSpPr>
        <p:spPr/>
        <p:txBody>
          <a:bodyPr/>
          <a:lstStyle>
            <a:lvl1pPr>
              <a:defRPr/>
            </a:lvl1pPr>
          </a:lstStyle>
          <a:p>
            <a:pPr>
              <a:defRPr/>
            </a:pPr>
            <a:endParaRPr lang="en-MY"/>
          </a:p>
        </p:txBody>
      </p:sp>
      <p:sp>
        <p:nvSpPr>
          <p:cNvPr id="6" name="Slide Number Placeholder 5"/>
          <p:cNvSpPr>
            <a:spLocks noGrp="1"/>
          </p:cNvSpPr>
          <p:nvPr>
            <p:ph type="sldNum" sz="quarter" idx="12"/>
          </p:nvPr>
        </p:nvSpPr>
        <p:spPr/>
        <p:txBody>
          <a:bodyPr/>
          <a:lstStyle>
            <a:lvl1pPr>
              <a:defRPr/>
            </a:lvl1pPr>
          </a:lstStyle>
          <a:p>
            <a:fld id="{6EE7B5C7-1332-B24B-B4B9-50CEB6238BEA}" type="slidenum">
              <a:rPr lang="en-US" altLang="x-none"/>
              <a:pPr/>
              <a:t>‹#›</a:t>
            </a:fld>
            <a:endParaRPr lang="en-US" altLang="x-none"/>
          </a:p>
        </p:txBody>
      </p:sp>
    </p:spTree>
    <p:extLst>
      <p:ext uri="{BB962C8B-B14F-4D97-AF65-F5344CB8AC3E}">
        <p14:creationId xmlns:p14="http://schemas.microsoft.com/office/powerpoint/2010/main" val="16279138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05200" y="533400"/>
            <a:ext cx="5181600" cy="685800"/>
          </a:xfrm>
        </p:spPr>
        <p:txBody>
          <a:bodyPr/>
          <a:lstStyle/>
          <a:p>
            <a:r>
              <a:rPr lang="en-US"/>
              <a:t>Click to edit Master title style</a:t>
            </a:r>
            <a:endParaRPr lang="en-AU"/>
          </a:p>
        </p:txBody>
      </p:sp>
      <p:sp>
        <p:nvSpPr>
          <p:cNvPr id="3" name="Text Placeholder 2"/>
          <p:cNvSpPr>
            <a:spLocks noGrp="1"/>
          </p:cNvSpPr>
          <p:nvPr>
            <p:ph type="body" sz="half" idx="1"/>
          </p:nvPr>
        </p:nvSpPr>
        <p:spPr>
          <a:xfrm>
            <a:off x="457200" y="1828800"/>
            <a:ext cx="40386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1828800"/>
            <a:ext cx="40386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Rectangle 4"/>
          <p:cNvSpPr>
            <a:spLocks noGrp="1" noChangeArrowheads="1"/>
          </p:cNvSpPr>
          <p:nvPr>
            <p:ph type="dt" sz="half" idx="10"/>
          </p:nvPr>
        </p:nvSpPr>
        <p:spPr>
          <a:ln/>
        </p:spPr>
        <p:txBody>
          <a:bodyPr/>
          <a:lstStyle>
            <a:lvl1pPr>
              <a:defRPr/>
            </a:lvl1pPr>
          </a:lstStyle>
          <a:p>
            <a:pPr>
              <a:defRPr/>
            </a:pPr>
            <a:fld id="{335C7DD5-6D2C-4259-B766-74B3CC8FB0F2}" type="datetime1">
              <a:rPr lang="en-MY" altLang="en-US" smtClean="0"/>
              <a:pPr>
                <a:defRPr/>
              </a:pPr>
              <a:t>17/3/2024</a:t>
            </a:fld>
            <a:endParaRPr lang="en-US" altLang="en-US"/>
          </a:p>
        </p:txBody>
      </p:sp>
      <p:sp>
        <p:nvSpPr>
          <p:cNvPr id="6" name="Rectangle 6"/>
          <p:cNvSpPr>
            <a:spLocks noGrp="1" noChangeArrowheads="1"/>
          </p:cNvSpPr>
          <p:nvPr>
            <p:ph type="sldNum" sz="quarter" idx="11"/>
          </p:nvPr>
        </p:nvSpPr>
        <p:spPr>
          <a:ln/>
        </p:spPr>
        <p:txBody>
          <a:bodyPr/>
          <a:lstStyle>
            <a:lvl1pPr>
              <a:defRPr/>
            </a:lvl1pPr>
          </a:lstStyle>
          <a:p>
            <a:pPr>
              <a:defRPr/>
            </a:pPr>
            <a:fld id="{A0D74A78-F601-47A3-94C5-613490FD23F8}" type="slidenum">
              <a:rPr lang="en-US" altLang="en-US"/>
              <a:pPr>
                <a:defRPr/>
              </a:pPr>
              <a:t>‹#›</a:t>
            </a:fld>
            <a:endParaRPr lang="en-US" altLang="en-US"/>
          </a:p>
        </p:txBody>
      </p:sp>
    </p:spTree>
    <p:extLst>
      <p:ext uri="{BB962C8B-B14F-4D97-AF65-F5344CB8AC3E}">
        <p14:creationId xmlns:p14="http://schemas.microsoft.com/office/powerpoint/2010/main" val="28980141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505200" y="533400"/>
            <a:ext cx="5181600" cy="685800"/>
          </a:xfrm>
        </p:spPr>
        <p:txBody>
          <a:bodyPr/>
          <a:lstStyle/>
          <a:p>
            <a:r>
              <a:rPr lang="en-US"/>
              <a:t>Click to edit Master title style</a:t>
            </a:r>
            <a:endParaRPr lang="en-AU"/>
          </a:p>
        </p:txBody>
      </p:sp>
      <p:sp>
        <p:nvSpPr>
          <p:cNvPr id="3" name="Text Placeholder 2"/>
          <p:cNvSpPr>
            <a:spLocks noGrp="1"/>
          </p:cNvSpPr>
          <p:nvPr>
            <p:ph type="body" sz="half" idx="1"/>
          </p:nvPr>
        </p:nvSpPr>
        <p:spPr>
          <a:xfrm>
            <a:off x="457200" y="1828800"/>
            <a:ext cx="40386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quarter" idx="2"/>
          </p:nvPr>
        </p:nvSpPr>
        <p:spPr>
          <a:xfrm>
            <a:off x="4648200" y="1828800"/>
            <a:ext cx="4038600" cy="2019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Content Placeholder 4"/>
          <p:cNvSpPr>
            <a:spLocks noGrp="1"/>
          </p:cNvSpPr>
          <p:nvPr>
            <p:ph sz="quarter" idx="3"/>
          </p:nvPr>
        </p:nvSpPr>
        <p:spPr>
          <a:xfrm>
            <a:off x="4648200" y="4000500"/>
            <a:ext cx="4038600" cy="2019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Rectangle 4"/>
          <p:cNvSpPr>
            <a:spLocks noGrp="1" noChangeArrowheads="1"/>
          </p:cNvSpPr>
          <p:nvPr>
            <p:ph type="dt" sz="half" idx="10"/>
          </p:nvPr>
        </p:nvSpPr>
        <p:spPr>
          <a:ln/>
        </p:spPr>
        <p:txBody>
          <a:bodyPr/>
          <a:lstStyle>
            <a:lvl1pPr>
              <a:defRPr/>
            </a:lvl1pPr>
          </a:lstStyle>
          <a:p>
            <a:pPr>
              <a:defRPr/>
            </a:pPr>
            <a:fld id="{2C262CF3-032E-4A05-B00B-30EB327732A9}" type="datetime1">
              <a:rPr lang="en-MY" altLang="en-US" smtClean="0"/>
              <a:pPr>
                <a:defRPr/>
              </a:pPr>
              <a:t>17/3/2024</a:t>
            </a:fld>
            <a:endParaRPr lang="en-US" altLang="en-US"/>
          </a:p>
        </p:txBody>
      </p:sp>
      <p:sp>
        <p:nvSpPr>
          <p:cNvPr id="7" name="Rectangle 6"/>
          <p:cNvSpPr>
            <a:spLocks noGrp="1" noChangeArrowheads="1"/>
          </p:cNvSpPr>
          <p:nvPr>
            <p:ph type="sldNum" sz="quarter" idx="11"/>
          </p:nvPr>
        </p:nvSpPr>
        <p:spPr>
          <a:ln/>
        </p:spPr>
        <p:txBody>
          <a:bodyPr/>
          <a:lstStyle>
            <a:lvl1pPr>
              <a:defRPr/>
            </a:lvl1pPr>
          </a:lstStyle>
          <a:p>
            <a:pPr>
              <a:defRPr/>
            </a:pPr>
            <a:fld id="{6D107FCB-E406-4577-A51C-0F66F2318658}" type="slidenum">
              <a:rPr lang="en-US" altLang="en-US"/>
              <a:pPr>
                <a:defRPr/>
              </a:pPr>
              <a:t>‹#›</a:t>
            </a:fld>
            <a:endParaRPr lang="en-US" altLang="en-US"/>
          </a:p>
        </p:txBody>
      </p:sp>
    </p:spTree>
    <p:extLst>
      <p:ext uri="{BB962C8B-B14F-4D97-AF65-F5344CB8AC3E}">
        <p14:creationId xmlns:p14="http://schemas.microsoft.com/office/powerpoint/2010/main" val="36202511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3505200" y="533400"/>
            <a:ext cx="5181600" cy="685800"/>
          </a:xfrm>
        </p:spPr>
        <p:txBody>
          <a:bodyPr/>
          <a:lstStyle/>
          <a:p>
            <a:r>
              <a:rPr lang="en-US"/>
              <a:t>Click to edit Master title style</a:t>
            </a:r>
            <a:endParaRPr lang="en-AU"/>
          </a:p>
        </p:txBody>
      </p:sp>
      <p:sp>
        <p:nvSpPr>
          <p:cNvPr id="3" name="Content Placeholder 2"/>
          <p:cNvSpPr>
            <a:spLocks noGrp="1"/>
          </p:cNvSpPr>
          <p:nvPr>
            <p:ph sz="quarter" idx="1"/>
          </p:nvPr>
        </p:nvSpPr>
        <p:spPr>
          <a:xfrm>
            <a:off x="457200" y="1828800"/>
            <a:ext cx="4038600" cy="2019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quarter" idx="2"/>
          </p:nvPr>
        </p:nvSpPr>
        <p:spPr>
          <a:xfrm>
            <a:off x="4648200" y="1828800"/>
            <a:ext cx="4038600" cy="2019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Content Placeholder 4"/>
          <p:cNvSpPr>
            <a:spLocks noGrp="1"/>
          </p:cNvSpPr>
          <p:nvPr>
            <p:ph sz="quarter" idx="3"/>
          </p:nvPr>
        </p:nvSpPr>
        <p:spPr>
          <a:xfrm>
            <a:off x="457200" y="4000500"/>
            <a:ext cx="4038600" cy="2019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Content Placeholder 5"/>
          <p:cNvSpPr>
            <a:spLocks noGrp="1"/>
          </p:cNvSpPr>
          <p:nvPr>
            <p:ph sz="quarter" idx="4"/>
          </p:nvPr>
        </p:nvSpPr>
        <p:spPr>
          <a:xfrm>
            <a:off x="4648200" y="4000500"/>
            <a:ext cx="4038600" cy="2019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Rectangle 4"/>
          <p:cNvSpPr>
            <a:spLocks noGrp="1" noChangeArrowheads="1"/>
          </p:cNvSpPr>
          <p:nvPr>
            <p:ph type="dt" sz="half" idx="10"/>
          </p:nvPr>
        </p:nvSpPr>
        <p:spPr>
          <a:ln/>
        </p:spPr>
        <p:txBody>
          <a:bodyPr/>
          <a:lstStyle>
            <a:lvl1pPr>
              <a:defRPr/>
            </a:lvl1pPr>
          </a:lstStyle>
          <a:p>
            <a:pPr>
              <a:defRPr/>
            </a:pPr>
            <a:fld id="{C0F92641-BD3C-4AEE-AEE0-60A0BEF19257}" type="datetime1">
              <a:rPr lang="en-MY" altLang="en-US" smtClean="0"/>
              <a:pPr>
                <a:defRPr/>
              </a:pPr>
              <a:t>17/3/2024</a:t>
            </a:fld>
            <a:endParaRPr lang="en-US" altLang="en-US"/>
          </a:p>
        </p:txBody>
      </p:sp>
      <p:sp>
        <p:nvSpPr>
          <p:cNvPr id="8" name="Rectangle 6"/>
          <p:cNvSpPr>
            <a:spLocks noGrp="1" noChangeArrowheads="1"/>
          </p:cNvSpPr>
          <p:nvPr>
            <p:ph type="sldNum" sz="quarter" idx="11"/>
          </p:nvPr>
        </p:nvSpPr>
        <p:spPr>
          <a:ln/>
        </p:spPr>
        <p:txBody>
          <a:bodyPr/>
          <a:lstStyle>
            <a:lvl1pPr>
              <a:defRPr/>
            </a:lvl1pPr>
          </a:lstStyle>
          <a:p>
            <a:pPr>
              <a:defRPr/>
            </a:pPr>
            <a:fld id="{7DF03E85-04D8-46DA-B588-1BC276B1FA57}" type="slidenum">
              <a:rPr lang="en-US" altLang="en-US"/>
              <a:pPr>
                <a:defRPr/>
              </a:pPr>
              <a:t>‹#›</a:t>
            </a:fld>
            <a:endParaRPr lang="en-US" altLang="en-US"/>
          </a:p>
        </p:txBody>
      </p:sp>
    </p:spTree>
    <p:extLst>
      <p:ext uri="{BB962C8B-B14F-4D97-AF65-F5344CB8AC3E}">
        <p14:creationId xmlns:p14="http://schemas.microsoft.com/office/powerpoint/2010/main" val="224875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ltLang="x-none"/>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ltLang="x-none"/>
              <a:t>Click to edit Master text styles</a:t>
            </a:r>
          </a:p>
          <a:p>
            <a:pPr lvl="1"/>
            <a:r>
              <a:rPr lang="en-US" altLang="x-none"/>
              <a:t>Second level</a:t>
            </a:r>
          </a:p>
          <a:p>
            <a:pPr lvl="2"/>
            <a:r>
              <a:rPr lang="en-US" altLang="x-none"/>
              <a:t>Third level</a:t>
            </a:r>
          </a:p>
          <a:p>
            <a:pPr lvl="3"/>
            <a:r>
              <a:rPr lang="en-US" altLang="x-none"/>
              <a:t>Fourth level</a:t>
            </a:r>
          </a:p>
          <a:p>
            <a:pPr lvl="4"/>
            <a:r>
              <a:rPr lang="en-US" altLang="x-none"/>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fld id="{574F3A03-6702-4BFD-9166-190A52423683}" type="datetime1">
              <a:rPr lang="en-MY" altLang="x-none" smtClean="0"/>
              <a:pPr/>
              <a:t>17/3/2024</a:t>
            </a:fld>
            <a:endParaRPr lang="en-US" altLang="x-none"/>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endParaRPr lang="en-MY"/>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0A160C77-8EE4-BA4B-9C0B-FF18244C35C7}" type="slidenum">
              <a:rPr lang="en-US" altLang="x-none"/>
              <a:pPr/>
              <a:t>‹#›</a:t>
            </a:fld>
            <a:endParaRPr lang="en-US" altLang="x-none"/>
          </a:p>
        </p:txBody>
      </p:sp>
      <p:pic>
        <p:nvPicPr>
          <p:cNvPr id="1031" name="Picture 7"/>
          <p:cNvPicPr>
            <a:picLocks noChangeAspect="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1588" y="0"/>
            <a:ext cx="91408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Lst>
  <p:hf hdr="0" ftr="0" dt="0"/>
  <p:txStyles>
    <p:titleStyle>
      <a:lvl1pPr algn="ctr" rtl="0" eaLnBrk="0" fontAlgn="base" hangingPunct="0">
        <a:spcBef>
          <a:spcPct val="0"/>
        </a:spcBef>
        <a:spcAft>
          <a:spcPct val="0"/>
        </a:spcAft>
        <a:defRPr sz="4400" kern="1200">
          <a:solidFill>
            <a:schemeClr val="tx1"/>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1"/>
          </a:solidFill>
          <a:latin typeface="Calibri" pitchFamily="-112" charset="0"/>
          <a:ea typeface="ＭＳ Ｐゴシック" charset="0"/>
          <a:cs typeface="ＭＳ Ｐゴシック" charset="0"/>
        </a:defRPr>
      </a:lvl2pPr>
      <a:lvl3pPr algn="ctr" rtl="0" eaLnBrk="0" fontAlgn="base" hangingPunct="0">
        <a:spcBef>
          <a:spcPct val="0"/>
        </a:spcBef>
        <a:spcAft>
          <a:spcPct val="0"/>
        </a:spcAft>
        <a:defRPr sz="4400">
          <a:solidFill>
            <a:schemeClr val="tx1"/>
          </a:solidFill>
          <a:latin typeface="Calibri" pitchFamily="-112" charset="0"/>
          <a:ea typeface="ＭＳ Ｐゴシック" charset="0"/>
          <a:cs typeface="ＭＳ Ｐゴシック" charset="0"/>
        </a:defRPr>
      </a:lvl3pPr>
      <a:lvl4pPr algn="ctr" rtl="0" eaLnBrk="0" fontAlgn="base" hangingPunct="0">
        <a:spcBef>
          <a:spcPct val="0"/>
        </a:spcBef>
        <a:spcAft>
          <a:spcPct val="0"/>
        </a:spcAft>
        <a:defRPr sz="4400">
          <a:solidFill>
            <a:schemeClr val="tx1"/>
          </a:solidFill>
          <a:latin typeface="Calibri" pitchFamily="-112" charset="0"/>
          <a:ea typeface="ＭＳ Ｐゴシック" charset="0"/>
          <a:cs typeface="ＭＳ Ｐゴシック" charset="0"/>
        </a:defRPr>
      </a:lvl4pPr>
      <a:lvl5pPr algn="ctr" rtl="0" eaLnBrk="0" fontAlgn="base" hangingPunct="0">
        <a:spcBef>
          <a:spcPct val="0"/>
        </a:spcBef>
        <a:spcAft>
          <a:spcPct val="0"/>
        </a:spcAft>
        <a:defRPr sz="4400">
          <a:solidFill>
            <a:schemeClr val="tx1"/>
          </a:solidFill>
          <a:latin typeface="Calibri" pitchFamily="-112" charset="0"/>
          <a:ea typeface="ＭＳ Ｐゴシック" charset="0"/>
          <a:cs typeface="ＭＳ Ｐゴシック" charset="0"/>
        </a:defRPr>
      </a:lvl5pPr>
      <a:lvl6pPr marL="457200" algn="ctr" rtl="0" fontAlgn="base">
        <a:spcBef>
          <a:spcPct val="0"/>
        </a:spcBef>
        <a:spcAft>
          <a:spcPct val="0"/>
        </a:spcAft>
        <a:defRPr sz="4400">
          <a:solidFill>
            <a:schemeClr val="tx1"/>
          </a:solidFill>
          <a:latin typeface="Calibri" pitchFamily="-112" charset="0"/>
        </a:defRPr>
      </a:lvl6pPr>
      <a:lvl7pPr marL="914400" algn="ctr" rtl="0" fontAlgn="base">
        <a:spcBef>
          <a:spcPct val="0"/>
        </a:spcBef>
        <a:spcAft>
          <a:spcPct val="0"/>
        </a:spcAft>
        <a:defRPr sz="4400">
          <a:solidFill>
            <a:schemeClr val="tx1"/>
          </a:solidFill>
          <a:latin typeface="Calibri" pitchFamily="-112" charset="0"/>
        </a:defRPr>
      </a:lvl7pPr>
      <a:lvl8pPr marL="1371600" algn="ctr" rtl="0" fontAlgn="base">
        <a:spcBef>
          <a:spcPct val="0"/>
        </a:spcBef>
        <a:spcAft>
          <a:spcPct val="0"/>
        </a:spcAft>
        <a:defRPr sz="4400">
          <a:solidFill>
            <a:schemeClr val="tx1"/>
          </a:solidFill>
          <a:latin typeface="Calibri" pitchFamily="-112" charset="0"/>
        </a:defRPr>
      </a:lvl8pPr>
      <a:lvl9pPr marL="1828800" algn="ctr" rtl="0" fontAlgn="base">
        <a:spcBef>
          <a:spcPct val="0"/>
        </a:spcBef>
        <a:spcAft>
          <a:spcPct val="0"/>
        </a:spcAft>
        <a:defRPr sz="4400">
          <a:solidFill>
            <a:schemeClr val="tx1"/>
          </a:solidFill>
          <a:latin typeface="Calibri" pitchFamily="-112"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hyperlink" Target="http://images.google.com/imgres?imgurl=http://www.smh.com.au/ffximage/2007/07/12/iran_v__uzbekistan1_gallery__468x400.jpg&amp;imgrefurl=http://www.smh.com.au/ftimages/2007/07/12/1183833658193.html?slideshow=true&amp;usg=__HAlY39DgwQIz9JJ9GrzgxQYVyi0=&amp;h=400&amp;w=468&amp;sz=31&amp;hl=en&amp;start=19&amp;itbs=1&amp;tbnid=umQe1yx7tvA_OM:&amp;tbnh=109&amp;tbnw=128&amp;prev=/images?q=malaysian+football+players&amp;gbv=2&amp;ndsp=18&amp;hl=en&amp;sa=N&amp;start=18"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gif"/><Relationship Id="rId1" Type="http://schemas.openxmlformats.org/officeDocument/2006/relationships/slideLayout" Target="../slideLayouts/slideLayout6.xml"/><Relationship Id="rId4" Type="http://schemas.openxmlformats.org/officeDocument/2006/relationships/image" Target="../media/image36.png"/></Relationships>
</file>

<file path=ppt/slides/_rels/slide48.xml.rels><?xml version="1.0" encoding="UTF-8" standalone="yes"?>
<Relationships xmlns="http://schemas.openxmlformats.org/package/2006/relationships"><Relationship Id="rId8" Type="http://schemas.openxmlformats.org/officeDocument/2006/relationships/hyperlink" Target="http://images.google.com/imgres?imgurl=http://www.grafile.com/images/screenshots/document_scr.jpg&amp;imgrefurl=http://www.grafile.com/collection/Document.html&amp;usg=__O65iQEl4Ue-pVyHaMYpgT_WoG0c=&amp;h=300&amp;w=450&amp;sz=57&amp;hl=en&amp;start=8&amp;itbs=1&amp;tbnid=K_SD8voW2ueJ9M:&amp;tbnh=85&amp;tbnw=127&amp;prev=/images?q=document&amp;tbnid=qbeRxlirNupXMM:&amp;gbv=2&amp;ndsp=18&amp;hl=en&amp;sa=N&amp;tbnh=0&amp;tbnw=0" TargetMode="External"/><Relationship Id="rId3" Type="http://schemas.openxmlformats.org/officeDocument/2006/relationships/image" Target="../media/image37.jpeg"/><Relationship Id="rId7" Type="http://schemas.openxmlformats.org/officeDocument/2006/relationships/image" Target="../media/image39.jpeg"/><Relationship Id="rId2" Type="http://schemas.openxmlformats.org/officeDocument/2006/relationships/hyperlink" Target="http://images.google.com/imgres?imgurl=http://www.boston.com/ae/theater_arts/exhibitionist/33-books.gif&amp;imgrefurl=http://www.boston.com/ae/theater_arts/exhibitionist/entries/&amp;usg=__6sRqGQQvoe6Gmz1raYBUJOZnaNI=&amp;h=300&amp;w=300&amp;sz=28&amp;hl=en&amp;start=1&amp;itbs=1&amp;tbnid=Xf58qCfQNAwziM:&amp;tbnh=116&amp;tbnw=116&amp;prev=/images?q=books&amp;tbnid=qbeRxlirNupXMM:&amp;gbv=2&amp;hl=en&amp;tbnh=0&amp;tbnw=0" TargetMode="External"/><Relationship Id="rId1" Type="http://schemas.openxmlformats.org/officeDocument/2006/relationships/slideLayout" Target="../slideLayouts/slideLayout6.xml"/><Relationship Id="rId6" Type="http://schemas.openxmlformats.org/officeDocument/2006/relationships/hyperlink" Target="http://images.google.com/imgres?imgurl=http://cruvel.com/yahoo_site_admin/assets/images/documents.166162726_std.jpg&amp;imgrefurl=http://www.cruvel.com/services&amp;usg=__mNoP63vqjaqZmngNCxG1CPkJcGo=&amp;h=311&amp;w=338&amp;sz=39&amp;hl=en&amp;start=3&amp;itbs=1&amp;tbnid=H3jHHPPxS3Vh4M:&amp;tbnh=109&amp;tbnw=119&amp;prev=/images?q=document&amp;tbnid=qbeRxlirNupXMM:&amp;gbv=2&amp;ndsp=18&amp;hl=en&amp;sa=N&amp;tbnh=0&amp;tbnw=0" TargetMode="External"/><Relationship Id="rId11" Type="http://schemas.openxmlformats.org/officeDocument/2006/relationships/image" Target="../media/image41.jpeg"/><Relationship Id="rId5" Type="http://schemas.openxmlformats.org/officeDocument/2006/relationships/image" Target="../media/image38.jpeg"/><Relationship Id="rId10" Type="http://schemas.openxmlformats.org/officeDocument/2006/relationships/hyperlink" Target="http://images.google.com/imgres?imgurl=http://www.rso.cornell.edu/hellenic/images/stories/computer.jpg&amp;imgrefurl=http://www.rso.cornell.edu/hellenic/&amp;usg=__AZb8nTJ-QWU8e73qqlxgP58gR-o=&amp;h=1050&amp;w=1050&amp;sz=116&amp;hl=en&amp;start=1&amp;itbs=1&amp;tbnid=xQeFaKVdKfHNwM:&amp;tbnh=150&amp;tbnw=150&amp;prev=/images?q=computer&amp;tbnid=qbeRxlirNupXMM:&amp;gbv=2&amp;hl=en&amp;tbnh=0&amp;tbnw=0" TargetMode="External"/><Relationship Id="rId4" Type="http://schemas.openxmlformats.org/officeDocument/2006/relationships/hyperlink" Target="http://images.google.com/imgres?imgurl=http://permata-niaga.com/uia/typing/images/Document_Easy_Case.jpg&amp;imgrefurl=http://permata-niaga.com/uia/typing/&amp;usg=__Ue-8E6yRUpe9sONj92BnAeHVWXk=&amp;h=360&amp;w=360&amp;sz=28&amp;hl=en&amp;start=10&amp;itbs=1&amp;tbnid=swyUSk5Rcp8aiM:&amp;tbnh=121&amp;tbnw=121&amp;prev=/images?q=document&amp;tbnid=qbeRxlirNupXMM:&amp;gbv=2&amp;ndsp=18&amp;hl=en&amp;sa=N&amp;tbnh=0&amp;tbnw=0" TargetMode="External"/><Relationship Id="rId9" Type="http://schemas.openxmlformats.org/officeDocument/2006/relationships/image" Target="../media/image40.jpeg"/></Relationships>
</file>

<file path=ppt/slides/_rels/slide4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http://www.regentsprep.org/Regents/math/ALGEBRA/AD1/oilpainting.gif" TargetMode="External"/><Relationship Id="rId2" Type="http://schemas.openxmlformats.org/officeDocument/2006/relationships/image" Target="../media/image43.gi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slideLayout" Target="../slideLayouts/slideLayout2.xml"/><Relationship Id="rId4" Type="http://schemas.openxmlformats.org/officeDocument/2006/relationships/image" Target="../media/image50.wmf"/></Relationships>
</file>

<file path=ppt/slides/_rels/slide55.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slideLayout" Target="../slideLayouts/slideLayout2.xml"/><Relationship Id="rId6" Type="http://schemas.openxmlformats.org/officeDocument/2006/relationships/image" Target="../media/image55.jpeg"/><Relationship Id="rId5" Type="http://schemas.openxmlformats.org/officeDocument/2006/relationships/image" Target="../media/image54.jpeg"/><Relationship Id="rId4" Type="http://schemas.openxmlformats.org/officeDocument/2006/relationships/image" Target="../media/image53.wmf"/></Relationships>
</file>

<file path=ppt/slides/_rels/slide56.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jpe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image" Target="../media/image67.png"/><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image" Target="../media/image72.png"/><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4"/>
          <p:cNvSpPr txBox="1">
            <a:spLocks/>
          </p:cNvSpPr>
          <p:nvPr/>
        </p:nvSpPr>
        <p:spPr bwMode="auto">
          <a:xfrm>
            <a:off x="1763688" y="116632"/>
            <a:ext cx="6193631" cy="1712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a:defRPr/>
            </a:pPr>
            <a:r>
              <a:rPr lang="en-US" altLang="en-US" sz="4000" b="1" cap="all" dirty="0">
                <a:ln w="9000" cmpd="sng">
                  <a:solidFill>
                    <a:schemeClr val="accent4">
                      <a:shade val="50000"/>
                      <a:satMod val="120000"/>
                    </a:schemeClr>
                  </a:solidFill>
                  <a:prstDash val="solid"/>
                </a:ln>
                <a:effectLst/>
                <a:latin typeface="+mj-lt"/>
                <a:ea typeface="ＭＳ Ｐゴシック" charset="0"/>
              </a:rPr>
              <a:t>SECI 1143 </a:t>
            </a:r>
          </a:p>
          <a:p>
            <a:pPr algn="ctr">
              <a:defRPr/>
            </a:pPr>
            <a:r>
              <a:rPr lang="en-US" altLang="en-US" sz="4000" b="1" cap="all" dirty="0">
                <a:ln w="9000" cmpd="sng">
                  <a:solidFill>
                    <a:schemeClr val="accent4">
                      <a:shade val="50000"/>
                      <a:satMod val="120000"/>
                    </a:schemeClr>
                  </a:solidFill>
                  <a:prstDash val="solid"/>
                </a:ln>
                <a:effectLst/>
                <a:latin typeface="+mj-lt"/>
                <a:ea typeface="ＭＳ Ｐゴシック" charset="0"/>
              </a:rPr>
              <a:t>Probability &amp; statistical data analysis</a:t>
            </a:r>
          </a:p>
        </p:txBody>
      </p:sp>
      <p:sp>
        <p:nvSpPr>
          <p:cNvPr id="18434" name="Content Placeholder 16"/>
          <p:cNvSpPr txBox="1">
            <a:spLocks/>
          </p:cNvSpPr>
          <p:nvPr/>
        </p:nvSpPr>
        <p:spPr bwMode="auto">
          <a:xfrm>
            <a:off x="684213" y="2420888"/>
            <a:ext cx="7777162" cy="374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ctr" eaLnBrk="1" hangingPunct="1">
              <a:buFont typeface="Arial" charset="0"/>
              <a:buNone/>
            </a:pPr>
            <a:r>
              <a:rPr lang="en-US" altLang="x-none" sz="4800" b="1" dirty="0">
                <a:latin typeface="+mj-lt"/>
              </a:rPr>
              <a:t>CHAPTER 1</a:t>
            </a:r>
          </a:p>
          <a:p>
            <a:pPr algn="ctr" eaLnBrk="1" hangingPunct="1">
              <a:buFont typeface="Arial" charset="0"/>
              <a:buNone/>
            </a:pPr>
            <a:endParaRPr lang="en-US" altLang="x-none" sz="4800" b="1" dirty="0">
              <a:latin typeface="+mj-lt"/>
            </a:endParaRPr>
          </a:p>
          <a:p>
            <a:pPr algn="ctr" eaLnBrk="1" hangingPunct="1">
              <a:buFont typeface="Arial" charset="0"/>
              <a:buNone/>
            </a:pPr>
            <a:r>
              <a:rPr lang="en-US" altLang="x-none" sz="5400" b="1" dirty="0">
                <a:latin typeface="+mj-lt"/>
              </a:rPr>
              <a:t>Introduction to Statistics</a:t>
            </a:r>
          </a:p>
        </p:txBody>
      </p:sp>
      <p:sp>
        <p:nvSpPr>
          <p:cNvPr id="2" name="Slide Number Placeholder 1"/>
          <p:cNvSpPr>
            <a:spLocks noGrp="1"/>
          </p:cNvSpPr>
          <p:nvPr>
            <p:ph type="sldNum" sz="quarter" idx="12"/>
          </p:nvPr>
        </p:nvSpPr>
        <p:spPr/>
        <p:txBody>
          <a:bodyPr/>
          <a:lstStyle/>
          <a:p>
            <a:fld id="{39545FCB-18C1-B443-9C02-7CAC713BF7A0}" type="slidenum">
              <a:rPr lang="en-US" altLang="x-none" smtClean="0"/>
              <a:pPr/>
              <a:t>1</a:t>
            </a:fld>
            <a:endParaRPr lang="en-US" altLang="x-none"/>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pPr eaLnBrk="1" hangingPunct="1"/>
            <a:r>
              <a:rPr lang="en-US" altLang="en-US" dirty="0"/>
              <a:t>Introduction to Statistics</a:t>
            </a:r>
          </a:p>
        </p:txBody>
      </p:sp>
      <p:sp>
        <p:nvSpPr>
          <p:cNvPr id="3076" name="Rectangle 3"/>
          <p:cNvSpPr>
            <a:spLocks noGrp="1" noChangeArrowheads="1"/>
          </p:cNvSpPr>
          <p:nvPr>
            <p:ph idx="1"/>
          </p:nvPr>
        </p:nvSpPr>
        <p:spPr/>
        <p:txBody>
          <a:bodyPr/>
          <a:lstStyle/>
          <a:p>
            <a:pPr eaLnBrk="1" hangingPunct="1"/>
            <a:r>
              <a:rPr lang="en-US" altLang="en-US" sz="2800" dirty="0"/>
              <a:t>Statistics?</a:t>
            </a:r>
          </a:p>
        </p:txBody>
      </p:sp>
      <p:sp>
        <p:nvSpPr>
          <p:cNvPr id="3074" name="Slide Number Placeholder 6"/>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C4BF4DCD-91CE-4387-9234-7C7D33C2CF5E}" type="slidenum">
              <a:rPr lang="en-US" altLang="en-US" sz="1000" smtClean="0">
                <a:solidFill>
                  <a:schemeClr val="bg1"/>
                </a:solidFill>
              </a:rPr>
              <a:pPr/>
              <a:t>2</a:t>
            </a:fld>
            <a:endParaRPr lang="en-US" altLang="en-US" sz="1000">
              <a:solidFill>
                <a:schemeClr val="bg1"/>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667000"/>
            <a:ext cx="8605838" cy="3138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9158758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r>
              <a:rPr lang="en-US" altLang="en-US"/>
              <a:t>Introduction to Statistics</a:t>
            </a:r>
            <a:endParaRPr lang="en-MY" altLang="en-US"/>
          </a:p>
        </p:txBody>
      </p:sp>
      <p:sp>
        <p:nvSpPr>
          <p:cNvPr id="4099" name="Slide Number Placeholder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ED549A80-040F-4FE7-BFB2-469A3D68773D}" type="slidenum">
              <a:rPr lang="en-US" altLang="en-US" sz="1000" smtClean="0">
                <a:solidFill>
                  <a:schemeClr val="bg1"/>
                </a:solidFill>
              </a:rPr>
              <a:pPr/>
              <a:t>3</a:t>
            </a:fld>
            <a:endParaRPr lang="en-US" altLang="en-US" sz="1000">
              <a:solidFill>
                <a:schemeClr val="bg1"/>
              </a:solidFill>
            </a:endParaRPr>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269" t="14769" r="66654" b="14804"/>
          <a:stretch/>
        </p:blipFill>
        <p:spPr bwMode="auto">
          <a:xfrm>
            <a:off x="152400" y="1725932"/>
            <a:ext cx="4466278" cy="31508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5308" t="27213" r="75346" b="17949"/>
          <a:stretch/>
        </p:blipFill>
        <p:spPr bwMode="auto">
          <a:xfrm>
            <a:off x="4495800" y="2805008"/>
            <a:ext cx="4576604" cy="36485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52915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altLang="en-US"/>
              <a:t>Introduction to Statistics</a:t>
            </a:r>
            <a:endParaRPr lang="en-MY" altLang="en-US"/>
          </a:p>
        </p:txBody>
      </p:sp>
      <p:sp>
        <p:nvSpPr>
          <p:cNvPr id="5123" name="Slide Number Placeholder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F800F05E-848D-441A-BA1A-104EC037B749}" type="slidenum">
              <a:rPr lang="en-US" altLang="en-US" sz="1000" smtClean="0">
                <a:solidFill>
                  <a:schemeClr val="bg1"/>
                </a:solidFill>
              </a:rPr>
              <a:pPr/>
              <a:t>4</a:t>
            </a:fld>
            <a:endParaRPr lang="en-US" altLang="en-US" sz="1000">
              <a:solidFill>
                <a:schemeClr val="bg1"/>
              </a:solidFill>
            </a:endParaRPr>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b="70590"/>
          <a:stretch/>
        </p:blipFill>
        <p:spPr>
          <a:xfrm rot="20982495">
            <a:off x="187237" y="1587229"/>
            <a:ext cx="4996834" cy="2083907"/>
          </a:xfrm>
          <a:prstGeom prst="rect">
            <a:avLst/>
          </a:prstGeom>
        </p:spPr>
      </p:pic>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29833" b="38478"/>
          <a:stretch/>
        </p:blipFill>
        <p:spPr>
          <a:xfrm>
            <a:off x="1486488" y="3909008"/>
            <a:ext cx="5715000" cy="2567992"/>
          </a:xfrm>
          <a:prstGeom prst="rect">
            <a:avLst/>
          </a:prstGeom>
        </p:spPr>
      </p:pic>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62000"/>
          <a:stretch/>
        </p:blipFill>
        <p:spPr>
          <a:xfrm rot="331426">
            <a:off x="5275044" y="1794980"/>
            <a:ext cx="3686033" cy="2133308"/>
          </a:xfrm>
          <a:prstGeom prst="rect">
            <a:avLst/>
          </a:prstGeom>
        </p:spPr>
      </p:pic>
    </p:spTree>
    <p:extLst>
      <p:ext uri="{BB962C8B-B14F-4D97-AF65-F5344CB8AC3E}">
        <p14:creationId xmlns:p14="http://schemas.microsoft.com/office/powerpoint/2010/main" val="603949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altLang="en-US"/>
              <a:t>Introduction to Statistics</a:t>
            </a:r>
            <a:endParaRPr lang="en-MY" altLang="en-US"/>
          </a:p>
        </p:txBody>
      </p:sp>
      <p:sp>
        <p:nvSpPr>
          <p:cNvPr id="6147" name="Slide Number Placeholder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A30117C5-80C6-429D-86DD-284739C348F0}" type="slidenum">
              <a:rPr lang="en-US" altLang="en-US" sz="1000" smtClean="0">
                <a:solidFill>
                  <a:schemeClr val="bg1"/>
                </a:solidFill>
              </a:rPr>
              <a:pPr/>
              <a:t>5</a:t>
            </a:fld>
            <a:endParaRPr lang="en-US" altLang="en-US" sz="1000">
              <a:solidFill>
                <a:schemeClr val="bg1"/>
              </a:solidFill>
            </a:endParaRPr>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60" t="28444" r="70000" b="16308"/>
          <a:stretch/>
        </p:blipFill>
        <p:spPr bwMode="auto">
          <a:xfrm>
            <a:off x="457200" y="1749836"/>
            <a:ext cx="8243375" cy="46509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742350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2C1C6C8E-C1AD-4B66-9C84-B1D2B4B94066}" type="slidenum">
              <a:rPr lang="en-US" altLang="en-US" sz="1000" smtClean="0">
                <a:solidFill>
                  <a:schemeClr val="bg1"/>
                </a:solidFill>
              </a:rPr>
              <a:pPr/>
              <a:t>6</a:t>
            </a:fld>
            <a:endParaRPr lang="en-US" altLang="en-US" sz="1000">
              <a:solidFill>
                <a:schemeClr val="bg1"/>
              </a:solidFill>
            </a:endParaRPr>
          </a:p>
        </p:txBody>
      </p:sp>
      <p:sp>
        <p:nvSpPr>
          <p:cNvPr id="7171" name="Rectangle 2"/>
          <p:cNvSpPr>
            <a:spLocks noGrp="1" noChangeArrowheads="1"/>
          </p:cNvSpPr>
          <p:nvPr>
            <p:ph type="title"/>
          </p:nvPr>
        </p:nvSpPr>
        <p:spPr/>
        <p:txBody>
          <a:bodyPr/>
          <a:lstStyle/>
          <a:p>
            <a:pPr eaLnBrk="1" hangingPunct="1"/>
            <a:r>
              <a:rPr lang="en-US" altLang="en-US"/>
              <a:t>Introduction to Statistics</a:t>
            </a:r>
          </a:p>
        </p:txBody>
      </p:sp>
      <p:sp>
        <p:nvSpPr>
          <p:cNvPr id="7172" name="Rectangle 3"/>
          <p:cNvSpPr>
            <a:spLocks noGrp="1" noChangeArrowheads="1"/>
          </p:cNvSpPr>
          <p:nvPr>
            <p:ph type="body" idx="1"/>
          </p:nvPr>
        </p:nvSpPr>
        <p:spPr/>
        <p:txBody>
          <a:bodyPr/>
          <a:lstStyle/>
          <a:p>
            <a:pPr algn="just" eaLnBrk="1" hangingPunct="1"/>
            <a:r>
              <a:rPr lang="en-US" altLang="en-US" sz="2800" dirty="0"/>
              <a:t>Even though you may not have realized it, you probably have made some statistical statements in your everyday conversation or thinking. </a:t>
            </a:r>
          </a:p>
          <a:p>
            <a:pPr algn="just" eaLnBrk="1" hangingPunct="1"/>
            <a:r>
              <a:rPr lang="en-US" altLang="en-US" sz="2800" dirty="0"/>
              <a:t>Statements like "I sleep for about eight hours per night on average" and "You are more likely to pass the exam if you start preparing earlier" are actually statistical in nature.</a:t>
            </a:r>
          </a:p>
        </p:txBody>
      </p:sp>
    </p:spTree>
    <p:extLst>
      <p:ext uri="{BB962C8B-B14F-4D97-AF65-F5344CB8AC3E}">
        <p14:creationId xmlns:p14="http://schemas.microsoft.com/office/powerpoint/2010/main" val="902192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980E97A3-5CD9-4095-A93F-763868863CD9}" type="slidenum">
              <a:rPr lang="en-US" altLang="en-US" sz="1000" smtClean="0">
                <a:solidFill>
                  <a:schemeClr val="bg1"/>
                </a:solidFill>
              </a:rPr>
              <a:pPr/>
              <a:t>7</a:t>
            </a:fld>
            <a:endParaRPr lang="en-US" altLang="en-US" sz="1000">
              <a:solidFill>
                <a:schemeClr val="bg1"/>
              </a:solidFill>
            </a:endParaRPr>
          </a:p>
        </p:txBody>
      </p:sp>
      <p:sp>
        <p:nvSpPr>
          <p:cNvPr id="8195" name="Rectangle 2"/>
          <p:cNvSpPr>
            <a:spLocks noGrp="1" noChangeArrowheads="1"/>
          </p:cNvSpPr>
          <p:nvPr>
            <p:ph type="title"/>
          </p:nvPr>
        </p:nvSpPr>
        <p:spPr/>
        <p:txBody>
          <a:bodyPr/>
          <a:lstStyle/>
          <a:p>
            <a:pPr eaLnBrk="1" hangingPunct="1"/>
            <a:r>
              <a:rPr lang="en-US" altLang="en-US"/>
              <a:t>Introduction to Statistics</a:t>
            </a:r>
          </a:p>
        </p:txBody>
      </p:sp>
      <p:sp>
        <p:nvSpPr>
          <p:cNvPr id="8196" name="Rectangle 3"/>
          <p:cNvSpPr>
            <a:spLocks noGrp="1" noChangeArrowheads="1"/>
          </p:cNvSpPr>
          <p:nvPr>
            <p:ph type="body" idx="1"/>
          </p:nvPr>
        </p:nvSpPr>
        <p:spPr/>
        <p:txBody>
          <a:bodyPr/>
          <a:lstStyle/>
          <a:p>
            <a:pPr algn="just" eaLnBrk="1" hangingPunct="1"/>
            <a:r>
              <a:rPr lang="en-US" altLang="en-US" sz="2800" dirty="0"/>
              <a:t>We encounter data and conclusions based on data every day.</a:t>
            </a:r>
          </a:p>
          <a:p>
            <a:pPr algn="just" eaLnBrk="1" hangingPunct="1"/>
            <a:r>
              <a:rPr lang="en-US" altLang="en-US" sz="2800" dirty="0"/>
              <a:t>Statistics is the scientific discipline that provides methods to help us make sense of data.</a:t>
            </a:r>
          </a:p>
          <a:p>
            <a:pPr algn="just" eaLnBrk="1" hangingPunct="1"/>
            <a:r>
              <a:rPr lang="en-US" altLang="en-US" sz="2800" dirty="0"/>
              <a:t>Statistical methods are used in business, medicine, agriculture, social sciences, natural sciences, and applied sciences, such as engineering.</a:t>
            </a:r>
          </a:p>
          <a:p>
            <a:pPr algn="just" eaLnBrk="1" hangingPunct="1"/>
            <a:r>
              <a:rPr lang="en-US" altLang="en-US" sz="2800" dirty="0"/>
              <a:t>The field of statistics teaches us how to make intelligent judgments and informed decisions in the presence of uncertainty and variation.</a:t>
            </a:r>
          </a:p>
          <a:p>
            <a:pPr algn="just" eaLnBrk="1" hangingPunct="1"/>
            <a:endParaRPr lang="en-US" altLang="en-US" sz="2800" dirty="0"/>
          </a:p>
        </p:txBody>
      </p:sp>
    </p:spTree>
    <p:extLst>
      <p:ext uri="{BB962C8B-B14F-4D97-AF65-F5344CB8AC3E}">
        <p14:creationId xmlns:p14="http://schemas.microsoft.com/office/powerpoint/2010/main" val="772389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C9647715-AED4-4B23-BE0C-439229458833}" type="slidenum">
              <a:rPr lang="en-US" altLang="en-US" sz="1000" smtClean="0">
                <a:solidFill>
                  <a:schemeClr val="bg1"/>
                </a:solidFill>
              </a:rPr>
              <a:pPr/>
              <a:t>8</a:t>
            </a:fld>
            <a:endParaRPr lang="en-US" altLang="en-US" sz="1000">
              <a:solidFill>
                <a:schemeClr val="bg1"/>
              </a:solidFill>
            </a:endParaRPr>
          </a:p>
        </p:txBody>
      </p:sp>
      <p:sp>
        <p:nvSpPr>
          <p:cNvPr id="9219" name="Rectangle 2"/>
          <p:cNvSpPr>
            <a:spLocks noGrp="1" noChangeArrowheads="1"/>
          </p:cNvSpPr>
          <p:nvPr>
            <p:ph type="title"/>
          </p:nvPr>
        </p:nvSpPr>
        <p:spPr/>
        <p:txBody>
          <a:bodyPr/>
          <a:lstStyle/>
          <a:p>
            <a:pPr eaLnBrk="1" hangingPunct="1"/>
            <a:r>
              <a:rPr lang="en-US" altLang="en-US"/>
              <a:t>Introduction to Statistics</a:t>
            </a:r>
          </a:p>
        </p:txBody>
      </p:sp>
      <p:sp>
        <p:nvSpPr>
          <p:cNvPr id="9220" name="Rectangle 3"/>
          <p:cNvSpPr>
            <a:spLocks noGrp="1" noChangeArrowheads="1"/>
          </p:cNvSpPr>
          <p:nvPr>
            <p:ph type="body" idx="1"/>
          </p:nvPr>
        </p:nvSpPr>
        <p:spPr/>
        <p:txBody>
          <a:bodyPr/>
          <a:lstStyle/>
          <a:p>
            <a:pPr algn="just" eaLnBrk="1" hangingPunct="1">
              <a:lnSpc>
                <a:spcPct val="90000"/>
              </a:lnSpc>
            </a:pPr>
            <a:r>
              <a:rPr lang="en-US" altLang="en-US" sz="2800" dirty="0"/>
              <a:t>Statistics is the scientific application of mathematical principles to the collection, analysis, and presentation of numerical data. </a:t>
            </a:r>
          </a:p>
          <a:p>
            <a:pPr algn="just" eaLnBrk="1" hangingPunct="1">
              <a:lnSpc>
                <a:spcPct val="90000"/>
              </a:lnSpc>
            </a:pPr>
            <a:r>
              <a:rPr lang="en-US" altLang="en-US" sz="2800" dirty="0"/>
              <a:t>Statistics is a discipline which is concerned with: </a:t>
            </a:r>
          </a:p>
          <a:p>
            <a:pPr lvl="1" algn="just" eaLnBrk="1" hangingPunct="1">
              <a:lnSpc>
                <a:spcPct val="90000"/>
              </a:lnSpc>
            </a:pPr>
            <a:r>
              <a:rPr lang="en-US" altLang="en-US" sz="2400" dirty="0"/>
              <a:t>designing experiments and other data collection, </a:t>
            </a:r>
          </a:p>
          <a:p>
            <a:pPr lvl="1" algn="just" eaLnBrk="1" hangingPunct="1">
              <a:lnSpc>
                <a:spcPct val="90000"/>
              </a:lnSpc>
            </a:pPr>
            <a:r>
              <a:rPr lang="en-US" altLang="en-US" sz="2400" dirty="0"/>
              <a:t>summarizing information to aid understanding, </a:t>
            </a:r>
          </a:p>
          <a:p>
            <a:pPr lvl="1" algn="just" eaLnBrk="1" hangingPunct="1">
              <a:lnSpc>
                <a:spcPct val="90000"/>
              </a:lnSpc>
            </a:pPr>
            <a:r>
              <a:rPr lang="en-US" altLang="en-US" sz="2400" dirty="0"/>
              <a:t>drawing conclusions from data, and </a:t>
            </a:r>
          </a:p>
          <a:p>
            <a:pPr lvl="1" algn="just" eaLnBrk="1" hangingPunct="1">
              <a:lnSpc>
                <a:spcPct val="90000"/>
              </a:lnSpc>
            </a:pPr>
            <a:r>
              <a:rPr lang="en-US" altLang="en-US" sz="2400" dirty="0"/>
              <a:t>estimating the present or predicting the future.</a:t>
            </a:r>
          </a:p>
          <a:p>
            <a:pPr algn="just" eaLnBrk="1" hangingPunct="1">
              <a:lnSpc>
                <a:spcPct val="90000"/>
              </a:lnSpc>
            </a:pPr>
            <a:r>
              <a:rPr lang="en-US" altLang="en-US" sz="2800" dirty="0"/>
              <a:t>There are 2 main branches of statistics: </a:t>
            </a:r>
          </a:p>
          <a:p>
            <a:pPr lvl="1" algn="just" eaLnBrk="1" hangingPunct="1">
              <a:lnSpc>
                <a:spcPct val="90000"/>
              </a:lnSpc>
            </a:pPr>
            <a:r>
              <a:rPr lang="en-US" altLang="en-US" sz="2400" dirty="0"/>
              <a:t>Descriptive</a:t>
            </a:r>
          </a:p>
          <a:p>
            <a:pPr lvl="1" algn="just" eaLnBrk="1" hangingPunct="1">
              <a:lnSpc>
                <a:spcPct val="90000"/>
              </a:lnSpc>
            </a:pPr>
            <a:r>
              <a:rPr lang="en-US" altLang="en-US" sz="2400" dirty="0"/>
              <a:t>Inferential </a:t>
            </a:r>
          </a:p>
        </p:txBody>
      </p:sp>
    </p:spTree>
    <p:extLst>
      <p:ext uri="{BB962C8B-B14F-4D97-AF65-F5344CB8AC3E}">
        <p14:creationId xmlns:p14="http://schemas.microsoft.com/office/powerpoint/2010/main" val="42322371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altLang="en-US"/>
              <a:t>Introduction to Statistics</a:t>
            </a:r>
            <a:endParaRPr lang="en-MY" altLang="en-US"/>
          </a:p>
        </p:txBody>
      </p:sp>
      <p:sp>
        <p:nvSpPr>
          <p:cNvPr id="10243" name="Slide Number Placeholder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79F0F8EF-529B-4530-80D4-80BAEF5257C1}" type="slidenum">
              <a:rPr lang="en-US" altLang="en-US" sz="1000" smtClean="0">
                <a:solidFill>
                  <a:schemeClr val="bg1"/>
                </a:solidFill>
              </a:rPr>
              <a:pPr/>
              <a:t>9</a:t>
            </a:fld>
            <a:endParaRPr lang="en-US" altLang="en-US" sz="1000">
              <a:solidFill>
                <a:schemeClr val="bg1"/>
              </a:solidFill>
            </a:endParaRPr>
          </a:p>
        </p:txBody>
      </p:sp>
      <p:pic>
        <p:nvPicPr>
          <p:cNvPr id="1026"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340768"/>
            <a:ext cx="8616303" cy="48595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75798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lstStyle/>
          <a:p>
            <a:pPr eaLnBrk="1" hangingPunct="1"/>
            <a:r>
              <a:rPr lang="en-US" altLang="en-US"/>
              <a:t>Introduction to Statistics</a:t>
            </a:r>
          </a:p>
        </p:txBody>
      </p:sp>
      <p:sp>
        <p:nvSpPr>
          <p:cNvPr id="11268" name="Rectangle 3"/>
          <p:cNvSpPr>
            <a:spLocks noGrp="1" noChangeArrowheads="1"/>
          </p:cNvSpPr>
          <p:nvPr>
            <p:ph idx="1"/>
          </p:nvPr>
        </p:nvSpPr>
        <p:spPr/>
        <p:txBody>
          <a:bodyPr/>
          <a:lstStyle/>
          <a:p>
            <a:pPr algn="just" eaLnBrk="1" hangingPunct="1"/>
            <a:r>
              <a:rPr lang="en-US" altLang="en-US" sz="2800" b="1" dirty="0"/>
              <a:t>Descriptive statistics</a:t>
            </a:r>
            <a:r>
              <a:rPr lang="en-US" altLang="en-US" sz="2800" dirty="0"/>
              <a:t> are used to describe the basic features of the data gathered from an experimental study in various ways.</a:t>
            </a:r>
            <a:r>
              <a:rPr lang="en-US" altLang="en-US" sz="1800" dirty="0"/>
              <a:t> </a:t>
            </a:r>
          </a:p>
          <a:p>
            <a:pPr algn="just" eaLnBrk="1" hangingPunct="1"/>
            <a:r>
              <a:rPr lang="en-US" altLang="en-US" sz="2800" dirty="0"/>
              <a:t>The techniques are commonly classified as: </a:t>
            </a:r>
          </a:p>
          <a:p>
            <a:pPr lvl="1" algn="just" eaLnBrk="1" hangingPunct="1"/>
            <a:r>
              <a:rPr lang="en-US" altLang="en-US" sz="2400" dirty="0"/>
              <a:t>Graphical description in which we use graphs to summarize data. </a:t>
            </a:r>
          </a:p>
          <a:p>
            <a:pPr lvl="1" algn="just" eaLnBrk="1" hangingPunct="1"/>
            <a:r>
              <a:rPr lang="en-US" altLang="en-US" sz="2400" dirty="0"/>
              <a:t>Tabular description in which we use tables to summarize data. </a:t>
            </a:r>
          </a:p>
          <a:p>
            <a:pPr lvl="1" algn="just" eaLnBrk="1" hangingPunct="1"/>
            <a:r>
              <a:rPr lang="en-US" altLang="en-US" sz="2400" dirty="0"/>
              <a:t>Parametric description in which we estimate the values of certain parameters which we assume to complete the description of the set of data.</a:t>
            </a:r>
          </a:p>
          <a:p>
            <a:pPr algn="just" eaLnBrk="1" hangingPunct="1">
              <a:buFontTx/>
              <a:buNone/>
            </a:pPr>
            <a:endParaRPr lang="en-US" altLang="en-US" sz="1800" dirty="0"/>
          </a:p>
        </p:txBody>
      </p:sp>
      <p:sp>
        <p:nvSpPr>
          <p:cNvPr id="11266" name="Slide Number Placeholder 6"/>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B06180F0-BB3B-410E-A7B8-786C4A4A8814}" type="slidenum">
              <a:rPr lang="en-US" altLang="en-US" sz="1000" smtClean="0">
                <a:solidFill>
                  <a:schemeClr val="bg1"/>
                </a:solidFill>
              </a:rPr>
              <a:pPr/>
              <a:t>10</a:t>
            </a:fld>
            <a:endParaRPr lang="en-US" altLang="en-US" sz="1000">
              <a:solidFill>
                <a:schemeClr val="bg1"/>
              </a:solidFill>
            </a:endParaRPr>
          </a:p>
        </p:txBody>
      </p:sp>
    </p:spTree>
    <p:extLst>
      <p:ext uri="{BB962C8B-B14F-4D97-AF65-F5344CB8AC3E}">
        <p14:creationId xmlns:p14="http://schemas.microsoft.com/office/powerpoint/2010/main" val="3920237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4F5FF4C4-B551-4244-A2C6-EDCFDC40FF5F}" type="slidenum">
              <a:rPr lang="en-US" altLang="en-US" sz="1000" smtClean="0">
                <a:solidFill>
                  <a:schemeClr val="bg1"/>
                </a:solidFill>
              </a:rPr>
              <a:pPr/>
              <a:t>11</a:t>
            </a:fld>
            <a:endParaRPr lang="en-US" altLang="en-US" sz="1000">
              <a:solidFill>
                <a:schemeClr val="bg1"/>
              </a:solidFill>
            </a:endParaRPr>
          </a:p>
        </p:txBody>
      </p:sp>
      <p:sp>
        <p:nvSpPr>
          <p:cNvPr id="12291" name="Rectangle 2"/>
          <p:cNvSpPr>
            <a:spLocks noGrp="1" noChangeArrowheads="1"/>
          </p:cNvSpPr>
          <p:nvPr>
            <p:ph type="title"/>
          </p:nvPr>
        </p:nvSpPr>
        <p:spPr/>
        <p:txBody>
          <a:bodyPr/>
          <a:lstStyle/>
          <a:p>
            <a:pPr eaLnBrk="1" hangingPunct="1"/>
            <a:r>
              <a:rPr lang="en-US" altLang="en-US"/>
              <a:t>Descriptive Statistics</a:t>
            </a:r>
          </a:p>
        </p:txBody>
      </p:sp>
      <p:sp>
        <p:nvSpPr>
          <p:cNvPr id="12292" name="Rectangle 4"/>
          <p:cNvSpPr>
            <a:spLocks noChangeArrowheads="1"/>
          </p:cNvSpPr>
          <p:nvPr/>
        </p:nvSpPr>
        <p:spPr bwMode="auto">
          <a:xfrm>
            <a:off x="990600" y="1905000"/>
            <a:ext cx="3279359"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r>
              <a:rPr lang="en-US" altLang="en-US" sz="2800" b="0" dirty="0">
                <a:latin typeface="+mn-lt"/>
              </a:rPr>
              <a:t>Graphical description</a:t>
            </a:r>
          </a:p>
          <a:p>
            <a:endParaRPr lang="en-US" altLang="en-US" sz="2800" b="0" dirty="0">
              <a:latin typeface="+mn-lt"/>
            </a:endParaRPr>
          </a:p>
          <a:p>
            <a:endParaRPr lang="en-US" altLang="en-US" sz="2800" b="0" dirty="0">
              <a:latin typeface="+mn-lt"/>
            </a:endParaRPr>
          </a:p>
          <a:p>
            <a:r>
              <a:rPr lang="en-US" altLang="en-US" sz="2800" b="0" dirty="0">
                <a:latin typeface="+mn-lt"/>
              </a:rPr>
              <a:t>Example:</a:t>
            </a:r>
          </a:p>
          <a:p>
            <a:r>
              <a:rPr lang="en-US" altLang="en-US" sz="2800" b="0" dirty="0">
                <a:latin typeface="+mn-lt"/>
              </a:rPr>
              <a:t>Graph</a:t>
            </a:r>
          </a:p>
          <a:p>
            <a:r>
              <a:rPr lang="en-US" altLang="en-US" sz="2800" b="0" dirty="0">
                <a:latin typeface="+mn-lt"/>
              </a:rPr>
              <a:t>Bar chart</a:t>
            </a:r>
          </a:p>
          <a:p>
            <a:r>
              <a:rPr lang="en-US" altLang="en-US" sz="2800" b="0" dirty="0">
                <a:latin typeface="+mn-lt"/>
              </a:rPr>
              <a:t>Pie chart</a:t>
            </a:r>
          </a:p>
        </p:txBody>
      </p:sp>
      <p:pic>
        <p:nvPicPr>
          <p:cNvPr id="12293" name="Picture 5" descr="Leukemia-Statistics-l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419600" y="1905000"/>
            <a:ext cx="4197324" cy="3746500"/>
          </a:xfrm>
          <a:noFill/>
        </p:spPr>
      </p:pic>
    </p:spTree>
    <p:extLst>
      <p:ext uri="{BB962C8B-B14F-4D97-AF65-F5344CB8AC3E}">
        <p14:creationId xmlns:p14="http://schemas.microsoft.com/office/powerpoint/2010/main" val="4140972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6"/>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7746D338-E467-47C1-9D4D-CE88E6A43039}" type="slidenum">
              <a:rPr lang="en-US" altLang="en-US" sz="1000" smtClean="0">
                <a:solidFill>
                  <a:schemeClr val="bg1"/>
                </a:solidFill>
              </a:rPr>
              <a:pPr/>
              <a:t>12</a:t>
            </a:fld>
            <a:endParaRPr lang="en-US" altLang="en-US" sz="1000">
              <a:solidFill>
                <a:schemeClr val="bg1"/>
              </a:solidFill>
            </a:endParaRPr>
          </a:p>
        </p:txBody>
      </p:sp>
      <p:sp>
        <p:nvSpPr>
          <p:cNvPr id="13315" name="Rectangle 2"/>
          <p:cNvSpPr>
            <a:spLocks noGrp="1" noChangeArrowheads="1"/>
          </p:cNvSpPr>
          <p:nvPr>
            <p:ph type="title"/>
          </p:nvPr>
        </p:nvSpPr>
        <p:spPr/>
        <p:txBody>
          <a:bodyPr/>
          <a:lstStyle/>
          <a:p>
            <a:pPr eaLnBrk="1" hangingPunct="1"/>
            <a:r>
              <a:rPr lang="en-US" altLang="en-US"/>
              <a:t>Descriptive Statistics</a:t>
            </a:r>
          </a:p>
        </p:txBody>
      </p:sp>
      <p:graphicFrame>
        <p:nvGraphicFramePr>
          <p:cNvPr id="183368" name="Group 72"/>
          <p:cNvGraphicFramePr>
            <a:graphicFrameLocks noGrp="1"/>
          </p:cNvGraphicFramePr>
          <p:nvPr>
            <p:ph idx="1"/>
          </p:nvPr>
        </p:nvGraphicFramePr>
        <p:xfrm>
          <a:off x="4038600" y="1905000"/>
          <a:ext cx="4495800" cy="4114803"/>
        </p:xfrm>
        <a:graphic>
          <a:graphicData uri="http://schemas.openxmlformats.org/drawingml/2006/table">
            <a:tbl>
              <a:tblPr/>
              <a:tblGrid>
                <a:gridCol w="2286000">
                  <a:extLst>
                    <a:ext uri="{9D8B030D-6E8A-4147-A177-3AD203B41FA5}">
                      <a16:colId xmlns:a16="http://schemas.microsoft.com/office/drawing/2014/main" val="20000"/>
                    </a:ext>
                  </a:extLst>
                </a:gridCol>
                <a:gridCol w="2209800">
                  <a:extLst>
                    <a:ext uri="{9D8B030D-6E8A-4147-A177-3AD203B41FA5}">
                      <a16:colId xmlns:a16="http://schemas.microsoft.com/office/drawing/2014/main" val="20001"/>
                    </a:ext>
                  </a:extLst>
                </a:gridCol>
              </a:tblGrid>
              <a:tr h="588963">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charset="0"/>
                        </a:rPr>
                        <a:t>Score</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4FDA1"/>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charset="0"/>
                        </a:rPr>
                        <a:t>Frequency</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4FDA1"/>
                    </a:solidFill>
                  </a:tcPr>
                </a:tc>
                <a:extLst>
                  <a:ext uri="{0D108BD9-81ED-4DB2-BD59-A6C34878D82A}">
                    <a16:rowId xmlns:a16="http://schemas.microsoft.com/office/drawing/2014/main" val="10000"/>
                  </a:ext>
                </a:extLst>
              </a:tr>
              <a:tr h="585788">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charset="0"/>
                        </a:rPr>
                        <a:t>0</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4FDA1"/>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2</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4FDA1"/>
                    </a:solidFill>
                  </a:tcPr>
                </a:tc>
                <a:extLst>
                  <a:ext uri="{0D108BD9-81ED-4DB2-BD59-A6C34878D82A}">
                    <a16:rowId xmlns:a16="http://schemas.microsoft.com/office/drawing/2014/main" val="10001"/>
                  </a:ext>
                </a:extLst>
              </a:tr>
              <a:tr h="588963">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charset="0"/>
                        </a:rPr>
                        <a:t>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4FDA1"/>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4FDA1"/>
                    </a:solidFill>
                  </a:tcPr>
                </a:tc>
                <a:extLst>
                  <a:ext uri="{0D108BD9-81ED-4DB2-BD59-A6C34878D82A}">
                    <a16:rowId xmlns:a16="http://schemas.microsoft.com/office/drawing/2014/main" val="10002"/>
                  </a:ext>
                </a:extLst>
              </a:tr>
              <a:tr h="587375">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charset="0"/>
                        </a:rPr>
                        <a:t>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4FDA1"/>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8</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4FDA1"/>
                    </a:solidFill>
                  </a:tcPr>
                </a:tc>
                <a:extLst>
                  <a:ext uri="{0D108BD9-81ED-4DB2-BD59-A6C34878D82A}">
                    <a16:rowId xmlns:a16="http://schemas.microsoft.com/office/drawing/2014/main" val="10003"/>
                  </a:ext>
                </a:extLst>
              </a:tr>
              <a:tr h="588963">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charset="0"/>
                        </a:rPr>
                        <a:t>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4FDA1"/>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6</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4FDA1"/>
                    </a:solidFill>
                  </a:tcPr>
                </a:tc>
                <a:extLst>
                  <a:ext uri="{0D108BD9-81ED-4DB2-BD59-A6C34878D82A}">
                    <a16:rowId xmlns:a16="http://schemas.microsoft.com/office/drawing/2014/main" val="10004"/>
                  </a:ext>
                </a:extLst>
              </a:tr>
              <a:tr h="585788">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charset="0"/>
                        </a:rPr>
                        <a:t>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4FDA1"/>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4</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4FDA1"/>
                    </a:solidFill>
                  </a:tcPr>
                </a:tc>
                <a:extLst>
                  <a:ext uri="{0D108BD9-81ED-4DB2-BD59-A6C34878D82A}">
                    <a16:rowId xmlns:a16="http://schemas.microsoft.com/office/drawing/2014/main" val="10005"/>
                  </a:ext>
                </a:extLst>
              </a:tr>
              <a:tr h="588963">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charset="0"/>
                        </a:rPr>
                        <a:t>5</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4FDA1"/>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charset="0"/>
                        </a:rPr>
                        <a:t>3</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4FDA1"/>
                    </a:solidFill>
                  </a:tcPr>
                </a:tc>
                <a:extLst>
                  <a:ext uri="{0D108BD9-81ED-4DB2-BD59-A6C34878D82A}">
                    <a16:rowId xmlns:a16="http://schemas.microsoft.com/office/drawing/2014/main" val="10006"/>
                  </a:ext>
                </a:extLst>
              </a:tr>
            </a:tbl>
          </a:graphicData>
        </a:graphic>
      </p:graphicFrame>
      <p:sp>
        <p:nvSpPr>
          <p:cNvPr id="13342" name="Rectangle 65"/>
          <p:cNvSpPr>
            <a:spLocks noChangeArrowheads="1"/>
          </p:cNvSpPr>
          <p:nvPr/>
        </p:nvSpPr>
        <p:spPr bwMode="auto">
          <a:xfrm>
            <a:off x="685800" y="1828800"/>
            <a:ext cx="2976264"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r>
              <a:rPr lang="en-US" altLang="en-US" sz="2800" b="0" dirty="0">
                <a:latin typeface="+mn-lt"/>
              </a:rPr>
              <a:t>Tabular description</a:t>
            </a:r>
          </a:p>
          <a:p>
            <a:endParaRPr lang="en-US" altLang="en-US" sz="2800" b="0" dirty="0">
              <a:latin typeface="+mn-lt"/>
            </a:endParaRPr>
          </a:p>
          <a:p>
            <a:endParaRPr lang="en-US" altLang="en-US" sz="2800" b="0" dirty="0">
              <a:latin typeface="+mn-lt"/>
            </a:endParaRPr>
          </a:p>
          <a:p>
            <a:r>
              <a:rPr lang="en-US" altLang="en-US" sz="2800" b="0" dirty="0">
                <a:latin typeface="+mn-lt"/>
              </a:rPr>
              <a:t>Example:</a:t>
            </a:r>
          </a:p>
          <a:p>
            <a:r>
              <a:rPr lang="en-US" altLang="en-US" sz="2800" b="0" dirty="0">
                <a:latin typeface="+mn-lt"/>
              </a:rPr>
              <a:t>Frequency Table</a:t>
            </a:r>
          </a:p>
        </p:txBody>
      </p:sp>
    </p:spTree>
    <p:extLst>
      <p:ext uri="{BB962C8B-B14F-4D97-AF65-F5344CB8AC3E}">
        <p14:creationId xmlns:p14="http://schemas.microsoft.com/office/powerpoint/2010/main" val="218426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6"/>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13A8659A-E720-4CCB-BC9B-8F7F9E533C3B}" type="slidenum">
              <a:rPr lang="en-US" altLang="en-US" sz="1000" smtClean="0">
                <a:solidFill>
                  <a:schemeClr val="bg1"/>
                </a:solidFill>
              </a:rPr>
              <a:pPr/>
              <a:t>13</a:t>
            </a:fld>
            <a:endParaRPr lang="en-US" altLang="en-US" sz="1000">
              <a:solidFill>
                <a:schemeClr val="bg1"/>
              </a:solidFill>
            </a:endParaRPr>
          </a:p>
        </p:txBody>
      </p:sp>
      <p:sp>
        <p:nvSpPr>
          <p:cNvPr id="14339" name="Rectangle 2"/>
          <p:cNvSpPr>
            <a:spLocks noGrp="1" noChangeArrowheads="1"/>
          </p:cNvSpPr>
          <p:nvPr>
            <p:ph type="title"/>
          </p:nvPr>
        </p:nvSpPr>
        <p:spPr/>
        <p:txBody>
          <a:bodyPr/>
          <a:lstStyle/>
          <a:p>
            <a:pPr eaLnBrk="1" hangingPunct="1"/>
            <a:r>
              <a:rPr lang="en-US" altLang="en-US"/>
              <a:t>Descriptive Statistics</a:t>
            </a:r>
          </a:p>
        </p:txBody>
      </p:sp>
      <p:pic>
        <p:nvPicPr>
          <p:cNvPr id="14340" name="Picture 3" descr="plot of the standard normal probability density func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2348880"/>
            <a:ext cx="4342893"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86372" name="Group 4"/>
          <p:cNvGraphicFramePr>
            <a:graphicFrameLocks noGrp="1"/>
          </p:cNvGraphicFramePr>
          <p:nvPr/>
        </p:nvGraphicFramePr>
        <p:xfrm>
          <a:off x="914400" y="2438400"/>
          <a:ext cx="3497263" cy="3108456"/>
        </p:xfrm>
        <a:graphic>
          <a:graphicData uri="http://schemas.openxmlformats.org/drawingml/2006/table">
            <a:tbl>
              <a:tblPr/>
              <a:tblGrid>
                <a:gridCol w="1668463">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365673">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cs typeface="Times New Roman" pitchFamily="18" charset="0"/>
                        </a:rPr>
                        <a:t>Mean </a:t>
                      </a:r>
                      <a:endParaRPr kumimoji="0" lang="en-US" altLang="en-US" sz="1800" b="0" i="0" u="none" strike="noStrike" cap="none" normalizeH="0" baseline="0" dirty="0">
                        <a:ln>
                          <a:noFill/>
                        </a:ln>
                        <a:solidFill>
                          <a:schemeClr val="tx1"/>
                        </a:solidFill>
                        <a:effectLst/>
                        <a:latin typeface="Arial" charset="0"/>
                      </a:endParaRPr>
                    </a:p>
                  </a:txBody>
                  <a:tcPr marT="45684" marB="456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sym typeface="Symbol" pitchFamily="18" charset="2"/>
                        </a:rPr>
                        <a:t></a:t>
                      </a:r>
                    </a:p>
                  </a:txBody>
                  <a:tcPr marT="45684" marB="456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673">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Times New Roman" pitchFamily="18" charset="0"/>
                        </a:rPr>
                        <a:t>Median </a:t>
                      </a:r>
                      <a:endParaRPr kumimoji="0" lang="en-US" altLang="en-US" sz="1800" b="0" i="0" u="none" strike="noStrike" cap="none" normalizeH="0" baseline="0">
                        <a:ln>
                          <a:noFill/>
                        </a:ln>
                        <a:solidFill>
                          <a:schemeClr val="tx1"/>
                        </a:solidFill>
                        <a:effectLst/>
                        <a:latin typeface="Arial" charset="0"/>
                      </a:endParaRPr>
                    </a:p>
                  </a:txBody>
                  <a:tcPr marT="45684" marB="456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sym typeface="Symbol" pitchFamily="18" charset="2"/>
                        </a:rPr>
                        <a:t></a:t>
                      </a:r>
                      <a:endParaRPr kumimoji="0" lang="en-US" altLang="en-US" sz="1800" b="0" i="0" u="none" strike="noStrike" cap="none" normalizeH="0" baseline="0">
                        <a:ln>
                          <a:noFill/>
                        </a:ln>
                        <a:solidFill>
                          <a:schemeClr val="tx1"/>
                        </a:solidFill>
                        <a:effectLst/>
                        <a:latin typeface="Arial" charset="0"/>
                      </a:endParaRPr>
                    </a:p>
                  </a:txBody>
                  <a:tcPr marT="45684" marB="456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673">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Times New Roman" pitchFamily="18" charset="0"/>
                        </a:rPr>
                        <a:t>Mode </a:t>
                      </a:r>
                      <a:endParaRPr kumimoji="0" lang="en-US" altLang="en-US" sz="1800" b="0" i="0" u="none" strike="noStrike" cap="none" normalizeH="0" baseline="0">
                        <a:ln>
                          <a:noFill/>
                        </a:ln>
                        <a:solidFill>
                          <a:schemeClr val="tx1"/>
                        </a:solidFill>
                        <a:effectLst/>
                        <a:latin typeface="Arial" charset="0"/>
                      </a:endParaRPr>
                    </a:p>
                  </a:txBody>
                  <a:tcPr marT="45684" marB="456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sym typeface="Symbol" pitchFamily="18" charset="2"/>
                        </a:rPr>
                        <a:t></a:t>
                      </a:r>
                      <a:endParaRPr kumimoji="0" lang="en-US" altLang="en-US" sz="1800" b="0" i="0" u="none" strike="noStrike" cap="none" normalizeH="0" baseline="0">
                        <a:ln>
                          <a:noFill/>
                        </a:ln>
                        <a:solidFill>
                          <a:schemeClr val="tx1"/>
                        </a:solidFill>
                        <a:effectLst/>
                        <a:latin typeface="Arial" charset="0"/>
                      </a:endParaRPr>
                    </a:p>
                  </a:txBody>
                  <a:tcPr marT="45684" marB="456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39979">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cs typeface="Times New Roman" pitchFamily="18" charset="0"/>
                        </a:rPr>
                        <a:t>Range </a:t>
                      </a:r>
                      <a:endParaRPr kumimoji="0" lang="en-US" altLang="en-US" sz="1800" b="0" i="0" u="none" strike="noStrike" cap="none" normalizeH="0" baseline="0" dirty="0">
                        <a:ln>
                          <a:noFill/>
                        </a:ln>
                        <a:solidFill>
                          <a:schemeClr val="tx1"/>
                        </a:solidFill>
                        <a:effectLst/>
                        <a:latin typeface="Arial" charset="0"/>
                      </a:endParaRPr>
                    </a:p>
                  </a:txBody>
                  <a:tcPr marT="45684" marB="456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Times New Roman" pitchFamily="18" charset="0"/>
                        </a:rPr>
                        <a:t>Infinity in both directions. </a:t>
                      </a:r>
                      <a:endParaRPr kumimoji="0" lang="en-US" altLang="en-US" sz="1800" b="0" i="0" u="none" strike="noStrike" cap="none" normalizeH="0" baseline="0">
                        <a:ln>
                          <a:noFill/>
                        </a:ln>
                        <a:solidFill>
                          <a:schemeClr val="tx1"/>
                        </a:solidFill>
                        <a:effectLst/>
                        <a:latin typeface="Arial" charset="0"/>
                      </a:endParaRPr>
                    </a:p>
                  </a:txBody>
                  <a:tcPr marT="45684" marB="456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39979">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Times New Roman" pitchFamily="18" charset="0"/>
                        </a:rPr>
                        <a:t>Standard Deviation </a:t>
                      </a:r>
                      <a:endParaRPr kumimoji="0" lang="en-US" altLang="en-US" sz="1800" b="0" i="0" u="none" strike="noStrike" cap="none" normalizeH="0" baseline="0">
                        <a:ln>
                          <a:noFill/>
                        </a:ln>
                        <a:solidFill>
                          <a:schemeClr val="tx1"/>
                        </a:solidFill>
                        <a:effectLst/>
                        <a:latin typeface="Arial" charset="0"/>
                      </a:endParaRPr>
                    </a:p>
                  </a:txBody>
                  <a:tcPr marT="45684" marB="456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sym typeface="Symbol" pitchFamily="18" charset="2"/>
                        </a:rPr>
                        <a:t></a:t>
                      </a:r>
                    </a:p>
                  </a:txBody>
                  <a:tcPr marT="45684" marB="456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673">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Times New Roman" pitchFamily="18" charset="0"/>
                        </a:rPr>
                        <a:t>Skewness </a:t>
                      </a:r>
                      <a:endParaRPr kumimoji="0" lang="en-US" altLang="en-US" sz="1800" b="0" i="0" u="none" strike="noStrike" cap="none" normalizeH="0" baseline="0">
                        <a:ln>
                          <a:noFill/>
                        </a:ln>
                        <a:solidFill>
                          <a:schemeClr val="tx1"/>
                        </a:solidFill>
                        <a:effectLst/>
                        <a:latin typeface="Arial" charset="0"/>
                      </a:endParaRPr>
                    </a:p>
                  </a:txBody>
                  <a:tcPr marT="45684" marB="456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Times New Roman" pitchFamily="18" charset="0"/>
                        </a:rPr>
                        <a:t>0 </a:t>
                      </a:r>
                      <a:endParaRPr kumimoji="0" lang="en-US" altLang="en-US" sz="1800" b="0" i="0" u="none" strike="noStrike" cap="none" normalizeH="0" baseline="0">
                        <a:ln>
                          <a:noFill/>
                        </a:ln>
                        <a:solidFill>
                          <a:schemeClr val="tx1"/>
                        </a:solidFill>
                        <a:effectLst/>
                        <a:latin typeface="Arial" charset="0"/>
                      </a:endParaRPr>
                    </a:p>
                  </a:txBody>
                  <a:tcPr marT="45684" marB="456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5673">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Times New Roman" pitchFamily="18" charset="0"/>
                        </a:rPr>
                        <a:t>Kurtosis </a:t>
                      </a:r>
                      <a:endParaRPr kumimoji="0" lang="en-US" altLang="en-US" sz="1800" b="0" i="0" u="none" strike="noStrike" cap="none" normalizeH="0" baseline="0">
                        <a:ln>
                          <a:noFill/>
                        </a:ln>
                        <a:solidFill>
                          <a:schemeClr val="tx1"/>
                        </a:solidFill>
                        <a:effectLst/>
                        <a:latin typeface="Arial" charset="0"/>
                      </a:endParaRPr>
                    </a:p>
                  </a:txBody>
                  <a:tcPr marT="45684" marB="456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cs typeface="Times New Roman" pitchFamily="18" charset="0"/>
                        </a:rPr>
                        <a:t>3 </a:t>
                      </a:r>
                      <a:endParaRPr kumimoji="0" lang="en-US" altLang="en-US" sz="1800" b="0" i="0" u="none" strike="noStrike" cap="none" normalizeH="0" baseline="0" dirty="0">
                        <a:ln>
                          <a:noFill/>
                        </a:ln>
                        <a:solidFill>
                          <a:schemeClr val="tx1"/>
                        </a:solidFill>
                        <a:effectLst/>
                        <a:latin typeface="Arial" charset="0"/>
                      </a:endParaRPr>
                    </a:p>
                  </a:txBody>
                  <a:tcPr marT="45684" marB="456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4367" name="Rectangle 30"/>
          <p:cNvSpPr>
            <a:spLocks noChangeArrowheads="1"/>
          </p:cNvSpPr>
          <p:nvPr/>
        </p:nvSpPr>
        <p:spPr bwMode="auto">
          <a:xfrm>
            <a:off x="914400" y="1828800"/>
            <a:ext cx="3219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r>
              <a:rPr lang="en-US" altLang="en-US" b="0"/>
              <a:t>Parametric description</a:t>
            </a:r>
          </a:p>
        </p:txBody>
      </p:sp>
    </p:spTree>
    <p:extLst>
      <p:ext uri="{BB962C8B-B14F-4D97-AF65-F5344CB8AC3E}">
        <p14:creationId xmlns:p14="http://schemas.microsoft.com/office/powerpoint/2010/main" val="2772890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altLang="en-US"/>
              <a:t>Example</a:t>
            </a:r>
            <a:endParaRPr lang="en-MY" altLang="en-US"/>
          </a:p>
        </p:txBody>
      </p:sp>
      <p:sp>
        <p:nvSpPr>
          <p:cNvPr id="15363" name="Slide Number Placeholder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BEE61642-92C9-470C-8639-7A810BD78FE3}" type="slidenum">
              <a:rPr lang="en-US" altLang="en-US" sz="1000" smtClean="0">
                <a:solidFill>
                  <a:schemeClr val="bg1"/>
                </a:solidFill>
              </a:rPr>
              <a:pPr/>
              <a:t>14</a:t>
            </a:fld>
            <a:endParaRPr lang="en-US" altLang="en-US" sz="1000">
              <a:solidFill>
                <a:schemeClr val="bg1"/>
              </a:solidFill>
            </a:endParaRPr>
          </a:p>
        </p:txBody>
      </p:sp>
      <p:pic>
        <p:nvPicPr>
          <p:cNvPr id="15364" name="Picture 2" descr="http://www.mymarketresearchmethods.com/wp-content/uploads/2011/11/Descriptive-Statistic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828800"/>
            <a:ext cx="86106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619219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altLang="en-US"/>
              <a:t>Example</a:t>
            </a:r>
            <a:endParaRPr lang="en-MY" altLang="en-US"/>
          </a:p>
        </p:txBody>
      </p:sp>
      <p:sp>
        <p:nvSpPr>
          <p:cNvPr id="17411" name="Slide Number Placeholder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E870EB61-7960-45BC-A29C-733DF7E9D73E}" type="slidenum">
              <a:rPr lang="en-US" altLang="en-US" sz="1000" smtClean="0">
                <a:solidFill>
                  <a:schemeClr val="bg1"/>
                </a:solidFill>
              </a:rPr>
              <a:pPr/>
              <a:t>15</a:t>
            </a:fld>
            <a:endParaRPr lang="en-US" altLang="en-US" sz="1000">
              <a:solidFill>
                <a:schemeClr val="bg1"/>
              </a:solidFill>
            </a:endParaRPr>
          </a:p>
        </p:txBody>
      </p:sp>
      <p:pic>
        <p:nvPicPr>
          <p:cNvPr id="17412" name="Picture 2" descr="http://31.media.tumblr.com/tumblr_m3ird0kUO71rng1o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752600"/>
            <a:ext cx="7581900" cy="439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724793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a:t>Example</a:t>
            </a:r>
            <a:endParaRPr lang="en-MY" altLang="en-US"/>
          </a:p>
        </p:txBody>
      </p:sp>
      <p:sp>
        <p:nvSpPr>
          <p:cNvPr id="18435" name="Slide Number Placeholder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02CB2729-B96E-4CA7-824C-B1876FC91D14}" type="slidenum">
              <a:rPr lang="en-US" altLang="en-US" sz="1000" smtClean="0">
                <a:solidFill>
                  <a:schemeClr val="bg1"/>
                </a:solidFill>
              </a:rPr>
              <a:pPr/>
              <a:t>16</a:t>
            </a:fld>
            <a:endParaRPr lang="en-US" altLang="en-US" sz="1000">
              <a:solidFill>
                <a:schemeClr val="bg1"/>
              </a:solidFill>
            </a:endParaRPr>
          </a:p>
        </p:txBody>
      </p:sp>
      <p:pic>
        <p:nvPicPr>
          <p:cNvPr id="18436" name="Picture 2" descr="http://media-2.web.britannica.com/eb-media/31/4431-004-B067AED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1371600"/>
            <a:ext cx="4914900" cy="491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376477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altLang="en-US"/>
              <a:t>Example</a:t>
            </a:r>
            <a:endParaRPr lang="en-MY" altLang="en-US"/>
          </a:p>
        </p:txBody>
      </p:sp>
      <p:sp>
        <p:nvSpPr>
          <p:cNvPr id="19459" name="Slide Number Placeholder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1A494455-01EB-4390-B703-F165DEFAC4AD}" type="slidenum">
              <a:rPr lang="en-US" altLang="en-US" sz="1000" smtClean="0">
                <a:solidFill>
                  <a:schemeClr val="bg1"/>
                </a:solidFill>
              </a:rPr>
              <a:pPr/>
              <a:t>17</a:t>
            </a:fld>
            <a:endParaRPr lang="en-US" altLang="en-US" sz="1000">
              <a:solidFill>
                <a:schemeClr val="bg1"/>
              </a:solidFill>
            </a:endParaRPr>
          </a:p>
        </p:txBody>
      </p:sp>
      <p:pic>
        <p:nvPicPr>
          <p:cNvPr id="19460" name="Picture 2" descr="http://1.bp.blogspot.com/-6xC7vLbVhHE/ULgsTqMQyaI/AAAAAAAAAdY/FLcHIj2lf2s/s1600/statistical+misconceptio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828800"/>
            <a:ext cx="6781800" cy="406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596032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ltLang="en-US"/>
              <a:t>Example</a:t>
            </a:r>
            <a:endParaRPr lang="en-MY" altLang="en-US"/>
          </a:p>
        </p:txBody>
      </p:sp>
      <p:sp>
        <p:nvSpPr>
          <p:cNvPr id="20483" name="Slide Number Placeholder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6A7479FC-80F5-46B1-B7FA-A6CB40F058C8}" type="slidenum">
              <a:rPr lang="en-US" altLang="en-US" sz="1000" smtClean="0">
                <a:solidFill>
                  <a:schemeClr val="bg1"/>
                </a:solidFill>
              </a:rPr>
              <a:pPr/>
              <a:t>18</a:t>
            </a:fld>
            <a:endParaRPr lang="en-US" altLang="en-US" sz="1000">
              <a:solidFill>
                <a:schemeClr val="bg1"/>
              </a:solidFill>
            </a:endParaRPr>
          </a:p>
        </p:txBody>
      </p:sp>
      <p:pic>
        <p:nvPicPr>
          <p:cNvPr id="20484" name="Picture 2" descr="http://www.statisticshowto.com/wp-content/uploads/2014/01/new-haven-c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981200"/>
            <a:ext cx="7708900"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929068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altLang="en-US"/>
              <a:t>Example</a:t>
            </a:r>
            <a:endParaRPr lang="en-MY" altLang="en-US"/>
          </a:p>
        </p:txBody>
      </p:sp>
      <p:sp>
        <p:nvSpPr>
          <p:cNvPr id="21507" name="Slide Number Placeholder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0D50E5D6-308C-4CDA-91C8-27A5087106E1}" type="slidenum">
              <a:rPr lang="en-US" altLang="en-US" sz="1000" smtClean="0">
                <a:solidFill>
                  <a:schemeClr val="bg1"/>
                </a:solidFill>
              </a:rPr>
              <a:pPr/>
              <a:t>19</a:t>
            </a:fld>
            <a:endParaRPr lang="en-US" altLang="en-US" sz="1000">
              <a:solidFill>
                <a:schemeClr val="bg1"/>
              </a:solidFill>
            </a:endParaRPr>
          </a:p>
        </p:txBody>
      </p:sp>
      <p:pic>
        <p:nvPicPr>
          <p:cNvPr id="21508" name="Picture 2" descr="http://i.huffpost.com/gen/1117147/original.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752600"/>
            <a:ext cx="6967538" cy="412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561658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altLang="en-US"/>
              <a:t>Example</a:t>
            </a:r>
            <a:endParaRPr lang="en-MY" altLang="en-US"/>
          </a:p>
        </p:txBody>
      </p:sp>
      <p:sp>
        <p:nvSpPr>
          <p:cNvPr id="22531"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DAAA669F-46F0-41B7-B39E-E9966D9D30CA}" type="slidenum">
              <a:rPr lang="en-US" altLang="en-US" sz="1000" smtClean="0">
                <a:solidFill>
                  <a:schemeClr val="bg1"/>
                </a:solidFill>
              </a:rPr>
              <a:pPr/>
              <a:t>20</a:t>
            </a:fld>
            <a:endParaRPr lang="en-US" altLang="en-US" sz="1000">
              <a:solidFill>
                <a:schemeClr val="bg1"/>
              </a:solidFill>
            </a:endParaRPr>
          </a:p>
        </p:txBody>
      </p:sp>
      <p:pic>
        <p:nvPicPr>
          <p:cNvPr id="22532" name="Picture 2" descr="http://www.real-statistics.com/wp-content/uploads/2012/11/descriptive-statistics-tool-multipl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752600"/>
            <a:ext cx="837565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765953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altLang="en-US"/>
              <a:t>Example</a:t>
            </a:r>
            <a:endParaRPr lang="en-MY" altLang="en-US"/>
          </a:p>
        </p:txBody>
      </p:sp>
      <p:sp>
        <p:nvSpPr>
          <p:cNvPr id="23555"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5B449D58-4CEA-4474-B774-6985A87B4955}" type="slidenum">
              <a:rPr lang="en-US" altLang="en-US" sz="1000" smtClean="0">
                <a:solidFill>
                  <a:schemeClr val="bg1"/>
                </a:solidFill>
              </a:rPr>
              <a:pPr/>
              <a:t>21</a:t>
            </a:fld>
            <a:endParaRPr lang="en-US" altLang="en-US" sz="1000">
              <a:solidFill>
                <a:schemeClr val="bg1"/>
              </a:solidFill>
            </a:endParaRPr>
          </a:p>
        </p:txBody>
      </p:sp>
      <p:pic>
        <p:nvPicPr>
          <p:cNvPr id="23556" name="Picture 2" descr="http://www.scielo.br/img/revistas/rbcp/v27n1/en_a13tab0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963" y="2133600"/>
            <a:ext cx="8809037"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660543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altLang="en-US" dirty="0"/>
              <a:t>Example</a:t>
            </a:r>
            <a:endParaRPr lang="en-MY" altLang="en-US" dirty="0"/>
          </a:p>
        </p:txBody>
      </p:sp>
      <p:sp>
        <p:nvSpPr>
          <p:cNvPr id="24579"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EDC1DC2B-1175-4D1D-9302-50D3B77AACC0}" type="slidenum">
              <a:rPr lang="en-US" altLang="en-US" sz="1000" smtClean="0">
                <a:solidFill>
                  <a:schemeClr val="bg1"/>
                </a:solidFill>
              </a:rPr>
              <a:pPr/>
              <a:t>22</a:t>
            </a:fld>
            <a:endParaRPr lang="en-US" altLang="en-US" sz="1000">
              <a:solidFill>
                <a:schemeClr val="bg1"/>
              </a:solidFill>
            </a:endParaRPr>
          </a:p>
        </p:txBody>
      </p:sp>
      <p:pic>
        <p:nvPicPr>
          <p:cNvPr id="24580" name="Picture 2" descr="http://sajip.co.za/index.php/sajip/article/downloadSuppFile/843/39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524000"/>
            <a:ext cx="77470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174270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ltLang="en-US"/>
              <a:t>Example</a:t>
            </a:r>
            <a:endParaRPr lang="en-MY" altLang="en-US"/>
          </a:p>
        </p:txBody>
      </p:sp>
      <p:sp>
        <p:nvSpPr>
          <p:cNvPr id="25603"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9AC471C8-2A61-4325-9AE4-CE402DAA2EFF}" type="slidenum">
              <a:rPr lang="en-US" altLang="en-US" sz="1000" smtClean="0">
                <a:solidFill>
                  <a:schemeClr val="bg1"/>
                </a:solidFill>
              </a:rPr>
              <a:pPr/>
              <a:t>23</a:t>
            </a:fld>
            <a:endParaRPr lang="en-US" altLang="en-US" sz="1000">
              <a:solidFill>
                <a:schemeClr val="bg1"/>
              </a:solidFill>
            </a:endParaRPr>
          </a:p>
        </p:txBody>
      </p:sp>
      <p:pic>
        <p:nvPicPr>
          <p:cNvPr id="25604" name="Picture 2" descr="http://file.scirp.org/Html/8-7200637%5C3a27cf6b-6d8f-4539-b5ef-82c0cc532bfb.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 y="2209800"/>
            <a:ext cx="7810500" cy="311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400131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907ED280-FEA0-4B09-88A6-B8C4B7FC88F8}" type="slidenum">
              <a:rPr lang="en-US" altLang="en-US" sz="1000" smtClean="0">
                <a:solidFill>
                  <a:schemeClr val="bg1"/>
                </a:solidFill>
              </a:rPr>
              <a:pPr/>
              <a:t>24</a:t>
            </a:fld>
            <a:endParaRPr lang="en-US" altLang="en-US" sz="1000">
              <a:solidFill>
                <a:schemeClr val="bg1"/>
              </a:solidFill>
            </a:endParaRPr>
          </a:p>
        </p:txBody>
      </p:sp>
      <p:sp>
        <p:nvSpPr>
          <p:cNvPr id="26627" name="Rectangle 2"/>
          <p:cNvSpPr>
            <a:spLocks noGrp="1" noChangeArrowheads="1"/>
          </p:cNvSpPr>
          <p:nvPr>
            <p:ph type="title"/>
          </p:nvPr>
        </p:nvSpPr>
        <p:spPr/>
        <p:txBody>
          <a:bodyPr/>
          <a:lstStyle/>
          <a:p>
            <a:pPr eaLnBrk="1" hangingPunct="1"/>
            <a:r>
              <a:rPr lang="en-US" altLang="en-US"/>
              <a:t>Introduction to Statistics</a:t>
            </a:r>
          </a:p>
        </p:txBody>
      </p:sp>
      <p:sp>
        <p:nvSpPr>
          <p:cNvPr id="26628" name="Rectangle 3"/>
          <p:cNvSpPr>
            <a:spLocks noGrp="1" noChangeArrowheads="1"/>
          </p:cNvSpPr>
          <p:nvPr>
            <p:ph type="body" idx="1"/>
          </p:nvPr>
        </p:nvSpPr>
        <p:spPr/>
        <p:txBody>
          <a:bodyPr/>
          <a:lstStyle/>
          <a:p>
            <a:pPr algn="just" eaLnBrk="1" hangingPunct="1"/>
            <a:r>
              <a:rPr lang="en-US" altLang="en-US" b="1" dirty="0"/>
              <a:t>Inferential statistics</a:t>
            </a:r>
            <a:r>
              <a:rPr lang="en-US" altLang="en-US" dirty="0"/>
              <a:t> are used to draw inferences about a population from a sample. </a:t>
            </a:r>
          </a:p>
          <a:p>
            <a:pPr algn="just" eaLnBrk="1" hangingPunct="1"/>
            <a:r>
              <a:rPr lang="en-US" altLang="en-US" dirty="0"/>
              <a:t>It includes: </a:t>
            </a:r>
          </a:p>
          <a:p>
            <a:pPr lvl="1" algn="just" eaLnBrk="1" hangingPunct="1"/>
            <a:r>
              <a:rPr lang="en-US" altLang="en-US" dirty="0"/>
              <a:t>point estimation </a:t>
            </a:r>
          </a:p>
          <a:p>
            <a:pPr lvl="1" algn="just" eaLnBrk="1" hangingPunct="1"/>
            <a:r>
              <a:rPr lang="en-US" altLang="en-US" dirty="0"/>
              <a:t>interval estimation </a:t>
            </a:r>
          </a:p>
          <a:p>
            <a:pPr lvl="1" algn="just" eaLnBrk="1" hangingPunct="1"/>
            <a:r>
              <a:rPr lang="en-US" altLang="en-US" dirty="0"/>
              <a:t>hypothesis testing (or significance testing) </a:t>
            </a:r>
          </a:p>
          <a:p>
            <a:pPr lvl="1" algn="just" eaLnBrk="1" hangingPunct="1"/>
            <a:r>
              <a:rPr lang="en-US" altLang="en-US" dirty="0"/>
              <a:t>prediction</a:t>
            </a:r>
          </a:p>
          <a:p>
            <a:pPr algn="just" eaLnBrk="1" hangingPunct="1">
              <a:buFontTx/>
              <a:buNone/>
            </a:pPr>
            <a:endParaRPr lang="en-US" altLang="en-US" dirty="0"/>
          </a:p>
        </p:txBody>
      </p:sp>
    </p:spTree>
    <p:extLst>
      <p:ext uri="{BB962C8B-B14F-4D97-AF65-F5344CB8AC3E}">
        <p14:creationId xmlns:p14="http://schemas.microsoft.com/office/powerpoint/2010/main" val="32835145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altLang="en-US"/>
              <a:t>Inference Process</a:t>
            </a:r>
            <a:endParaRPr lang="en-MY" altLang="en-US"/>
          </a:p>
        </p:txBody>
      </p:sp>
      <p:sp>
        <p:nvSpPr>
          <p:cNvPr id="27651" name="Slide Number Placeholder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4B0CEE43-FF4A-4E41-AF05-0BB42690450B}" type="slidenum">
              <a:rPr lang="en-US" altLang="en-US" sz="1000" smtClean="0">
                <a:solidFill>
                  <a:schemeClr val="bg1"/>
                </a:solidFill>
              </a:rPr>
              <a:pPr/>
              <a:t>25</a:t>
            </a:fld>
            <a:endParaRPr lang="en-US" altLang="en-US" sz="1000">
              <a:solidFill>
                <a:schemeClr val="bg1"/>
              </a:solidFill>
            </a:endParaRPr>
          </a:p>
        </p:txBody>
      </p:sp>
      <p:pic>
        <p:nvPicPr>
          <p:cNvPr id="2765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981200"/>
            <a:ext cx="6862763" cy="415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557874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B0CC67BE-3976-4416-8866-C16A77269125}" type="slidenum">
              <a:rPr lang="en-US" altLang="en-US" sz="1000" smtClean="0">
                <a:solidFill>
                  <a:schemeClr val="bg1"/>
                </a:solidFill>
              </a:rPr>
              <a:pPr/>
              <a:t>26</a:t>
            </a:fld>
            <a:endParaRPr lang="en-US" altLang="en-US" sz="1000">
              <a:solidFill>
                <a:schemeClr val="bg1"/>
              </a:solidFill>
            </a:endParaRPr>
          </a:p>
        </p:txBody>
      </p:sp>
      <p:sp>
        <p:nvSpPr>
          <p:cNvPr id="28675" name="Rectangle 5"/>
          <p:cNvSpPr>
            <a:spLocks noGrp="1" noChangeArrowheads="1"/>
          </p:cNvSpPr>
          <p:nvPr>
            <p:ph type="title"/>
          </p:nvPr>
        </p:nvSpPr>
        <p:spPr/>
        <p:txBody>
          <a:bodyPr/>
          <a:lstStyle/>
          <a:p>
            <a:pPr eaLnBrk="1" hangingPunct="1"/>
            <a:r>
              <a:rPr lang="en-US" altLang="en-US"/>
              <a:t>Introduction to Statistics</a:t>
            </a:r>
          </a:p>
        </p:txBody>
      </p:sp>
      <p:pic>
        <p:nvPicPr>
          <p:cNvPr id="28676"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81000" y="1828800"/>
            <a:ext cx="6884988" cy="4191000"/>
          </a:xfrm>
          <a:noFill/>
        </p:spPr>
      </p:pic>
      <p:sp>
        <p:nvSpPr>
          <p:cNvPr id="28677" name="Text Box 7"/>
          <p:cNvSpPr txBox="1">
            <a:spLocks noChangeArrowheads="1"/>
          </p:cNvSpPr>
          <p:nvPr/>
        </p:nvSpPr>
        <p:spPr bwMode="auto">
          <a:xfrm>
            <a:off x="7239000" y="4572000"/>
            <a:ext cx="1268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r>
              <a:rPr lang="en-US" altLang="en-US">
                <a:solidFill>
                  <a:srgbClr val="AE3221"/>
                </a:solidFill>
              </a:rPr>
              <a:t>Sample</a:t>
            </a:r>
          </a:p>
        </p:txBody>
      </p:sp>
      <p:sp>
        <p:nvSpPr>
          <p:cNvPr id="28678" name="Text Box 8"/>
          <p:cNvSpPr txBox="1">
            <a:spLocks noChangeArrowheads="1"/>
          </p:cNvSpPr>
          <p:nvPr/>
        </p:nvSpPr>
        <p:spPr bwMode="auto">
          <a:xfrm>
            <a:off x="7239000" y="1981200"/>
            <a:ext cx="1755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r>
              <a:rPr lang="en-US" altLang="en-US">
                <a:solidFill>
                  <a:srgbClr val="AE3221"/>
                </a:solidFill>
              </a:rPr>
              <a:t>Population</a:t>
            </a:r>
          </a:p>
        </p:txBody>
      </p:sp>
    </p:spTree>
    <p:extLst>
      <p:ext uri="{BB962C8B-B14F-4D97-AF65-F5344CB8AC3E}">
        <p14:creationId xmlns:p14="http://schemas.microsoft.com/office/powerpoint/2010/main" val="27068546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BE8AD9A6-65B4-470D-8E49-5DF841EF8DDF}" type="slidenum">
              <a:rPr lang="en-US" altLang="en-US" sz="1000" smtClean="0">
                <a:solidFill>
                  <a:schemeClr val="bg1"/>
                </a:solidFill>
              </a:rPr>
              <a:pPr/>
              <a:t>27</a:t>
            </a:fld>
            <a:endParaRPr lang="en-US" altLang="en-US" sz="1000">
              <a:solidFill>
                <a:schemeClr val="bg1"/>
              </a:solidFill>
            </a:endParaRPr>
          </a:p>
        </p:txBody>
      </p:sp>
      <p:sp>
        <p:nvSpPr>
          <p:cNvPr id="29699" name="Rectangle 2"/>
          <p:cNvSpPr>
            <a:spLocks noGrp="1" noChangeArrowheads="1"/>
          </p:cNvSpPr>
          <p:nvPr>
            <p:ph type="title"/>
          </p:nvPr>
        </p:nvSpPr>
        <p:spPr/>
        <p:txBody>
          <a:bodyPr/>
          <a:lstStyle/>
          <a:p>
            <a:pPr eaLnBrk="1" hangingPunct="1"/>
            <a:r>
              <a:rPr lang="en-US" altLang="en-US"/>
              <a:t>Population &amp; Sample</a:t>
            </a:r>
          </a:p>
        </p:txBody>
      </p:sp>
      <p:pic>
        <p:nvPicPr>
          <p:cNvPr id="29700"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828800"/>
            <a:ext cx="8158163" cy="417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293236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03D72081-9D9D-4FAF-8B4E-BE11A87B3914}" type="slidenum">
              <a:rPr lang="en-US" altLang="en-US" sz="1000" smtClean="0">
                <a:solidFill>
                  <a:schemeClr val="bg1"/>
                </a:solidFill>
              </a:rPr>
              <a:pPr/>
              <a:t>28</a:t>
            </a:fld>
            <a:endParaRPr lang="en-US" altLang="en-US" sz="1000">
              <a:solidFill>
                <a:schemeClr val="bg1"/>
              </a:solidFill>
            </a:endParaRPr>
          </a:p>
        </p:txBody>
      </p:sp>
      <p:sp>
        <p:nvSpPr>
          <p:cNvPr id="30723" name="Rectangle 2"/>
          <p:cNvSpPr>
            <a:spLocks noGrp="1" noChangeArrowheads="1"/>
          </p:cNvSpPr>
          <p:nvPr>
            <p:ph type="title"/>
          </p:nvPr>
        </p:nvSpPr>
        <p:spPr/>
        <p:txBody>
          <a:bodyPr/>
          <a:lstStyle/>
          <a:p>
            <a:pPr eaLnBrk="1" hangingPunct="1"/>
            <a:r>
              <a:rPr lang="en-US" altLang="en-US"/>
              <a:t>Population &amp; Sample</a:t>
            </a:r>
          </a:p>
        </p:txBody>
      </p:sp>
      <p:sp>
        <p:nvSpPr>
          <p:cNvPr id="30724" name="Rectangle 3"/>
          <p:cNvSpPr>
            <a:spLocks noGrp="1" noChangeArrowheads="1"/>
          </p:cNvSpPr>
          <p:nvPr>
            <p:ph type="body" idx="1"/>
          </p:nvPr>
        </p:nvSpPr>
        <p:spPr>
          <a:xfrm>
            <a:off x="228600" y="1905000"/>
            <a:ext cx="4953000" cy="4191000"/>
          </a:xfrm>
        </p:spPr>
        <p:txBody>
          <a:bodyPr/>
          <a:lstStyle/>
          <a:p>
            <a:pPr algn="just" eaLnBrk="1" hangingPunct="1"/>
            <a:r>
              <a:rPr lang="en-US" altLang="en-US" sz="2800" dirty="0"/>
              <a:t>The entire collection of individuals or object about which information is desired is called the </a:t>
            </a:r>
            <a:r>
              <a:rPr lang="en-US" altLang="en-US" sz="2800" b="1" dirty="0"/>
              <a:t>population</a:t>
            </a:r>
            <a:r>
              <a:rPr lang="en-US" altLang="en-US" sz="2800" dirty="0"/>
              <a:t> of interest.</a:t>
            </a:r>
          </a:p>
          <a:p>
            <a:pPr algn="just" eaLnBrk="1" hangingPunct="1"/>
            <a:endParaRPr lang="en-US" altLang="en-US" sz="2800" dirty="0"/>
          </a:p>
          <a:p>
            <a:pPr algn="just" eaLnBrk="1" hangingPunct="1"/>
            <a:r>
              <a:rPr lang="en-US" altLang="en-US" sz="2800" dirty="0"/>
              <a:t>A </a:t>
            </a:r>
            <a:r>
              <a:rPr lang="en-US" altLang="en-US" sz="2800" b="1" dirty="0"/>
              <a:t>sample</a:t>
            </a:r>
            <a:r>
              <a:rPr lang="en-US" altLang="en-US" sz="2800" dirty="0"/>
              <a:t> is a subset of the population, selected for study in some prescribed manner</a:t>
            </a:r>
          </a:p>
        </p:txBody>
      </p:sp>
      <p:pic>
        <p:nvPicPr>
          <p:cNvPr id="3072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7360" y="1981200"/>
            <a:ext cx="3608040" cy="3608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545184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6DF53966-49FD-412B-B91F-BB48E29E5B08}" type="slidenum">
              <a:rPr lang="en-US" altLang="en-US" sz="1000" smtClean="0">
                <a:solidFill>
                  <a:schemeClr val="bg1"/>
                </a:solidFill>
              </a:rPr>
              <a:pPr/>
              <a:t>29</a:t>
            </a:fld>
            <a:endParaRPr lang="en-US" altLang="en-US" sz="1000">
              <a:solidFill>
                <a:schemeClr val="bg1"/>
              </a:solidFill>
            </a:endParaRPr>
          </a:p>
        </p:txBody>
      </p:sp>
      <p:sp>
        <p:nvSpPr>
          <p:cNvPr id="31747" name="Rectangle 6"/>
          <p:cNvSpPr>
            <a:spLocks noGrp="1" noChangeArrowheads="1"/>
          </p:cNvSpPr>
          <p:nvPr>
            <p:ph type="title"/>
          </p:nvPr>
        </p:nvSpPr>
        <p:spPr/>
        <p:txBody>
          <a:bodyPr/>
          <a:lstStyle/>
          <a:p>
            <a:pPr eaLnBrk="1" hangingPunct="1"/>
            <a:r>
              <a:rPr lang="en-US" altLang="en-US"/>
              <a:t>Population &amp; Sample</a:t>
            </a:r>
          </a:p>
        </p:txBody>
      </p:sp>
      <p:pic>
        <p:nvPicPr>
          <p:cNvPr id="31748"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533525" y="1828800"/>
            <a:ext cx="6076950" cy="4191000"/>
          </a:xfrm>
        </p:spPr>
      </p:pic>
    </p:spTree>
    <p:extLst>
      <p:ext uri="{BB962C8B-B14F-4D97-AF65-F5344CB8AC3E}">
        <p14:creationId xmlns:p14="http://schemas.microsoft.com/office/powerpoint/2010/main" val="16980852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B880440A-1346-48DE-B032-0B876F584421}" type="slidenum">
              <a:rPr lang="en-US" altLang="en-US" sz="1000" smtClean="0">
                <a:solidFill>
                  <a:schemeClr val="bg1"/>
                </a:solidFill>
              </a:rPr>
              <a:pPr/>
              <a:t>30</a:t>
            </a:fld>
            <a:endParaRPr lang="en-US" altLang="en-US" sz="1000">
              <a:solidFill>
                <a:schemeClr val="bg1"/>
              </a:solidFill>
            </a:endParaRPr>
          </a:p>
        </p:txBody>
      </p:sp>
      <p:sp>
        <p:nvSpPr>
          <p:cNvPr id="32771" name="Rectangle 6"/>
          <p:cNvSpPr>
            <a:spLocks noGrp="1" noChangeArrowheads="1"/>
          </p:cNvSpPr>
          <p:nvPr>
            <p:ph type="title"/>
          </p:nvPr>
        </p:nvSpPr>
        <p:spPr/>
        <p:txBody>
          <a:bodyPr/>
          <a:lstStyle/>
          <a:p>
            <a:pPr eaLnBrk="1" hangingPunct="1"/>
            <a:r>
              <a:rPr lang="en-US" altLang="en-US"/>
              <a:t>Population &amp; Sample</a:t>
            </a:r>
          </a:p>
        </p:txBody>
      </p:sp>
      <p:pic>
        <p:nvPicPr>
          <p:cNvPr id="32772" name="Picture 5" descr="image001"/>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95313" y="1752600"/>
            <a:ext cx="7818437" cy="4419600"/>
          </a:xfrm>
          <a:noFill/>
        </p:spPr>
      </p:pic>
    </p:spTree>
    <p:extLst>
      <p:ext uri="{BB962C8B-B14F-4D97-AF65-F5344CB8AC3E}">
        <p14:creationId xmlns:p14="http://schemas.microsoft.com/office/powerpoint/2010/main" val="17666338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083A8F3D-4064-46DE-B6BC-8CE5DC4F600A}" type="slidenum">
              <a:rPr lang="en-US" altLang="en-US" sz="1000" smtClean="0">
                <a:solidFill>
                  <a:schemeClr val="bg1"/>
                </a:solidFill>
              </a:rPr>
              <a:pPr/>
              <a:t>31</a:t>
            </a:fld>
            <a:endParaRPr lang="en-US" altLang="en-US" sz="1000">
              <a:solidFill>
                <a:schemeClr val="bg1"/>
              </a:solidFill>
            </a:endParaRPr>
          </a:p>
        </p:txBody>
      </p:sp>
      <p:sp>
        <p:nvSpPr>
          <p:cNvPr id="33795" name="Rectangle 2"/>
          <p:cNvSpPr>
            <a:spLocks noGrp="1" noChangeArrowheads="1"/>
          </p:cNvSpPr>
          <p:nvPr>
            <p:ph type="title"/>
          </p:nvPr>
        </p:nvSpPr>
        <p:spPr/>
        <p:txBody>
          <a:bodyPr/>
          <a:lstStyle/>
          <a:p>
            <a:pPr eaLnBrk="1" hangingPunct="1"/>
            <a:r>
              <a:rPr lang="en-US" altLang="en-US"/>
              <a:t>Population &amp; Sample</a:t>
            </a:r>
          </a:p>
        </p:txBody>
      </p:sp>
      <p:pic>
        <p:nvPicPr>
          <p:cNvPr id="33796" name="Picture 5" descr="p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752600"/>
            <a:ext cx="5257800" cy="448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88045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1D236D52-CBA8-4105-AEA4-75D7B22D298F}" type="slidenum">
              <a:rPr lang="en-US" altLang="en-US" sz="1000" smtClean="0">
                <a:solidFill>
                  <a:schemeClr val="bg1"/>
                </a:solidFill>
              </a:rPr>
              <a:pPr/>
              <a:t>32</a:t>
            </a:fld>
            <a:endParaRPr lang="en-US" altLang="en-US" sz="1000">
              <a:solidFill>
                <a:schemeClr val="bg1"/>
              </a:solidFill>
            </a:endParaRPr>
          </a:p>
        </p:txBody>
      </p:sp>
      <p:sp>
        <p:nvSpPr>
          <p:cNvPr id="34819" name="Rectangle 2"/>
          <p:cNvSpPr>
            <a:spLocks noGrp="1" noChangeArrowheads="1"/>
          </p:cNvSpPr>
          <p:nvPr>
            <p:ph type="title"/>
          </p:nvPr>
        </p:nvSpPr>
        <p:spPr/>
        <p:txBody>
          <a:bodyPr/>
          <a:lstStyle/>
          <a:p>
            <a:pPr eaLnBrk="1" hangingPunct="1"/>
            <a:r>
              <a:rPr lang="en-US" altLang="en-US"/>
              <a:t>Population &amp; Sample</a:t>
            </a:r>
          </a:p>
        </p:txBody>
      </p:sp>
      <p:pic>
        <p:nvPicPr>
          <p:cNvPr id="34820"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47763" y="1928813"/>
            <a:ext cx="7081837" cy="409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5886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US" altLang="en-US"/>
              <a:t>Example</a:t>
            </a:r>
            <a:endParaRPr lang="en-MY" altLang="en-US"/>
          </a:p>
        </p:txBody>
      </p:sp>
      <p:sp>
        <p:nvSpPr>
          <p:cNvPr id="35843" name="Slide Number Placeholder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27F5407F-2D68-4A23-8A49-4E3307133227}" type="slidenum">
              <a:rPr lang="en-US" altLang="en-US" sz="1000" smtClean="0">
                <a:solidFill>
                  <a:schemeClr val="bg1"/>
                </a:solidFill>
              </a:rPr>
              <a:pPr/>
              <a:t>33</a:t>
            </a:fld>
            <a:endParaRPr lang="en-US" altLang="en-US" sz="1000">
              <a:solidFill>
                <a:schemeClr val="bg1"/>
              </a:solidFill>
            </a:endParaRPr>
          </a:p>
        </p:txBody>
      </p:sp>
      <p:pic>
        <p:nvPicPr>
          <p:cNvPr id="35844" name="Picture 4" descr="https://encrypted-tbn0.gstatic.com/images?q=tbn:ANd9GcSNdOb55DqpCCkwct-6HPIZYIddX2u4zkGGhypRWSG0i9vBcnB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1752600"/>
            <a:ext cx="5010150" cy="4462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032675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altLang="en-US"/>
              <a:t>Example</a:t>
            </a:r>
            <a:endParaRPr lang="en-MY" altLang="en-US"/>
          </a:p>
        </p:txBody>
      </p:sp>
      <p:sp>
        <p:nvSpPr>
          <p:cNvPr id="36867" name="Slide Number Placeholder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50FBF993-F9CB-4E75-BEA3-F74408A5C5C4}" type="slidenum">
              <a:rPr lang="en-US" altLang="en-US" sz="1000" smtClean="0">
                <a:solidFill>
                  <a:schemeClr val="bg1"/>
                </a:solidFill>
              </a:rPr>
              <a:pPr/>
              <a:t>34</a:t>
            </a:fld>
            <a:endParaRPr lang="en-US" altLang="en-US" sz="1000">
              <a:solidFill>
                <a:schemeClr val="bg1"/>
              </a:solidFill>
            </a:endParaRPr>
          </a:p>
        </p:txBody>
      </p:sp>
      <p:pic>
        <p:nvPicPr>
          <p:cNvPr id="3686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950" y="1676400"/>
            <a:ext cx="868045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348678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altLang="en-US"/>
              <a:t>Example</a:t>
            </a:r>
            <a:endParaRPr lang="en-MY" altLang="en-US"/>
          </a:p>
        </p:txBody>
      </p:sp>
      <p:sp>
        <p:nvSpPr>
          <p:cNvPr id="37891" name="Slide Number Placeholder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FB65DC8C-AF62-43C7-8A5E-589593314D7A}" type="slidenum">
              <a:rPr lang="en-US" altLang="en-US" sz="1000" smtClean="0">
                <a:solidFill>
                  <a:schemeClr val="bg1"/>
                </a:solidFill>
              </a:rPr>
              <a:pPr/>
              <a:t>35</a:t>
            </a:fld>
            <a:endParaRPr lang="en-US" altLang="en-US" sz="1000">
              <a:solidFill>
                <a:schemeClr val="bg1"/>
              </a:solidFill>
            </a:endParaRPr>
          </a:p>
        </p:txBody>
      </p:sp>
      <p:pic>
        <p:nvPicPr>
          <p:cNvPr id="3789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981200"/>
            <a:ext cx="7680325" cy="382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406812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3CD0D9F7-8DD8-467C-ADFD-5F342C951F9D}" type="slidenum">
              <a:rPr lang="en-US" altLang="en-US" sz="1000" smtClean="0">
                <a:solidFill>
                  <a:schemeClr val="bg1"/>
                </a:solidFill>
              </a:rPr>
              <a:pPr/>
              <a:t>36</a:t>
            </a:fld>
            <a:endParaRPr lang="en-US" altLang="en-US" sz="1000">
              <a:solidFill>
                <a:schemeClr val="bg1"/>
              </a:solidFill>
            </a:endParaRPr>
          </a:p>
        </p:txBody>
      </p:sp>
      <p:sp>
        <p:nvSpPr>
          <p:cNvPr id="40963" name="Rectangle 2"/>
          <p:cNvSpPr>
            <a:spLocks noGrp="1" noChangeArrowheads="1"/>
          </p:cNvSpPr>
          <p:nvPr>
            <p:ph type="title"/>
          </p:nvPr>
        </p:nvSpPr>
        <p:spPr/>
        <p:txBody>
          <a:bodyPr/>
          <a:lstStyle/>
          <a:p>
            <a:pPr eaLnBrk="1" hangingPunct="1"/>
            <a:r>
              <a:rPr lang="en-US" altLang="en-US"/>
              <a:t>Data Analysis Process</a:t>
            </a:r>
          </a:p>
        </p:txBody>
      </p:sp>
      <p:pic>
        <p:nvPicPr>
          <p:cNvPr id="40964"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660525" y="2092325"/>
            <a:ext cx="5822950" cy="3662363"/>
          </a:xfrm>
          <a:noFill/>
        </p:spPr>
      </p:pic>
    </p:spTree>
    <p:extLst>
      <p:ext uri="{BB962C8B-B14F-4D97-AF65-F5344CB8AC3E}">
        <p14:creationId xmlns:p14="http://schemas.microsoft.com/office/powerpoint/2010/main" val="39154204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DD9B1492-7DBB-46CF-81FE-F0095B138098}" type="slidenum">
              <a:rPr lang="en-US" altLang="en-US" sz="1000" smtClean="0">
                <a:solidFill>
                  <a:schemeClr val="bg1"/>
                </a:solidFill>
              </a:rPr>
              <a:pPr/>
              <a:t>37</a:t>
            </a:fld>
            <a:endParaRPr lang="en-US" altLang="en-US" sz="1000">
              <a:solidFill>
                <a:schemeClr val="bg1"/>
              </a:solidFill>
            </a:endParaRPr>
          </a:p>
        </p:txBody>
      </p:sp>
      <p:sp>
        <p:nvSpPr>
          <p:cNvPr id="41987" name="Rectangle 2"/>
          <p:cNvSpPr>
            <a:spLocks noGrp="1" noChangeArrowheads="1"/>
          </p:cNvSpPr>
          <p:nvPr>
            <p:ph type="title"/>
          </p:nvPr>
        </p:nvSpPr>
        <p:spPr/>
        <p:txBody>
          <a:bodyPr/>
          <a:lstStyle/>
          <a:p>
            <a:pPr eaLnBrk="1" hangingPunct="1"/>
            <a:r>
              <a:rPr lang="en-US" altLang="en-US"/>
              <a:t>Data Analysis Process</a:t>
            </a:r>
          </a:p>
        </p:txBody>
      </p:sp>
      <p:sp>
        <p:nvSpPr>
          <p:cNvPr id="41988" name="Rectangle 3"/>
          <p:cNvSpPr>
            <a:spLocks noGrp="1" noChangeArrowheads="1"/>
          </p:cNvSpPr>
          <p:nvPr>
            <p:ph type="body" idx="1"/>
          </p:nvPr>
        </p:nvSpPr>
        <p:spPr/>
        <p:txBody>
          <a:bodyPr/>
          <a:lstStyle/>
          <a:p>
            <a:pPr algn="just" eaLnBrk="1" hangingPunct="1"/>
            <a:r>
              <a:rPr lang="en-US" altLang="en-US" sz="2800" dirty="0"/>
              <a:t>Statistics involves the </a:t>
            </a:r>
            <a:r>
              <a:rPr lang="en-US" altLang="en-US" sz="2800" b="1" dirty="0"/>
              <a:t>collection</a:t>
            </a:r>
            <a:r>
              <a:rPr lang="en-US" altLang="en-US" sz="2800" dirty="0"/>
              <a:t> and </a:t>
            </a:r>
            <a:r>
              <a:rPr lang="en-US" altLang="en-US" sz="2800" b="1" dirty="0"/>
              <a:t>analysis</a:t>
            </a:r>
            <a:r>
              <a:rPr lang="en-US" altLang="en-US" sz="2800" dirty="0"/>
              <a:t> of data.</a:t>
            </a:r>
          </a:p>
          <a:p>
            <a:pPr algn="just" eaLnBrk="1" hangingPunct="1"/>
            <a:r>
              <a:rPr lang="en-US" altLang="en-US" sz="2800" dirty="0"/>
              <a:t>Both task are critical.</a:t>
            </a:r>
          </a:p>
          <a:p>
            <a:pPr algn="just" eaLnBrk="1" hangingPunct="1"/>
            <a:r>
              <a:rPr lang="en-US" altLang="en-US" sz="2800" dirty="0"/>
              <a:t>Raw data without analysis are of little value, and even a sophisticated analysis cannot extract meaningful information from data that were not collected in a sensible way.</a:t>
            </a:r>
          </a:p>
          <a:p>
            <a:pPr algn="just" eaLnBrk="1" hangingPunct="1"/>
            <a:r>
              <a:rPr lang="en-US" altLang="en-US" sz="2800" dirty="0"/>
              <a:t>The data analysis process can be viewed as a sequence of steps that lead from planning to data collection to informed conclusions based on the resulting data.</a:t>
            </a:r>
          </a:p>
        </p:txBody>
      </p:sp>
    </p:spTree>
    <p:extLst>
      <p:ext uri="{BB962C8B-B14F-4D97-AF65-F5344CB8AC3E}">
        <p14:creationId xmlns:p14="http://schemas.microsoft.com/office/powerpoint/2010/main" val="7965963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81E39E39-7883-43E5-AB5C-78C30D6D6F82}" type="slidenum">
              <a:rPr lang="en-US" altLang="en-US" sz="1000" smtClean="0">
                <a:solidFill>
                  <a:schemeClr val="bg1"/>
                </a:solidFill>
              </a:rPr>
              <a:pPr/>
              <a:t>38</a:t>
            </a:fld>
            <a:endParaRPr lang="en-US" altLang="en-US" sz="1000">
              <a:solidFill>
                <a:schemeClr val="bg1"/>
              </a:solidFill>
            </a:endParaRPr>
          </a:p>
        </p:txBody>
      </p:sp>
      <p:sp>
        <p:nvSpPr>
          <p:cNvPr id="43011" name="Rectangle 2"/>
          <p:cNvSpPr>
            <a:spLocks noGrp="1" noChangeArrowheads="1"/>
          </p:cNvSpPr>
          <p:nvPr>
            <p:ph type="title"/>
          </p:nvPr>
        </p:nvSpPr>
        <p:spPr/>
        <p:txBody>
          <a:bodyPr/>
          <a:lstStyle/>
          <a:p>
            <a:pPr eaLnBrk="1" hangingPunct="1"/>
            <a:r>
              <a:rPr lang="en-US" altLang="en-US"/>
              <a:t>Data Analysis Process</a:t>
            </a:r>
          </a:p>
        </p:txBody>
      </p:sp>
      <p:sp>
        <p:nvSpPr>
          <p:cNvPr id="43012" name="Rectangle 3"/>
          <p:cNvSpPr>
            <a:spLocks noGrp="1" noChangeArrowheads="1"/>
          </p:cNvSpPr>
          <p:nvPr>
            <p:ph type="body" idx="1"/>
          </p:nvPr>
        </p:nvSpPr>
        <p:spPr/>
        <p:txBody>
          <a:bodyPr/>
          <a:lstStyle/>
          <a:p>
            <a:pPr eaLnBrk="1" hangingPunct="1"/>
            <a:r>
              <a:rPr lang="en-US" altLang="en-US" sz="2800" dirty="0"/>
              <a:t>6 steps:</a:t>
            </a:r>
          </a:p>
          <a:p>
            <a:pPr lvl="1" eaLnBrk="1" hangingPunct="1"/>
            <a:r>
              <a:rPr lang="en-US" altLang="en-US" sz="2400" dirty="0"/>
              <a:t>Understanding the nature of the problem</a:t>
            </a:r>
          </a:p>
          <a:p>
            <a:pPr lvl="1" eaLnBrk="1" hangingPunct="1"/>
            <a:r>
              <a:rPr lang="en-US" altLang="en-US" sz="2400" dirty="0"/>
              <a:t>Deciding what to measure and how to measure it</a:t>
            </a:r>
          </a:p>
          <a:p>
            <a:pPr lvl="1" eaLnBrk="1" hangingPunct="1"/>
            <a:r>
              <a:rPr lang="en-US" altLang="en-US" sz="2400" dirty="0"/>
              <a:t>Data collection</a:t>
            </a:r>
          </a:p>
          <a:p>
            <a:pPr lvl="1" eaLnBrk="1" hangingPunct="1"/>
            <a:r>
              <a:rPr lang="en-US" altLang="en-US" sz="2400" dirty="0"/>
              <a:t>Data summarization and preliminary analysis</a:t>
            </a:r>
          </a:p>
          <a:p>
            <a:pPr lvl="1" eaLnBrk="1" hangingPunct="1"/>
            <a:r>
              <a:rPr lang="en-US" altLang="en-US" sz="2400" dirty="0"/>
              <a:t>Formal data analysis</a:t>
            </a:r>
          </a:p>
          <a:p>
            <a:pPr lvl="1" eaLnBrk="1" hangingPunct="1"/>
            <a:r>
              <a:rPr lang="en-US" altLang="en-US" sz="2400" dirty="0"/>
              <a:t>Interpretation of results</a:t>
            </a:r>
          </a:p>
        </p:txBody>
      </p:sp>
    </p:spTree>
    <p:extLst>
      <p:ext uri="{BB962C8B-B14F-4D97-AF65-F5344CB8AC3E}">
        <p14:creationId xmlns:p14="http://schemas.microsoft.com/office/powerpoint/2010/main" val="35416958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p:txBody>
          <a:bodyPr/>
          <a:lstStyle/>
          <a:p>
            <a:pPr eaLnBrk="1" hangingPunct="1"/>
            <a:r>
              <a:rPr lang="en-US" altLang="en-US"/>
              <a:t>Data Analysis Process</a:t>
            </a:r>
          </a:p>
        </p:txBody>
      </p:sp>
      <p:sp>
        <p:nvSpPr>
          <p:cNvPr id="44034" name="Slide Number Placeholder 7"/>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65C98D5C-5A7D-489D-9511-999448A80973}" type="slidenum">
              <a:rPr lang="en-US" altLang="en-US" sz="1000" smtClean="0">
                <a:solidFill>
                  <a:schemeClr val="bg1"/>
                </a:solidFill>
              </a:rPr>
              <a:pPr/>
              <a:t>39</a:t>
            </a:fld>
            <a:endParaRPr lang="en-US" altLang="en-US" sz="1000">
              <a:solidFill>
                <a:schemeClr val="bg1"/>
              </a:solidFill>
            </a:endParaRPr>
          </a:p>
        </p:txBody>
      </p:sp>
      <p:sp>
        <p:nvSpPr>
          <p:cNvPr id="44036" name="Rectangle 3"/>
          <p:cNvSpPr>
            <a:spLocks noGrp="1" noChangeArrowheads="1"/>
          </p:cNvSpPr>
          <p:nvPr>
            <p:ph type="body" sz="half" idx="4294967295"/>
          </p:nvPr>
        </p:nvSpPr>
        <p:spPr>
          <a:xfrm>
            <a:off x="467544" y="1828800"/>
            <a:ext cx="8352928" cy="4191000"/>
          </a:xfrm>
        </p:spPr>
        <p:txBody>
          <a:bodyPr/>
          <a:lstStyle/>
          <a:p>
            <a:pPr marL="514350" indent="-514350" algn="just" eaLnBrk="1" hangingPunct="1">
              <a:buFont typeface="+mj-lt"/>
              <a:buAutoNum type="arabicPeriod"/>
            </a:pPr>
            <a:r>
              <a:rPr lang="en-US" altLang="en-US" sz="2800" dirty="0"/>
              <a:t>Understanding the nature of the problem</a:t>
            </a:r>
          </a:p>
          <a:p>
            <a:pPr lvl="1" algn="just" eaLnBrk="1" hangingPunct="1"/>
            <a:r>
              <a:rPr lang="en-US" altLang="en-US" sz="2400" dirty="0"/>
              <a:t>An understanding of the research problem</a:t>
            </a:r>
          </a:p>
          <a:p>
            <a:pPr lvl="1" algn="just" eaLnBrk="1" hangingPunct="1"/>
            <a:r>
              <a:rPr lang="en-US" altLang="en-US" sz="2400" dirty="0"/>
              <a:t>Know the goal of the research and what questions we hope to answer</a:t>
            </a:r>
          </a:p>
          <a:p>
            <a:pPr lvl="1" algn="just" eaLnBrk="1" hangingPunct="1"/>
            <a:r>
              <a:rPr lang="en-US" altLang="en-US" sz="2400" dirty="0"/>
              <a:t>Have a clear direction before gathering data to lessen the chance of being unable to answer the questions of interest using the data collected.</a:t>
            </a:r>
          </a:p>
        </p:txBody>
      </p:sp>
    </p:spTree>
    <p:extLst>
      <p:ext uri="{BB962C8B-B14F-4D97-AF65-F5344CB8AC3E}">
        <p14:creationId xmlns:p14="http://schemas.microsoft.com/office/powerpoint/2010/main" val="31660389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lstStyle/>
          <a:p>
            <a:pPr eaLnBrk="1" hangingPunct="1"/>
            <a:r>
              <a:rPr lang="en-US" altLang="en-US"/>
              <a:t>Data Analysis Process</a:t>
            </a:r>
          </a:p>
        </p:txBody>
      </p:sp>
      <p:pic>
        <p:nvPicPr>
          <p:cNvPr id="45061" name="Picture 9" descr="iran_v__uzbekistan1_gallery__468x400">
            <a:hlinkClick r:id="rId2"/>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5940152" y="4077072"/>
            <a:ext cx="2583039" cy="2199619"/>
          </a:xfrm>
        </p:spPr>
      </p:pic>
      <p:sp>
        <p:nvSpPr>
          <p:cNvPr id="45058" name="Slide Number Placeholder 6"/>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C883DE21-C370-49C2-89C9-95104DAC63A1}" type="slidenum">
              <a:rPr lang="en-US" altLang="en-US" sz="1000" smtClean="0">
                <a:solidFill>
                  <a:schemeClr val="bg1"/>
                </a:solidFill>
              </a:rPr>
              <a:pPr/>
              <a:t>40</a:t>
            </a:fld>
            <a:endParaRPr lang="en-US" altLang="en-US" sz="1000">
              <a:solidFill>
                <a:schemeClr val="bg1"/>
              </a:solidFill>
            </a:endParaRPr>
          </a:p>
        </p:txBody>
      </p:sp>
      <p:sp>
        <p:nvSpPr>
          <p:cNvPr id="45060" name="Rectangle 3"/>
          <p:cNvSpPr>
            <a:spLocks noGrp="1" noChangeArrowheads="1"/>
          </p:cNvSpPr>
          <p:nvPr>
            <p:ph type="body" sz="half" idx="4294967295"/>
          </p:nvPr>
        </p:nvSpPr>
        <p:spPr>
          <a:xfrm>
            <a:off x="683568" y="1828800"/>
            <a:ext cx="7704856" cy="4191000"/>
          </a:xfrm>
        </p:spPr>
        <p:txBody>
          <a:bodyPr/>
          <a:lstStyle/>
          <a:p>
            <a:pPr marL="514350" indent="-514350" algn="just" eaLnBrk="1" hangingPunct="1">
              <a:buFont typeface="+mj-lt"/>
              <a:buAutoNum type="arabicPeriod" startAt="2"/>
            </a:pPr>
            <a:r>
              <a:rPr lang="en-US" altLang="en-US" sz="2800" dirty="0"/>
              <a:t>Deciding what to measure and how to measure it</a:t>
            </a:r>
          </a:p>
          <a:p>
            <a:pPr lvl="1" algn="just" eaLnBrk="1" hangingPunct="1"/>
            <a:r>
              <a:rPr lang="en-US" altLang="en-US" sz="2400" dirty="0"/>
              <a:t>In some cases, the choice is obvious, e.g. in a study of the relationship between the weight of a football player and position played, you would need to collect data on player weight and position.</a:t>
            </a:r>
          </a:p>
        </p:txBody>
      </p:sp>
    </p:spTree>
    <p:extLst>
      <p:ext uri="{BB962C8B-B14F-4D97-AF65-F5344CB8AC3E}">
        <p14:creationId xmlns:p14="http://schemas.microsoft.com/office/powerpoint/2010/main" val="460283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p:txBody>
          <a:bodyPr/>
          <a:lstStyle/>
          <a:p>
            <a:pPr eaLnBrk="1" hangingPunct="1"/>
            <a:r>
              <a:rPr lang="en-US" altLang="en-US"/>
              <a:t>Data Analysis Process</a:t>
            </a:r>
          </a:p>
        </p:txBody>
      </p:sp>
      <p:sp>
        <p:nvSpPr>
          <p:cNvPr id="46082" name="Slide Number Placeholder 7"/>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01241FC6-968D-4D23-A862-01A92673D29B}" type="slidenum">
              <a:rPr lang="en-US" altLang="en-US" sz="1000" smtClean="0">
                <a:solidFill>
                  <a:schemeClr val="bg1"/>
                </a:solidFill>
              </a:rPr>
              <a:pPr/>
              <a:t>41</a:t>
            </a:fld>
            <a:endParaRPr lang="en-US" altLang="en-US" sz="1000">
              <a:solidFill>
                <a:schemeClr val="bg1"/>
              </a:solidFill>
            </a:endParaRPr>
          </a:p>
        </p:txBody>
      </p:sp>
      <p:sp>
        <p:nvSpPr>
          <p:cNvPr id="46084" name="Rectangle 3"/>
          <p:cNvSpPr>
            <a:spLocks noGrp="1" noChangeArrowheads="1"/>
          </p:cNvSpPr>
          <p:nvPr>
            <p:ph type="body" sz="half" idx="4294967295"/>
          </p:nvPr>
        </p:nvSpPr>
        <p:spPr>
          <a:xfrm>
            <a:off x="467544" y="1828800"/>
            <a:ext cx="8136904" cy="4191000"/>
          </a:xfrm>
        </p:spPr>
        <p:txBody>
          <a:bodyPr/>
          <a:lstStyle/>
          <a:p>
            <a:pPr lvl="1" algn="just" eaLnBrk="1" hangingPunct="1"/>
            <a:r>
              <a:rPr lang="en-US" altLang="en-US" dirty="0"/>
              <a:t>but in other cases the choice of information is not as straightforward, e.g. in a study of the relationship between preferred learning style and intelligence, how would you define learning style and measure it and what measure of intelligence would you use?</a:t>
            </a:r>
          </a:p>
          <a:p>
            <a:pPr lvl="1" algn="just" eaLnBrk="1" hangingPunct="1"/>
            <a:r>
              <a:rPr lang="en-US" altLang="en-US" dirty="0"/>
              <a:t>It is important to carefully define the variables to be studied and to develop appropriate methods for determining their values.</a:t>
            </a:r>
          </a:p>
        </p:txBody>
      </p:sp>
    </p:spTree>
    <p:extLst>
      <p:ext uri="{BB962C8B-B14F-4D97-AF65-F5344CB8AC3E}">
        <p14:creationId xmlns:p14="http://schemas.microsoft.com/office/powerpoint/2010/main" val="41457967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p:txBody>
          <a:bodyPr/>
          <a:lstStyle/>
          <a:p>
            <a:pPr eaLnBrk="1" hangingPunct="1"/>
            <a:r>
              <a:rPr lang="en-US" altLang="en-US"/>
              <a:t>Data Analysis Process</a:t>
            </a:r>
          </a:p>
        </p:txBody>
      </p:sp>
      <p:sp>
        <p:nvSpPr>
          <p:cNvPr id="47106" name="Slide Number Placeholder 6"/>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69CC8D1E-914B-4354-BAEE-6445BD6DD081}" type="slidenum">
              <a:rPr lang="en-US" altLang="en-US" sz="1000" smtClean="0">
                <a:solidFill>
                  <a:schemeClr val="bg1"/>
                </a:solidFill>
              </a:rPr>
              <a:pPr/>
              <a:t>42</a:t>
            </a:fld>
            <a:endParaRPr lang="en-US" altLang="en-US" sz="1000">
              <a:solidFill>
                <a:schemeClr val="bg1"/>
              </a:solidFill>
            </a:endParaRPr>
          </a:p>
        </p:txBody>
      </p:sp>
      <p:sp>
        <p:nvSpPr>
          <p:cNvPr id="47108" name="Rectangle 3"/>
          <p:cNvSpPr>
            <a:spLocks noGrp="1" noChangeArrowheads="1"/>
          </p:cNvSpPr>
          <p:nvPr>
            <p:ph type="body" sz="half" idx="4294967295"/>
          </p:nvPr>
        </p:nvSpPr>
        <p:spPr>
          <a:xfrm>
            <a:off x="611560" y="1772816"/>
            <a:ext cx="7776864" cy="4536504"/>
          </a:xfrm>
        </p:spPr>
        <p:txBody>
          <a:bodyPr/>
          <a:lstStyle/>
          <a:p>
            <a:pPr marL="514350" indent="-514350" algn="just" eaLnBrk="1" hangingPunct="1">
              <a:buFont typeface="+mj-lt"/>
              <a:buAutoNum type="arabicPeriod" startAt="3"/>
            </a:pPr>
            <a:r>
              <a:rPr lang="en-US" altLang="en-US" sz="2800" dirty="0"/>
              <a:t>Data collection</a:t>
            </a:r>
          </a:p>
          <a:p>
            <a:pPr lvl="1" algn="just" eaLnBrk="1" hangingPunct="1"/>
            <a:r>
              <a:rPr lang="en-US" altLang="en-US" sz="2400" dirty="0"/>
              <a:t>Decide whether an existing data source is adequate or whether new data must be collected.</a:t>
            </a:r>
          </a:p>
          <a:p>
            <a:pPr lvl="1" algn="just" eaLnBrk="1" hangingPunct="1"/>
            <a:r>
              <a:rPr lang="en-US" altLang="en-US" sz="2400" dirty="0"/>
              <a:t>If a decision is made to use existing data (secondary data), it is important to understand how the data were collected and for what purpose.</a:t>
            </a:r>
          </a:p>
          <a:p>
            <a:pPr lvl="1" algn="just" eaLnBrk="1" hangingPunct="1"/>
            <a:r>
              <a:rPr lang="en-US" altLang="en-US" sz="2400" dirty="0"/>
              <a:t>If new data are to be collected (primary data), a careful plan must be developed.</a:t>
            </a:r>
          </a:p>
          <a:p>
            <a:pPr lvl="1" algn="just" eaLnBrk="1" hangingPunct="1"/>
            <a:r>
              <a:rPr lang="en-US" altLang="en-US" sz="2400" dirty="0"/>
              <a:t>The type of analysis that is appropriate and subsequent conclusions that can be drawn depend on how the data are collected.</a:t>
            </a:r>
          </a:p>
          <a:p>
            <a:pPr lvl="1" algn="just" eaLnBrk="1" hangingPunct="1"/>
            <a:endParaRPr lang="en-US" altLang="en-US" sz="2400" dirty="0"/>
          </a:p>
        </p:txBody>
      </p:sp>
    </p:spTree>
    <p:extLst>
      <p:ext uri="{BB962C8B-B14F-4D97-AF65-F5344CB8AC3E}">
        <p14:creationId xmlns:p14="http://schemas.microsoft.com/office/powerpoint/2010/main" val="3731286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p:txBody>
          <a:bodyPr/>
          <a:lstStyle/>
          <a:p>
            <a:pPr eaLnBrk="1" hangingPunct="1"/>
            <a:r>
              <a:rPr lang="en-US" altLang="en-US"/>
              <a:t>Data Analysis Process</a:t>
            </a:r>
          </a:p>
        </p:txBody>
      </p:sp>
      <p:sp>
        <p:nvSpPr>
          <p:cNvPr id="49154" name="Slide Number Placeholder 6"/>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1BC1B2B4-2C04-444B-A1A4-89DFFF131037}" type="slidenum">
              <a:rPr lang="en-US" altLang="en-US" sz="1000" smtClean="0">
                <a:solidFill>
                  <a:schemeClr val="bg1"/>
                </a:solidFill>
              </a:rPr>
              <a:pPr/>
              <a:t>43</a:t>
            </a:fld>
            <a:endParaRPr lang="en-US" altLang="en-US" sz="1000">
              <a:solidFill>
                <a:schemeClr val="bg1"/>
              </a:solidFill>
            </a:endParaRPr>
          </a:p>
        </p:txBody>
      </p:sp>
      <p:sp>
        <p:nvSpPr>
          <p:cNvPr id="49156" name="Rectangle 3"/>
          <p:cNvSpPr>
            <a:spLocks noGrp="1" noChangeArrowheads="1"/>
          </p:cNvSpPr>
          <p:nvPr>
            <p:ph type="body" sz="half" idx="4294967295"/>
          </p:nvPr>
        </p:nvSpPr>
        <p:spPr>
          <a:xfrm>
            <a:off x="683568" y="1828800"/>
            <a:ext cx="7704856" cy="4191000"/>
          </a:xfrm>
        </p:spPr>
        <p:txBody>
          <a:bodyPr/>
          <a:lstStyle/>
          <a:p>
            <a:pPr marL="514350" indent="-514350" algn="just" eaLnBrk="1" hangingPunct="1">
              <a:buFont typeface="+mj-lt"/>
              <a:buAutoNum type="arabicPeriod" startAt="4"/>
            </a:pPr>
            <a:r>
              <a:rPr lang="en-US" altLang="en-US" sz="2800" dirty="0"/>
              <a:t>Data summarization and preliminary analysis</a:t>
            </a:r>
          </a:p>
          <a:p>
            <a:pPr lvl="1" algn="just" eaLnBrk="1" hangingPunct="1"/>
            <a:r>
              <a:rPr lang="en-US" altLang="en-US" sz="2400" dirty="0"/>
              <a:t>Summarizing the data graphically and numerically</a:t>
            </a:r>
          </a:p>
          <a:p>
            <a:pPr lvl="1" algn="just" eaLnBrk="1" hangingPunct="1"/>
            <a:r>
              <a:rPr lang="en-US" altLang="en-US" sz="2400" dirty="0"/>
              <a:t>This initial analysis provides insight into important characteristics of the data and can provide guidance in selecting appropriate methods for further analysis.</a:t>
            </a:r>
          </a:p>
          <a:p>
            <a:pPr lvl="1" algn="just" eaLnBrk="1" hangingPunct="1">
              <a:buFontTx/>
              <a:buNone/>
            </a:pPr>
            <a:endParaRPr lang="en-US" altLang="en-US" sz="2400" dirty="0"/>
          </a:p>
        </p:txBody>
      </p:sp>
    </p:spTree>
    <p:extLst>
      <p:ext uri="{BB962C8B-B14F-4D97-AF65-F5344CB8AC3E}">
        <p14:creationId xmlns:p14="http://schemas.microsoft.com/office/powerpoint/2010/main" val="38404971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p:txBody>
          <a:bodyPr/>
          <a:lstStyle/>
          <a:p>
            <a:pPr eaLnBrk="1" hangingPunct="1"/>
            <a:r>
              <a:rPr lang="en-US" altLang="en-US"/>
              <a:t>Data Analysis Process</a:t>
            </a:r>
          </a:p>
        </p:txBody>
      </p:sp>
      <p:sp>
        <p:nvSpPr>
          <p:cNvPr id="50178" name="Slide Number Placeholder 7"/>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49F123CD-0809-413B-9AE0-D5D48AA0C632}" type="slidenum">
              <a:rPr lang="en-US" altLang="en-US" sz="1000" smtClean="0">
                <a:solidFill>
                  <a:schemeClr val="bg1"/>
                </a:solidFill>
              </a:rPr>
              <a:pPr/>
              <a:t>44</a:t>
            </a:fld>
            <a:endParaRPr lang="en-US" altLang="en-US" sz="1000">
              <a:solidFill>
                <a:schemeClr val="bg1"/>
              </a:solidFill>
            </a:endParaRPr>
          </a:p>
        </p:txBody>
      </p:sp>
      <p:sp>
        <p:nvSpPr>
          <p:cNvPr id="50180" name="Rectangle 3"/>
          <p:cNvSpPr>
            <a:spLocks noGrp="1" noChangeArrowheads="1"/>
          </p:cNvSpPr>
          <p:nvPr>
            <p:ph type="body" sz="half" idx="4294967295"/>
          </p:nvPr>
        </p:nvSpPr>
        <p:spPr>
          <a:xfrm>
            <a:off x="827584" y="1844824"/>
            <a:ext cx="7489825" cy="4191000"/>
          </a:xfrm>
        </p:spPr>
        <p:txBody>
          <a:bodyPr/>
          <a:lstStyle/>
          <a:p>
            <a:pPr marL="514350" indent="-514350" eaLnBrk="1" hangingPunct="1">
              <a:buFont typeface="+mj-lt"/>
              <a:buAutoNum type="arabicPeriod" startAt="5"/>
            </a:pPr>
            <a:r>
              <a:rPr lang="en-US" altLang="en-US" sz="2800" dirty="0"/>
              <a:t>Formal data analysis</a:t>
            </a:r>
          </a:p>
          <a:p>
            <a:pPr lvl="1" algn="just" eaLnBrk="1" hangingPunct="1">
              <a:buFontTx/>
              <a:buChar char="-"/>
            </a:pPr>
            <a:r>
              <a:rPr lang="en-US" altLang="en-US" sz="2400" dirty="0"/>
              <a:t>Select and apply the appropriate inferential statistical methods.</a:t>
            </a:r>
          </a:p>
          <a:p>
            <a:pPr marL="971550" lvl="1" indent="-514350" eaLnBrk="1" hangingPunct="1">
              <a:buFont typeface="+mj-lt"/>
              <a:buAutoNum type="arabicPeriod"/>
            </a:pPr>
            <a:endParaRPr lang="en-US" altLang="en-US" sz="2400" dirty="0"/>
          </a:p>
          <a:p>
            <a:pPr marL="514350" indent="-514350" eaLnBrk="1" hangingPunct="1">
              <a:buFont typeface="+mj-lt"/>
              <a:buAutoNum type="arabicPeriod" startAt="5"/>
            </a:pPr>
            <a:r>
              <a:rPr lang="en-US" altLang="en-US" sz="2800" dirty="0"/>
              <a:t>Interpretation of results</a:t>
            </a:r>
          </a:p>
          <a:p>
            <a:pPr lvl="1" algn="just" eaLnBrk="1" hangingPunct="1">
              <a:buFontTx/>
              <a:buChar char="-"/>
            </a:pPr>
            <a:r>
              <a:rPr lang="en-US" altLang="en-US" sz="2400" dirty="0"/>
              <a:t>What conclusions can be drawn from the analysis?</a:t>
            </a:r>
          </a:p>
          <a:p>
            <a:pPr lvl="1" algn="just" eaLnBrk="1" hangingPunct="1">
              <a:buFontTx/>
              <a:buChar char="-"/>
            </a:pPr>
            <a:r>
              <a:rPr lang="en-US" altLang="en-US" sz="2400" dirty="0"/>
              <a:t>How do the result of the analysis inform us about the stated research problem or question?</a:t>
            </a:r>
          </a:p>
          <a:p>
            <a:pPr lvl="1" algn="just" eaLnBrk="1" hangingPunct="1">
              <a:buFontTx/>
              <a:buChar char="-"/>
            </a:pPr>
            <a:r>
              <a:rPr lang="en-US" altLang="en-US" sz="2400" dirty="0"/>
              <a:t>How can our results guide future research?</a:t>
            </a:r>
          </a:p>
          <a:p>
            <a:pPr marL="971550" lvl="1" indent="-514350" eaLnBrk="1" hangingPunct="1">
              <a:buFont typeface="+mj-lt"/>
              <a:buAutoNum type="arabicPeriod"/>
            </a:pPr>
            <a:endParaRPr lang="en-US" altLang="en-US" sz="2400" dirty="0"/>
          </a:p>
        </p:txBody>
      </p:sp>
    </p:spTree>
    <p:extLst>
      <p:ext uri="{BB962C8B-B14F-4D97-AF65-F5344CB8AC3E}">
        <p14:creationId xmlns:p14="http://schemas.microsoft.com/office/powerpoint/2010/main" val="2843686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p:txBody>
          <a:bodyPr/>
          <a:lstStyle/>
          <a:p>
            <a:pPr eaLnBrk="1" hangingPunct="1"/>
            <a:r>
              <a:rPr lang="en-US" altLang="en-US" dirty="0"/>
              <a:t>Primary &amp; Secondary Data</a:t>
            </a:r>
          </a:p>
        </p:txBody>
      </p:sp>
      <p:sp>
        <p:nvSpPr>
          <p:cNvPr id="51204" name="Rectangle 3"/>
          <p:cNvSpPr>
            <a:spLocks noGrp="1" noChangeArrowheads="1"/>
          </p:cNvSpPr>
          <p:nvPr>
            <p:ph idx="1"/>
          </p:nvPr>
        </p:nvSpPr>
        <p:spPr>
          <a:xfrm>
            <a:off x="457200" y="1600200"/>
            <a:ext cx="8229600" cy="4781128"/>
          </a:xfrm>
        </p:spPr>
        <p:txBody>
          <a:bodyPr/>
          <a:lstStyle/>
          <a:p>
            <a:pPr algn="just" eaLnBrk="1" hangingPunct="1"/>
            <a:r>
              <a:rPr lang="en-US" altLang="en-US" sz="2800" b="1" dirty="0"/>
              <a:t>Secondary data</a:t>
            </a:r>
            <a:r>
              <a:rPr lang="en-US" altLang="en-US" sz="2800" dirty="0"/>
              <a:t> is data which has been collected by individuals or agencies for purposes other than those of our particular research study. </a:t>
            </a:r>
          </a:p>
          <a:p>
            <a:pPr lvl="1" algn="just" eaLnBrk="1" hangingPunct="1"/>
            <a:r>
              <a:rPr lang="en-US" altLang="en-US" sz="2400" dirty="0"/>
              <a:t>For example, if a government department has conducted a survey of, say, family food expenditures, then a food manufacturer might use this data in the organization's evaluations of the total potential market for a new product. </a:t>
            </a:r>
          </a:p>
          <a:p>
            <a:pPr algn="just" eaLnBrk="1" hangingPunct="1"/>
            <a:endParaRPr lang="en-US" altLang="en-US" sz="2800" dirty="0"/>
          </a:p>
          <a:p>
            <a:pPr algn="just" eaLnBrk="1" hangingPunct="1"/>
            <a:r>
              <a:rPr lang="en-US" altLang="en-US" sz="2800" b="1" dirty="0"/>
              <a:t>Primary data</a:t>
            </a:r>
            <a:r>
              <a:rPr lang="en-US" altLang="en-US" sz="2800" dirty="0"/>
              <a:t>, by contrast, are collected by the investigator conducting the research.</a:t>
            </a:r>
          </a:p>
          <a:p>
            <a:pPr algn="just" eaLnBrk="1" hangingPunct="1"/>
            <a:endParaRPr lang="en-US" altLang="en-US" sz="2800" dirty="0"/>
          </a:p>
        </p:txBody>
      </p:sp>
      <p:sp>
        <p:nvSpPr>
          <p:cNvPr id="51202"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48FADA36-BCA8-4FBF-89F4-273A0B0CE8E6}" type="slidenum">
              <a:rPr lang="en-US" altLang="en-US" sz="1000" smtClean="0">
                <a:solidFill>
                  <a:schemeClr val="bg1"/>
                </a:solidFill>
              </a:rPr>
              <a:pPr/>
              <a:t>45</a:t>
            </a:fld>
            <a:endParaRPr lang="en-US" altLang="en-US" sz="1000">
              <a:solidFill>
                <a:schemeClr val="bg1"/>
              </a:solidFill>
            </a:endParaRPr>
          </a:p>
        </p:txBody>
      </p:sp>
    </p:spTree>
    <p:extLst>
      <p:ext uri="{BB962C8B-B14F-4D97-AF65-F5344CB8AC3E}">
        <p14:creationId xmlns:p14="http://schemas.microsoft.com/office/powerpoint/2010/main" val="29141507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E5DEA71C-D0A0-4FB1-BD82-1969CC5AD88F}" type="slidenum">
              <a:rPr lang="en-US" altLang="en-US" sz="1000" smtClean="0">
                <a:solidFill>
                  <a:schemeClr val="bg1"/>
                </a:solidFill>
              </a:rPr>
              <a:pPr/>
              <a:t>46</a:t>
            </a:fld>
            <a:endParaRPr lang="en-US" altLang="en-US" sz="1000">
              <a:solidFill>
                <a:schemeClr val="bg1"/>
              </a:solidFill>
            </a:endParaRPr>
          </a:p>
        </p:txBody>
      </p:sp>
      <p:sp>
        <p:nvSpPr>
          <p:cNvPr id="52227" name="Rectangle 2"/>
          <p:cNvSpPr>
            <a:spLocks noGrp="1" noChangeArrowheads="1"/>
          </p:cNvSpPr>
          <p:nvPr>
            <p:ph type="title"/>
          </p:nvPr>
        </p:nvSpPr>
        <p:spPr/>
        <p:txBody>
          <a:bodyPr/>
          <a:lstStyle/>
          <a:p>
            <a:pPr eaLnBrk="1" hangingPunct="1"/>
            <a:r>
              <a:rPr lang="en-US" altLang="en-US"/>
              <a:t>Primary &amp; Secondary Data</a:t>
            </a:r>
          </a:p>
        </p:txBody>
      </p:sp>
      <p:pic>
        <p:nvPicPr>
          <p:cNvPr id="52228"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044575" y="1752600"/>
            <a:ext cx="7426325" cy="4572000"/>
          </a:xfrm>
        </p:spPr>
      </p:pic>
    </p:spTree>
    <p:extLst>
      <p:ext uri="{BB962C8B-B14F-4D97-AF65-F5344CB8AC3E}">
        <p14:creationId xmlns:p14="http://schemas.microsoft.com/office/powerpoint/2010/main" val="32763774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6"/>
          <p:cNvSpPr>
            <a:spLocks noGrp="1" noChangeArrowheads="1"/>
          </p:cNvSpPr>
          <p:nvPr>
            <p:ph type="title"/>
          </p:nvPr>
        </p:nvSpPr>
        <p:spPr/>
        <p:txBody>
          <a:bodyPr/>
          <a:lstStyle/>
          <a:p>
            <a:pPr eaLnBrk="1" hangingPunct="1"/>
            <a:r>
              <a:rPr lang="en-US" altLang="en-US" dirty="0"/>
              <a:t>Data Sources</a:t>
            </a:r>
          </a:p>
        </p:txBody>
      </p:sp>
      <p:sp>
        <p:nvSpPr>
          <p:cNvPr id="53250" name="Slide Number Placeholder 8"/>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78153398-3467-452D-9C2C-8E893A80B13E}" type="slidenum">
              <a:rPr lang="en-US" altLang="en-US" sz="1000" smtClean="0">
                <a:solidFill>
                  <a:schemeClr val="bg1"/>
                </a:solidFill>
              </a:rPr>
              <a:pPr/>
              <a:t>47</a:t>
            </a:fld>
            <a:endParaRPr lang="en-US" altLang="en-US" sz="1000">
              <a:solidFill>
                <a:schemeClr val="bg1"/>
              </a:solidFill>
            </a:endParaRPr>
          </a:p>
        </p:txBody>
      </p:sp>
      <p:sp>
        <p:nvSpPr>
          <p:cNvPr id="53254" name="Text Box 14"/>
          <p:cNvSpPr txBox="1">
            <a:spLocks noChangeArrowheads="1"/>
          </p:cNvSpPr>
          <p:nvPr/>
        </p:nvSpPr>
        <p:spPr bwMode="auto">
          <a:xfrm>
            <a:off x="611832" y="1484784"/>
            <a:ext cx="398570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r>
              <a:rPr lang="en-US" altLang="en-US" sz="2800" b="0" dirty="0">
                <a:latin typeface="+mn-lt"/>
              </a:rPr>
              <a:t>Primary data:  Experiment</a:t>
            </a:r>
          </a:p>
        </p:txBody>
      </p:sp>
      <p:pic>
        <p:nvPicPr>
          <p:cNvPr id="2050" name="Picture 2" descr="Image result for experimen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4425" y="2008732"/>
            <a:ext cx="4782970" cy="1852315"/>
          </a:xfrm>
          <a:prstGeom prst="rect">
            <a:avLst/>
          </a:prstGeom>
          <a:noFill/>
          <a:extLst>
            <a:ext uri="{909E8E84-426E-40DD-AFC4-6F175D3DCCD1}">
              <a14:hiddenFill xmlns:a14="http://schemas.microsoft.com/office/drawing/2010/main">
                <a:solidFill>
                  <a:srgbClr val="FFFFFF"/>
                </a:solidFill>
              </a14:hiddenFill>
            </a:ext>
          </a:extLst>
        </p:spPr>
      </p:pic>
      <p:sp>
        <p:nvSpPr>
          <p:cNvPr id="9" name="Text Box 4"/>
          <p:cNvSpPr txBox="1">
            <a:spLocks noChangeArrowheads="1"/>
          </p:cNvSpPr>
          <p:nvPr/>
        </p:nvSpPr>
        <p:spPr bwMode="auto">
          <a:xfrm>
            <a:off x="611832" y="3933056"/>
            <a:ext cx="7848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r>
              <a:rPr lang="en-US" altLang="en-US" sz="2800" b="0" dirty="0">
                <a:latin typeface="+mn-lt"/>
              </a:rPr>
              <a:t>Primary data:  Survey (Questionnaire, Interview)</a:t>
            </a:r>
          </a:p>
        </p:txBody>
      </p:sp>
      <p:pic>
        <p:nvPicPr>
          <p:cNvPr id="2052" name="Picture 4" descr="Image result for questionnaire"/>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15940"/>
          <a:stretch/>
        </p:blipFill>
        <p:spPr bwMode="auto">
          <a:xfrm>
            <a:off x="663591" y="4456276"/>
            <a:ext cx="3871257" cy="194783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Image result for interview"/>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64088" y="4511705"/>
            <a:ext cx="2276974" cy="18369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0704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p:txBody>
          <a:bodyPr/>
          <a:lstStyle/>
          <a:p>
            <a:pPr eaLnBrk="1" hangingPunct="1"/>
            <a:r>
              <a:rPr lang="en-US" altLang="en-US"/>
              <a:t>Data Sources</a:t>
            </a:r>
          </a:p>
        </p:txBody>
      </p:sp>
      <p:pic>
        <p:nvPicPr>
          <p:cNvPr id="55300" name="Picture 9" descr="33-books">
            <a:hlinkClick r:id="rId2"/>
          </p:cNvPr>
          <p:cNvPicPr>
            <a:picLocks noGrp="1" noChangeAspect="1" noChangeArrowheads="1"/>
          </p:cNvPicPr>
          <p:nvPr>
            <p:ph sz="quarter" idx="4294967295"/>
          </p:nvPr>
        </p:nvPicPr>
        <p:blipFill>
          <a:blip r:embed="rId3">
            <a:extLst>
              <a:ext uri="{28A0092B-C50C-407E-A947-70E740481C1C}">
                <a14:useLocalDpi xmlns:a14="http://schemas.microsoft.com/office/drawing/2010/main" val="0"/>
              </a:ext>
            </a:extLst>
          </a:blip>
          <a:srcRect/>
          <a:stretch>
            <a:fillRect/>
          </a:stretch>
        </p:blipFill>
        <p:spPr>
          <a:xfrm>
            <a:off x="1763688" y="2204864"/>
            <a:ext cx="1825625" cy="1825625"/>
          </a:xfrm>
        </p:spPr>
      </p:pic>
      <p:pic>
        <p:nvPicPr>
          <p:cNvPr id="55301" name="Picture 16" descr="Document_Easy_Case">
            <a:hlinkClick r:id="rId4"/>
          </p:cNvPr>
          <p:cNvPicPr>
            <a:picLocks noGrp="1" noChangeAspect="1" noChangeArrowheads="1"/>
          </p:cNvPicPr>
          <p:nvPr>
            <p:ph sz="quarter" idx="4294967295"/>
          </p:nvPr>
        </p:nvPicPr>
        <p:blipFill>
          <a:blip r:embed="rId5">
            <a:extLst>
              <a:ext uri="{28A0092B-C50C-407E-A947-70E740481C1C}">
                <a14:useLocalDpi xmlns:a14="http://schemas.microsoft.com/office/drawing/2010/main" val="0"/>
              </a:ext>
            </a:extLst>
          </a:blip>
          <a:srcRect/>
          <a:stretch>
            <a:fillRect/>
          </a:stretch>
        </p:blipFill>
        <p:spPr>
          <a:xfrm>
            <a:off x="1115616" y="4077072"/>
            <a:ext cx="1905000" cy="1905000"/>
          </a:xfrm>
        </p:spPr>
      </p:pic>
      <p:pic>
        <p:nvPicPr>
          <p:cNvPr id="55302" name="Picture 19" descr="documents">
            <a:hlinkClick r:id="rId6"/>
          </p:cNvPr>
          <p:cNvPicPr>
            <a:picLocks noGrp="1" noChangeAspect="1" noChangeArrowheads="1"/>
          </p:cNvPicPr>
          <p:nvPr>
            <p:ph sz="quarter" idx="4294967295"/>
          </p:nvPr>
        </p:nvPicPr>
        <p:blipFill>
          <a:blip r:embed="rId7">
            <a:extLst>
              <a:ext uri="{28A0092B-C50C-407E-A947-70E740481C1C}">
                <a14:useLocalDpi xmlns:a14="http://schemas.microsoft.com/office/drawing/2010/main" val="0"/>
              </a:ext>
            </a:extLst>
          </a:blip>
          <a:srcRect/>
          <a:stretch>
            <a:fillRect/>
          </a:stretch>
        </p:blipFill>
        <p:spPr>
          <a:xfrm>
            <a:off x="3995936" y="4293096"/>
            <a:ext cx="1568450" cy="1436688"/>
          </a:xfrm>
        </p:spPr>
      </p:pic>
      <p:pic>
        <p:nvPicPr>
          <p:cNvPr id="55304" name="Picture 22" descr="document_scr">
            <a:hlinkClick r:id="rId8"/>
          </p:cNvPr>
          <p:cNvPicPr>
            <a:picLocks noGrp="1" noChangeAspect="1" noChangeArrowheads="1"/>
          </p:cNvPicPr>
          <p:nvPr>
            <p:ph sz="quarter" idx="4294967295"/>
          </p:nvPr>
        </p:nvPicPr>
        <p:blipFill>
          <a:blip r:embed="rId9">
            <a:extLst>
              <a:ext uri="{28A0092B-C50C-407E-A947-70E740481C1C}">
                <a14:useLocalDpi xmlns:a14="http://schemas.microsoft.com/office/drawing/2010/main" val="0"/>
              </a:ext>
            </a:extLst>
          </a:blip>
          <a:srcRect/>
          <a:stretch>
            <a:fillRect/>
          </a:stretch>
        </p:blipFill>
        <p:spPr>
          <a:xfrm>
            <a:off x="6301358" y="4077072"/>
            <a:ext cx="2000250" cy="1338263"/>
          </a:xfrm>
        </p:spPr>
      </p:pic>
      <p:sp>
        <p:nvSpPr>
          <p:cNvPr id="55303" name="Text Box 5"/>
          <p:cNvSpPr txBox="1">
            <a:spLocks noChangeArrowheads="1"/>
          </p:cNvSpPr>
          <p:nvPr/>
        </p:nvSpPr>
        <p:spPr bwMode="auto">
          <a:xfrm>
            <a:off x="466740" y="1567190"/>
            <a:ext cx="7924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r>
              <a:rPr lang="en-US" altLang="en-US" sz="2800" b="0" dirty="0">
                <a:latin typeface="+mn-lt"/>
              </a:rPr>
              <a:t>Secondary data: existing databases, record review</a:t>
            </a:r>
          </a:p>
        </p:txBody>
      </p:sp>
      <p:pic>
        <p:nvPicPr>
          <p:cNvPr id="55305" name="Picture 25" descr="computer">
            <a:hlinkClick r:id="rId10"/>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44008" y="2115175"/>
            <a:ext cx="1657350"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793AD801-36E7-D14C-8BBE-B9CEE8882E42}" type="slidenum">
              <a:rPr lang="en-US" altLang="x-none" smtClean="0"/>
              <a:pPr/>
              <a:t>48</a:t>
            </a:fld>
            <a:endParaRPr lang="en-US" altLang="x-none"/>
          </a:p>
        </p:txBody>
      </p:sp>
    </p:spTree>
    <p:extLst>
      <p:ext uri="{BB962C8B-B14F-4D97-AF65-F5344CB8AC3E}">
        <p14:creationId xmlns:p14="http://schemas.microsoft.com/office/powerpoint/2010/main" val="15123854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p:txBody>
          <a:bodyPr/>
          <a:lstStyle/>
          <a:p>
            <a:pPr eaLnBrk="1" hangingPunct="1"/>
            <a:r>
              <a:rPr lang="en-US" altLang="en-US" dirty="0"/>
              <a:t>Qualitative &amp; Quantitative Data</a:t>
            </a:r>
          </a:p>
        </p:txBody>
      </p:sp>
      <p:sp>
        <p:nvSpPr>
          <p:cNvPr id="56325" name="Rectangle 104"/>
          <p:cNvSpPr>
            <a:spLocks noChangeArrowheads="1"/>
          </p:cNvSpPr>
          <p:nvPr/>
        </p:nvSpPr>
        <p:spPr bwMode="auto">
          <a:xfrm>
            <a:off x="636588" y="2468563"/>
            <a:ext cx="5000625"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endParaRPr lang="en-AU" altLang="en-US"/>
          </a:p>
        </p:txBody>
      </p:sp>
      <p:graphicFrame>
        <p:nvGraphicFramePr>
          <p:cNvPr id="118917" name="Group 133"/>
          <p:cNvGraphicFramePr>
            <a:graphicFrameLocks noGrp="1"/>
          </p:cNvGraphicFramePr>
          <p:nvPr>
            <p:extLst>
              <p:ext uri="{D42A27DB-BD31-4B8C-83A1-F6EECF244321}">
                <p14:modId xmlns:p14="http://schemas.microsoft.com/office/powerpoint/2010/main" val="3176062933"/>
              </p:ext>
            </p:extLst>
          </p:nvPr>
        </p:nvGraphicFramePr>
        <p:xfrm>
          <a:off x="395536" y="1484784"/>
          <a:ext cx="8424936" cy="4267780"/>
        </p:xfrm>
        <a:graphic>
          <a:graphicData uri="http://schemas.openxmlformats.org/drawingml/2006/table">
            <a:tbl>
              <a:tblPr/>
              <a:tblGrid>
                <a:gridCol w="4176464">
                  <a:extLst>
                    <a:ext uri="{9D8B030D-6E8A-4147-A177-3AD203B41FA5}">
                      <a16:colId xmlns:a16="http://schemas.microsoft.com/office/drawing/2014/main" val="20000"/>
                    </a:ext>
                  </a:extLst>
                </a:gridCol>
                <a:gridCol w="4248472">
                  <a:extLst>
                    <a:ext uri="{9D8B030D-6E8A-4147-A177-3AD203B41FA5}">
                      <a16:colId xmlns:a16="http://schemas.microsoft.com/office/drawing/2014/main" val="20001"/>
                    </a:ext>
                  </a:extLst>
                </a:gridCol>
              </a:tblGrid>
              <a:tr h="457269">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mn-lt"/>
                          <a:ea typeface="Times New Roman" pitchFamily="18" charset="0"/>
                          <a:cs typeface="Arial" charset="0"/>
                        </a:rPr>
                        <a:t>Qualitative Data</a:t>
                      </a:r>
                      <a:endParaRPr kumimoji="0" lang="en-US" altLang="en-US" sz="2800" b="1" i="0" u="none" strike="noStrike" cap="none" normalizeH="0" baseline="0" dirty="0">
                        <a:ln>
                          <a:noFill/>
                        </a:ln>
                        <a:solidFill>
                          <a:schemeClr val="tx1"/>
                        </a:solidFill>
                        <a:effectLst/>
                        <a:latin typeface="+mn-lt"/>
                        <a:ea typeface="ＭＳ Ｐゴシック" pitchFamily="96" charset="-128"/>
                        <a:cs typeface="Arial" charset="0"/>
                      </a:endParaRP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a:ln>
                            <a:noFill/>
                          </a:ln>
                          <a:solidFill>
                            <a:schemeClr val="tx1"/>
                          </a:solidFill>
                          <a:effectLst/>
                          <a:latin typeface="+mn-lt"/>
                          <a:ea typeface="Times New Roman" pitchFamily="18" charset="0"/>
                          <a:cs typeface="Arial" charset="0"/>
                        </a:rPr>
                        <a:t>Quantitative Data</a:t>
                      </a:r>
                      <a:endParaRPr kumimoji="0" lang="en-US" altLang="en-US" sz="2800" b="1" i="0" u="none" strike="noStrike" cap="none" normalizeH="0" baseline="0">
                        <a:ln>
                          <a:noFill/>
                        </a:ln>
                        <a:solidFill>
                          <a:schemeClr val="tx1"/>
                        </a:solidFill>
                        <a:effectLst/>
                        <a:latin typeface="+mn-lt"/>
                        <a:ea typeface="ＭＳ Ｐゴシック" pitchFamily="96" charset="-128"/>
                        <a:cs typeface="Arial" charset="0"/>
                      </a:endParaRP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0"/>
                  </a:ext>
                </a:extLst>
              </a:tr>
              <a:tr h="3749606">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mn-lt"/>
                          <a:ea typeface="ＭＳ Ｐゴシック" pitchFamily="96" charset="-128"/>
                          <a:cs typeface="Times New Roman" pitchFamily="18" charset="0"/>
                        </a:rPr>
                        <a:t>Overview: </a:t>
                      </a:r>
                    </a:p>
                    <a:p>
                      <a:pPr marL="263525" marR="0" lvl="0" indent="-263525" algn="l" defTabSz="914400" rtl="0" eaLnBrk="0" fontAlgn="base" latinLnBrk="0" hangingPunct="0">
                        <a:lnSpc>
                          <a:spcPct val="100000"/>
                        </a:lnSpc>
                        <a:spcBef>
                          <a:spcPct val="0"/>
                        </a:spcBef>
                        <a:spcAft>
                          <a:spcPct val="0"/>
                        </a:spcAft>
                        <a:buClrTx/>
                        <a:buSzTx/>
                        <a:buFont typeface="Symbol" pitchFamily="18" charset="2"/>
                        <a:buBlip>
                          <a:blip r:embed="rId2"/>
                        </a:buBlip>
                        <a:tabLst/>
                      </a:pPr>
                      <a:r>
                        <a:rPr kumimoji="0" lang="en-US" altLang="en-US" sz="2400" b="0" i="0" u="none" strike="noStrike" cap="none" normalizeH="0" baseline="0" dirty="0">
                          <a:ln>
                            <a:noFill/>
                          </a:ln>
                          <a:solidFill>
                            <a:schemeClr val="tx1"/>
                          </a:solidFill>
                          <a:effectLst/>
                          <a:latin typeface="+mn-lt"/>
                          <a:ea typeface="ＭＳ Ｐゴシック" pitchFamily="96" charset="-128"/>
                          <a:cs typeface="Times New Roman" pitchFamily="18" charset="0"/>
                        </a:rPr>
                        <a:t>Deals with descriptions. </a:t>
                      </a:r>
                    </a:p>
                    <a:p>
                      <a:pPr marL="263525" marR="0" lvl="0" indent="-263525" algn="l" defTabSz="914400" rtl="0" eaLnBrk="0" fontAlgn="base" latinLnBrk="0" hangingPunct="0">
                        <a:lnSpc>
                          <a:spcPct val="100000"/>
                        </a:lnSpc>
                        <a:spcBef>
                          <a:spcPct val="0"/>
                        </a:spcBef>
                        <a:spcAft>
                          <a:spcPct val="0"/>
                        </a:spcAft>
                        <a:buClrTx/>
                        <a:buSzTx/>
                        <a:buFont typeface="Symbol" pitchFamily="18" charset="2"/>
                        <a:buBlip>
                          <a:blip r:embed="rId2"/>
                        </a:buBlip>
                        <a:tabLst/>
                      </a:pPr>
                      <a:r>
                        <a:rPr kumimoji="0" lang="en-US" altLang="en-US" sz="2400" b="0" i="0" u="none" strike="noStrike" cap="none" normalizeH="0" baseline="0" dirty="0">
                          <a:ln>
                            <a:noFill/>
                          </a:ln>
                          <a:solidFill>
                            <a:schemeClr val="tx1"/>
                          </a:solidFill>
                          <a:effectLst/>
                          <a:latin typeface="+mn-lt"/>
                          <a:ea typeface="ＭＳ Ｐゴシック" pitchFamily="96" charset="-128"/>
                          <a:cs typeface="Times New Roman" pitchFamily="18" charset="0"/>
                        </a:rPr>
                        <a:t>Data can be observed but not measured. </a:t>
                      </a:r>
                    </a:p>
                    <a:p>
                      <a:pPr marL="263525" marR="0" lvl="0" indent="-263525" algn="l" defTabSz="914400" rtl="0" eaLnBrk="0" fontAlgn="base" latinLnBrk="0" hangingPunct="0">
                        <a:lnSpc>
                          <a:spcPct val="100000"/>
                        </a:lnSpc>
                        <a:spcBef>
                          <a:spcPct val="0"/>
                        </a:spcBef>
                        <a:spcAft>
                          <a:spcPct val="0"/>
                        </a:spcAft>
                        <a:buClrTx/>
                        <a:buSzTx/>
                        <a:buFont typeface="Symbol" pitchFamily="18" charset="2"/>
                        <a:buBlip>
                          <a:blip r:embed="rId2"/>
                        </a:buBlip>
                        <a:tabLst/>
                      </a:pPr>
                      <a:r>
                        <a:rPr kumimoji="0" lang="en-US" altLang="en-US" sz="2400" b="0" i="0" u="none" strike="noStrike" cap="none" normalizeH="0" baseline="0" dirty="0">
                          <a:ln>
                            <a:noFill/>
                          </a:ln>
                          <a:solidFill>
                            <a:schemeClr val="tx1"/>
                          </a:solidFill>
                          <a:effectLst/>
                          <a:latin typeface="+mn-lt"/>
                          <a:ea typeface="ＭＳ Ｐゴシック" pitchFamily="96" charset="-128"/>
                          <a:cs typeface="Times New Roman" pitchFamily="18" charset="0"/>
                        </a:rPr>
                        <a:t>Colors, textures, smells, tastes, appearance, beauty, etc. </a:t>
                      </a:r>
                    </a:p>
                    <a:p>
                      <a:pPr marL="263525" marR="0" lvl="0" indent="-263525" algn="l" defTabSz="914400" rtl="0" eaLnBrk="0" fontAlgn="base" latinLnBrk="0" hangingPunct="0">
                        <a:lnSpc>
                          <a:spcPct val="100000"/>
                        </a:lnSpc>
                        <a:spcBef>
                          <a:spcPct val="0"/>
                        </a:spcBef>
                        <a:spcAft>
                          <a:spcPct val="0"/>
                        </a:spcAft>
                        <a:buClrTx/>
                        <a:buSzTx/>
                        <a:buFont typeface="Symbol" pitchFamily="18" charset="2"/>
                        <a:buBlip>
                          <a:blip r:embed="rId2"/>
                        </a:buBlip>
                        <a:tabLst/>
                      </a:pPr>
                      <a:r>
                        <a:rPr kumimoji="0" lang="en-US" altLang="en-US" sz="2400" b="0" i="0" u="none" strike="noStrike" cap="none" normalizeH="0" baseline="0" dirty="0">
                          <a:ln>
                            <a:noFill/>
                          </a:ln>
                          <a:solidFill>
                            <a:schemeClr val="tx1"/>
                          </a:solidFill>
                          <a:effectLst/>
                          <a:latin typeface="+mn-lt"/>
                          <a:ea typeface="ＭＳ Ｐゴシック" pitchFamily="96" charset="-128"/>
                          <a:cs typeface="Times New Roman" pitchFamily="18" charset="0"/>
                        </a:rPr>
                        <a:t>Qualitative → Quality </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mn-lt"/>
                          <a:ea typeface="ＭＳ Ｐゴシック" pitchFamily="96" charset="-128"/>
                          <a:cs typeface="Times New Roman" pitchFamily="18" charset="0"/>
                        </a:rPr>
                        <a:t>Overview: </a:t>
                      </a:r>
                    </a:p>
                    <a:p>
                      <a:pPr marL="263525" marR="0" lvl="0" indent="-263525" algn="l" defTabSz="914400" rtl="0" eaLnBrk="0" fontAlgn="base" latinLnBrk="0" hangingPunct="0">
                        <a:lnSpc>
                          <a:spcPct val="100000"/>
                        </a:lnSpc>
                        <a:spcBef>
                          <a:spcPct val="0"/>
                        </a:spcBef>
                        <a:spcAft>
                          <a:spcPct val="0"/>
                        </a:spcAft>
                        <a:buClrTx/>
                        <a:buSzTx/>
                        <a:buFont typeface="Symbol" pitchFamily="18" charset="2"/>
                        <a:buBlip>
                          <a:blip r:embed="rId2"/>
                        </a:buBlip>
                        <a:tabLst/>
                      </a:pPr>
                      <a:r>
                        <a:rPr kumimoji="0" lang="en-US" altLang="en-US" sz="2400" b="0" i="0" u="none" strike="noStrike" cap="none" normalizeH="0" baseline="0" dirty="0">
                          <a:ln>
                            <a:noFill/>
                          </a:ln>
                          <a:solidFill>
                            <a:schemeClr val="tx1"/>
                          </a:solidFill>
                          <a:effectLst/>
                          <a:latin typeface="+mn-lt"/>
                          <a:ea typeface="ＭＳ Ｐゴシック" pitchFamily="96" charset="-128"/>
                          <a:cs typeface="Times New Roman" pitchFamily="18" charset="0"/>
                        </a:rPr>
                        <a:t>Deals with numbers. </a:t>
                      </a:r>
                    </a:p>
                    <a:p>
                      <a:pPr marL="263525" marR="0" lvl="0" indent="-263525" algn="l" defTabSz="914400" rtl="0" eaLnBrk="0" fontAlgn="base" latinLnBrk="0" hangingPunct="0">
                        <a:lnSpc>
                          <a:spcPct val="100000"/>
                        </a:lnSpc>
                        <a:spcBef>
                          <a:spcPct val="0"/>
                        </a:spcBef>
                        <a:spcAft>
                          <a:spcPct val="0"/>
                        </a:spcAft>
                        <a:buClrTx/>
                        <a:buSzTx/>
                        <a:buFont typeface="Symbol" pitchFamily="18" charset="2"/>
                        <a:buBlip>
                          <a:blip r:embed="rId2"/>
                        </a:buBlip>
                        <a:tabLst/>
                      </a:pPr>
                      <a:r>
                        <a:rPr kumimoji="0" lang="en-US" altLang="en-US" sz="2400" b="0" i="0" u="none" strike="noStrike" cap="none" normalizeH="0" baseline="0" dirty="0">
                          <a:ln>
                            <a:noFill/>
                          </a:ln>
                          <a:solidFill>
                            <a:schemeClr val="tx1"/>
                          </a:solidFill>
                          <a:effectLst/>
                          <a:latin typeface="+mn-lt"/>
                          <a:ea typeface="ＭＳ Ｐゴシック" pitchFamily="96" charset="-128"/>
                          <a:cs typeface="Times New Roman" pitchFamily="18" charset="0"/>
                        </a:rPr>
                        <a:t>Data which can be measured. </a:t>
                      </a:r>
                    </a:p>
                    <a:p>
                      <a:pPr marL="263525" marR="0" lvl="0" indent="-263525" algn="l" defTabSz="914400" rtl="0" eaLnBrk="0" fontAlgn="base" latinLnBrk="0" hangingPunct="0">
                        <a:lnSpc>
                          <a:spcPct val="100000"/>
                        </a:lnSpc>
                        <a:spcBef>
                          <a:spcPct val="0"/>
                        </a:spcBef>
                        <a:spcAft>
                          <a:spcPct val="0"/>
                        </a:spcAft>
                        <a:buClrTx/>
                        <a:buSzTx/>
                        <a:buFont typeface="Symbol" pitchFamily="18" charset="2"/>
                        <a:buBlip>
                          <a:blip r:embed="rId2"/>
                        </a:buBlip>
                        <a:tabLst/>
                      </a:pPr>
                      <a:r>
                        <a:rPr kumimoji="0" lang="en-US" altLang="en-US" sz="2400" b="0" i="0" u="none" strike="noStrike" cap="none" normalizeH="0" baseline="0" dirty="0">
                          <a:ln>
                            <a:noFill/>
                          </a:ln>
                          <a:solidFill>
                            <a:schemeClr val="tx1"/>
                          </a:solidFill>
                          <a:effectLst/>
                          <a:latin typeface="+mn-lt"/>
                          <a:ea typeface="ＭＳ Ｐゴシック" pitchFamily="96" charset="-128"/>
                          <a:cs typeface="Times New Roman" pitchFamily="18" charset="0"/>
                        </a:rPr>
                        <a:t>Length, height, area, volume, weight, speed, time, temperature, humidity, sound levels, cost, members, ages, etc. </a:t>
                      </a:r>
                    </a:p>
                    <a:p>
                      <a:pPr marL="263525" marR="0" lvl="0" indent="-263525" algn="l" defTabSz="914400" rtl="0" eaLnBrk="0" fontAlgn="base" latinLnBrk="0" hangingPunct="0">
                        <a:lnSpc>
                          <a:spcPct val="100000"/>
                        </a:lnSpc>
                        <a:spcBef>
                          <a:spcPct val="0"/>
                        </a:spcBef>
                        <a:spcAft>
                          <a:spcPct val="0"/>
                        </a:spcAft>
                        <a:buClrTx/>
                        <a:buSzTx/>
                        <a:buFont typeface="Symbol" pitchFamily="18" charset="2"/>
                        <a:buBlip>
                          <a:blip r:embed="rId2"/>
                        </a:buBlip>
                        <a:tabLst/>
                      </a:pPr>
                      <a:r>
                        <a:rPr kumimoji="0" lang="en-US" altLang="en-US" sz="2400" b="0" i="0" u="none" strike="noStrike" cap="none" normalizeH="0" baseline="0" dirty="0">
                          <a:ln>
                            <a:noFill/>
                          </a:ln>
                          <a:solidFill>
                            <a:schemeClr val="tx1"/>
                          </a:solidFill>
                          <a:effectLst/>
                          <a:latin typeface="+mn-lt"/>
                          <a:ea typeface="ＭＳ Ｐゴシック" pitchFamily="96" charset="-128"/>
                          <a:cs typeface="Times New Roman" pitchFamily="18" charset="0"/>
                        </a:rPr>
                        <a:t>Quantitative → Quantity </a:t>
                      </a:r>
                      <a:r>
                        <a:rPr kumimoji="0" lang="en-US" altLang="en-US" sz="2400" b="1" i="0" u="none" strike="noStrike" cap="none" normalizeH="0" baseline="0" dirty="0">
                          <a:ln>
                            <a:noFill/>
                          </a:ln>
                          <a:solidFill>
                            <a:schemeClr val="tx1"/>
                          </a:solidFill>
                          <a:effectLst/>
                          <a:latin typeface="+mn-lt"/>
                          <a:ea typeface="ＭＳ Ｐゴシック" pitchFamily="96" charset="-128"/>
                          <a:cs typeface="Times New Roman" pitchFamily="18" charset="0"/>
                        </a:rPr>
                        <a:t> </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bl>
          </a:graphicData>
        </a:graphic>
      </p:graphicFrame>
      <p:sp>
        <p:nvSpPr>
          <p:cNvPr id="2" name="Slide Number Placeholder 1"/>
          <p:cNvSpPr>
            <a:spLocks noGrp="1"/>
          </p:cNvSpPr>
          <p:nvPr>
            <p:ph type="sldNum" sz="quarter" idx="12"/>
          </p:nvPr>
        </p:nvSpPr>
        <p:spPr/>
        <p:txBody>
          <a:bodyPr/>
          <a:lstStyle/>
          <a:p>
            <a:fld id="{E84E0A14-FAA9-F840-8F6E-CF85F7234053}" type="slidenum">
              <a:rPr lang="en-US" altLang="x-none" smtClean="0"/>
              <a:pPr/>
              <a:t>49</a:t>
            </a:fld>
            <a:endParaRPr lang="en-US" altLang="x-none"/>
          </a:p>
        </p:txBody>
      </p:sp>
    </p:spTree>
    <p:extLst>
      <p:ext uri="{BB962C8B-B14F-4D97-AF65-F5344CB8AC3E}">
        <p14:creationId xmlns:p14="http://schemas.microsoft.com/office/powerpoint/2010/main" val="23353882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9C882C3D-61D3-49C0-AC61-2CA705FAC06C}" type="slidenum">
              <a:rPr lang="en-US" altLang="en-US" sz="1000" smtClean="0">
                <a:solidFill>
                  <a:schemeClr val="bg1"/>
                </a:solidFill>
              </a:rPr>
              <a:pPr/>
              <a:t>50</a:t>
            </a:fld>
            <a:endParaRPr lang="en-US" altLang="en-US" sz="1000">
              <a:solidFill>
                <a:schemeClr val="bg1"/>
              </a:solidFill>
            </a:endParaRPr>
          </a:p>
        </p:txBody>
      </p:sp>
      <p:sp>
        <p:nvSpPr>
          <p:cNvPr id="57347" name="Rectangle 2"/>
          <p:cNvSpPr>
            <a:spLocks noGrp="1" noChangeArrowheads="1"/>
          </p:cNvSpPr>
          <p:nvPr>
            <p:ph type="title"/>
          </p:nvPr>
        </p:nvSpPr>
        <p:spPr/>
        <p:txBody>
          <a:bodyPr/>
          <a:lstStyle/>
          <a:p>
            <a:pPr eaLnBrk="1" hangingPunct="1"/>
            <a:r>
              <a:rPr lang="en-US" altLang="en-US"/>
              <a:t>Qualitative &amp; Quantitative Data</a:t>
            </a:r>
          </a:p>
        </p:txBody>
      </p:sp>
      <p:sp>
        <p:nvSpPr>
          <p:cNvPr id="57348" name="Rectangle 3"/>
          <p:cNvSpPr>
            <a:spLocks noGrp="1" noChangeArrowheads="1"/>
          </p:cNvSpPr>
          <p:nvPr>
            <p:ph type="body" idx="1"/>
          </p:nvPr>
        </p:nvSpPr>
        <p:spPr/>
        <p:txBody>
          <a:bodyPr/>
          <a:lstStyle/>
          <a:p>
            <a:pPr eaLnBrk="1" hangingPunct="1">
              <a:buFontTx/>
              <a:buNone/>
            </a:pPr>
            <a:r>
              <a:rPr lang="en-US" altLang="en-US" dirty="0"/>
              <a:t>Example 1: </a:t>
            </a:r>
          </a:p>
          <a:p>
            <a:pPr eaLnBrk="1" hangingPunct="1"/>
            <a:r>
              <a:rPr lang="en-US" altLang="en-US" i="1" dirty="0"/>
              <a:t>Oil Painting</a:t>
            </a:r>
          </a:p>
        </p:txBody>
      </p:sp>
      <p:sp>
        <p:nvSpPr>
          <p:cNvPr id="57349" name="Rectangle 6"/>
          <p:cNvSpPr>
            <a:spLocks noChangeArrowheads="1"/>
          </p:cNvSpPr>
          <p:nvPr/>
        </p:nvSpPr>
        <p:spPr bwMode="auto">
          <a:xfrm>
            <a:off x="215900" y="2787650"/>
            <a:ext cx="5000625"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endParaRPr lang="en-AU" altLang="en-US"/>
          </a:p>
        </p:txBody>
      </p:sp>
      <p:sp>
        <p:nvSpPr>
          <p:cNvPr id="57350" name="Rectangle 7"/>
          <p:cNvSpPr>
            <a:spLocks noChangeArrowheads="1"/>
          </p:cNvSpPr>
          <p:nvPr/>
        </p:nvSpPr>
        <p:spPr bwMode="auto">
          <a:xfrm>
            <a:off x="215900" y="2787650"/>
            <a:ext cx="329565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endParaRPr lang="en-AU" altLang="en-US"/>
          </a:p>
        </p:txBody>
      </p:sp>
      <p:sp>
        <p:nvSpPr>
          <p:cNvPr id="57351" name="Rectangle 9"/>
          <p:cNvSpPr>
            <a:spLocks noChangeArrowheads="1"/>
          </p:cNvSpPr>
          <p:nvPr/>
        </p:nvSpPr>
        <p:spPr bwMode="auto">
          <a:xfrm>
            <a:off x="215900" y="2787650"/>
            <a:ext cx="329565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endParaRPr lang="en-AU" altLang="en-US"/>
          </a:p>
        </p:txBody>
      </p:sp>
      <p:pic>
        <p:nvPicPr>
          <p:cNvPr id="57352" name="Picture 5" descr="http://www.regentsprep.org/Regents/math/ALGEBRA/AD1/oilpainting.gif"/>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4267200" y="1447800"/>
            <a:ext cx="1752600" cy="156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53" name="Rectangle 11"/>
          <p:cNvSpPr>
            <a:spLocks noChangeArrowheads="1"/>
          </p:cNvSpPr>
          <p:nvPr/>
        </p:nvSpPr>
        <p:spPr bwMode="auto">
          <a:xfrm>
            <a:off x="215900" y="2787650"/>
            <a:ext cx="3305175"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endParaRPr lang="en-AU" altLang="en-US"/>
          </a:p>
        </p:txBody>
      </p:sp>
      <p:sp>
        <p:nvSpPr>
          <p:cNvPr id="57354" name="Rectangle 13"/>
          <p:cNvSpPr>
            <a:spLocks noChangeArrowheads="1"/>
          </p:cNvSpPr>
          <p:nvPr/>
        </p:nvSpPr>
        <p:spPr bwMode="auto">
          <a:xfrm>
            <a:off x="215900" y="2787650"/>
            <a:ext cx="3305175"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endParaRPr lang="en-AU" altLang="en-US"/>
          </a:p>
        </p:txBody>
      </p:sp>
      <p:graphicFrame>
        <p:nvGraphicFramePr>
          <p:cNvPr id="119874" name="Group 66"/>
          <p:cNvGraphicFramePr>
            <a:graphicFrameLocks noGrp="1"/>
          </p:cNvGraphicFramePr>
          <p:nvPr>
            <p:extLst>
              <p:ext uri="{D42A27DB-BD31-4B8C-83A1-F6EECF244321}">
                <p14:modId xmlns:p14="http://schemas.microsoft.com/office/powerpoint/2010/main" val="1956978683"/>
              </p:ext>
            </p:extLst>
          </p:nvPr>
        </p:nvGraphicFramePr>
        <p:xfrm>
          <a:off x="304800" y="3200400"/>
          <a:ext cx="4240213" cy="3078480"/>
        </p:xfrm>
        <a:graphic>
          <a:graphicData uri="http://schemas.openxmlformats.org/drawingml/2006/table">
            <a:tbl>
              <a:tblPr/>
              <a:tblGrid>
                <a:gridCol w="208266">
                  <a:extLst>
                    <a:ext uri="{9D8B030D-6E8A-4147-A177-3AD203B41FA5}">
                      <a16:colId xmlns:a16="http://schemas.microsoft.com/office/drawing/2014/main" val="20000"/>
                    </a:ext>
                  </a:extLst>
                </a:gridCol>
                <a:gridCol w="4031947">
                  <a:extLst>
                    <a:ext uri="{9D8B030D-6E8A-4147-A177-3AD203B41FA5}">
                      <a16:colId xmlns:a16="http://schemas.microsoft.com/office/drawing/2014/main" val="20001"/>
                    </a:ext>
                  </a:extLst>
                </a:gridCol>
              </a:tblGrid>
              <a:tr h="2305050">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mn-lt"/>
                        <a:ea typeface="ＭＳ Ｐゴシック" pitchFamily="96" charset="-128"/>
                      </a:endParaRPr>
                    </a:p>
                  </a:txBody>
                  <a:tcPr marL="91433" marR="91433"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tabLst>
                          <a:tab pos="457200" algn="l"/>
                        </a:tabLst>
                        <a:defRPr sz="2000">
                          <a:solidFill>
                            <a:schemeClr val="tx1"/>
                          </a:solidFill>
                          <a:latin typeface="Arial" charset="0"/>
                        </a:defRPr>
                      </a:lvl1pPr>
                      <a:lvl2pPr>
                        <a:spcBef>
                          <a:spcPct val="20000"/>
                        </a:spcBef>
                        <a:tabLst>
                          <a:tab pos="457200" algn="l"/>
                        </a:tabLst>
                        <a:defRPr>
                          <a:solidFill>
                            <a:schemeClr val="tx1"/>
                          </a:solidFill>
                          <a:latin typeface="Arial" charset="0"/>
                        </a:defRPr>
                      </a:lvl2pPr>
                      <a:lvl3pPr>
                        <a:spcBef>
                          <a:spcPct val="20000"/>
                        </a:spcBef>
                        <a:tabLst>
                          <a:tab pos="457200" algn="l"/>
                        </a:tabLst>
                        <a:defRPr>
                          <a:solidFill>
                            <a:schemeClr val="tx1"/>
                          </a:solidFill>
                          <a:latin typeface="Arial" charset="0"/>
                        </a:defRPr>
                      </a:lvl3pPr>
                      <a:lvl4pPr>
                        <a:spcBef>
                          <a:spcPct val="20000"/>
                        </a:spcBef>
                        <a:tabLst>
                          <a:tab pos="457200" algn="l"/>
                        </a:tabLst>
                        <a:defRPr>
                          <a:solidFill>
                            <a:schemeClr val="tx1"/>
                          </a:solidFill>
                          <a:latin typeface="Arial" charset="0"/>
                        </a:defRPr>
                      </a:lvl4pPr>
                      <a:lvl5pPr>
                        <a:spcBef>
                          <a:spcPct val="20000"/>
                        </a:spcBef>
                        <a:tabLst>
                          <a:tab pos="457200" algn="l"/>
                        </a:tabLst>
                        <a:defRPr>
                          <a:solidFill>
                            <a:schemeClr val="tx1"/>
                          </a:solidFill>
                          <a:latin typeface="Arial" charset="0"/>
                        </a:defRPr>
                      </a:lvl5pPr>
                      <a:lvl6pPr fontAlgn="base">
                        <a:spcBef>
                          <a:spcPct val="20000"/>
                        </a:spcBef>
                        <a:spcAft>
                          <a:spcPct val="0"/>
                        </a:spcAft>
                        <a:tabLst>
                          <a:tab pos="457200" algn="l"/>
                        </a:tabLst>
                        <a:defRPr>
                          <a:solidFill>
                            <a:schemeClr val="tx1"/>
                          </a:solidFill>
                          <a:latin typeface="Arial" charset="0"/>
                        </a:defRPr>
                      </a:lvl6pPr>
                      <a:lvl7pPr fontAlgn="base">
                        <a:spcBef>
                          <a:spcPct val="20000"/>
                        </a:spcBef>
                        <a:spcAft>
                          <a:spcPct val="0"/>
                        </a:spcAft>
                        <a:tabLst>
                          <a:tab pos="457200" algn="l"/>
                        </a:tabLst>
                        <a:defRPr>
                          <a:solidFill>
                            <a:schemeClr val="tx1"/>
                          </a:solidFill>
                          <a:latin typeface="Arial" charset="0"/>
                        </a:defRPr>
                      </a:lvl7pPr>
                      <a:lvl8pPr fontAlgn="base">
                        <a:spcBef>
                          <a:spcPct val="20000"/>
                        </a:spcBef>
                        <a:spcAft>
                          <a:spcPct val="0"/>
                        </a:spcAft>
                        <a:tabLst>
                          <a:tab pos="457200" algn="l"/>
                        </a:tabLst>
                        <a:defRPr>
                          <a:solidFill>
                            <a:schemeClr val="tx1"/>
                          </a:solidFill>
                          <a:latin typeface="Arial" charset="0"/>
                        </a:defRPr>
                      </a:lvl8pPr>
                      <a:lvl9pPr fontAlgn="base">
                        <a:spcBef>
                          <a:spcPct val="20000"/>
                        </a:spcBef>
                        <a:spcAft>
                          <a:spcPct val="0"/>
                        </a:spcAft>
                        <a:tabLst>
                          <a:tab pos="457200" algn="l"/>
                        </a:tabLs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sz="2800" b="0" i="0" u="none" strike="noStrike" cap="none" normalizeH="0" baseline="0" dirty="0">
                          <a:ln>
                            <a:noFill/>
                          </a:ln>
                          <a:solidFill>
                            <a:srgbClr val="AE3221"/>
                          </a:solidFill>
                          <a:effectLst/>
                          <a:latin typeface="+mn-lt"/>
                          <a:ea typeface="ＭＳ Ｐゴシック" pitchFamily="96" charset="-128"/>
                          <a:cs typeface="Times New Roman" pitchFamily="18" charset="0"/>
                        </a:rPr>
                        <a:t>Qualitative data:</a:t>
                      </a:r>
                    </a:p>
                    <a:p>
                      <a:pPr marL="182563" marR="0" lvl="0" indent="-182563" algn="l" defTabSz="914400" rtl="0" eaLnBrk="0" fontAlgn="base" latinLnBrk="0" hangingPunct="0">
                        <a:lnSpc>
                          <a:spcPct val="100000"/>
                        </a:lnSpc>
                        <a:spcBef>
                          <a:spcPct val="0"/>
                        </a:spcBef>
                        <a:spcAft>
                          <a:spcPct val="0"/>
                        </a:spcAft>
                        <a:buClrTx/>
                        <a:buSzTx/>
                        <a:buFont typeface="Symbol" pitchFamily="18" charset="2"/>
                        <a:buChar char=""/>
                        <a:tabLst>
                          <a:tab pos="457200" algn="l"/>
                        </a:tabLst>
                      </a:pPr>
                      <a:r>
                        <a:rPr kumimoji="0" lang="en-US" altLang="en-US" sz="2400" b="0" i="0" u="none" strike="noStrike" cap="none" normalizeH="0" baseline="0" dirty="0">
                          <a:ln>
                            <a:noFill/>
                          </a:ln>
                          <a:solidFill>
                            <a:schemeClr val="tx1"/>
                          </a:solidFill>
                          <a:effectLst/>
                          <a:latin typeface="+mn-lt"/>
                          <a:ea typeface="ＭＳ Ｐゴシック" pitchFamily="96" charset="-128"/>
                          <a:cs typeface="Times New Roman" pitchFamily="18" charset="0"/>
                        </a:rPr>
                        <a:t>blue/green color, gold frame </a:t>
                      </a:r>
                    </a:p>
                    <a:p>
                      <a:pPr marL="182563" marR="0" lvl="0" indent="-182563" algn="l" defTabSz="914400" rtl="0" eaLnBrk="0" fontAlgn="base" latinLnBrk="0" hangingPunct="0">
                        <a:lnSpc>
                          <a:spcPct val="100000"/>
                        </a:lnSpc>
                        <a:spcBef>
                          <a:spcPct val="0"/>
                        </a:spcBef>
                        <a:spcAft>
                          <a:spcPct val="0"/>
                        </a:spcAft>
                        <a:buClrTx/>
                        <a:buSzTx/>
                        <a:buFont typeface="Symbol" pitchFamily="18" charset="2"/>
                        <a:buChar char=""/>
                        <a:tabLst>
                          <a:tab pos="457200" algn="l"/>
                        </a:tabLst>
                      </a:pPr>
                      <a:r>
                        <a:rPr kumimoji="0" lang="en-US" altLang="en-US" sz="2400" b="0" i="0" u="none" strike="noStrike" cap="none" normalizeH="0" baseline="0" dirty="0">
                          <a:ln>
                            <a:noFill/>
                          </a:ln>
                          <a:solidFill>
                            <a:schemeClr val="tx1"/>
                          </a:solidFill>
                          <a:effectLst/>
                          <a:latin typeface="+mn-lt"/>
                          <a:ea typeface="ＭＳ Ｐゴシック" pitchFamily="96" charset="-128"/>
                          <a:cs typeface="Times New Roman" pitchFamily="18" charset="0"/>
                        </a:rPr>
                        <a:t>smells old and musty </a:t>
                      </a:r>
                    </a:p>
                    <a:p>
                      <a:pPr marL="182563" marR="0" lvl="0" indent="-182563" algn="l" defTabSz="914400" rtl="0" eaLnBrk="0" fontAlgn="base" latinLnBrk="0" hangingPunct="0">
                        <a:lnSpc>
                          <a:spcPct val="100000"/>
                        </a:lnSpc>
                        <a:spcBef>
                          <a:spcPct val="0"/>
                        </a:spcBef>
                        <a:spcAft>
                          <a:spcPct val="0"/>
                        </a:spcAft>
                        <a:buClrTx/>
                        <a:buSzTx/>
                        <a:buFont typeface="Symbol" pitchFamily="18" charset="2"/>
                        <a:buChar char=""/>
                        <a:tabLst>
                          <a:tab pos="457200" algn="l"/>
                        </a:tabLst>
                      </a:pPr>
                      <a:r>
                        <a:rPr kumimoji="0" lang="en-US" altLang="en-US" sz="2400" b="0" i="0" u="none" strike="noStrike" cap="none" normalizeH="0" baseline="0" dirty="0">
                          <a:ln>
                            <a:noFill/>
                          </a:ln>
                          <a:solidFill>
                            <a:schemeClr val="tx1"/>
                          </a:solidFill>
                          <a:effectLst/>
                          <a:latin typeface="+mn-lt"/>
                          <a:ea typeface="ＭＳ Ｐゴシック" pitchFamily="96" charset="-128"/>
                          <a:cs typeface="Times New Roman" pitchFamily="18" charset="0"/>
                        </a:rPr>
                        <a:t>texture shows brush strokes of oil paint </a:t>
                      </a:r>
                    </a:p>
                    <a:p>
                      <a:pPr marL="182563" marR="0" lvl="0" indent="-182563" algn="l" defTabSz="914400" rtl="0" eaLnBrk="0" fontAlgn="base" latinLnBrk="0" hangingPunct="0">
                        <a:lnSpc>
                          <a:spcPct val="100000"/>
                        </a:lnSpc>
                        <a:spcBef>
                          <a:spcPct val="0"/>
                        </a:spcBef>
                        <a:spcAft>
                          <a:spcPct val="0"/>
                        </a:spcAft>
                        <a:buClrTx/>
                        <a:buSzTx/>
                        <a:buFont typeface="Symbol" pitchFamily="18" charset="2"/>
                        <a:buChar char=""/>
                        <a:tabLst>
                          <a:tab pos="457200" algn="l"/>
                        </a:tabLst>
                      </a:pPr>
                      <a:r>
                        <a:rPr kumimoji="0" lang="en-US" altLang="en-US" sz="2400" b="0" i="0" u="none" strike="noStrike" cap="none" normalizeH="0" baseline="0" dirty="0">
                          <a:ln>
                            <a:noFill/>
                          </a:ln>
                          <a:solidFill>
                            <a:schemeClr val="tx1"/>
                          </a:solidFill>
                          <a:effectLst/>
                          <a:latin typeface="+mn-lt"/>
                          <a:ea typeface="ＭＳ Ｐゴシック" pitchFamily="96" charset="-128"/>
                          <a:cs typeface="Times New Roman" pitchFamily="18" charset="0"/>
                        </a:rPr>
                        <a:t>peaceful scene of the country </a:t>
                      </a:r>
                    </a:p>
                    <a:p>
                      <a:pPr marL="182563" marR="0" lvl="0" indent="-182563" algn="l" defTabSz="914400" rtl="0" eaLnBrk="0" fontAlgn="base" latinLnBrk="0" hangingPunct="0">
                        <a:lnSpc>
                          <a:spcPct val="100000"/>
                        </a:lnSpc>
                        <a:spcBef>
                          <a:spcPct val="0"/>
                        </a:spcBef>
                        <a:spcAft>
                          <a:spcPct val="0"/>
                        </a:spcAft>
                        <a:buClrTx/>
                        <a:buSzTx/>
                        <a:buFont typeface="Symbol" pitchFamily="18" charset="2"/>
                        <a:buChar char=""/>
                        <a:tabLst>
                          <a:tab pos="457200" algn="l"/>
                        </a:tabLst>
                      </a:pPr>
                      <a:r>
                        <a:rPr kumimoji="0" lang="en-US" altLang="en-US" sz="2400" b="0" i="0" u="none" strike="noStrike" cap="none" normalizeH="0" baseline="0" dirty="0">
                          <a:ln>
                            <a:noFill/>
                          </a:ln>
                          <a:solidFill>
                            <a:schemeClr val="tx1"/>
                          </a:solidFill>
                          <a:effectLst/>
                          <a:latin typeface="+mn-lt"/>
                          <a:ea typeface="ＭＳ Ｐゴシック" pitchFamily="96" charset="-128"/>
                          <a:cs typeface="Times New Roman" pitchFamily="18" charset="0"/>
                        </a:rPr>
                        <a:t>masterful brush strokes </a:t>
                      </a:r>
                    </a:p>
                  </a:txBody>
                  <a:tcPr marL="91433" marR="91433"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graphicFrame>
        <p:nvGraphicFramePr>
          <p:cNvPr id="119878" name="Group 70"/>
          <p:cNvGraphicFramePr>
            <a:graphicFrameLocks noGrp="1"/>
          </p:cNvGraphicFramePr>
          <p:nvPr>
            <p:extLst>
              <p:ext uri="{D42A27DB-BD31-4B8C-83A1-F6EECF244321}">
                <p14:modId xmlns:p14="http://schemas.microsoft.com/office/powerpoint/2010/main" val="175526144"/>
              </p:ext>
            </p:extLst>
          </p:nvPr>
        </p:nvGraphicFramePr>
        <p:xfrm>
          <a:off x="4724400" y="3200400"/>
          <a:ext cx="4043363" cy="2712720"/>
        </p:xfrm>
        <a:graphic>
          <a:graphicData uri="http://schemas.openxmlformats.org/drawingml/2006/table">
            <a:tbl>
              <a:tblPr/>
              <a:tblGrid>
                <a:gridCol w="208266">
                  <a:extLst>
                    <a:ext uri="{9D8B030D-6E8A-4147-A177-3AD203B41FA5}">
                      <a16:colId xmlns:a16="http://schemas.microsoft.com/office/drawing/2014/main" val="20000"/>
                    </a:ext>
                  </a:extLst>
                </a:gridCol>
                <a:gridCol w="3835097">
                  <a:extLst>
                    <a:ext uri="{9D8B030D-6E8A-4147-A177-3AD203B41FA5}">
                      <a16:colId xmlns:a16="http://schemas.microsoft.com/office/drawing/2014/main" val="20001"/>
                    </a:ext>
                  </a:extLst>
                </a:gridCol>
              </a:tblGrid>
              <a:tr h="2286000">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mn-lt"/>
                        <a:ea typeface="ＭＳ Ｐゴシック" pitchFamily="96" charset="-128"/>
                      </a:endParaRPr>
                    </a:p>
                  </a:txBody>
                  <a:tcPr marL="91433" marR="91433"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tabLst>
                          <a:tab pos="457200" algn="l"/>
                        </a:tabLst>
                        <a:defRPr sz="2000">
                          <a:solidFill>
                            <a:schemeClr val="tx1"/>
                          </a:solidFill>
                          <a:latin typeface="Arial" charset="0"/>
                        </a:defRPr>
                      </a:lvl1pPr>
                      <a:lvl2pPr>
                        <a:spcBef>
                          <a:spcPct val="20000"/>
                        </a:spcBef>
                        <a:tabLst>
                          <a:tab pos="457200" algn="l"/>
                        </a:tabLst>
                        <a:defRPr>
                          <a:solidFill>
                            <a:schemeClr val="tx1"/>
                          </a:solidFill>
                          <a:latin typeface="Arial" charset="0"/>
                        </a:defRPr>
                      </a:lvl2pPr>
                      <a:lvl3pPr>
                        <a:spcBef>
                          <a:spcPct val="20000"/>
                        </a:spcBef>
                        <a:tabLst>
                          <a:tab pos="457200" algn="l"/>
                        </a:tabLst>
                        <a:defRPr>
                          <a:solidFill>
                            <a:schemeClr val="tx1"/>
                          </a:solidFill>
                          <a:latin typeface="Arial" charset="0"/>
                        </a:defRPr>
                      </a:lvl3pPr>
                      <a:lvl4pPr>
                        <a:spcBef>
                          <a:spcPct val="20000"/>
                        </a:spcBef>
                        <a:tabLst>
                          <a:tab pos="457200" algn="l"/>
                        </a:tabLst>
                        <a:defRPr>
                          <a:solidFill>
                            <a:schemeClr val="tx1"/>
                          </a:solidFill>
                          <a:latin typeface="Arial" charset="0"/>
                        </a:defRPr>
                      </a:lvl4pPr>
                      <a:lvl5pPr>
                        <a:spcBef>
                          <a:spcPct val="20000"/>
                        </a:spcBef>
                        <a:tabLst>
                          <a:tab pos="457200" algn="l"/>
                        </a:tabLst>
                        <a:defRPr>
                          <a:solidFill>
                            <a:schemeClr val="tx1"/>
                          </a:solidFill>
                          <a:latin typeface="Arial" charset="0"/>
                        </a:defRPr>
                      </a:lvl5pPr>
                      <a:lvl6pPr fontAlgn="base">
                        <a:spcBef>
                          <a:spcPct val="20000"/>
                        </a:spcBef>
                        <a:spcAft>
                          <a:spcPct val="0"/>
                        </a:spcAft>
                        <a:tabLst>
                          <a:tab pos="457200" algn="l"/>
                        </a:tabLst>
                        <a:defRPr>
                          <a:solidFill>
                            <a:schemeClr val="tx1"/>
                          </a:solidFill>
                          <a:latin typeface="Arial" charset="0"/>
                        </a:defRPr>
                      </a:lvl6pPr>
                      <a:lvl7pPr fontAlgn="base">
                        <a:spcBef>
                          <a:spcPct val="20000"/>
                        </a:spcBef>
                        <a:spcAft>
                          <a:spcPct val="0"/>
                        </a:spcAft>
                        <a:tabLst>
                          <a:tab pos="457200" algn="l"/>
                        </a:tabLst>
                        <a:defRPr>
                          <a:solidFill>
                            <a:schemeClr val="tx1"/>
                          </a:solidFill>
                          <a:latin typeface="Arial" charset="0"/>
                        </a:defRPr>
                      </a:lvl7pPr>
                      <a:lvl8pPr fontAlgn="base">
                        <a:spcBef>
                          <a:spcPct val="20000"/>
                        </a:spcBef>
                        <a:spcAft>
                          <a:spcPct val="0"/>
                        </a:spcAft>
                        <a:tabLst>
                          <a:tab pos="457200" algn="l"/>
                        </a:tabLst>
                        <a:defRPr>
                          <a:solidFill>
                            <a:schemeClr val="tx1"/>
                          </a:solidFill>
                          <a:latin typeface="Arial" charset="0"/>
                        </a:defRPr>
                      </a:lvl8pPr>
                      <a:lvl9pPr fontAlgn="base">
                        <a:spcBef>
                          <a:spcPct val="20000"/>
                        </a:spcBef>
                        <a:spcAft>
                          <a:spcPct val="0"/>
                        </a:spcAft>
                        <a:tabLst>
                          <a:tab pos="457200" algn="l"/>
                        </a:tabLs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sz="2800" b="0" i="0" u="none" strike="noStrike" cap="none" normalizeH="0" baseline="0" dirty="0">
                          <a:ln>
                            <a:noFill/>
                          </a:ln>
                          <a:solidFill>
                            <a:srgbClr val="AE3221"/>
                          </a:solidFill>
                          <a:effectLst/>
                          <a:latin typeface="+mn-lt"/>
                          <a:ea typeface="ＭＳ Ｐゴシック" pitchFamily="96" charset="-128"/>
                          <a:cs typeface="Times New Roman" pitchFamily="18" charset="0"/>
                        </a:rPr>
                        <a:t>Quantitative data:</a:t>
                      </a:r>
                    </a:p>
                    <a:p>
                      <a:pPr marL="182563" marR="0" lvl="0" indent="-182563" algn="l" defTabSz="914400" rtl="0" eaLnBrk="0" fontAlgn="base" latinLnBrk="0" hangingPunct="0">
                        <a:lnSpc>
                          <a:spcPct val="100000"/>
                        </a:lnSpc>
                        <a:spcBef>
                          <a:spcPct val="0"/>
                        </a:spcBef>
                        <a:spcAft>
                          <a:spcPct val="0"/>
                        </a:spcAft>
                        <a:buClrTx/>
                        <a:buSzTx/>
                        <a:buFont typeface="Symbol" pitchFamily="18" charset="2"/>
                        <a:buChar char=""/>
                        <a:tabLst>
                          <a:tab pos="457200" algn="l"/>
                        </a:tabLst>
                      </a:pPr>
                      <a:r>
                        <a:rPr kumimoji="0" lang="en-US" altLang="en-US" sz="2400" b="0" i="0" u="none" strike="noStrike" cap="none" normalizeH="0" baseline="0" dirty="0">
                          <a:ln>
                            <a:noFill/>
                          </a:ln>
                          <a:solidFill>
                            <a:schemeClr val="tx1"/>
                          </a:solidFill>
                          <a:effectLst/>
                          <a:latin typeface="+mn-lt"/>
                          <a:ea typeface="ＭＳ Ｐゴシック" pitchFamily="96" charset="-128"/>
                          <a:cs typeface="Times New Roman" pitchFamily="18" charset="0"/>
                        </a:rPr>
                        <a:t>picture is 10" by 14" </a:t>
                      </a:r>
                    </a:p>
                    <a:p>
                      <a:pPr marL="182563" marR="0" lvl="0" indent="-182563" algn="l" defTabSz="914400" rtl="0" eaLnBrk="0" fontAlgn="base" latinLnBrk="0" hangingPunct="0">
                        <a:lnSpc>
                          <a:spcPct val="100000"/>
                        </a:lnSpc>
                        <a:spcBef>
                          <a:spcPct val="0"/>
                        </a:spcBef>
                        <a:spcAft>
                          <a:spcPct val="0"/>
                        </a:spcAft>
                        <a:buClrTx/>
                        <a:buSzTx/>
                        <a:buFont typeface="Symbol" pitchFamily="18" charset="2"/>
                        <a:buChar char=""/>
                        <a:tabLst>
                          <a:tab pos="457200" algn="l"/>
                        </a:tabLst>
                      </a:pPr>
                      <a:r>
                        <a:rPr kumimoji="0" lang="en-US" altLang="en-US" sz="2400" b="0" i="0" u="none" strike="noStrike" cap="none" normalizeH="0" baseline="0" dirty="0">
                          <a:ln>
                            <a:noFill/>
                          </a:ln>
                          <a:solidFill>
                            <a:schemeClr val="tx1"/>
                          </a:solidFill>
                          <a:effectLst/>
                          <a:latin typeface="+mn-lt"/>
                          <a:ea typeface="ＭＳ Ｐゴシック" pitchFamily="96" charset="-128"/>
                          <a:cs typeface="Times New Roman" pitchFamily="18" charset="0"/>
                        </a:rPr>
                        <a:t>with frame 14" by 18" </a:t>
                      </a:r>
                    </a:p>
                    <a:p>
                      <a:pPr marL="182563" marR="0" lvl="0" indent="-182563" algn="l" defTabSz="914400" rtl="0" eaLnBrk="0" fontAlgn="base" latinLnBrk="0" hangingPunct="0">
                        <a:lnSpc>
                          <a:spcPct val="100000"/>
                        </a:lnSpc>
                        <a:spcBef>
                          <a:spcPct val="0"/>
                        </a:spcBef>
                        <a:spcAft>
                          <a:spcPct val="0"/>
                        </a:spcAft>
                        <a:buClrTx/>
                        <a:buSzTx/>
                        <a:buFont typeface="Symbol" pitchFamily="18" charset="2"/>
                        <a:buChar char=""/>
                        <a:tabLst>
                          <a:tab pos="457200" algn="l"/>
                        </a:tabLst>
                      </a:pPr>
                      <a:r>
                        <a:rPr kumimoji="0" lang="en-US" altLang="en-US" sz="2400" b="0" i="0" u="none" strike="noStrike" cap="none" normalizeH="0" baseline="0" dirty="0">
                          <a:ln>
                            <a:noFill/>
                          </a:ln>
                          <a:solidFill>
                            <a:schemeClr val="tx1"/>
                          </a:solidFill>
                          <a:effectLst/>
                          <a:latin typeface="+mn-lt"/>
                          <a:ea typeface="ＭＳ Ｐゴシック" pitchFamily="96" charset="-128"/>
                          <a:cs typeface="Times New Roman" pitchFamily="18" charset="0"/>
                        </a:rPr>
                        <a:t>weighs 8.5 pounds </a:t>
                      </a:r>
                    </a:p>
                    <a:p>
                      <a:pPr marL="182563" marR="0" lvl="0" indent="-182563" algn="l" defTabSz="914400" rtl="0" eaLnBrk="0" fontAlgn="base" latinLnBrk="0" hangingPunct="0">
                        <a:lnSpc>
                          <a:spcPct val="100000"/>
                        </a:lnSpc>
                        <a:spcBef>
                          <a:spcPct val="0"/>
                        </a:spcBef>
                        <a:spcAft>
                          <a:spcPct val="0"/>
                        </a:spcAft>
                        <a:buClrTx/>
                        <a:buSzTx/>
                        <a:buFont typeface="Symbol" pitchFamily="18" charset="2"/>
                        <a:buChar char=""/>
                        <a:tabLst>
                          <a:tab pos="457200" algn="l"/>
                        </a:tabLst>
                      </a:pPr>
                      <a:r>
                        <a:rPr kumimoji="0" lang="en-US" altLang="en-US" sz="2400" b="0" i="0" u="none" strike="noStrike" cap="none" normalizeH="0" baseline="0" dirty="0">
                          <a:ln>
                            <a:noFill/>
                          </a:ln>
                          <a:solidFill>
                            <a:schemeClr val="tx1"/>
                          </a:solidFill>
                          <a:effectLst/>
                          <a:latin typeface="+mn-lt"/>
                          <a:ea typeface="ＭＳ Ｐゴシック" pitchFamily="96" charset="-128"/>
                          <a:cs typeface="Times New Roman" pitchFamily="18" charset="0"/>
                        </a:rPr>
                        <a:t>surface area of painting is 140 sq. in. </a:t>
                      </a:r>
                    </a:p>
                    <a:p>
                      <a:pPr marL="182563" marR="0" lvl="0" indent="-182563" algn="l" defTabSz="914400" rtl="0" eaLnBrk="0" fontAlgn="base" latinLnBrk="0" hangingPunct="0">
                        <a:lnSpc>
                          <a:spcPct val="100000"/>
                        </a:lnSpc>
                        <a:spcBef>
                          <a:spcPct val="0"/>
                        </a:spcBef>
                        <a:spcAft>
                          <a:spcPct val="0"/>
                        </a:spcAft>
                        <a:buClrTx/>
                        <a:buSzTx/>
                        <a:buFont typeface="Symbol" pitchFamily="18" charset="2"/>
                        <a:buChar char=""/>
                        <a:tabLst>
                          <a:tab pos="457200" algn="l"/>
                        </a:tabLst>
                      </a:pPr>
                      <a:r>
                        <a:rPr kumimoji="0" lang="en-US" altLang="en-US" sz="2400" b="0" i="0" u="none" strike="noStrike" cap="none" normalizeH="0" baseline="0" dirty="0">
                          <a:ln>
                            <a:noFill/>
                          </a:ln>
                          <a:solidFill>
                            <a:schemeClr val="tx1"/>
                          </a:solidFill>
                          <a:effectLst/>
                          <a:latin typeface="+mn-lt"/>
                          <a:ea typeface="ＭＳ Ｐゴシック" pitchFamily="96" charset="-128"/>
                          <a:cs typeface="Times New Roman" pitchFamily="18" charset="0"/>
                        </a:rPr>
                        <a:t>cost $300 </a:t>
                      </a:r>
                    </a:p>
                  </a:txBody>
                  <a:tcPr marL="91433" marR="91433"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0013607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0" name="Picture 8" descr="Image result for lat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5896" y="1482725"/>
            <a:ext cx="1699047" cy="1699047"/>
          </a:xfrm>
          <a:prstGeom prst="rect">
            <a:avLst/>
          </a:prstGeom>
          <a:noFill/>
          <a:extLst>
            <a:ext uri="{909E8E84-426E-40DD-AFC4-6F175D3DCCD1}">
              <a14:hiddenFill xmlns:a14="http://schemas.microsoft.com/office/drawing/2010/main">
                <a:solidFill>
                  <a:srgbClr val="FFFFFF"/>
                </a:solidFill>
              </a14:hiddenFill>
            </a:ext>
          </a:extLst>
        </p:spPr>
      </p:pic>
      <p:sp>
        <p:nvSpPr>
          <p:cNvPr id="58371" name="Rectangle 2"/>
          <p:cNvSpPr>
            <a:spLocks noGrp="1" noChangeArrowheads="1"/>
          </p:cNvSpPr>
          <p:nvPr>
            <p:ph type="title"/>
          </p:nvPr>
        </p:nvSpPr>
        <p:spPr/>
        <p:txBody>
          <a:bodyPr/>
          <a:lstStyle/>
          <a:p>
            <a:pPr eaLnBrk="1" hangingPunct="1"/>
            <a:r>
              <a:rPr lang="en-US" altLang="en-US"/>
              <a:t>Qualitative &amp; Quantitative Data</a:t>
            </a:r>
          </a:p>
        </p:txBody>
      </p:sp>
      <p:sp>
        <p:nvSpPr>
          <p:cNvPr id="58370" name="Slide Number Placeholder 6"/>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405006C0-D955-4A6B-A214-6A476A663A15}" type="slidenum">
              <a:rPr lang="en-US" altLang="en-US" sz="1000" smtClean="0">
                <a:solidFill>
                  <a:schemeClr val="bg1"/>
                </a:solidFill>
              </a:rPr>
              <a:pPr/>
              <a:t>51</a:t>
            </a:fld>
            <a:endParaRPr lang="en-US" altLang="en-US" sz="1000">
              <a:solidFill>
                <a:schemeClr val="bg1"/>
              </a:solidFill>
            </a:endParaRPr>
          </a:p>
        </p:txBody>
      </p:sp>
      <p:sp>
        <p:nvSpPr>
          <p:cNvPr id="58372" name="Rectangle 3"/>
          <p:cNvSpPr>
            <a:spLocks noGrp="1" noChangeArrowheads="1"/>
          </p:cNvSpPr>
          <p:nvPr>
            <p:ph type="body" sz="half" idx="4294967295"/>
          </p:nvPr>
        </p:nvSpPr>
        <p:spPr>
          <a:xfrm>
            <a:off x="539552" y="1628800"/>
            <a:ext cx="4038600" cy="4191000"/>
          </a:xfrm>
        </p:spPr>
        <p:txBody>
          <a:bodyPr/>
          <a:lstStyle/>
          <a:p>
            <a:pPr eaLnBrk="1" hangingPunct="1">
              <a:buFontTx/>
              <a:buNone/>
            </a:pPr>
            <a:r>
              <a:rPr lang="en-US" altLang="en-US" sz="2800" dirty="0"/>
              <a:t>Example 2: </a:t>
            </a:r>
          </a:p>
          <a:p>
            <a:pPr eaLnBrk="1" hangingPunct="1"/>
            <a:r>
              <a:rPr lang="en-US" altLang="en-US" sz="2800" b="1" i="1" dirty="0"/>
              <a:t>Latte</a:t>
            </a:r>
            <a:r>
              <a:rPr lang="en-US" altLang="en-US" sz="2800" dirty="0"/>
              <a:t> </a:t>
            </a:r>
          </a:p>
        </p:txBody>
      </p:sp>
      <p:sp>
        <p:nvSpPr>
          <p:cNvPr id="58374" name="Rectangle 5"/>
          <p:cNvSpPr>
            <a:spLocks noChangeArrowheads="1"/>
          </p:cNvSpPr>
          <p:nvPr/>
        </p:nvSpPr>
        <p:spPr bwMode="auto">
          <a:xfrm>
            <a:off x="215900" y="2787650"/>
            <a:ext cx="329565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endParaRPr lang="en-AU" altLang="en-US"/>
          </a:p>
        </p:txBody>
      </p:sp>
      <p:sp>
        <p:nvSpPr>
          <p:cNvPr id="58375" name="Rectangle 6"/>
          <p:cNvSpPr>
            <a:spLocks noChangeArrowheads="1"/>
          </p:cNvSpPr>
          <p:nvPr/>
        </p:nvSpPr>
        <p:spPr bwMode="auto">
          <a:xfrm>
            <a:off x="215900" y="2787650"/>
            <a:ext cx="329565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endParaRPr lang="en-AU" altLang="en-US"/>
          </a:p>
        </p:txBody>
      </p:sp>
      <p:sp>
        <p:nvSpPr>
          <p:cNvPr id="58376" name="Rectangle 8"/>
          <p:cNvSpPr>
            <a:spLocks noChangeArrowheads="1"/>
          </p:cNvSpPr>
          <p:nvPr/>
        </p:nvSpPr>
        <p:spPr bwMode="auto">
          <a:xfrm>
            <a:off x="215900" y="2787650"/>
            <a:ext cx="3305175"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endParaRPr lang="en-AU" altLang="en-US"/>
          </a:p>
        </p:txBody>
      </p:sp>
      <p:sp>
        <p:nvSpPr>
          <p:cNvPr id="58377" name="Rectangle 9"/>
          <p:cNvSpPr>
            <a:spLocks noChangeArrowheads="1"/>
          </p:cNvSpPr>
          <p:nvPr/>
        </p:nvSpPr>
        <p:spPr bwMode="auto">
          <a:xfrm>
            <a:off x="215900" y="2787650"/>
            <a:ext cx="3305175"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endParaRPr lang="en-AU" altLang="en-US"/>
          </a:p>
        </p:txBody>
      </p:sp>
      <p:graphicFrame>
        <p:nvGraphicFramePr>
          <p:cNvPr id="120842" name="Group 10"/>
          <p:cNvGraphicFramePr>
            <a:graphicFrameLocks noGrp="1"/>
          </p:cNvGraphicFramePr>
          <p:nvPr>
            <p:extLst>
              <p:ext uri="{D42A27DB-BD31-4B8C-83A1-F6EECF244321}">
                <p14:modId xmlns:p14="http://schemas.microsoft.com/office/powerpoint/2010/main" val="2447882374"/>
              </p:ext>
            </p:extLst>
          </p:nvPr>
        </p:nvGraphicFramePr>
        <p:xfrm>
          <a:off x="304801" y="3200400"/>
          <a:ext cx="3991990" cy="2305050"/>
        </p:xfrm>
        <a:graphic>
          <a:graphicData uri="http://schemas.openxmlformats.org/drawingml/2006/table">
            <a:tbl>
              <a:tblPr/>
              <a:tblGrid>
                <a:gridCol w="208266">
                  <a:extLst>
                    <a:ext uri="{9D8B030D-6E8A-4147-A177-3AD203B41FA5}">
                      <a16:colId xmlns:a16="http://schemas.microsoft.com/office/drawing/2014/main" val="20000"/>
                    </a:ext>
                  </a:extLst>
                </a:gridCol>
                <a:gridCol w="3783724">
                  <a:extLst>
                    <a:ext uri="{9D8B030D-6E8A-4147-A177-3AD203B41FA5}">
                      <a16:colId xmlns:a16="http://schemas.microsoft.com/office/drawing/2014/main" val="20001"/>
                    </a:ext>
                  </a:extLst>
                </a:gridCol>
              </a:tblGrid>
              <a:tr h="2305050">
                <a:tc>
                  <a:txBody>
                    <a:bodyPr/>
                    <a:lstStyle>
                      <a:lvl1pPr marL="342900" indent="-342900">
                        <a:spcBef>
                          <a:spcPct val="20000"/>
                        </a:spcBef>
                        <a:defRPr sz="2000">
                          <a:solidFill>
                            <a:schemeClr val="tx1"/>
                          </a:solidFill>
                          <a:latin typeface="Arial" charset="0"/>
                        </a:defRPr>
                      </a:lvl1pPr>
                      <a:lvl2pPr marL="742950" indent="-285750">
                        <a:spcBef>
                          <a:spcPct val="20000"/>
                        </a:spcBef>
                        <a:defRPr>
                          <a:solidFill>
                            <a:schemeClr val="tx1"/>
                          </a:solidFill>
                          <a:latin typeface="Arial" charset="0"/>
                        </a:defRPr>
                      </a:lvl2pPr>
                      <a:lvl3pPr marL="1143000" indent="-228600">
                        <a:spcBef>
                          <a:spcPct val="20000"/>
                        </a:spcBef>
                        <a:defRPr>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mn-lt"/>
                        <a:ea typeface="ＭＳ Ｐゴシック" pitchFamily="96" charset="-128"/>
                      </a:endParaRPr>
                    </a:p>
                  </a:txBody>
                  <a:tcPr marL="91433" marR="91433"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342900" indent="-342900">
                        <a:spcBef>
                          <a:spcPct val="20000"/>
                        </a:spcBef>
                        <a:tabLst>
                          <a:tab pos="457200" algn="l"/>
                        </a:tabLst>
                        <a:defRPr sz="2000">
                          <a:solidFill>
                            <a:schemeClr val="tx1"/>
                          </a:solidFill>
                          <a:latin typeface="Arial" charset="0"/>
                        </a:defRPr>
                      </a:lvl1pPr>
                      <a:lvl2pPr marL="742950" indent="-285750">
                        <a:spcBef>
                          <a:spcPct val="20000"/>
                        </a:spcBef>
                        <a:tabLst>
                          <a:tab pos="457200" algn="l"/>
                        </a:tabLst>
                        <a:defRPr>
                          <a:solidFill>
                            <a:schemeClr val="tx1"/>
                          </a:solidFill>
                          <a:latin typeface="Arial" charset="0"/>
                        </a:defRPr>
                      </a:lvl2pPr>
                      <a:lvl3pPr marL="1143000" indent="-228600">
                        <a:spcBef>
                          <a:spcPct val="20000"/>
                        </a:spcBef>
                        <a:tabLst>
                          <a:tab pos="457200" algn="l"/>
                        </a:tabLst>
                        <a:defRPr>
                          <a:solidFill>
                            <a:schemeClr val="tx1"/>
                          </a:solidFill>
                          <a:latin typeface="Arial" charset="0"/>
                        </a:defRPr>
                      </a:lvl3pPr>
                      <a:lvl4pPr marL="1600200" indent="-228600">
                        <a:spcBef>
                          <a:spcPct val="20000"/>
                        </a:spcBef>
                        <a:tabLst>
                          <a:tab pos="457200" algn="l"/>
                        </a:tabLst>
                        <a:defRPr>
                          <a:solidFill>
                            <a:schemeClr val="tx1"/>
                          </a:solidFill>
                          <a:latin typeface="Arial" charset="0"/>
                        </a:defRPr>
                      </a:lvl4pPr>
                      <a:lvl5pPr marL="2057400" indent="-228600">
                        <a:spcBef>
                          <a:spcPct val="20000"/>
                        </a:spcBef>
                        <a:tabLst>
                          <a:tab pos="457200" algn="l"/>
                        </a:tabLst>
                        <a:defRPr>
                          <a:solidFill>
                            <a:schemeClr val="tx1"/>
                          </a:solidFill>
                          <a:latin typeface="Arial" charset="0"/>
                        </a:defRPr>
                      </a:lvl5pPr>
                      <a:lvl6pPr marL="2514600" indent="-228600" fontAlgn="base">
                        <a:spcBef>
                          <a:spcPct val="20000"/>
                        </a:spcBef>
                        <a:spcAft>
                          <a:spcPct val="0"/>
                        </a:spcAft>
                        <a:tabLst>
                          <a:tab pos="457200" algn="l"/>
                        </a:tabLst>
                        <a:defRPr>
                          <a:solidFill>
                            <a:schemeClr val="tx1"/>
                          </a:solidFill>
                          <a:latin typeface="Arial" charset="0"/>
                        </a:defRPr>
                      </a:lvl6pPr>
                      <a:lvl7pPr marL="2971800" indent="-228600" fontAlgn="base">
                        <a:spcBef>
                          <a:spcPct val="20000"/>
                        </a:spcBef>
                        <a:spcAft>
                          <a:spcPct val="0"/>
                        </a:spcAft>
                        <a:tabLst>
                          <a:tab pos="457200" algn="l"/>
                        </a:tabLst>
                        <a:defRPr>
                          <a:solidFill>
                            <a:schemeClr val="tx1"/>
                          </a:solidFill>
                          <a:latin typeface="Arial" charset="0"/>
                        </a:defRPr>
                      </a:lvl7pPr>
                      <a:lvl8pPr marL="3429000" indent="-228600" fontAlgn="base">
                        <a:spcBef>
                          <a:spcPct val="20000"/>
                        </a:spcBef>
                        <a:spcAft>
                          <a:spcPct val="0"/>
                        </a:spcAft>
                        <a:tabLst>
                          <a:tab pos="457200" algn="l"/>
                        </a:tabLst>
                        <a:defRPr>
                          <a:solidFill>
                            <a:schemeClr val="tx1"/>
                          </a:solidFill>
                          <a:latin typeface="Arial" charset="0"/>
                        </a:defRPr>
                      </a:lvl8pPr>
                      <a:lvl9pPr marL="3886200" indent="-228600" fontAlgn="base">
                        <a:spcBef>
                          <a:spcPct val="20000"/>
                        </a:spcBef>
                        <a:spcAft>
                          <a:spcPct val="0"/>
                        </a:spcAft>
                        <a:tabLst>
                          <a:tab pos="457200" algn="l"/>
                        </a:tabLst>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sz="2800" b="0" i="0" u="none" strike="noStrike" cap="none" normalizeH="0" baseline="0" dirty="0">
                          <a:ln>
                            <a:noFill/>
                          </a:ln>
                          <a:solidFill>
                            <a:srgbClr val="AE3221"/>
                          </a:solidFill>
                          <a:effectLst/>
                          <a:latin typeface="+mn-lt"/>
                          <a:cs typeface="Times New Roman" pitchFamily="18" charset="0"/>
                        </a:rPr>
                        <a:t>Qualitative data:</a:t>
                      </a:r>
                    </a:p>
                    <a:p>
                      <a:pPr marL="182563" marR="0" lvl="0" indent="-182563" algn="l" defTabSz="914400" rtl="0" eaLnBrk="0" fontAlgn="base" latinLnBrk="0" hangingPunct="0">
                        <a:lnSpc>
                          <a:spcPct val="100000"/>
                        </a:lnSpc>
                        <a:spcBef>
                          <a:spcPct val="0"/>
                        </a:spcBef>
                        <a:spcAft>
                          <a:spcPct val="0"/>
                        </a:spcAft>
                        <a:buClrTx/>
                        <a:buSzTx/>
                        <a:buFont typeface="Arial" panose="020B0604020202020204" pitchFamily="34" charset="0"/>
                        <a:buChar char="•"/>
                        <a:tabLst>
                          <a:tab pos="457200" algn="l"/>
                        </a:tabLst>
                      </a:pPr>
                      <a:r>
                        <a:rPr kumimoji="0" lang="en-US" altLang="en-US" sz="2400" b="0" i="0" u="none" strike="noStrike" cap="none" normalizeH="0" baseline="0" dirty="0">
                          <a:ln>
                            <a:noFill/>
                          </a:ln>
                          <a:solidFill>
                            <a:schemeClr val="tx1"/>
                          </a:solidFill>
                          <a:effectLst/>
                          <a:latin typeface="+mn-lt"/>
                          <a:ea typeface="ＭＳ Ｐゴシック" pitchFamily="96" charset="-128"/>
                        </a:rPr>
                        <a:t>robust aroma </a:t>
                      </a:r>
                    </a:p>
                    <a:p>
                      <a:pPr marL="182563" marR="0" lvl="0" indent="-182563" algn="l" defTabSz="914400" rtl="0" eaLnBrk="0" fontAlgn="base" latinLnBrk="0" hangingPunct="0">
                        <a:lnSpc>
                          <a:spcPct val="100000"/>
                        </a:lnSpc>
                        <a:spcBef>
                          <a:spcPct val="0"/>
                        </a:spcBef>
                        <a:spcAft>
                          <a:spcPct val="0"/>
                        </a:spcAft>
                        <a:buClrTx/>
                        <a:buSzTx/>
                        <a:buFont typeface="Arial" panose="020B0604020202020204" pitchFamily="34" charset="0"/>
                        <a:buChar char="•"/>
                        <a:tabLst>
                          <a:tab pos="457200" algn="l"/>
                        </a:tabLst>
                      </a:pPr>
                      <a:r>
                        <a:rPr kumimoji="0" lang="en-US" altLang="en-US" sz="2400" b="0" i="0" u="none" strike="noStrike" cap="none" normalizeH="0" baseline="0" dirty="0">
                          <a:ln>
                            <a:noFill/>
                          </a:ln>
                          <a:solidFill>
                            <a:schemeClr val="tx1"/>
                          </a:solidFill>
                          <a:effectLst/>
                          <a:latin typeface="+mn-lt"/>
                          <a:ea typeface="ＭＳ Ｐゴシック" pitchFamily="96" charset="-128"/>
                        </a:rPr>
                        <a:t>frothy appearance </a:t>
                      </a:r>
                    </a:p>
                    <a:p>
                      <a:pPr marL="182563" marR="0" lvl="0" indent="-182563" algn="l" defTabSz="914400" rtl="0" eaLnBrk="0" fontAlgn="base" latinLnBrk="0" hangingPunct="0">
                        <a:lnSpc>
                          <a:spcPct val="100000"/>
                        </a:lnSpc>
                        <a:spcBef>
                          <a:spcPct val="0"/>
                        </a:spcBef>
                        <a:spcAft>
                          <a:spcPct val="0"/>
                        </a:spcAft>
                        <a:buClrTx/>
                        <a:buSzTx/>
                        <a:buFont typeface="Arial" panose="020B0604020202020204" pitchFamily="34" charset="0"/>
                        <a:buChar char="•"/>
                        <a:tabLst>
                          <a:tab pos="457200" algn="l"/>
                        </a:tabLst>
                      </a:pPr>
                      <a:r>
                        <a:rPr kumimoji="0" lang="en-US" altLang="en-US" sz="2400" b="0" i="0" u="none" strike="noStrike" cap="none" normalizeH="0" baseline="0" dirty="0">
                          <a:ln>
                            <a:noFill/>
                          </a:ln>
                          <a:solidFill>
                            <a:schemeClr val="tx1"/>
                          </a:solidFill>
                          <a:effectLst/>
                          <a:latin typeface="+mn-lt"/>
                          <a:ea typeface="ＭＳ Ｐゴシック" pitchFamily="96" charset="-128"/>
                        </a:rPr>
                        <a:t>strong taste </a:t>
                      </a:r>
                    </a:p>
                    <a:p>
                      <a:pPr marL="182563" marR="0" lvl="0" indent="-182563" algn="l" defTabSz="914400" rtl="0" eaLnBrk="0" fontAlgn="base" latinLnBrk="0" hangingPunct="0">
                        <a:lnSpc>
                          <a:spcPct val="100000"/>
                        </a:lnSpc>
                        <a:spcBef>
                          <a:spcPct val="0"/>
                        </a:spcBef>
                        <a:spcAft>
                          <a:spcPct val="0"/>
                        </a:spcAft>
                        <a:buClrTx/>
                        <a:buSzTx/>
                        <a:buFont typeface="Arial" panose="020B0604020202020204" pitchFamily="34" charset="0"/>
                        <a:buChar char="•"/>
                        <a:tabLst>
                          <a:tab pos="457200" algn="l"/>
                        </a:tabLst>
                      </a:pPr>
                      <a:r>
                        <a:rPr kumimoji="0" lang="en-US" altLang="en-US" sz="2400" b="0" i="0" u="none" strike="noStrike" cap="none" normalizeH="0" baseline="0" dirty="0">
                          <a:ln>
                            <a:noFill/>
                          </a:ln>
                          <a:solidFill>
                            <a:schemeClr val="tx1"/>
                          </a:solidFill>
                          <a:effectLst/>
                          <a:latin typeface="+mn-lt"/>
                          <a:ea typeface="ＭＳ Ｐゴシック" pitchFamily="96" charset="-128"/>
                        </a:rPr>
                        <a:t>burgundy cup</a:t>
                      </a:r>
                      <a:r>
                        <a:rPr kumimoji="0" lang="en-US" altLang="en-US" sz="2800" b="1" i="0" u="none" strike="noStrike" cap="none" normalizeH="0" baseline="0" dirty="0">
                          <a:ln>
                            <a:noFill/>
                          </a:ln>
                          <a:solidFill>
                            <a:schemeClr val="tx1"/>
                          </a:solidFill>
                          <a:effectLst/>
                          <a:latin typeface="+mn-lt"/>
                          <a:ea typeface="ＭＳ Ｐゴシック" pitchFamily="96" charset="-128"/>
                        </a:rPr>
                        <a:t> </a:t>
                      </a:r>
                    </a:p>
                  </a:txBody>
                  <a:tcPr marL="91433" marR="91433"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graphicFrame>
        <p:nvGraphicFramePr>
          <p:cNvPr id="120859" name="Group 27"/>
          <p:cNvGraphicFramePr>
            <a:graphicFrameLocks noGrp="1"/>
          </p:cNvGraphicFramePr>
          <p:nvPr>
            <p:extLst>
              <p:ext uri="{D42A27DB-BD31-4B8C-83A1-F6EECF244321}">
                <p14:modId xmlns:p14="http://schemas.microsoft.com/office/powerpoint/2010/main" val="2071446789"/>
              </p:ext>
            </p:extLst>
          </p:nvPr>
        </p:nvGraphicFramePr>
        <p:xfrm>
          <a:off x="4427984" y="3212976"/>
          <a:ext cx="4658581" cy="2273424"/>
        </p:xfrm>
        <a:graphic>
          <a:graphicData uri="http://schemas.openxmlformats.org/drawingml/2006/table">
            <a:tbl>
              <a:tblPr/>
              <a:tblGrid>
                <a:gridCol w="239955">
                  <a:extLst>
                    <a:ext uri="{9D8B030D-6E8A-4147-A177-3AD203B41FA5}">
                      <a16:colId xmlns:a16="http://schemas.microsoft.com/office/drawing/2014/main" val="20000"/>
                    </a:ext>
                  </a:extLst>
                </a:gridCol>
                <a:gridCol w="4418626">
                  <a:extLst>
                    <a:ext uri="{9D8B030D-6E8A-4147-A177-3AD203B41FA5}">
                      <a16:colId xmlns:a16="http://schemas.microsoft.com/office/drawing/2014/main" val="20001"/>
                    </a:ext>
                  </a:extLst>
                </a:gridCol>
              </a:tblGrid>
              <a:tr h="2273424">
                <a:tc>
                  <a:txBody>
                    <a:bodyPr/>
                    <a:lstStyle>
                      <a:lvl1pPr marL="342900" indent="-342900">
                        <a:spcBef>
                          <a:spcPct val="20000"/>
                        </a:spcBef>
                        <a:defRPr sz="2000">
                          <a:solidFill>
                            <a:schemeClr val="tx1"/>
                          </a:solidFill>
                          <a:latin typeface="Arial" charset="0"/>
                        </a:defRPr>
                      </a:lvl1pPr>
                      <a:lvl2pPr marL="742950" indent="-285750">
                        <a:spcBef>
                          <a:spcPct val="20000"/>
                        </a:spcBef>
                        <a:defRPr>
                          <a:solidFill>
                            <a:schemeClr val="tx1"/>
                          </a:solidFill>
                          <a:latin typeface="Arial" charset="0"/>
                        </a:defRPr>
                      </a:lvl2pPr>
                      <a:lvl3pPr marL="1143000" indent="-228600">
                        <a:spcBef>
                          <a:spcPct val="20000"/>
                        </a:spcBef>
                        <a:defRPr>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mn-lt"/>
                        <a:ea typeface="ＭＳ Ｐゴシック" pitchFamily="96" charset="-128"/>
                      </a:endParaRPr>
                    </a:p>
                  </a:txBody>
                  <a:tcPr marL="91433" marR="91433"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342900" indent="-342900">
                        <a:spcBef>
                          <a:spcPct val="20000"/>
                        </a:spcBef>
                        <a:tabLst>
                          <a:tab pos="457200" algn="l"/>
                        </a:tabLst>
                        <a:defRPr sz="2000">
                          <a:solidFill>
                            <a:schemeClr val="tx1"/>
                          </a:solidFill>
                          <a:latin typeface="Arial" charset="0"/>
                        </a:defRPr>
                      </a:lvl1pPr>
                      <a:lvl2pPr marL="742950" indent="-285750">
                        <a:spcBef>
                          <a:spcPct val="20000"/>
                        </a:spcBef>
                        <a:tabLst>
                          <a:tab pos="457200" algn="l"/>
                        </a:tabLst>
                        <a:defRPr>
                          <a:solidFill>
                            <a:schemeClr val="tx1"/>
                          </a:solidFill>
                          <a:latin typeface="Arial" charset="0"/>
                        </a:defRPr>
                      </a:lvl2pPr>
                      <a:lvl3pPr marL="1143000" indent="-228600">
                        <a:spcBef>
                          <a:spcPct val="20000"/>
                        </a:spcBef>
                        <a:tabLst>
                          <a:tab pos="457200" algn="l"/>
                        </a:tabLst>
                        <a:defRPr>
                          <a:solidFill>
                            <a:schemeClr val="tx1"/>
                          </a:solidFill>
                          <a:latin typeface="Arial" charset="0"/>
                        </a:defRPr>
                      </a:lvl3pPr>
                      <a:lvl4pPr marL="1600200" indent="-228600">
                        <a:spcBef>
                          <a:spcPct val="20000"/>
                        </a:spcBef>
                        <a:tabLst>
                          <a:tab pos="457200" algn="l"/>
                        </a:tabLst>
                        <a:defRPr>
                          <a:solidFill>
                            <a:schemeClr val="tx1"/>
                          </a:solidFill>
                          <a:latin typeface="Arial" charset="0"/>
                        </a:defRPr>
                      </a:lvl4pPr>
                      <a:lvl5pPr marL="2057400" indent="-228600">
                        <a:spcBef>
                          <a:spcPct val="20000"/>
                        </a:spcBef>
                        <a:tabLst>
                          <a:tab pos="457200" algn="l"/>
                        </a:tabLst>
                        <a:defRPr>
                          <a:solidFill>
                            <a:schemeClr val="tx1"/>
                          </a:solidFill>
                          <a:latin typeface="Arial" charset="0"/>
                        </a:defRPr>
                      </a:lvl5pPr>
                      <a:lvl6pPr marL="2514600" indent="-228600" fontAlgn="base">
                        <a:spcBef>
                          <a:spcPct val="20000"/>
                        </a:spcBef>
                        <a:spcAft>
                          <a:spcPct val="0"/>
                        </a:spcAft>
                        <a:tabLst>
                          <a:tab pos="457200" algn="l"/>
                        </a:tabLst>
                        <a:defRPr>
                          <a:solidFill>
                            <a:schemeClr val="tx1"/>
                          </a:solidFill>
                          <a:latin typeface="Arial" charset="0"/>
                        </a:defRPr>
                      </a:lvl6pPr>
                      <a:lvl7pPr marL="2971800" indent="-228600" fontAlgn="base">
                        <a:spcBef>
                          <a:spcPct val="20000"/>
                        </a:spcBef>
                        <a:spcAft>
                          <a:spcPct val="0"/>
                        </a:spcAft>
                        <a:tabLst>
                          <a:tab pos="457200" algn="l"/>
                        </a:tabLst>
                        <a:defRPr>
                          <a:solidFill>
                            <a:schemeClr val="tx1"/>
                          </a:solidFill>
                          <a:latin typeface="Arial" charset="0"/>
                        </a:defRPr>
                      </a:lvl7pPr>
                      <a:lvl8pPr marL="3429000" indent="-228600" fontAlgn="base">
                        <a:spcBef>
                          <a:spcPct val="20000"/>
                        </a:spcBef>
                        <a:spcAft>
                          <a:spcPct val="0"/>
                        </a:spcAft>
                        <a:tabLst>
                          <a:tab pos="457200" algn="l"/>
                        </a:tabLst>
                        <a:defRPr>
                          <a:solidFill>
                            <a:schemeClr val="tx1"/>
                          </a:solidFill>
                          <a:latin typeface="Arial" charset="0"/>
                        </a:defRPr>
                      </a:lvl8pPr>
                      <a:lvl9pPr marL="3886200" indent="-228600" fontAlgn="base">
                        <a:spcBef>
                          <a:spcPct val="20000"/>
                        </a:spcBef>
                        <a:spcAft>
                          <a:spcPct val="0"/>
                        </a:spcAft>
                        <a:tabLst>
                          <a:tab pos="457200" algn="l"/>
                        </a:tabLst>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sz="2800" b="0" i="0" u="none" strike="noStrike" cap="none" normalizeH="0" baseline="0" dirty="0">
                          <a:ln>
                            <a:noFill/>
                          </a:ln>
                          <a:solidFill>
                            <a:srgbClr val="AE3221"/>
                          </a:solidFill>
                          <a:effectLst/>
                          <a:latin typeface="+mn-lt"/>
                          <a:cs typeface="Times New Roman" pitchFamily="18" charset="0"/>
                        </a:rPr>
                        <a:t>Quantitative data:</a:t>
                      </a:r>
                    </a:p>
                    <a:p>
                      <a:pPr marL="182563" marR="0" lvl="0" indent="-182563" algn="l" defTabSz="914400" rtl="0" eaLnBrk="0" fontAlgn="base" latinLnBrk="0" hangingPunct="0">
                        <a:lnSpc>
                          <a:spcPct val="100000"/>
                        </a:lnSpc>
                        <a:spcBef>
                          <a:spcPct val="0"/>
                        </a:spcBef>
                        <a:spcAft>
                          <a:spcPct val="0"/>
                        </a:spcAft>
                        <a:buClrTx/>
                        <a:buSzTx/>
                        <a:buFont typeface="Arial" panose="020B0604020202020204" pitchFamily="34" charset="0"/>
                        <a:buChar char="•"/>
                        <a:tabLst>
                          <a:tab pos="457200" algn="l"/>
                        </a:tabLst>
                      </a:pPr>
                      <a:r>
                        <a:rPr kumimoji="0" lang="en-US" altLang="en-US" sz="2400" b="0" i="0" u="none" strike="noStrike" cap="none" normalizeH="0" baseline="0" dirty="0">
                          <a:ln>
                            <a:noFill/>
                          </a:ln>
                          <a:solidFill>
                            <a:schemeClr val="tx1"/>
                          </a:solidFill>
                          <a:effectLst/>
                          <a:latin typeface="+mn-lt"/>
                          <a:ea typeface="ＭＳ Ｐゴシック" pitchFamily="96" charset="-128"/>
                        </a:rPr>
                        <a:t>12 ounces of latte </a:t>
                      </a:r>
                    </a:p>
                    <a:p>
                      <a:pPr marL="182563" marR="0" lvl="0" indent="-182563" algn="l" defTabSz="914400" rtl="0" eaLnBrk="0" fontAlgn="base" latinLnBrk="0" hangingPunct="0">
                        <a:lnSpc>
                          <a:spcPct val="100000"/>
                        </a:lnSpc>
                        <a:spcBef>
                          <a:spcPct val="0"/>
                        </a:spcBef>
                        <a:spcAft>
                          <a:spcPct val="0"/>
                        </a:spcAft>
                        <a:buClrTx/>
                        <a:buSzTx/>
                        <a:buFont typeface="Arial" panose="020B0604020202020204" pitchFamily="34" charset="0"/>
                        <a:buChar char="•"/>
                        <a:tabLst>
                          <a:tab pos="457200" algn="l"/>
                        </a:tabLst>
                      </a:pPr>
                      <a:r>
                        <a:rPr kumimoji="0" lang="en-US" altLang="en-US" sz="2400" b="0" i="0" u="none" strike="noStrike" cap="none" normalizeH="0" baseline="0" dirty="0">
                          <a:ln>
                            <a:noFill/>
                          </a:ln>
                          <a:solidFill>
                            <a:schemeClr val="tx1"/>
                          </a:solidFill>
                          <a:effectLst/>
                          <a:latin typeface="+mn-lt"/>
                          <a:ea typeface="ＭＳ Ｐゴシック" pitchFamily="96" charset="-128"/>
                        </a:rPr>
                        <a:t>serving temperature 150º F. </a:t>
                      </a:r>
                    </a:p>
                    <a:p>
                      <a:pPr marL="182563" marR="0" lvl="0" indent="-182563" algn="l" defTabSz="914400" rtl="0" eaLnBrk="0" fontAlgn="base" latinLnBrk="0" hangingPunct="0">
                        <a:lnSpc>
                          <a:spcPct val="100000"/>
                        </a:lnSpc>
                        <a:spcBef>
                          <a:spcPct val="0"/>
                        </a:spcBef>
                        <a:spcAft>
                          <a:spcPct val="0"/>
                        </a:spcAft>
                        <a:buClrTx/>
                        <a:buSzTx/>
                        <a:buFont typeface="Arial" panose="020B0604020202020204" pitchFamily="34" charset="0"/>
                        <a:buChar char="•"/>
                        <a:tabLst>
                          <a:tab pos="457200" algn="l"/>
                        </a:tabLst>
                      </a:pPr>
                      <a:r>
                        <a:rPr kumimoji="0" lang="en-US" altLang="en-US" sz="2400" b="0" i="0" u="none" strike="noStrike" cap="none" normalizeH="0" baseline="0" dirty="0">
                          <a:ln>
                            <a:noFill/>
                          </a:ln>
                          <a:solidFill>
                            <a:schemeClr val="tx1"/>
                          </a:solidFill>
                          <a:effectLst/>
                          <a:latin typeface="+mn-lt"/>
                          <a:ea typeface="ＭＳ Ｐゴシック" pitchFamily="96" charset="-128"/>
                        </a:rPr>
                        <a:t>serving cup 7 inches in height </a:t>
                      </a:r>
                    </a:p>
                    <a:p>
                      <a:pPr marL="182563" marR="0" lvl="0" indent="-182563" algn="l" defTabSz="914400" rtl="0" eaLnBrk="0" fontAlgn="base" latinLnBrk="0" hangingPunct="0">
                        <a:lnSpc>
                          <a:spcPct val="100000"/>
                        </a:lnSpc>
                        <a:spcBef>
                          <a:spcPct val="0"/>
                        </a:spcBef>
                        <a:spcAft>
                          <a:spcPct val="0"/>
                        </a:spcAft>
                        <a:buClrTx/>
                        <a:buSzTx/>
                        <a:buFont typeface="Arial" panose="020B0604020202020204" pitchFamily="34" charset="0"/>
                        <a:buChar char="•"/>
                        <a:tabLst>
                          <a:tab pos="457200" algn="l"/>
                        </a:tabLst>
                      </a:pPr>
                      <a:r>
                        <a:rPr kumimoji="0" lang="en-US" altLang="en-US" sz="2400" b="0" i="0" u="none" strike="noStrike" cap="none" normalizeH="0" baseline="0" dirty="0">
                          <a:ln>
                            <a:noFill/>
                          </a:ln>
                          <a:solidFill>
                            <a:schemeClr val="tx1"/>
                          </a:solidFill>
                          <a:effectLst/>
                          <a:latin typeface="+mn-lt"/>
                          <a:ea typeface="ＭＳ Ｐゴシック" pitchFamily="96" charset="-128"/>
                        </a:rPr>
                        <a:t>cost $4.95</a:t>
                      </a:r>
                      <a:r>
                        <a:rPr kumimoji="0" lang="en-US" altLang="en-US" sz="2400" b="1" i="0" u="none" strike="noStrike" cap="none" normalizeH="0" baseline="0" dirty="0">
                          <a:ln>
                            <a:noFill/>
                          </a:ln>
                          <a:solidFill>
                            <a:schemeClr val="tx1"/>
                          </a:solidFill>
                          <a:effectLst/>
                          <a:latin typeface="+mn-lt"/>
                          <a:ea typeface="ＭＳ Ｐゴシック" pitchFamily="96" charset="-128"/>
                        </a:rPr>
                        <a:t> </a:t>
                      </a:r>
                    </a:p>
                  </a:txBody>
                  <a:tcPr marL="91433" marR="91433"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sp>
        <p:nvSpPr>
          <p:cNvPr id="3" name="AutoShape 2" descr="Image result for latte"/>
          <p:cNvSpPr>
            <a:spLocks noChangeAspect="1" noChangeArrowheads="1"/>
          </p:cNvSpPr>
          <p:nvPr/>
        </p:nvSpPr>
        <p:spPr bwMode="auto">
          <a:xfrm>
            <a:off x="155575" y="-1355725"/>
            <a:ext cx="1609725" cy="28384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 name="AutoShape 4" descr="Image result for latte"/>
          <p:cNvSpPr>
            <a:spLocks noChangeAspect="1" noChangeArrowheads="1"/>
          </p:cNvSpPr>
          <p:nvPr/>
        </p:nvSpPr>
        <p:spPr bwMode="auto">
          <a:xfrm>
            <a:off x="307975" y="-1203325"/>
            <a:ext cx="1609725" cy="28384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AutoShape 6" descr="Image result for latte"/>
          <p:cNvSpPr>
            <a:spLocks noChangeAspect="1" noChangeArrowheads="1"/>
          </p:cNvSpPr>
          <p:nvPr/>
        </p:nvSpPr>
        <p:spPr bwMode="auto">
          <a:xfrm>
            <a:off x="460375" y="-1050925"/>
            <a:ext cx="1609725" cy="28384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277422936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p:nvPr>
        </p:nvSpPr>
        <p:spPr/>
        <p:txBody>
          <a:bodyPr/>
          <a:lstStyle/>
          <a:p>
            <a:pPr eaLnBrk="1" hangingPunct="1"/>
            <a:r>
              <a:rPr lang="en-US" altLang="en-US"/>
              <a:t>Qualitative &amp; Quantitative Data</a:t>
            </a:r>
          </a:p>
        </p:txBody>
      </p:sp>
      <p:sp>
        <p:nvSpPr>
          <p:cNvPr id="59394" name="Slide Number Placeholder 6"/>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820B7D4B-83F0-41A9-BED5-C06D04DCDDF4}" type="slidenum">
              <a:rPr lang="en-US" altLang="en-US" sz="1000" smtClean="0">
                <a:solidFill>
                  <a:schemeClr val="bg1"/>
                </a:solidFill>
              </a:rPr>
              <a:pPr/>
              <a:t>52</a:t>
            </a:fld>
            <a:endParaRPr lang="en-US" altLang="en-US" sz="1000">
              <a:solidFill>
                <a:schemeClr val="bg1"/>
              </a:solidFill>
            </a:endParaRPr>
          </a:p>
        </p:txBody>
      </p:sp>
      <p:sp>
        <p:nvSpPr>
          <p:cNvPr id="59396" name="Rectangle 4"/>
          <p:cNvSpPr>
            <a:spLocks noChangeArrowheads="1"/>
          </p:cNvSpPr>
          <p:nvPr/>
        </p:nvSpPr>
        <p:spPr bwMode="auto">
          <a:xfrm>
            <a:off x="215900" y="2787650"/>
            <a:ext cx="5000625"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endParaRPr lang="en-AU" altLang="en-US"/>
          </a:p>
        </p:txBody>
      </p:sp>
      <p:sp>
        <p:nvSpPr>
          <p:cNvPr id="59397" name="Rectangle 5"/>
          <p:cNvSpPr>
            <a:spLocks noChangeArrowheads="1"/>
          </p:cNvSpPr>
          <p:nvPr/>
        </p:nvSpPr>
        <p:spPr bwMode="auto">
          <a:xfrm>
            <a:off x="215900" y="2787650"/>
            <a:ext cx="329565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endParaRPr lang="en-AU" altLang="en-US"/>
          </a:p>
        </p:txBody>
      </p:sp>
      <p:sp>
        <p:nvSpPr>
          <p:cNvPr id="59398" name="Rectangle 6"/>
          <p:cNvSpPr>
            <a:spLocks noChangeArrowheads="1"/>
          </p:cNvSpPr>
          <p:nvPr/>
        </p:nvSpPr>
        <p:spPr bwMode="auto">
          <a:xfrm>
            <a:off x="215900" y="2787650"/>
            <a:ext cx="329565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endParaRPr lang="en-AU" altLang="en-US"/>
          </a:p>
        </p:txBody>
      </p:sp>
      <p:sp>
        <p:nvSpPr>
          <p:cNvPr id="59399" name="Rectangle 8"/>
          <p:cNvSpPr>
            <a:spLocks noChangeArrowheads="1"/>
          </p:cNvSpPr>
          <p:nvPr/>
        </p:nvSpPr>
        <p:spPr bwMode="auto">
          <a:xfrm>
            <a:off x="215900" y="2787650"/>
            <a:ext cx="3305175"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endParaRPr lang="en-AU" altLang="en-US"/>
          </a:p>
        </p:txBody>
      </p:sp>
      <p:sp>
        <p:nvSpPr>
          <p:cNvPr id="59400" name="Rectangle 9"/>
          <p:cNvSpPr>
            <a:spLocks noChangeArrowheads="1"/>
          </p:cNvSpPr>
          <p:nvPr/>
        </p:nvSpPr>
        <p:spPr bwMode="auto">
          <a:xfrm>
            <a:off x="215900" y="2787650"/>
            <a:ext cx="3305175"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endParaRPr lang="en-AU" altLang="en-US"/>
          </a:p>
        </p:txBody>
      </p:sp>
      <p:pic>
        <p:nvPicPr>
          <p:cNvPr id="59401"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1203691"/>
            <a:ext cx="6840760" cy="5275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570656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Number Placeholder 6"/>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0AB78C14-DC87-4990-965A-340E04E01D82}" type="slidenum">
              <a:rPr lang="en-US" altLang="en-US" sz="1000" smtClean="0">
                <a:solidFill>
                  <a:schemeClr val="bg1"/>
                </a:solidFill>
              </a:rPr>
              <a:pPr/>
              <a:t>53</a:t>
            </a:fld>
            <a:endParaRPr lang="en-US" altLang="en-US" sz="1000">
              <a:solidFill>
                <a:schemeClr val="bg1"/>
              </a:solidFill>
            </a:endParaRPr>
          </a:p>
        </p:txBody>
      </p:sp>
      <p:sp>
        <p:nvSpPr>
          <p:cNvPr id="60419" name="Rectangle 2"/>
          <p:cNvSpPr>
            <a:spLocks noGrp="1" noChangeArrowheads="1"/>
          </p:cNvSpPr>
          <p:nvPr>
            <p:ph type="title"/>
          </p:nvPr>
        </p:nvSpPr>
        <p:spPr/>
        <p:txBody>
          <a:bodyPr/>
          <a:lstStyle/>
          <a:p>
            <a:pPr eaLnBrk="1" hangingPunct="1"/>
            <a:r>
              <a:rPr lang="en-US" altLang="en-US"/>
              <a:t>Discrete &amp; Continuous Data </a:t>
            </a:r>
          </a:p>
        </p:txBody>
      </p:sp>
      <p:pic>
        <p:nvPicPr>
          <p:cNvPr id="60420" name="Picture 30"/>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4724400" y="1828800"/>
            <a:ext cx="4038600" cy="1108075"/>
          </a:xfrm>
          <a:noFill/>
        </p:spPr>
      </p:pic>
      <p:sp>
        <p:nvSpPr>
          <p:cNvPr id="60422" name="Text Box 28"/>
          <p:cNvSpPr txBox="1">
            <a:spLocks noChangeArrowheads="1"/>
          </p:cNvSpPr>
          <p:nvPr/>
        </p:nvSpPr>
        <p:spPr bwMode="auto">
          <a:xfrm>
            <a:off x="762000" y="2057400"/>
            <a:ext cx="36576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pPr eaLnBrk="1" hangingPunct="1">
              <a:spcBef>
                <a:spcPct val="50000"/>
              </a:spcBef>
            </a:pPr>
            <a:r>
              <a:rPr lang="en-US" altLang="en-US" sz="2800" dirty="0">
                <a:solidFill>
                  <a:schemeClr val="accent2"/>
                </a:solidFill>
                <a:latin typeface="+mn-lt"/>
              </a:rPr>
              <a:t>Discrete</a:t>
            </a:r>
            <a:r>
              <a:rPr lang="en-US" altLang="en-US" sz="2800" b="0" dirty="0">
                <a:solidFill>
                  <a:schemeClr val="accent2"/>
                </a:solidFill>
                <a:latin typeface="+mn-lt"/>
              </a:rPr>
              <a:t> </a:t>
            </a:r>
            <a:r>
              <a:rPr lang="en-US" altLang="en-US" sz="2800" b="0" dirty="0">
                <a:latin typeface="+mn-lt"/>
              </a:rPr>
              <a:t>data can only take on certain individual values.</a:t>
            </a:r>
          </a:p>
        </p:txBody>
      </p:sp>
      <p:pic>
        <p:nvPicPr>
          <p:cNvPr id="60423" name="Picture 32"/>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648200" y="4038600"/>
            <a:ext cx="4038600" cy="1050925"/>
          </a:xfrm>
          <a:noFill/>
        </p:spPr>
      </p:pic>
      <p:sp>
        <p:nvSpPr>
          <p:cNvPr id="60425" name="Text Box 29"/>
          <p:cNvSpPr txBox="1">
            <a:spLocks noChangeArrowheads="1"/>
          </p:cNvSpPr>
          <p:nvPr/>
        </p:nvSpPr>
        <p:spPr bwMode="auto">
          <a:xfrm>
            <a:off x="762000" y="4114800"/>
            <a:ext cx="37338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pPr eaLnBrk="1" hangingPunct="1">
              <a:spcBef>
                <a:spcPct val="50000"/>
              </a:spcBef>
            </a:pPr>
            <a:r>
              <a:rPr lang="en-US" altLang="en-US" sz="2800">
                <a:solidFill>
                  <a:schemeClr val="accent2"/>
                </a:solidFill>
                <a:latin typeface="+mn-lt"/>
              </a:rPr>
              <a:t>Continuous</a:t>
            </a:r>
            <a:r>
              <a:rPr lang="en-US" altLang="en-US" sz="2800" b="0">
                <a:latin typeface="+mn-lt"/>
              </a:rPr>
              <a:t> data can take on any value in a certain range.</a:t>
            </a:r>
          </a:p>
        </p:txBody>
      </p:sp>
    </p:spTree>
    <p:extLst>
      <p:ext uri="{BB962C8B-B14F-4D97-AF65-F5344CB8AC3E}">
        <p14:creationId xmlns:p14="http://schemas.microsoft.com/office/powerpoint/2010/main" val="2250959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1BABB734-59B9-4CF1-85A4-E4C57D5541E8}" type="slidenum">
              <a:rPr lang="en-US" altLang="en-US" sz="1000" smtClean="0">
                <a:solidFill>
                  <a:schemeClr val="bg1"/>
                </a:solidFill>
              </a:rPr>
              <a:pPr/>
              <a:t>54</a:t>
            </a:fld>
            <a:endParaRPr lang="en-US" altLang="en-US" sz="1000">
              <a:solidFill>
                <a:schemeClr val="bg1"/>
              </a:solidFill>
            </a:endParaRPr>
          </a:p>
        </p:txBody>
      </p:sp>
      <p:sp>
        <p:nvSpPr>
          <p:cNvPr id="61443" name="Rectangle 2"/>
          <p:cNvSpPr>
            <a:spLocks noGrp="1" noChangeArrowheads="1"/>
          </p:cNvSpPr>
          <p:nvPr>
            <p:ph type="title"/>
          </p:nvPr>
        </p:nvSpPr>
        <p:spPr/>
        <p:txBody>
          <a:bodyPr/>
          <a:lstStyle/>
          <a:p>
            <a:pPr eaLnBrk="1" hangingPunct="1"/>
            <a:r>
              <a:rPr lang="en-US" altLang="en-US"/>
              <a:t>Discrete &amp; Continuous Data </a:t>
            </a:r>
          </a:p>
        </p:txBody>
      </p:sp>
      <p:grpSp>
        <p:nvGrpSpPr>
          <p:cNvPr id="2" name="Group 4"/>
          <p:cNvGrpSpPr>
            <a:grpSpLocks/>
          </p:cNvGrpSpPr>
          <p:nvPr/>
        </p:nvGrpSpPr>
        <p:grpSpPr bwMode="auto">
          <a:xfrm>
            <a:off x="4800600" y="3200400"/>
            <a:ext cx="4114800" cy="1598613"/>
            <a:chOff x="3168" y="1104"/>
            <a:chExt cx="2592" cy="1007"/>
          </a:xfrm>
        </p:grpSpPr>
        <p:sp>
          <p:nvSpPr>
            <p:cNvPr id="61451" name="Text Box 5"/>
            <p:cNvSpPr txBox="1">
              <a:spLocks noChangeArrowheads="1"/>
            </p:cNvSpPr>
            <p:nvPr/>
          </p:nvSpPr>
          <p:spPr bwMode="auto">
            <a:xfrm>
              <a:off x="3168" y="1200"/>
              <a:ext cx="1872" cy="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pPr eaLnBrk="1" hangingPunct="1">
                <a:spcBef>
                  <a:spcPct val="50000"/>
                </a:spcBef>
              </a:pPr>
              <a:r>
                <a:rPr lang="en-US" altLang="en-US" sz="2800" dirty="0">
                  <a:solidFill>
                    <a:srgbClr val="012CB5"/>
                  </a:solidFill>
                  <a:latin typeface="+mn-lt"/>
                </a:rPr>
                <a:t>Example 2</a:t>
              </a:r>
            </a:p>
            <a:p>
              <a:pPr eaLnBrk="1" hangingPunct="1">
                <a:spcBef>
                  <a:spcPct val="50000"/>
                </a:spcBef>
              </a:pPr>
              <a:r>
                <a:rPr lang="en-US" altLang="en-US" b="0" dirty="0">
                  <a:latin typeface="+mn-lt"/>
                </a:rPr>
                <a:t>Length of a film is a </a:t>
              </a:r>
              <a:r>
                <a:rPr lang="en-US" altLang="en-US" dirty="0">
                  <a:latin typeface="+mn-lt"/>
                </a:rPr>
                <a:t>continuous variable.</a:t>
              </a:r>
            </a:p>
          </p:txBody>
        </p:sp>
        <p:pic>
          <p:nvPicPr>
            <p:cNvPr id="61452" name="Picture 6" descr="g041157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40" y="1104"/>
              <a:ext cx="920" cy="1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 name="Group 7"/>
          <p:cNvGrpSpPr>
            <a:grpSpLocks/>
          </p:cNvGrpSpPr>
          <p:nvPr/>
        </p:nvGrpSpPr>
        <p:grpSpPr bwMode="auto">
          <a:xfrm>
            <a:off x="457200" y="1981202"/>
            <a:ext cx="5338936" cy="1446214"/>
            <a:chOff x="144" y="1200"/>
            <a:chExt cx="2807" cy="911"/>
          </a:xfrm>
        </p:grpSpPr>
        <p:sp>
          <p:nvSpPr>
            <p:cNvPr id="61449" name="Text Box 8"/>
            <p:cNvSpPr txBox="1">
              <a:spLocks noChangeArrowheads="1"/>
            </p:cNvSpPr>
            <p:nvPr/>
          </p:nvSpPr>
          <p:spPr bwMode="auto">
            <a:xfrm>
              <a:off x="144" y="1200"/>
              <a:ext cx="2256" cy="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pPr eaLnBrk="1" hangingPunct="1">
                <a:spcBef>
                  <a:spcPct val="50000"/>
                </a:spcBef>
              </a:pPr>
              <a:r>
                <a:rPr lang="en-US" altLang="en-US" sz="2800" dirty="0">
                  <a:solidFill>
                    <a:srgbClr val="012CB5"/>
                  </a:solidFill>
                  <a:latin typeface="+mn-lt"/>
                </a:rPr>
                <a:t>Example 1</a:t>
              </a:r>
            </a:p>
            <a:p>
              <a:pPr eaLnBrk="1" hangingPunct="1">
                <a:spcBef>
                  <a:spcPct val="50000"/>
                </a:spcBef>
              </a:pPr>
              <a:r>
                <a:rPr lang="en-US" altLang="en-US" b="0" dirty="0">
                  <a:latin typeface="+mn-lt"/>
                </a:rPr>
                <a:t>Number of pages in a book is a </a:t>
              </a:r>
              <a:r>
                <a:rPr lang="en-US" altLang="en-US" dirty="0">
                  <a:latin typeface="+mn-lt"/>
                </a:rPr>
                <a:t>discrete</a:t>
              </a:r>
              <a:r>
                <a:rPr lang="en-US" altLang="en-US" b="0" dirty="0">
                  <a:latin typeface="+mn-lt"/>
                </a:rPr>
                <a:t> </a:t>
              </a:r>
              <a:r>
                <a:rPr lang="en-US" altLang="en-US" dirty="0">
                  <a:latin typeface="+mn-lt"/>
                </a:rPr>
                <a:t>variable.</a:t>
              </a:r>
            </a:p>
          </p:txBody>
        </p:sp>
        <p:pic>
          <p:nvPicPr>
            <p:cNvPr id="61450" name="Picture 9" descr="g017417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56" y="1296"/>
              <a:ext cx="695" cy="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 name="Group 13"/>
          <p:cNvGrpSpPr>
            <a:grpSpLocks/>
          </p:cNvGrpSpPr>
          <p:nvPr/>
        </p:nvGrpSpPr>
        <p:grpSpPr bwMode="auto">
          <a:xfrm>
            <a:off x="533400" y="4495802"/>
            <a:ext cx="5694784" cy="1816101"/>
            <a:chOff x="144" y="2064"/>
            <a:chExt cx="2976" cy="1144"/>
          </a:xfrm>
        </p:grpSpPr>
        <p:sp>
          <p:nvSpPr>
            <p:cNvPr id="61447" name="Text Box 14"/>
            <p:cNvSpPr txBox="1">
              <a:spLocks noChangeArrowheads="1"/>
            </p:cNvSpPr>
            <p:nvPr/>
          </p:nvSpPr>
          <p:spPr bwMode="auto">
            <a:xfrm>
              <a:off x="144" y="2064"/>
              <a:ext cx="2304" cy="1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pPr eaLnBrk="1" hangingPunct="1">
                <a:spcBef>
                  <a:spcPct val="50000"/>
                </a:spcBef>
              </a:pPr>
              <a:r>
                <a:rPr lang="en-US" altLang="en-US" sz="2800" dirty="0">
                  <a:solidFill>
                    <a:srgbClr val="012CB5"/>
                  </a:solidFill>
                  <a:latin typeface="+mn-lt"/>
                </a:rPr>
                <a:t>Example 3</a:t>
              </a:r>
            </a:p>
            <a:p>
              <a:pPr eaLnBrk="1" hangingPunct="1">
                <a:spcBef>
                  <a:spcPct val="50000"/>
                </a:spcBef>
              </a:pPr>
              <a:r>
                <a:rPr lang="en-US" altLang="en-US" b="0" dirty="0">
                  <a:latin typeface="+mn-lt"/>
                </a:rPr>
                <a:t>Shoe size is a </a:t>
              </a:r>
              <a:r>
                <a:rPr lang="en-US" altLang="en-US" dirty="0">
                  <a:latin typeface="+mn-lt"/>
                </a:rPr>
                <a:t>Discrete variable.</a:t>
              </a:r>
              <a:r>
                <a:rPr lang="en-US" altLang="en-US" b="0" dirty="0">
                  <a:latin typeface="+mn-lt"/>
                </a:rPr>
                <a:t>  E.g.  5, 5</a:t>
              </a:r>
              <a:r>
                <a:rPr lang="en-US" altLang="en-US" b="0" dirty="0">
                  <a:latin typeface="+mn-lt"/>
                  <a:cs typeface="Times New Roman" pitchFamily="18" charset="0"/>
                </a:rPr>
                <a:t>½, 6, 6½ etc.  </a:t>
              </a:r>
              <a:r>
                <a:rPr lang="en-US" altLang="en-US" b="0" u="sng" dirty="0">
                  <a:latin typeface="+mn-lt"/>
                  <a:cs typeface="Times New Roman" pitchFamily="18" charset="0"/>
                </a:rPr>
                <a:t>Not</a:t>
              </a:r>
              <a:r>
                <a:rPr lang="en-US" altLang="en-US" b="0" dirty="0">
                  <a:latin typeface="+mn-lt"/>
                  <a:cs typeface="Times New Roman" pitchFamily="18" charset="0"/>
                </a:rPr>
                <a:t> in between.</a:t>
              </a:r>
            </a:p>
          </p:txBody>
        </p:sp>
        <p:pic>
          <p:nvPicPr>
            <p:cNvPr id="61448" name="Picture 15" descr="g020993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60" y="2448"/>
              <a:ext cx="960" cy="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42625336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5A3D4017-D6B1-4C3A-8403-05AA4B9D5A48}" type="slidenum">
              <a:rPr lang="en-US" altLang="en-US" sz="1000" smtClean="0">
                <a:solidFill>
                  <a:schemeClr val="bg1"/>
                </a:solidFill>
              </a:rPr>
              <a:pPr/>
              <a:t>55</a:t>
            </a:fld>
            <a:endParaRPr lang="en-US" altLang="en-US" sz="1000">
              <a:solidFill>
                <a:schemeClr val="bg1"/>
              </a:solidFill>
            </a:endParaRPr>
          </a:p>
        </p:txBody>
      </p:sp>
      <p:sp>
        <p:nvSpPr>
          <p:cNvPr id="62467" name="Rectangle 2"/>
          <p:cNvSpPr>
            <a:spLocks noGrp="1" noChangeArrowheads="1"/>
          </p:cNvSpPr>
          <p:nvPr>
            <p:ph type="title"/>
          </p:nvPr>
        </p:nvSpPr>
        <p:spPr/>
        <p:txBody>
          <a:bodyPr/>
          <a:lstStyle/>
          <a:p>
            <a:pPr eaLnBrk="1" hangingPunct="1"/>
            <a:r>
              <a:rPr lang="en-US" altLang="en-US"/>
              <a:t>Discrete &amp; Continuous Data </a:t>
            </a:r>
          </a:p>
        </p:txBody>
      </p:sp>
      <p:grpSp>
        <p:nvGrpSpPr>
          <p:cNvPr id="2" name="Group 13"/>
          <p:cNvGrpSpPr>
            <a:grpSpLocks/>
          </p:cNvGrpSpPr>
          <p:nvPr/>
        </p:nvGrpSpPr>
        <p:grpSpPr bwMode="auto">
          <a:xfrm>
            <a:off x="533400" y="1828802"/>
            <a:ext cx="4038600" cy="1446214"/>
            <a:chOff x="3216" y="2112"/>
            <a:chExt cx="2544" cy="911"/>
          </a:xfrm>
        </p:grpSpPr>
        <p:sp>
          <p:nvSpPr>
            <p:cNvPr id="62475" name="Text Box 14"/>
            <p:cNvSpPr txBox="1">
              <a:spLocks noChangeArrowheads="1"/>
            </p:cNvSpPr>
            <p:nvPr/>
          </p:nvSpPr>
          <p:spPr bwMode="auto">
            <a:xfrm>
              <a:off x="3216" y="2112"/>
              <a:ext cx="1872" cy="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pPr eaLnBrk="1" hangingPunct="1">
                <a:spcBef>
                  <a:spcPct val="50000"/>
                </a:spcBef>
              </a:pPr>
              <a:r>
                <a:rPr lang="en-US" altLang="en-US" sz="2800" dirty="0">
                  <a:solidFill>
                    <a:srgbClr val="012CB5"/>
                  </a:solidFill>
                  <a:latin typeface="+mn-lt"/>
                </a:rPr>
                <a:t>Example 4</a:t>
              </a:r>
            </a:p>
            <a:p>
              <a:pPr eaLnBrk="1" hangingPunct="1">
                <a:spcBef>
                  <a:spcPct val="50000"/>
                </a:spcBef>
              </a:pPr>
              <a:r>
                <a:rPr lang="en-US" altLang="en-US" b="0" dirty="0">
                  <a:latin typeface="+mn-lt"/>
                </a:rPr>
                <a:t>Temperature is a </a:t>
              </a:r>
              <a:r>
                <a:rPr lang="en-US" altLang="en-US" dirty="0">
                  <a:latin typeface="+mn-lt"/>
                </a:rPr>
                <a:t>continuous variable.</a:t>
              </a:r>
            </a:p>
          </p:txBody>
        </p:sp>
        <p:pic>
          <p:nvPicPr>
            <p:cNvPr id="62476" name="Picture 1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92" y="2304"/>
              <a:ext cx="768"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 name="Group 16"/>
          <p:cNvGrpSpPr>
            <a:grpSpLocks/>
          </p:cNvGrpSpPr>
          <p:nvPr/>
        </p:nvGrpSpPr>
        <p:grpSpPr bwMode="auto">
          <a:xfrm>
            <a:off x="3540322" y="3053059"/>
            <a:ext cx="5064127" cy="1816101"/>
            <a:chOff x="-214" y="3216"/>
            <a:chExt cx="3190" cy="1144"/>
          </a:xfrm>
        </p:grpSpPr>
        <p:sp>
          <p:nvSpPr>
            <p:cNvPr id="62473" name="Rectangle 17"/>
            <p:cNvSpPr>
              <a:spLocks noChangeArrowheads="1"/>
            </p:cNvSpPr>
            <p:nvPr/>
          </p:nvSpPr>
          <p:spPr bwMode="auto">
            <a:xfrm>
              <a:off x="-214" y="3216"/>
              <a:ext cx="1920" cy="1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pPr eaLnBrk="1" hangingPunct="1">
                <a:spcBef>
                  <a:spcPct val="50000"/>
                </a:spcBef>
              </a:pPr>
              <a:r>
                <a:rPr lang="en-US" altLang="en-US" sz="2800" dirty="0">
                  <a:solidFill>
                    <a:srgbClr val="012CB5"/>
                  </a:solidFill>
                  <a:latin typeface="+mn-lt"/>
                </a:rPr>
                <a:t>Example 5</a:t>
              </a:r>
            </a:p>
            <a:p>
              <a:pPr eaLnBrk="1" hangingPunct="1">
                <a:spcBef>
                  <a:spcPct val="50000"/>
                </a:spcBef>
              </a:pPr>
              <a:r>
                <a:rPr lang="en-US" altLang="en-US" b="0" dirty="0">
                  <a:latin typeface="+mn-lt"/>
                </a:rPr>
                <a:t>Number of people in a gathering is a </a:t>
              </a:r>
              <a:r>
                <a:rPr lang="en-US" altLang="en-US" dirty="0">
                  <a:latin typeface="+mn-lt"/>
                </a:rPr>
                <a:t>discrete variable.</a:t>
              </a:r>
            </a:p>
          </p:txBody>
        </p:sp>
        <p:pic>
          <p:nvPicPr>
            <p:cNvPr id="62474" name="Picture 1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16" y="3216"/>
              <a:ext cx="960" cy="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 name="Group 19"/>
          <p:cNvGrpSpPr>
            <a:grpSpLocks/>
          </p:cNvGrpSpPr>
          <p:nvPr/>
        </p:nvGrpSpPr>
        <p:grpSpPr bwMode="auto">
          <a:xfrm>
            <a:off x="533400" y="4719090"/>
            <a:ext cx="5262736" cy="1446214"/>
            <a:chOff x="3120" y="3168"/>
            <a:chExt cx="2496" cy="911"/>
          </a:xfrm>
        </p:grpSpPr>
        <p:sp>
          <p:nvSpPr>
            <p:cNvPr id="62471" name="Rectangle 20"/>
            <p:cNvSpPr>
              <a:spLocks noChangeArrowheads="1"/>
            </p:cNvSpPr>
            <p:nvPr/>
          </p:nvSpPr>
          <p:spPr bwMode="auto">
            <a:xfrm>
              <a:off x="3120" y="3168"/>
              <a:ext cx="2112" cy="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pPr eaLnBrk="1" hangingPunct="1">
                <a:spcBef>
                  <a:spcPct val="50000"/>
                </a:spcBef>
              </a:pPr>
              <a:r>
                <a:rPr lang="en-US" altLang="en-US" sz="2800" dirty="0">
                  <a:solidFill>
                    <a:srgbClr val="012CB5"/>
                  </a:solidFill>
                  <a:latin typeface="+mn-lt"/>
                </a:rPr>
                <a:t>Example 6</a:t>
              </a:r>
            </a:p>
            <a:p>
              <a:pPr eaLnBrk="1" hangingPunct="1">
                <a:spcBef>
                  <a:spcPct val="50000"/>
                </a:spcBef>
              </a:pPr>
              <a:r>
                <a:rPr lang="en-US" altLang="en-US" b="0" dirty="0">
                  <a:latin typeface="+mn-lt"/>
                </a:rPr>
                <a:t>Time taken to run a race is a </a:t>
              </a:r>
              <a:r>
                <a:rPr lang="en-US" altLang="en-US" dirty="0">
                  <a:latin typeface="+mn-lt"/>
                </a:rPr>
                <a:t>continuous variable.</a:t>
              </a:r>
            </a:p>
          </p:txBody>
        </p:sp>
        <p:pic>
          <p:nvPicPr>
            <p:cNvPr id="62472" name="Picture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4" y="3312"/>
              <a:ext cx="672" cy="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098" name="Picture 2" descr="Related image"/>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23092" b="20272"/>
          <a:stretch/>
        </p:blipFill>
        <p:spPr bwMode="auto">
          <a:xfrm>
            <a:off x="6444208" y="3275017"/>
            <a:ext cx="2549745" cy="1444074"/>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Image result for temperature"/>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b="9281"/>
          <a:stretch/>
        </p:blipFill>
        <p:spPr bwMode="auto">
          <a:xfrm>
            <a:off x="3449606" y="1720262"/>
            <a:ext cx="1363578" cy="13327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76761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31E97E57-2F35-43DD-B0B2-7743AD0C1FC9}" type="slidenum">
              <a:rPr lang="en-US" altLang="en-US" sz="1000" smtClean="0">
                <a:solidFill>
                  <a:schemeClr val="bg1"/>
                </a:solidFill>
              </a:rPr>
              <a:pPr/>
              <a:t>56</a:t>
            </a:fld>
            <a:endParaRPr lang="en-US" altLang="en-US" sz="1000">
              <a:solidFill>
                <a:schemeClr val="bg1"/>
              </a:solidFill>
            </a:endParaRPr>
          </a:p>
        </p:txBody>
      </p:sp>
      <p:sp>
        <p:nvSpPr>
          <p:cNvPr id="63491" name="Rectangle 2"/>
          <p:cNvSpPr>
            <a:spLocks noGrp="1" noChangeArrowheads="1"/>
          </p:cNvSpPr>
          <p:nvPr>
            <p:ph type="title"/>
          </p:nvPr>
        </p:nvSpPr>
        <p:spPr/>
        <p:txBody>
          <a:bodyPr/>
          <a:lstStyle/>
          <a:p>
            <a:pPr eaLnBrk="1" hangingPunct="1"/>
            <a:r>
              <a:rPr lang="en-US" altLang="en-US"/>
              <a:t>Discrete &amp; Continuous Data </a:t>
            </a:r>
          </a:p>
        </p:txBody>
      </p:sp>
      <p:pic>
        <p:nvPicPr>
          <p:cNvPr id="63492" name="Picture 1"/>
          <p:cNvPicPr>
            <a:picLocks noChangeAspect="1"/>
          </p:cNvPicPr>
          <p:nvPr/>
        </p:nvPicPr>
        <p:blipFill>
          <a:blip r:embed="rId2">
            <a:extLst>
              <a:ext uri="{28A0092B-C50C-407E-A947-70E740481C1C}">
                <a14:useLocalDpi xmlns:a14="http://schemas.microsoft.com/office/drawing/2010/main" val="0"/>
              </a:ext>
            </a:extLst>
          </a:blip>
          <a:srcRect t="4221" b="9705"/>
          <a:stretch>
            <a:fillRect/>
          </a:stretch>
        </p:blipFill>
        <p:spPr bwMode="auto">
          <a:xfrm>
            <a:off x="1371600" y="1676400"/>
            <a:ext cx="6777038"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744880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7F953890-8308-475C-AAB8-B59DB928622D}" type="slidenum">
              <a:rPr lang="en-US" altLang="en-US" sz="1000" smtClean="0">
                <a:solidFill>
                  <a:schemeClr val="bg1"/>
                </a:solidFill>
              </a:rPr>
              <a:pPr/>
              <a:t>57</a:t>
            </a:fld>
            <a:endParaRPr lang="en-US" altLang="en-US" sz="1000">
              <a:solidFill>
                <a:schemeClr val="bg1"/>
              </a:solidFill>
            </a:endParaRPr>
          </a:p>
        </p:txBody>
      </p:sp>
      <p:grpSp>
        <p:nvGrpSpPr>
          <p:cNvPr id="64515" name="Group 1"/>
          <p:cNvGrpSpPr>
            <a:grpSpLocks/>
          </p:cNvGrpSpPr>
          <p:nvPr/>
        </p:nvGrpSpPr>
        <p:grpSpPr bwMode="auto">
          <a:xfrm>
            <a:off x="914400" y="1340768"/>
            <a:ext cx="7185992" cy="5136232"/>
            <a:chOff x="0" y="228600"/>
            <a:chExt cx="8915400" cy="6425419"/>
          </a:xfrm>
        </p:grpSpPr>
        <p:sp>
          <p:nvSpPr>
            <p:cNvPr id="64517" name="Rectangle 16"/>
            <p:cNvSpPr>
              <a:spLocks noChangeArrowheads="1"/>
            </p:cNvSpPr>
            <p:nvPr/>
          </p:nvSpPr>
          <p:spPr bwMode="auto">
            <a:xfrm>
              <a:off x="228600" y="762000"/>
              <a:ext cx="8686800" cy="5562600"/>
            </a:xfrm>
            <a:prstGeom prst="rect">
              <a:avLst/>
            </a:prstGeom>
            <a:solidFill>
              <a:srgbClr val="FEEFD4"/>
            </a:solidFill>
            <a:ln w="9525">
              <a:solidFill>
                <a:schemeClr val="tx1"/>
              </a:solidFill>
              <a:miter lim="800000"/>
              <a:headEnd/>
              <a:tailEnd/>
            </a:ln>
          </p:spPr>
          <p:txBody>
            <a:bodyPr wrap="none" anchor="ct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endParaRPr lang="en-AU" altLang="en-US">
                <a:latin typeface="+mn-lt"/>
              </a:endParaRPr>
            </a:p>
          </p:txBody>
        </p:sp>
        <p:sp>
          <p:nvSpPr>
            <p:cNvPr id="64518" name="AutoShape 5"/>
            <p:cNvSpPr>
              <a:spLocks noChangeArrowheads="1"/>
            </p:cNvSpPr>
            <p:nvPr/>
          </p:nvSpPr>
          <p:spPr bwMode="auto">
            <a:xfrm>
              <a:off x="412023" y="1219199"/>
              <a:ext cx="2559776" cy="1219201"/>
            </a:xfrm>
            <a:prstGeom prst="cloudCallout">
              <a:avLst>
                <a:gd name="adj1" fmla="val 56250"/>
                <a:gd name="adj2" fmla="val 90625"/>
              </a:avLst>
            </a:prstGeom>
            <a:solidFill>
              <a:schemeClr val="bg1"/>
            </a:solidFill>
            <a:ln w="9525">
              <a:solidFill>
                <a:schemeClr val="tx1"/>
              </a:solidFill>
              <a:round/>
              <a:headEnd/>
              <a:tailEnd/>
            </a:ln>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pPr algn="ctr" eaLnBrk="1" hangingPunct="1"/>
              <a:r>
                <a:rPr lang="en-US" altLang="en-US" sz="1600" b="0">
                  <a:latin typeface="+mn-lt"/>
                </a:rPr>
                <a:t>Volume of a cereal box</a:t>
              </a:r>
            </a:p>
          </p:txBody>
        </p:sp>
        <p:sp>
          <p:nvSpPr>
            <p:cNvPr id="64519" name="AutoShape 6"/>
            <p:cNvSpPr>
              <a:spLocks noChangeArrowheads="1"/>
            </p:cNvSpPr>
            <p:nvPr/>
          </p:nvSpPr>
          <p:spPr bwMode="auto">
            <a:xfrm>
              <a:off x="5638800" y="1143000"/>
              <a:ext cx="2514600" cy="1219200"/>
            </a:xfrm>
            <a:prstGeom prst="cloudCallout">
              <a:avLst>
                <a:gd name="adj1" fmla="val -43750"/>
                <a:gd name="adj2" fmla="val 70051"/>
              </a:avLst>
            </a:prstGeom>
            <a:solidFill>
              <a:schemeClr val="bg1"/>
            </a:solidFill>
            <a:ln w="9525">
              <a:solidFill>
                <a:schemeClr val="tx1"/>
              </a:solidFill>
              <a:round/>
              <a:headEnd/>
              <a:tailEnd/>
            </a:ln>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pPr algn="ctr" eaLnBrk="1" hangingPunct="1"/>
              <a:r>
                <a:rPr lang="en-US" altLang="en-US" sz="1600" b="0">
                  <a:latin typeface="+mn-lt"/>
                </a:rPr>
                <a:t>Population of a town</a:t>
              </a:r>
            </a:p>
          </p:txBody>
        </p:sp>
        <p:sp>
          <p:nvSpPr>
            <p:cNvPr id="64520" name="AutoShape 7"/>
            <p:cNvSpPr>
              <a:spLocks noChangeArrowheads="1"/>
            </p:cNvSpPr>
            <p:nvPr/>
          </p:nvSpPr>
          <p:spPr bwMode="auto">
            <a:xfrm>
              <a:off x="381000" y="4818185"/>
              <a:ext cx="2590800" cy="1447800"/>
            </a:xfrm>
            <a:prstGeom prst="cloudCallout">
              <a:avLst>
                <a:gd name="adj1" fmla="val 62009"/>
                <a:gd name="adj2" fmla="val -93310"/>
              </a:avLst>
            </a:prstGeom>
            <a:solidFill>
              <a:schemeClr val="bg1"/>
            </a:solidFill>
            <a:ln w="9525">
              <a:solidFill>
                <a:schemeClr val="tx1"/>
              </a:solidFill>
              <a:round/>
              <a:headEnd/>
              <a:tailEnd/>
            </a:ln>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pPr algn="ctr" eaLnBrk="1" hangingPunct="1"/>
              <a:r>
                <a:rPr lang="en-US" altLang="en-US" sz="1600" b="0">
                  <a:latin typeface="+mn-lt"/>
                </a:rPr>
                <a:t>Number of goals in a season</a:t>
              </a:r>
            </a:p>
          </p:txBody>
        </p:sp>
        <p:sp>
          <p:nvSpPr>
            <p:cNvPr id="64521" name="AutoShape 8"/>
            <p:cNvSpPr>
              <a:spLocks noChangeArrowheads="1"/>
            </p:cNvSpPr>
            <p:nvPr/>
          </p:nvSpPr>
          <p:spPr bwMode="auto">
            <a:xfrm>
              <a:off x="6172200" y="4614203"/>
              <a:ext cx="2743200" cy="1447801"/>
            </a:xfrm>
            <a:prstGeom prst="cloudCallout">
              <a:avLst>
                <a:gd name="adj1" fmla="val -65319"/>
                <a:gd name="adj2" fmla="val -67750"/>
              </a:avLst>
            </a:prstGeom>
            <a:solidFill>
              <a:schemeClr val="bg1"/>
            </a:solidFill>
            <a:ln w="9525">
              <a:solidFill>
                <a:schemeClr val="tx1"/>
              </a:solidFill>
              <a:round/>
              <a:headEnd/>
              <a:tailEnd/>
            </a:ln>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pPr algn="ctr" eaLnBrk="1" hangingPunct="1"/>
              <a:r>
                <a:rPr lang="en-US" altLang="en-US" sz="1600" b="0">
                  <a:latin typeface="+mn-lt"/>
                </a:rPr>
                <a:t>Number of matches in a box</a:t>
              </a:r>
            </a:p>
          </p:txBody>
        </p:sp>
        <p:sp>
          <p:nvSpPr>
            <p:cNvPr id="64522" name="AutoShape 9"/>
            <p:cNvSpPr>
              <a:spLocks noChangeArrowheads="1"/>
            </p:cNvSpPr>
            <p:nvPr/>
          </p:nvSpPr>
          <p:spPr bwMode="auto">
            <a:xfrm>
              <a:off x="6324600" y="2819400"/>
              <a:ext cx="2514600" cy="1219200"/>
            </a:xfrm>
            <a:prstGeom prst="cloudCallout">
              <a:avLst>
                <a:gd name="adj1" fmla="val -77148"/>
                <a:gd name="adj2" fmla="val 130"/>
              </a:avLst>
            </a:prstGeom>
            <a:solidFill>
              <a:schemeClr val="bg1"/>
            </a:solidFill>
            <a:ln w="9525">
              <a:solidFill>
                <a:schemeClr val="tx1"/>
              </a:solidFill>
              <a:round/>
              <a:headEnd/>
              <a:tailEnd/>
            </a:ln>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pPr algn="ctr" eaLnBrk="1" hangingPunct="1"/>
              <a:r>
                <a:rPr lang="en-US" altLang="en-US" sz="1600" b="0">
                  <a:latin typeface="+mn-lt"/>
                </a:rPr>
                <a:t>Length of a crocodile</a:t>
              </a:r>
            </a:p>
          </p:txBody>
        </p:sp>
        <p:sp>
          <p:nvSpPr>
            <p:cNvPr id="64523" name="AutoShape 10"/>
            <p:cNvSpPr>
              <a:spLocks noChangeArrowheads="1"/>
            </p:cNvSpPr>
            <p:nvPr/>
          </p:nvSpPr>
          <p:spPr bwMode="auto">
            <a:xfrm>
              <a:off x="0" y="3200400"/>
              <a:ext cx="2514600" cy="1219200"/>
            </a:xfrm>
            <a:prstGeom prst="cloudCallout">
              <a:avLst>
                <a:gd name="adj1" fmla="val 75380"/>
                <a:gd name="adj2" fmla="val -32551"/>
              </a:avLst>
            </a:prstGeom>
            <a:solidFill>
              <a:schemeClr val="bg1"/>
            </a:solidFill>
            <a:ln w="9525">
              <a:solidFill>
                <a:schemeClr val="tx1"/>
              </a:solidFill>
              <a:round/>
              <a:headEnd/>
              <a:tailEnd/>
            </a:ln>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pPr algn="ctr" eaLnBrk="1" hangingPunct="1"/>
              <a:r>
                <a:rPr lang="en-US" altLang="en-US" sz="1600" b="0">
                  <a:latin typeface="+mn-lt"/>
                </a:rPr>
                <a:t>Shirt collar size</a:t>
              </a:r>
            </a:p>
          </p:txBody>
        </p:sp>
        <p:sp>
          <p:nvSpPr>
            <p:cNvPr id="64524" name="AutoShape 11"/>
            <p:cNvSpPr>
              <a:spLocks noChangeArrowheads="1"/>
            </p:cNvSpPr>
            <p:nvPr/>
          </p:nvSpPr>
          <p:spPr bwMode="auto">
            <a:xfrm>
              <a:off x="3276600" y="762000"/>
              <a:ext cx="2514600" cy="1219200"/>
            </a:xfrm>
            <a:prstGeom prst="cloudCallout">
              <a:avLst>
                <a:gd name="adj1" fmla="val 8208"/>
                <a:gd name="adj2" fmla="val 97134"/>
              </a:avLst>
            </a:prstGeom>
            <a:solidFill>
              <a:schemeClr val="bg1"/>
            </a:solidFill>
            <a:ln w="9525">
              <a:solidFill>
                <a:schemeClr val="tx1"/>
              </a:solidFill>
              <a:round/>
              <a:headEnd/>
              <a:tailEnd/>
            </a:ln>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pPr algn="ctr" eaLnBrk="1" hangingPunct="1"/>
              <a:r>
                <a:rPr lang="en-US" altLang="en-US" sz="1600" b="0">
                  <a:latin typeface="+mn-lt"/>
                </a:rPr>
                <a:t> Speed of a car</a:t>
              </a:r>
            </a:p>
          </p:txBody>
        </p:sp>
        <p:sp>
          <p:nvSpPr>
            <p:cNvPr id="64525" name="AutoShape 12"/>
            <p:cNvSpPr>
              <a:spLocks noChangeArrowheads="1"/>
            </p:cNvSpPr>
            <p:nvPr/>
          </p:nvSpPr>
          <p:spPr bwMode="auto">
            <a:xfrm>
              <a:off x="3331029" y="5358618"/>
              <a:ext cx="2841171" cy="1295401"/>
            </a:xfrm>
            <a:prstGeom prst="cloudCallout">
              <a:avLst>
                <a:gd name="adj1" fmla="val 5412"/>
                <a:gd name="adj2" fmla="val -97671"/>
              </a:avLst>
            </a:prstGeom>
            <a:solidFill>
              <a:schemeClr val="bg1"/>
            </a:solidFill>
            <a:ln w="9525">
              <a:solidFill>
                <a:schemeClr val="tx1"/>
              </a:solidFill>
              <a:round/>
              <a:headEnd/>
              <a:tailEnd/>
            </a:ln>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pPr algn="ctr" eaLnBrk="1" hangingPunct="1"/>
              <a:r>
                <a:rPr lang="en-US" altLang="en-US" sz="1600" b="0">
                  <a:latin typeface="+mn-lt"/>
                </a:rPr>
                <a:t>Temperature of oven </a:t>
              </a:r>
            </a:p>
          </p:txBody>
        </p:sp>
        <p:sp>
          <p:nvSpPr>
            <p:cNvPr id="64526" name="AutoShape 13"/>
            <p:cNvSpPr>
              <a:spLocks noChangeArrowheads="1"/>
            </p:cNvSpPr>
            <p:nvPr/>
          </p:nvSpPr>
          <p:spPr bwMode="auto">
            <a:xfrm>
              <a:off x="2590800" y="2209800"/>
              <a:ext cx="3733800" cy="2971800"/>
            </a:xfrm>
            <a:prstGeom prst="sun">
              <a:avLst>
                <a:gd name="adj" fmla="val 25000"/>
              </a:avLst>
            </a:prstGeom>
            <a:solidFill>
              <a:srgbClr val="FFCCFF"/>
            </a:solidFill>
            <a:ln w="9525">
              <a:solidFill>
                <a:schemeClr val="tx1"/>
              </a:solidFill>
              <a:miter lim="800000"/>
              <a:headEnd/>
              <a:tailEnd/>
            </a:ln>
          </p:spPr>
          <p:txBody>
            <a:bodyPr wrap="none" anchor="ct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endParaRPr lang="en-AU" altLang="en-US">
                <a:latin typeface="+mn-lt"/>
              </a:endParaRPr>
            </a:p>
          </p:txBody>
        </p:sp>
        <p:sp>
          <p:nvSpPr>
            <p:cNvPr id="64527" name="Text Box 14"/>
            <p:cNvSpPr txBox="1">
              <a:spLocks noChangeArrowheads="1"/>
            </p:cNvSpPr>
            <p:nvPr/>
          </p:nvSpPr>
          <p:spPr bwMode="auto">
            <a:xfrm>
              <a:off x="3657600" y="3276601"/>
              <a:ext cx="1752600" cy="808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pPr eaLnBrk="1" hangingPunct="1">
                <a:spcBef>
                  <a:spcPct val="50000"/>
                </a:spcBef>
              </a:pPr>
              <a:r>
                <a:rPr lang="en-US" altLang="en-US" sz="1800" b="0" dirty="0">
                  <a:latin typeface="+mn-lt"/>
                </a:rPr>
                <a:t>Discrete? Continuous?</a:t>
              </a:r>
            </a:p>
          </p:txBody>
        </p:sp>
        <p:sp>
          <p:nvSpPr>
            <p:cNvPr id="64528" name="Text Box 15"/>
            <p:cNvSpPr txBox="1">
              <a:spLocks noChangeArrowheads="1"/>
            </p:cNvSpPr>
            <p:nvPr/>
          </p:nvSpPr>
          <p:spPr bwMode="auto">
            <a:xfrm>
              <a:off x="228600" y="228600"/>
              <a:ext cx="8686800" cy="462034"/>
            </a:xfrm>
            <a:prstGeom prst="rect">
              <a:avLst/>
            </a:prstGeom>
            <a:solidFill>
              <a:srgbClr val="FFCCFF"/>
            </a:solidFill>
            <a:ln w="9525">
              <a:solidFill>
                <a:schemeClr val="accent2"/>
              </a:solidFill>
              <a:miter lim="800000"/>
              <a:headEnd/>
              <a:tailEnd/>
            </a:ln>
          </p:spPr>
          <p:txBody>
            <a:bodyPr>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pPr algn="ctr" eaLnBrk="1" hangingPunct="1">
                <a:spcBef>
                  <a:spcPct val="50000"/>
                </a:spcBef>
              </a:pPr>
              <a:r>
                <a:rPr lang="en-GB" altLang="en-US" sz="1800" b="0" dirty="0">
                  <a:latin typeface="+mn-lt"/>
                </a:rPr>
                <a:t>Group the following as either discrete or continuous data.</a:t>
              </a:r>
            </a:p>
          </p:txBody>
        </p:sp>
      </p:grpSp>
      <p:sp>
        <p:nvSpPr>
          <p:cNvPr id="64516" name="Rectangle 2"/>
          <p:cNvSpPr>
            <a:spLocks noGrp="1" noChangeArrowheads="1"/>
          </p:cNvSpPr>
          <p:nvPr>
            <p:ph type="title"/>
          </p:nvPr>
        </p:nvSpPr>
        <p:spPr/>
        <p:txBody>
          <a:bodyPr/>
          <a:lstStyle/>
          <a:p>
            <a:pPr eaLnBrk="1" hangingPunct="1"/>
            <a:r>
              <a:rPr lang="en-US" altLang="en-US"/>
              <a:t>Discrete &amp; Continuous Data </a:t>
            </a:r>
          </a:p>
        </p:txBody>
      </p:sp>
    </p:spTree>
    <p:extLst>
      <p:ext uri="{BB962C8B-B14F-4D97-AF65-F5344CB8AC3E}">
        <p14:creationId xmlns:p14="http://schemas.microsoft.com/office/powerpoint/2010/main" val="39198434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a:lstStyle/>
          <a:p>
            <a:r>
              <a:rPr lang="en-US" altLang="en-US"/>
              <a:t>Discrete &amp; Continuous Data</a:t>
            </a:r>
            <a:endParaRPr lang="en-MY" altLang="en-US"/>
          </a:p>
        </p:txBody>
      </p:sp>
      <p:sp>
        <p:nvSpPr>
          <p:cNvPr id="66563" name="Content Placeholder 2"/>
          <p:cNvSpPr>
            <a:spLocks noGrp="1"/>
          </p:cNvSpPr>
          <p:nvPr>
            <p:ph idx="1"/>
          </p:nvPr>
        </p:nvSpPr>
        <p:spPr>
          <a:xfrm>
            <a:off x="457200" y="1828800"/>
            <a:ext cx="8435280" cy="609600"/>
          </a:xfrm>
        </p:spPr>
        <p:txBody>
          <a:bodyPr/>
          <a:lstStyle/>
          <a:p>
            <a:r>
              <a:rPr lang="en-MY" altLang="en-US" sz="2800" dirty="0"/>
              <a:t>How about money? Is it a discrete or continuous data?</a:t>
            </a:r>
          </a:p>
        </p:txBody>
      </p:sp>
      <p:sp>
        <p:nvSpPr>
          <p:cNvPr id="66564"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F1F51B8F-94A5-465E-BC97-58369E5D839B}" type="slidenum">
              <a:rPr lang="en-US" altLang="en-US" sz="1000" smtClean="0">
                <a:solidFill>
                  <a:schemeClr val="bg1"/>
                </a:solidFill>
              </a:rPr>
              <a:pPr/>
              <a:t>58</a:t>
            </a:fld>
            <a:endParaRPr lang="en-US" altLang="en-US" sz="1000">
              <a:solidFill>
                <a:schemeClr val="bg1"/>
              </a:solidFill>
            </a:endParaRPr>
          </a:p>
        </p:txBody>
      </p:sp>
      <p:pic>
        <p:nvPicPr>
          <p:cNvPr id="66565"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2590800"/>
            <a:ext cx="3860800" cy="345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472521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0BB81DFC-20FC-4040-A077-1BE7CE03040F}" type="slidenum">
              <a:rPr lang="en-US" altLang="en-US" sz="1000" smtClean="0">
                <a:solidFill>
                  <a:schemeClr val="bg1"/>
                </a:solidFill>
              </a:rPr>
              <a:pPr/>
              <a:t>59</a:t>
            </a:fld>
            <a:endParaRPr lang="en-US" altLang="en-US" sz="1000">
              <a:solidFill>
                <a:schemeClr val="bg1"/>
              </a:solidFill>
            </a:endParaRPr>
          </a:p>
        </p:txBody>
      </p:sp>
      <p:sp>
        <p:nvSpPr>
          <p:cNvPr id="67587" name="Rectangle 2"/>
          <p:cNvSpPr>
            <a:spLocks noGrp="1" noChangeArrowheads="1"/>
          </p:cNvSpPr>
          <p:nvPr>
            <p:ph type="title"/>
          </p:nvPr>
        </p:nvSpPr>
        <p:spPr/>
        <p:txBody>
          <a:bodyPr/>
          <a:lstStyle/>
          <a:p>
            <a:pPr eaLnBrk="1" hangingPunct="1"/>
            <a:r>
              <a:rPr lang="en-US" altLang="en-US" dirty="0"/>
              <a:t>Levels of Measurement</a:t>
            </a:r>
          </a:p>
        </p:txBody>
      </p:sp>
      <p:sp>
        <p:nvSpPr>
          <p:cNvPr id="67588" name="Rectangle 3"/>
          <p:cNvSpPr>
            <a:spLocks noGrp="1" noChangeArrowheads="1"/>
          </p:cNvSpPr>
          <p:nvPr>
            <p:ph type="body" idx="1"/>
          </p:nvPr>
        </p:nvSpPr>
        <p:spPr/>
        <p:txBody>
          <a:bodyPr/>
          <a:lstStyle/>
          <a:p>
            <a:pPr algn="just" eaLnBrk="1" hangingPunct="1"/>
            <a:r>
              <a:rPr lang="en-US" altLang="en-US" sz="2800" dirty="0"/>
              <a:t>There are four levels of data measurement. Ranked from top to bottom in order of complexity and information content these are:</a:t>
            </a:r>
          </a:p>
          <a:p>
            <a:pPr lvl="1" algn="just" eaLnBrk="1" hangingPunct="1"/>
            <a:r>
              <a:rPr lang="en-US" altLang="en-US" sz="2400" dirty="0"/>
              <a:t>Nominal scale</a:t>
            </a:r>
          </a:p>
          <a:p>
            <a:pPr lvl="1" algn="just" eaLnBrk="1" hangingPunct="1"/>
            <a:r>
              <a:rPr lang="en-US" altLang="en-US" sz="2400" dirty="0"/>
              <a:t>Ordinal scale</a:t>
            </a:r>
          </a:p>
          <a:p>
            <a:pPr lvl="1" algn="just" eaLnBrk="1" hangingPunct="1"/>
            <a:r>
              <a:rPr lang="en-US" altLang="en-US" sz="2400" dirty="0"/>
              <a:t>Interval scale</a:t>
            </a:r>
          </a:p>
          <a:p>
            <a:pPr lvl="1" algn="just" eaLnBrk="1" hangingPunct="1"/>
            <a:r>
              <a:rPr lang="en-US" altLang="en-US" sz="2400" dirty="0"/>
              <a:t>Ratio scale</a:t>
            </a:r>
          </a:p>
          <a:p>
            <a:pPr algn="just" eaLnBrk="1" hangingPunct="1"/>
            <a:endParaRPr lang="en-US" altLang="en-US" sz="2800" dirty="0"/>
          </a:p>
        </p:txBody>
      </p:sp>
    </p:spTree>
    <p:extLst>
      <p:ext uri="{BB962C8B-B14F-4D97-AF65-F5344CB8AC3E}">
        <p14:creationId xmlns:p14="http://schemas.microsoft.com/office/powerpoint/2010/main" val="12697277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FE2F5E6F-B303-4297-A805-765F258D5C82}" type="slidenum">
              <a:rPr lang="en-US" altLang="en-US" sz="1000" smtClean="0">
                <a:solidFill>
                  <a:schemeClr val="bg1"/>
                </a:solidFill>
              </a:rPr>
              <a:pPr/>
              <a:t>60</a:t>
            </a:fld>
            <a:endParaRPr lang="en-US" altLang="en-US" sz="1000">
              <a:solidFill>
                <a:schemeClr val="bg1"/>
              </a:solidFill>
            </a:endParaRPr>
          </a:p>
        </p:txBody>
      </p:sp>
      <p:sp>
        <p:nvSpPr>
          <p:cNvPr id="68611" name="Rectangle 2"/>
          <p:cNvSpPr>
            <a:spLocks noGrp="1" noChangeArrowheads="1"/>
          </p:cNvSpPr>
          <p:nvPr>
            <p:ph type="title"/>
          </p:nvPr>
        </p:nvSpPr>
        <p:spPr/>
        <p:txBody>
          <a:bodyPr/>
          <a:lstStyle/>
          <a:p>
            <a:pPr eaLnBrk="1" hangingPunct="1"/>
            <a:r>
              <a:rPr lang="en-US" altLang="en-US" dirty="0"/>
              <a:t>Levels of Measurement</a:t>
            </a:r>
          </a:p>
        </p:txBody>
      </p:sp>
      <p:sp>
        <p:nvSpPr>
          <p:cNvPr id="68612" name="Rectangle 3"/>
          <p:cNvSpPr>
            <a:spLocks noGrp="1" noChangeArrowheads="1"/>
          </p:cNvSpPr>
          <p:nvPr>
            <p:ph type="body" idx="1"/>
          </p:nvPr>
        </p:nvSpPr>
        <p:spPr/>
        <p:txBody>
          <a:bodyPr/>
          <a:lstStyle/>
          <a:p>
            <a:pPr algn="just" eaLnBrk="1" hangingPunct="1"/>
            <a:r>
              <a:rPr lang="en-US" altLang="en-US" sz="2800" dirty="0"/>
              <a:t>Each level of measurement is characterized by its properties. </a:t>
            </a:r>
          </a:p>
          <a:p>
            <a:pPr lvl="1" algn="just" eaLnBrk="1" hangingPunct="1"/>
            <a:r>
              <a:rPr lang="en-US" altLang="en-US" sz="2400" dirty="0"/>
              <a:t>Nominal measurement has just one property: CLASSIFICATION. </a:t>
            </a:r>
          </a:p>
          <a:p>
            <a:pPr lvl="1" algn="just" eaLnBrk="1" hangingPunct="1"/>
            <a:r>
              <a:rPr lang="en-US" altLang="en-US" sz="2400" dirty="0"/>
              <a:t>Ordinal measurement has two properties: CLASSIFICATION and ORDER. </a:t>
            </a:r>
          </a:p>
          <a:p>
            <a:pPr lvl="1" algn="just" eaLnBrk="1" hangingPunct="1"/>
            <a:r>
              <a:rPr lang="en-US" altLang="en-US" sz="2400" dirty="0"/>
              <a:t>Interval measurement has three properties: CLASSIFICATION, ORDER and EQUAL INTERVALS. </a:t>
            </a:r>
          </a:p>
          <a:p>
            <a:pPr lvl="1" algn="just" eaLnBrk="1" hangingPunct="1"/>
            <a:r>
              <a:rPr lang="en-US" altLang="en-US" sz="2400" dirty="0"/>
              <a:t>Ratio data has four properties: CLASSIFICATION, ORDER, EQUAL INTERVALS and TRUE ZERO. </a:t>
            </a:r>
          </a:p>
          <a:p>
            <a:pPr algn="just" eaLnBrk="1" hangingPunct="1"/>
            <a:endParaRPr lang="en-US" altLang="en-US" sz="2800" dirty="0"/>
          </a:p>
        </p:txBody>
      </p:sp>
    </p:spTree>
    <p:extLst>
      <p:ext uri="{BB962C8B-B14F-4D97-AF65-F5344CB8AC3E}">
        <p14:creationId xmlns:p14="http://schemas.microsoft.com/office/powerpoint/2010/main" val="8531835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783E14F4-77C5-4F94-9AAA-C9A71E93DDAF}" type="slidenum">
              <a:rPr lang="en-US" altLang="en-US" sz="1000" smtClean="0">
                <a:solidFill>
                  <a:schemeClr val="bg1"/>
                </a:solidFill>
              </a:rPr>
              <a:pPr/>
              <a:t>61</a:t>
            </a:fld>
            <a:endParaRPr lang="en-US" altLang="en-US" sz="1000">
              <a:solidFill>
                <a:schemeClr val="bg1"/>
              </a:solidFill>
            </a:endParaRPr>
          </a:p>
        </p:txBody>
      </p:sp>
      <p:sp>
        <p:nvSpPr>
          <p:cNvPr id="69635" name="Rectangle 2"/>
          <p:cNvSpPr>
            <a:spLocks noGrp="1" noChangeArrowheads="1"/>
          </p:cNvSpPr>
          <p:nvPr>
            <p:ph type="title"/>
          </p:nvPr>
        </p:nvSpPr>
        <p:spPr/>
        <p:txBody>
          <a:bodyPr/>
          <a:lstStyle/>
          <a:p>
            <a:pPr eaLnBrk="1" hangingPunct="1"/>
            <a:r>
              <a:rPr lang="en-US" altLang="en-US" dirty="0"/>
              <a:t>Levels of Measurement </a:t>
            </a:r>
            <a:br>
              <a:rPr lang="en-US" altLang="en-US" dirty="0"/>
            </a:br>
            <a:r>
              <a:rPr lang="en-US" altLang="en-US" dirty="0"/>
              <a:t>- Nominal Scales</a:t>
            </a:r>
          </a:p>
        </p:txBody>
      </p:sp>
      <p:sp>
        <p:nvSpPr>
          <p:cNvPr id="69636" name="Rectangle 3"/>
          <p:cNvSpPr>
            <a:spLocks noGrp="1" noChangeArrowheads="1"/>
          </p:cNvSpPr>
          <p:nvPr>
            <p:ph type="body" idx="1"/>
          </p:nvPr>
        </p:nvSpPr>
        <p:spPr/>
        <p:txBody>
          <a:bodyPr/>
          <a:lstStyle/>
          <a:p>
            <a:pPr algn="just" eaLnBrk="1" hangingPunct="1"/>
            <a:r>
              <a:rPr lang="en-US" altLang="en-US" sz="2800" dirty="0">
                <a:solidFill>
                  <a:schemeClr val="accent2"/>
                </a:solidFill>
              </a:rPr>
              <a:t>Properties:</a:t>
            </a:r>
            <a:r>
              <a:rPr lang="en-US" altLang="en-US" sz="2800" dirty="0"/>
              <a:t> classification </a:t>
            </a:r>
          </a:p>
          <a:p>
            <a:pPr algn="just" eaLnBrk="1" hangingPunct="1"/>
            <a:r>
              <a:rPr lang="en-US" altLang="en-US" sz="2800" dirty="0">
                <a:solidFill>
                  <a:schemeClr val="accent2"/>
                </a:solidFill>
              </a:rPr>
              <a:t>Observations reflect:</a:t>
            </a:r>
            <a:r>
              <a:rPr lang="en-US" altLang="en-US" sz="2800" dirty="0"/>
              <a:t> differences in kind </a:t>
            </a:r>
          </a:p>
          <a:p>
            <a:pPr algn="just" eaLnBrk="1" hangingPunct="1"/>
            <a:r>
              <a:rPr lang="en-US" altLang="en-US" sz="2800" dirty="0">
                <a:solidFill>
                  <a:schemeClr val="accent2"/>
                </a:solidFill>
              </a:rPr>
              <a:t>Examples</a:t>
            </a:r>
            <a:r>
              <a:rPr lang="en-US" altLang="en-US" sz="2800" dirty="0"/>
              <a:t>: gender, ethnic background, major in college</a:t>
            </a:r>
          </a:p>
          <a:p>
            <a:pPr algn="just" eaLnBrk="1" hangingPunct="1"/>
            <a:r>
              <a:rPr lang="en-US" altLang="en-US" sz="2800" dirty="0"/>
              <a:t>Nominal measurement is simply concerned with sorting observations into categories. </a:t>
            </a:r>
          </a:p>
          <a:p>
            <a:pPr algn="just" eaLnBrk="1" hangingPunct="1"/>
            <a:r>
              <a:rPr lang="en-US" altLang="en-US" sz="2800" dirty="0"/>
              <a:t>Because the single property of nominal data is classification it tells us nothing about differences in degree or amount. </a:t>
            </a:r>
          </a:p>
        </p:txBody>
      </p:sp>
    </p:spTree>
    <p:extLst>
      <p:ext uri="{BB962C8B-B14F-4D97-AF65-F5344CB8AC3E}">
        <p14:creationId xmlns:p14="http://schemas.microsoft.com/office/powerpoint/2010/main" val="36744937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0488E93C-9125-4DA2-BEDF-CE878CCA4CF8}" type="slidenum">
              <a:rPr lang="en-US" altLang="en-US" sz="1000" smtClean="0">
                <a:solidFill>
                  <a:schemeClr val="bg1"/>
                </a:solidFill>
              </a:rPr>
              <a:pPr/>
              <a:t>62</a:t>
            </a:fld>
            <a:endParaRPr lang="en-US" altLang="en-US" sz="1000">
              <a:solidFill>
                <a:schemeClr val="bg1"/>
              </a:solidFill>
            </a:endParaRPr>
          </a:p>
        </p:txBody>
      </p:sp>
      <p:sp>
        <p:nvSpPr>
          <p:cNvPr id="70659" name="Rectangle 2"/>
          <p:cNvSpPr>
            <a:spLocks noGrp="1" noChangeArrowheads="1"/>
          </p:cNvSpPr>
          <p:nvPr>
            <p:ph type="title"/>
          </p:nvPr>
        </p:nvSpPr>
        <p:spPr/>
        <p:txBody>
          <a:bodyPr/>
          <a:lstStyle/>
          <a:p>
            <a:pPr eaLnBrk="1" hangingPunct="1"/>
            <a:r>
              <a:rPr lang="en-US" altLang="en-US" dirty="0"/>
              <a:t>Levels of Measurement </a:t>
            </a:r>
            <a:br>
              <a:rPr lang="en-US" altLang="en-US" dirty="0"/>
            </a:br>
            <a:r>
              <a:rPr lang="en-US" altLang="en-US" dirty="0"/>
              <a:t>- Nominal Scales</a:t>
            </a:r>
          </a:p>
        </p:txBody>
      </p:sp>
      <p:sp>
        <p:nvSpPr>
          <p:cNvPr id="70660" name="Rectangle 3"/>
          <p:cNvSpPr>
            <a:spLocks noGrp="1" noChangeArrowheads="1"/>
          </p:cNvSpPr>
          <p:nvPr>
            <p:ph type="body" idx="1"/>
          </p:nvPr>
        </p:nvSpPr>
        <p:spPr/>
        <p:txBody>
          <a:bodyPr/>
          <a:lstStyle/>
          <a:p>
            <a:pPr algn="just" eaLnBrk="1" hangingPunct="1"/>
            <a:r>
              <a:rPr lang="en-US" altLang="en-US" sz="2800" dirty="0"/>
              <a:t>Numbers assigned to categories (as identification codes) have no numeric value (we cannot add, subtract, divide or multiply nominal data) and any ordering of categories is arbitrary. </a:t>
            </a:r>
          </a:p>
          <a:p>
            <a:pPr algn="just" eaLnBrk="1" hangingPunct="1"/>
            <a:r>
              <a:rPr lang="en-US" altLang="en-US" sz="2800" dirty="0"/>
              <a:t>This is the most primitive form of measurement. The presence vs. absence of something is a form of nominal measurement (“do you smoke?” YES, NO). </a:t>
            </a:r>
          </a:p>
          <a:p>
            <a:pPr algn="just" eaLnBrk="1" hangingPunct="1"/>
            <a:r>
              <a:rPr lang="en-US" altLang="en-US" sz="2800" dirty="0"/>
              <a:t>Although it is considered a form of measurement the collection of nominal data is more easily thought of as a sorting method.</a:t>
            </a:r>
          </a:p>
        </p:txBody>
      </p:sp>
    </p:spTree>
    <p:extLst>
      <p:ext uri="{BB962C8B-B14F-4D97-AF65-F5344CB8AC3E}">
        <p14:creationId xmlns:p14="http://schemas.microsoft.com/office/powerpoint/2010/main" val="23093012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Number Placeholder 6"/>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7DA526B7-F89C-4B51-BD2B-2A015A106CF0}" type="slidenum">
              <a:rPr lang="en-US" altLang="en-US" sz="1000" smtClean="0">
                <a:solidFill>
                  <a:schemeClr val="bg1"/>
                </a:solidFill>
              </a:rPr>
              <a:pPr/>
              <a:t>63</a:t>
            </a:fld>
            <a:endParaRPr lang="en-US" altLang="en-US" sz="1000">
              <a:solidFill>
                <a:schemeClr val="bg1"/>
              </a:solidFill>
            </a:endParaRPr>
          </a:p>
        </p:txBody>
      </p:sp>
      <p:sp>
        <p:nvSpPr>
          <p:cNvPr id="71683" name="Rectangle 10"/>
          <p:cNvSpPr>
            <a:spLocks noGrp="1" noChangeArrowheads="1"/>
          </p:cNvSpPr>
          <p:nvPr>
            <p:ph type="title"/>
          </p:nvPr>
        </p:nvSpPr>
        <p:spPr/>
        <p:txBody>
          <a:bodyPr/>
          <a:lstStyle/>
          <a:p>
            <a:pPr eaLnBrk="1" hangingPunct="1"/>
            <a:r>
              <a:rPr lang="en-US" altLang="en-US" dirty="0"/>
              <a:t>Levels of Measurement </a:t>
            </a:r>
            <a:br>
              <a:rPr lang="en-US" altLang="en-US" dirty="0"/>
            </a:br>
            <a:r>
              <a:rPr lang="en-US" altLang="en-US" dirty="0"/>
              <a:t>- Nominal Scales</a:t>
            </a:r>
          </a:p>
        </p:txBody>
      </p:sp>
      <p:pic>
        <p:nvPicPr>
          <p:cNvPr id="71684" name="Picture 5" descr="nominal"/>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611560" y="2564904"/>
            <a:ext cx="4175750" cy="2082155"/>
          </a:xfrm>
          <a:noFill/>
        </p:spPr>
      </p:pic>
      <p:pic>
        <p:nvPicPr>
          <p:cNvPr id="71685" name="Picture 9" descr="ba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860032" y="3429000"/>
            <a:ext cx="4038600" cy="2971800"/>
          </a:xfrm>
          <a:noFill/>
        </p:spPr>
      </p:pic>
      <p:sp>
        <p:nvSpPr>
          <p:cNvPr id="71686" name="Text Box 12"/>
          <p:cNvSpPr txBox="1">
            <a:spLocks noChangeArrowheads="1"/>
          </p:cNvSpPr>
          <p:nvPr/>
        </p:nvSpPr>
        <p:spPr bwMode="auto">
          <a:xfrm>
            <a:off x="539552" y="1844824"/>
            <a:ext cx="145020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r>
              <a:rPr lang="en-US" altLang="en-US" sz="2800" b="0" dirty="0">
                <a:latin typeface="+mn-lt"/>
              </a:rPr>
              <a:t>Example</a:t>
            </a:r>
          </a:p>
        </p:txBody>
      </p:sp>
    </p:spTree>
    <p:extLst>
      <p:ext uri="{BB962C8B-B14F-4D97-AF65-F5344CB8AC3E}">
        <p14:creationId xmlns:p14="http://schemas.microsoft.com/office/powerpoint/2010/main" val="35149389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p:cNvSpPr>
          <p:nvPr>
            <p:ph type="title"/>
          </p:nvPr>
        </p:nvSpPr>
        <p:spPr/>
        <p:txBody>
          <a:bodyPr/>
          <a:lstStyle/>
          <a:p>
            <a:r>
              <a:rPr lang="en-US" altLang="en-US" dirty="0"/>
              <a:t>Levels of Measurement </a:t>
            </a:r>
            <a:br>
              <a:rPr lang="en-US" altLang="en-US" dirty="0"/>
            </a:br>
            <a:r>
              <a:rPr lang="en-US" altLang="en-US" dirty="0"/>
              <a:t>- Nominal Scales</a:t>
            </a:r>
            <a:endParaRPr lang="en-MY" altLang="en-US" dirty="0"/>
          </a:p>
        </p:txBody>
      </p:sp>
      <p:sp>
        <p:nvSpPr>
          <p:cNvPr id="72707"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9C156F56-F9E1-4D9A-8F4B-713B7DCE4063}" type="slidenum">
              <a:rPr lang="en-US" altLang="en-US" sz="1000" smtClean="0">
                <a:solidFill>
                  <a:schemeClr val="bg1"/>
                </a:solidFill>
              </a:rPr>
              <a:pPr/>
              <a:t>64</a:t>
            </a:fld>
            <a:endParaRPr lang="en-US" altLang="en-US" sz="1000">
              <a:solidFill>
                <a:schemeClr val="bg1"/>
              </a:solidFill>
            </a:endParaRPr>
          </a:p>
        </p:txBody>
      </p:sp>
      <p:pic>
        <p:nvPicPr>
          <p:cNvPr id="72708" name="Picture 2" descr="http://images.tutorvista.com/cms/images/45/Central-Tendency-Examples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9952" y="2286000"/>
            <a:ext cx="4932362"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0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1988840"/>
            <a:ext cx="3923928" cy="3797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49581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p:cNvSpPr>
          <p:nvPr>
            <p:ph type="title"/>
          </p:nvPr>
        </p:nvSpPr>
        <p:spPr/>
        <p:txBody>
          <a:bodyPr/>
          <a:lstStyle/>
          <a:p>
            <a:r>
              <a:rPr lang="en-US" altLang="en-US" dirty="0"/>
              <a:t>Levels of Measurement </a:t>
            </a:r>
            <a:br>
              <a:rPr lang="en-US" altLang="en-US" dirty="0"/>
            </a:br>
            <a:r>
              <a:rPr lang="en-US" altLang="en-US" dirty="0"/>
              <a:t>- Nominal Scales</a:t>
            </a:r>
            <a:endParaRPr lang="en-MY" altLang="en-US" dirty="0"/>
          </a:p>
        </p:txBody>
      </p:sp>
      <p:sp>
        <p:nvSpPr>
          <p:cNvPr id="73731"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8FAD646E-7744-486D-A8BA-692EE257BCF0}" type="slidenum">
              <a:rPr lang="en-US" altLang="en-US" sz="1000" smtClean="0">
                <a:solidFill>
                  <a:schemeClr val="bg1"/>
                </a:solidFill>
              </a:rPr>
              <a:pPr/>
              <a:t>65</a:t>
            </a:fld>
            <a:endParaRPr lang="en-US" altLang="en-US" sz="1000">
              <a:solidFill>
                <a:schemeClr val="bg1"/>
              </a:solidFill>
            </a:endParaRPr>
          </a:p>
        </p:txBody>
      </p:sp>
      <p:pic>
        <p:nvPicPr>
          <p:cNvPr id="73732" name="Picture 2" descr="http://www.mymarketresearchmethods.com/wp-content/uploads/2012/11/nominal-scal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900" y="1600200"/>
            <a:ext cx="89281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3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3810000"/>
            <a:ext cx="5334000" cy="262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395397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5FB31021-1487-49EF-83CF-803A5663C1BE}" type="slidenum">
              <a:rPr lang="en-US" altLang="en-US" sz="1000" smtClean="0">
                <a:solidFill>
                  <a:schemeClr val="bg1"/>
                </a:solidFill>
              </a:rPr>
              <a:pPr/>
              <a:t>66</a:t>
            </a:fld>
            <a:endParaRPr lang="en-US" altLang="en-US" sz="1000">
              <a:solidFill>
                <a:schemeClr val="bg1"/>
              </a:solidFill>
            </a:endParaRPr>
          </a:p>
        </p:txBody>
      </p:sp>
      <p:sp>
        <p:nvSpPr>
          <p:cNvPr id="74755" name="Rectangle 2"/>
          <p:cNvSpPr>
            <a:spLocks noGrp="1" noChangeArrowheads="1"/>
          </p:cNvSpPr>
          <p:nvPr>
            <p:ph type="title"/>
          </p:nvPr>
        </p:nvSpPr>
        <p:spPr/>
        <p:txBody>
          <a:bodyPr/>
          <a:lstStyle/>
          <a:p>
            <a:pPr eaLnBrk="1" hangingPunct="1"/>
            <a:r>
              <a:rPr lang="en-US" altLang="en-US" dirty="0"/>
              <a:t>Levels of Measurement </a:t>
            </a:r>
            <a:br>
              <a:rPr lang="en-US" altLang="en-US" dirty="0"/>
            </a:br>
            <a:r>
              <a:rPr lang="en-US" altLang="en-US" dirty="0"/>
              <a:t>- Ordinal Scales</a:t>
            </a:r>
          </a:p>
        </p:txBody>
      </p:sp>
      <p:sp>
        <p:nvSpPr>
          <p:cNvPr id="74756" name="Rectangle 3"/>
          <p:cNvSpPr>
            <a:spLocks noGrp="1" noChangeArrowheads="1"/>
          </p:cNvSpPr>
          <p:nvPr>
            <p:ph type="body" idx="1"/>
          </p:nvPr>
        </p:nvSpPr>
        <p:spPr/>
        <p:txBody>
          <a:bodyPr/>
          <a:lstStyle/>
          <a:p>
            <a:pPr eaLnBrk="1" hangingPunct="1"/>
            <a:r>
              <a:rPr lang="en-US" altLang="en-US" sz="2800" dirty="0">
                <a:solidFill>
                  <a:schemeClr val="accent2"/>
                </a:solidFill>
              </a:rPr>
              <a:t>Properties:</a:t>
            </a:r>
            <a:r>
              <a:rPr lang="en-US" altLang="en-US" sz="2800" dirty="0"/>
              <a:t> classification, order </a:t>
            </a:r>
            <a:br>
              <a:rPr lang="en-US" altLang="en-US" sz="2800" dirty="0"/>
            </a:br>
            <a:r>
              <a:rPr lang="en-US" altLang="en-US" sz="2800" dirty="0">
                <a:solidFill>
                  <a:schemeClr val="accent2"/>
                </a:solidFill>
              </a:rPr>
              <a:t>Observations reflect:</a:t>
            </a:r>
            <a:r>
              <a:rPr lang="en-US" altLang="en-US" sz="2800" dirty="0"/>
              <a:t> differences in degree </a:t>
            </a:r>
            <a:br>
              <a:rPr lang="en-US" altLang="en-US" sz="2800" dirty="0"/>
            </a:br>
            <a:r>
              <a:rPr lang="en-US" altLang="en-US" sz="2800" dirty="0">
                <a:solidFill>
                  <a:schemeClr val="accent2"/>
                </a:solidFill>
              </a:rPr>
              <a:t>Examples:</a:t>
            </a:r>
            <a:r>
              <a:rPr lang="en-US" altLang="en-US" sz="2800" dirty="0"/>
              <a:t> Likert scale categories, rankings, academic letter grade, stages in development</a:t>
            </a:r>
          </a:p>
          <a:p>
            <a:pPr algn="just" eaLnBrk="1" hangingPunct="1"/>
            <a:r>
              <a:rPr lang="en-US" altLang="en-US" sz="2800" dirty="0"/>
              <a:t>The distinctive property of ordinal measurement is order. </a:t>
            </a:r>
          </a:p>
          <a:p>
            <a:pPr algn="just" eaLnBrk="1" hangingPunct="1"/>
            <a:r>
              <a:rPr lang="en-US" altLang="en-US" sz="2800" dirty="0"/>
              <a:t>On a typical Likert Scale “strongly agree” represents more agreement than “agree”. However, we do not know how much more. </a:t>
            </a:r>
          </a:p>
        </p:txBody>
      </p:sp>
    </p:spTree>
    <p:extLst>
      <p:ext uri="{BB962C8B-B14F-4D97-AF65-F5344CB8AC3E}">
        <p14:creationId xmlns:p14="http://schemas.microsoft.com/office/powerpoint/2010/main" val="353931016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24EC4E4F-912B-405B-B752-C39552CF8D96}" type="slidenum">
              <a:rPr lang="en-US" altLang="en-US" sz="1000" smtClean="0">
                <a:solidFill>
                  <a:schemeClr val="bg1"/>
                </a:solidFill>
              </a:rPr>
              <a:pPr/>
              <a:t>67</a:t>
            </a:fld>
            <a:endParaRPr lang="en-US" altLang="en-US" sz="1000">
              <a:solidFill>
                <a:schemeClr val="bg1"/>
              </a:solidFill>
            </a:endParaRPr>
          </a:p>
        </p:txBody>
      </p:sp>
      <p:sp>
        <p:nvSpPr>
          <p:cNvPr id="75779" name="Rectangle 2"/>
          <p:cNvSpPr>
            <a:spLocks noGrp="1" noChangeArrowheads="1"/>
          </p:cNvSpPr>
          <p:nvPr>
            <p:ph type="title"/>
          </p:nvPr>
        </p:nvSpPr>
        <p:spPr/>
        <p:txBody>
          <a:bodyPr/>
          <a:lstStyle/>
          <a:p>
            <a:pPr eaLnBrk="1" hangingPunct="1"/>
            <a:r>
              <a:rPr lang="en-US" altLang="en-US" dirty="0"/>
              <a:t>Levels of Measurement </a:t>
            </a:r>
            <a:br>
              <a:rPr lang="en-US" altLang="en-US" dirty="0"/>
            </a:br>
            <a:r>
              <a:rPr lang="en-US" altLang="en-US" dirty="0"/>
              <a:t>- Ordinal Scales</a:t>
            </a:r>
          </a:p>
        </p:txBody>
      </p:sp>
      <p:sp>
        <p:nvSpPr>
          <p:cNvPr id="75780" name="Rectangle 3"/>
          <p:cNvSpPr>
            <a:spLocks noGrp="1" noChangeArrowheads="1"/>
          </p:cNvSpPr>
          <p:nvPr>
            <p:ph type="body" idx="1"/>
          </p:nvPr>
        </p:nvSpPr>
        <p:spPr>
          <a:xfrm>
            <a:off x="457200" y="1772816"/>
            <a:ext cx="8229600" cy="4353347"/>
          </a:xfrm>
        </p:spPr>
        <p:txBody>
          <a:bodyPr/>
          <a:lstStyle/>
          <a:p>
            <a:pPr eaLnBrk="1" hangingPunct="1">
              <a:buFontTx/>
              <a:buNone/>
            </a:pPr>
            <a:r>
              <a:rPr lang="en-US" altLang="en-US" sz="2800" dirty="0"/>
              <a:t>Example: The Likert Scale</a:t>
            </a:r>
          </a:p>
        </p:txBody>
      </p:sp>
      <p:graphicFrame>
        <p:nvGraphicFramePr>
          <p:cNvPr id="161027" name="Group 259"/>
          <p:cNvGraphicFramePr>
            <a:graphicFrameLocks noGrp="1"/>
          </p:cNvGraphicFramePr>
          <p:nvPr>
            <p:extLst>
              <p:ext uri="{D42A27DB-BD31-4B8C-83A1-F6EECF244321}">
                <p14:modId xmlns:p14="http://schemas.microsoft.com/office/powerpoint/2010/main" val="508866634"/>
              </p:ext>
            </p:extLst>
          </p:nvPr>
        </p:nvGraphicFramePr>
        <p:xfrm>
          <a:off x="251520" y="2479888"/>
          <a:ext cx="8640960" cy="2926080"/>
        </p:xfrm>
        <a:graphic>
          <a:graphicData uri="http://schemas.openxmlformats.org/drawingml/2006/table">
            <a:tbl>
              <a:tblPr/>
              <a:tblGrid>
                <a:gridCol w="3810000">
                  <a:extLst>
                    <a:ext uri="{9D8B030D-6E8A-4147-A177-3AD203B41FA5}">
                      <a16:colId xmlns:a16="http://schemas.microsoft.com/office/drawing/2014/main" val="20000"/>
                    </a:ext>
                  </a:extLst>
                </a:gridCol>
                <a:gridCol w="1014536">
                  <a:extLst>
                    <a:ext uri="{9D8B030D-6E8A-4147-A177-3AD203B41FA5}">
                      <a16:colId xmlns:a16="http://schemas.microsoft.com/office/drawing/2014/main" val="20001"/>
                    </a:ext>
                  </a:extLst>
                </a:gridCol>
                <a:gridCol w="788352">
                  <a:extLst>
                    <a:ext uri="{9D8B030D-6E8A-4147-A177-3AD203B41FA5}">
                      <a16:colId xmlns:a16="http://schemas.microsoft.com/office/drawing/2014/main" val="20002"/>
                    </a:ext>
                  </a:extLst>
                </a:gridCol>
                <a:gridCol w="952818">
                  <a:extLst>
                    <a:ext uri="{9D8B030D-6E8A-4147-A177-3AD203B41FA5}">
                      <a16:colId xmlns:a16="http://schemas.microsoft.com/office/drawing/2014/main" val="20003"/>
                    </a:ext>
                  </a:extLst>
                </a:gridCol>
                <a:gridCol w="1053465">
                  <a:extLst>
                    <a:ext uri="{9D8B030D-6E8A-4147-A177-3AD203B41FA5}">
                      <a16:colId xmlns:a16="http://schemas.microsoft.com/office/drawing/2014/main" val="20004"/>
                    </a:ext>
                  </a:extLst>
                </a:gridCol>
                <a:gridCol w="1021789">
                  <a:extLst>
                    <a:ext uri="{9D8B030D-6E8A-4147-A177-3AD203B41FA5}">
                      <a16:colId xmlns:a16="http://schemas.microsoft.com/office/drawing/2014/main" val="20005"/>
                    </a:ext>
                  </a:extLst>
                </a:gridCol>
              </a:tblGrid>
              <a:tr h="396875">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3200" b="0" i="0" u="none" strike="noStrike" cap="none" normalizeH="0" baseline="0">
                        <a:ln>
                          <a:noFill/>
                        </a:ln>
                        <a:solidFill>
                          <a:schemeClr val="tx1"/>
                        </a:solidFill>
                        <a:effectLst/>
                        <a:latin typeface="+mn-lt"/>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mn-lt"/>
                          <a:ea typeface="Times New Roman" pitchFamily="18" charset="0"/>
                          <a:cs typeface="Arial" charset="0"/>
                        </a:rPr>
                        <a:t>Strongly Agree</a:t>
                      </a:r>
                      <a:endParaRPr kumimoji="0" lang="en-US" altLang="en-US" sz="1800" b="1" i="0" u="none" strike="noStrike" cap="none" normalizeH="0" baseline="0">
                        <a:ln>
                          <a:noFill/>
                        </a:ln>
                        <a:solidFill>
                          <a:schemeClr val="tx1"/>
                        </a:solidFill>
                        <a:effectLst/>
                        <a:latin typeface="+mn-lt"/>
                        <a:ea typeface="ＭＳ Ｐゴシック" pitchFamily="96" charset="-128"/>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mn-lt"/>
                          <a:ea typeface="Times New Roman" pitchFamily="18" charset="0"/>
                          <a:cs typeface="Arial" charset="0"/>
                        </a:rPr>
                        <a:t>Agree</a:t>
                      </a:r>
                      <a:endParaRPr kumimoji="0" lang="en-US" altLang="en-US" sz="1800" b="1" i="0" u="none" strike="noStrike" cap="none" normalizeH="0" baseline="0">
                        <a:ln>
                          <a:noFill/>
                        </a:ln>
                        <a:solidFill>
                          <a:schemeClr val="tx1"/>
                        </a:solidFill>
                        <a:effectLst/>
                        <a:latin typeface="+mn-lt"/>
                        <a:ea typeface="ＭＳ Ｐゴシック" pitchFamily="96" charset="-128"/>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mn-lt"/>
                          <a:ea typeface="Times New Roman" pitchFamily="18" charset="0"/>
                          <a:cs typeface="Arial" charset="0"/>
                        </a:rPr>
                        <a:t>Neither</a:t>
                      </a:r>
                      <a:endParaRPr kumimoji="0" lang="en-US" altLang="en-US" sz="1800" b="1" i="0" u="none" strike="noStrike" cap="none" normalizeH="0" baseline="0">
                        <a:ln>
                          <a:noFill/>
                        </a:ln>
                        <a:solidFill>
                          <a:schemeClr val="tx1"/>
                        </a:solidFill>
                        <a:effectLst/>
                        <a:latin typeface="+mn-lt"/>
                        <a:ea typeface="ＭＳ Ｐゴシック" pitchFamily="96" charset="-128"/>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mn-lt"/>
                          <a:ea typeface="Times New Roman" pitchFamily="18" charset="0"/>
                          <a:cs typeface="Arial" charset="0"/>
                        </a:rPr>
                        <a:t>Disagree</a:t>
                      </a:r>
                      <a:endParaRPr kumimoji="0" lang="en-US" altLang="en-US" sz="1800" b="1" i="0" u="none" strike="noStrike" cap="none" normalizeH="0" baseline="0">
                        <a:ln>
                          <a:noFill/>
                        </a:ln>
                        <a:solidFill>
                          <a:schemeClr val="tx1"/>
                        </a:solidFill>
                        <a:effectLst/>
                        <a:latin typeface="+mn-lt"/>
                        <a:ea typeface="ＭＳ Ｐゴシック" pitchFamily="96" charset="-128"/>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mn-lt"/>
                          <a:ea typeface="Times New Roman" pitchFamily="18" charset="0"/>
                          <a:cs typeface="Arial" charset="0"/>
                        </a:rPr>
                        <a:t>Strongly Disagree</a:t>
                      </a:r>
                      <a:endParaRPr kumimoji="0" lang="en-US" altLang="en-US" sz="1800" b="1" i="0" u="none" strike="noStrike" cap="none" normalizeH="0" baseline="0">
                        <a:ln>
                          <a:noFill/>
                        </a:ln>
                        <a:solidFill>
                          <a:schemeClr val="tx1"/>
                        </a:solidFill>
                        <a:effectLst/>
                        <a:latin typeface="+mn-lt"/>
                        <a:ea typeface="ＭＳ Ｐゴシック" pitchFamily="96" charset="-128"/>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44475">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mn-lt"/>
                          <a:ea typeface="Times New Roman" pitchFamily="18" charset="0"/>
                          <a:cs typeface="Arial" charset="0"/>
                        </a:rPr>
                        <a:t>If the price of raw materials fell firms would reduce the price of their food products.</a:t>
                      </a:r>
                      <a:endParaRPr kumimoji="0" lang="en-US" altLang="en-US" sz="3600" b="1" i="0" u="none" strike="noStrike" cap="none" normalizeH="0" baseline="0">
                        <a:ln>
                          <a:noFill/>
                        </a:ln>
                        <a:solidFill>
                          <a:schemeClr val="tx1"/>
                        </a:solidFill>
                        <a:effectLst/>
                        <a:latin typeface="+mn-lt"/>
                        <a:ea typeface="ＭＳ Ｐゴシック" pitchFamily="96" charset="-128"/>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mn-lt"/>
                          <a:ea typeface="Times New Roman" pitchFamily="18" charset="0"/>
                          <a:cs typeface="Arial" charset="0"/>
                        </a:rPr>
                        <a:t>1</a:t>
                      </a:r>
                      <a:endParaRPr kumimoji="0" lang="en-US" altLang="en-US" sz="3600" b="1" i="0" u="none" strike="noStrike" cap="none" normalizeH="0" baseline="0">
                        <a:ln>
                          <a:noFill/>
                        </a:ln>
                        <a:solidFill>
                          <a:schemeClr val="tx1"/>
                        </a:solidFill>
                        <a:effectLst/>
                        <a:latin typeface="+mn-lt"/>
                        <a:ea typeface="ＭＳ Ｐゴシック" pitchFamily="96" charset="-128"/>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mn-lt"/>
                          <a:ea typeface="Times New Roman" pitchFamily="18" charset="0"/>
                          <a:cs typeface="Arial" charset="0"/>
                        </a:rPr>
                        <a:t>2</a:t>
                      </a:r>
                      <a:endParaRPr kumimoji="0" lang="en-US" altLang="en-US" sz="3600" b="1" i="0" u="none" strike="noStrike" cap="none" normalizeH="0" baseline="0">
                        <a:ln>
                          <a:noFill/>
                        </a:ln>
                        <a:solidFill>
                          <a:schemeClr val="tx1"/>
                        </a:solidFill>
                        <a:effectLst/>
                        <a:latin typeface="+mn-lt"/>
                        <a:ea typeface="ＭＳ Ｐゴシック" pitchFamily="96" charset="-128"/>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mn-lt"/>
                          <a:ea typeface="Times New Roman" pitchFamily="18" charset="0"/>
                          <a:cs typeface="Arial" charset="0"/>
                        </a:rPr>
                        <a:t>3</a:t>
                      </a:r>
                      <a:endParaRPr kumimoji="0" lang="en-US" altLang="en-US" sz="3600" b="1" i="0" u="none" strike="noStrike" cap="none" normalizeH="0" baseline="0">
                        <a:ln>
                          <a:noFill/>
                        </a:ln>
                        <a:solidFill>
                          <a:schemeClr val="tx1"/>
                        </a:solidFill>
                        <a:effectLst/>
                        <a:latin typeface="+mn-lt"/>
                        <a:ea typeface="ＭＳ Ｐゴシック" pitchFamily="96" charset="-128"/>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mn-lt"/>
                          <a:ea typeface="Times New Roman" pitchFamily="18" charset="0"/>
                          <a:cs typeface="Arial" charset="0"/>
                        </a:rPr>
                        <a:t>4</a:t>
                      </a:r>
                      <a:endParaRPr kumimoji="0" lang="en-US" altLang="en-US" sz="3600" b="1" i="0" u="none" strike="noStrike" cap="none" normalizeH="0" baseline="0">
                        <a:ln>
                          <a:noFill/>
                        </a:ln>
                        <a:solidFill>
                          <a:schemeClr val="tx1"/>
                        </a:solidFill>
                        <a:effectLst/>
                        <a:latin typeface="+mn-lt"/>
                        <a:ea typeface="ＭＳ Ｐゴシック" pitchFamily="96" charset="-128"/>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mn-lt"/>
                          <a:ea typeface="Times New Roman" pitchFamily="18" charset="0"/>
                          <a:cs typeface="Arial" charset="0"/>
                        </a:rPr>
                        <a:t>5</a:t>
                      </a:r>
                      <a:endParaRPr kumimoji="0" lang="en-US" altLang="en-US" sz="3600" b="1" i="0" u="none" strike="noStrike" cap="none" normalizeH="0" baseline="0">
                        <a:ln>
                          <a:noFill/>
                        </a:ln>
                        <a:solidFill>
                          <a:schemeClr val="tx1"/>
                        </a:solidFill>
                        <a:effectLst/>
                        <a:latin typeface="+mn-lt"/>
                        <a:ea typeface="ＭＳ Ｐゴシック" pitchFamily="96" charset="-128"/>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44475">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mn-lt"/>
                          <a:ea typeface="Times New Roman" pitchFamily="18" charset="0"/>
                          <a:cs typeface="Arial" charset="0"/>
                        </a:rPr>
                        <a:t>Without government regulation the firms would exploit the consumer.</a:t>
                      </a:r>
                      <a:endParaRPr kumimoji="0" lang="en-US" altLang="en-US" sz="3600" b="1" i="0" u="none" strike="noStrike" cap="none" normalizeH="0" baseline="0">
                        <a:ln>
                          <a:noFill/>
                        </a:ln>
                        <a:solidFill>
                          <a:schemeClr val="tx1"/>
                        </a:solidFill>
                        <a:effectLst/>
                        <a:latin typeface="+mn-lt"/>
                        <a:ea typeface="ＭＳ Ｐゴシック" pitchFamily="96" charset="-128"/>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mn-lt"/>
                          <a:ea typeface="Times New Roman" pitchFamily="18" charset="0"/>
                          <a:cs typeface="Arial" charset="0"/>
                        </a:rPr>
                        <a:t>1</a:t>
                      </a:r>
                      <a:endParaRPr kumimoji="0" lang="en-US" altLang="en-US" sz="3600" b="1" i="0" u="none" strike="noStrike" cap="none" normalizeH="0" baseline="0">
                        <a:ln>
                          <a:noFill/>
                        </a:ln>
                        <a:solidFill>
                          <a:schemeClr val="tx1"/>
                        </a:solidFill>
                        <a:effectLst/>
                        <a:latin typeface="+mn-lt"/>
                        <a:ea typeface="ＭＳ Ｐゴシック" pitchFamily="96" charset="-128"/>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mn-lt"/>
                          <a:ea typeface="Times New Roman" pitchFamily="18" charset="0"/>
                          <a:cs typeface="Arial" charset="0"/>
                        </a:rPr>
                        <a:t>2</a:t>
                      </a:r>
                      <a:endParaRPr kumimoji="0" lang="en-US" altLang="en-US" sz="3600" b="1" i="0" u="none" strike="noStrike" cap="none" normalizeH="0" baseline="0">
                        <a:ln>
                          <a:noFill/>
                        </a:ln>
                        <a:solidFill>
                          <a:schemeClr val="tx1"/>
                        </a:solidFill>
                        <a:effectLst/>
                        <a:latin typeface="+mn-lt"/>
                        <a:ea typeface="ＭＳ Ｐゴシック" pitchFamily="96" charset="-128"/>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mn-lt"/>
                          <a:ea typeface="Times New Roman" pitchFamily="18" charset="0"/>
                          <a:cs typeface="Arial" charset="0"/>
                        </a:rPr>
                        <a:t>3</a:t>
                      </a:r>
                      <a:endParaRPr kumimoji="0" lang="en-US" altLang="en-US" sz="3600" b="1" i="0" u="none" strike="noStrike" cap="none" normalizeH="0" baseline="0">
                        <a:ln>
                          <a:noFill/>
                        </a:ln>
                        <a:solidFill>
                          <a:schemeClr val="tx1"/>
                        </a:solidFill>
                        <a:effectLst/>
                        <a:latin typeface="+mn-lt"/>
                        <a:ea typeface="ＭＳ Ｐゴシック" pitchFamily="96" charset="-128"/>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mn-lt"/>
                          <a:ea typeface="Times New Roman" pitchFamily="18" charset="0"/>
                          <a:cs typeface="Arial" charset="0"/>
                        </a:rPr>
                        <a:t>4</a:t>
                      </a:r>
                      <a:endParaRPr kumimoji="0" lang="en-US" altLang="en-US" sz="3600" b="1" i="0" u="none" strike="noStrike" cap="none" normalizeH="0" baseline="0">
                        <a:ln>
                          <a:noFill/>
                        </a:ln>
                        <a:solidFill>
                          <a:schemeClr val="tx1"/>
                        </a:solidFill>
                        <a:effectLst/>
                        <a:latin typeface="+mn-lt"/>
                        <a:ea typeface="ＭＳ Ｐゴシック" pitchFamily="96" charset="-128"/>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mn-lt"/>
                          <a:ea typeface="Times New Roman" pitchFamily="18" charset="0"/>
                          <a:cs typeface="Arial" charset="0"/>
                        </a:rPr>
                        <a:t>5</a:t>
                      </a:r>
                      <a:endParaRPr kumimoji="0" lang="en-US" altLang="en-US" sz="3600" b="1" i="0" u="none" strike="noStrike" cap="none" normalizeH="0" baseline="0">
                        <a:ln>
                          <a:noFill/>
                        </a:ln>
                        <a:solidFill>
                          <a:schemeClr val="tx1"/>
                        </a:solidFill>
                        <a:effectLst/>
                        <a:latin typeface="+mn-lt"/>
                        <a:ea typeface="ＭＳ Ｐゴシック" pitchFamily="96" charset="-128"/>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44475">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mn-lt"/>
                          <a:ea typeface="Times New Roman" pitchFamily="18" charset="0"/>
                          <a:cs typeface="Arial" charset="0"/>
                        </a:rPr>
                        <a:t>Most food companies are so concerned about making profits they do not care about quality.</a:t>
                      </a:r>
                      <a:endParaRPr kumimoji="0" lang="en-US" altLang="en-US" sz="3600" b="1" i="0" u="none" strike="noStrike" cap="none" normalizeH="0" baseline="0">
                        <a:ln>
                          <a:noFill/>
                        </a:ln>
                        <a:solidFill>
                          <a:schemeClr val="tx1"/>
                        </a:solidFill>
                        <a:effectLst/>
                        <a:latin typeface="+mn-lt"/>
                        <a:ea typeface="ＭＳ Ｐゴシック" pitchFamily="96" charset="-128"/>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mn-lt"/>
                          <a:ea typeface="Times New Roman" pitchFamily="18" charset="0"/>
                          <a:cs typeface="Arial" charset="0"/>
                        </a:rPr>
                        <a:t>1</a:t>
                      </a:r>
                      <a:endParaRPr kumimoji="0" lang="en-US" altLang="en-US" sz="3600" b="1" i="0" u="none" strike="noStrike" cap="none" normalizeH="0" baseline="0">
                        <a:ln>
                          <a:noFill/>
                        </a:ln>
                        <a:solidFill>
                          <a:schemeClr val="tx1"/>
                        </a:solidFill>
                        <a:effectLst/>
                        <a:latin typeface="+mn-lt"/>
                        <a:ea typeface="ＭＳ Ｐゴシック" pitchFamily="96" charset="-128"/>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mn-lt"/>
                          <a:ea typeface="Times New Roman" pitchFamily="18" charset="0"/>
                          <a:cs typeface="Arial" charset="0"/>
                        </a:rPr>
                        <a:t>2</a:t>
                      </a:r>
                      <a:endParaRPr kumimoji="0" lang="en-US" altLang="en-US" sz="3600" b="1" i="0" u="none" strike="noStrike" cap="none" normalizeH="0" baseline="0">
                        <a:ln>
                          <a:noFill/>
                        </a:ln>
                        <a:solidFill>
                          <a:schemeClr val="tx1"/>
                        </a:solidFill>
                        <a:effectLst/>
                        <a:latin typeface="+mn-lt"/>
                        <a:ea typeface="ＭＳ Ｐゴシック" pitchFamily="96" charset="-128"/>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mn-lt"/>
                          <a:ea typeface="Times New Roman" pitchFamily="18" charset="0"/>
                          <a:cs typeface="Arial" charset="0"/>
                        </a:rPr>
                        <a:t>3</a:t>
                      </a:r>
                      <a:endParaRPr kumimoji="0" lang="en-US" altLang="en-US" sz="3600" b="1" i="0" u="none" strike="noStrike" cap="none" normalizeH="0" baseline="0">
                        <a:ln>
                          <a:noFill/>
                        </a:ln>
                        <a:solidFill>
                          <a:schemeClr val="tx1"/>
                        </a:solidFill>
                        <a:effectLst/>
                        <a:latin typeface="+mn-lt"/>
                        <a:ea typeface="ＭＳ Ｐゴシック" pitchFamily="96" charset="-128"/>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mn-lt"/>
                          <a:ea typeface="Times New Roman" pitchFamily="18" charset="0"/>
                          <a:cs typeface="Arial" charset="0"/>
                        </a:rPr>
                        <a:t>4</a:t>
                      </a:r>
                      <a:endParaRPr kumimoji="0" lang="en-US" altLang="en-US" sz="3600" b="1" i="0" u="none" strike="noStrike" cap="none" normalizeH="0" baseline="0">
                        <a:ln>
                          <a:noFill/>
                        </a:ln>
                        <a:solidFill>
                          <a:schemeClr val="tx1"/>
                        </a:solidFill>
                        <a:effectLst/>
                        <a:latin typeface="+mn-lt"/>
                        <a:ea typeface="ＭＳ Ｐゴシック" pitchFamily="96" charset="-128"/>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mn-lt"/>
                          <a:ea typeface="Times New Roman" pitchFamily="18" charset="0"/>
                          <a:cs typeface="Arial" charset="0"/>
                        </a:rPr>
                        <a:t>5</a:t>
                      </a:r>
                      <a:endParaRPr kumimoji="0" lang="en-US" altLang="en-US" sz="3600" b="1" i="0" u="none" strike="noStrike" cap="none" normalizeH="0" baseline="0">
                        <a:ln>
                          <a:noFill/>
                        </a:ln>
                        <a:solidFill>
                          <a:schemeClr val="tx1"/>
                        </a:solidFill>
                        <a:effectLst/>
                        <a:latin typeface="+mn-lt"/>
                        <a:ea typeface="ＭＳ Ｐゴシック" pitchFamily="96" charset="-128"/>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44475">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mn-lt"/>
                          <a:ea typeface="Times New Roman" pitchFamily="18" charset="0"/>
                          <a:cs typeface="Arial" charset="0"/>
                        </a:rPr>
                        <a:t>The food industry spends a great deal of money making sure that its manufacturing is hygienic.</a:t>
                      </a:r>
                      <a:endParaRPr kumimoji="0" lang="en-US" altLang="en-US" sz="3600" b="1" i="0" u="none" strike="noStrike" cap="none" normalizeH="0" baseline="0">
                        <a:ln>
                          <a:noFill/>
                        </a:ln>
                        <a:solidFill>
                          <a:schemeClr val="tx1"/>
                        </a:solidFill>
                        <a:effectLst/>
                        <a:latin typeface="+mn-lt"/>
                        <a:ea typeface="ＭＳ Ｐゴシック" pitchFamily="96" charset="-128"/>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mn-lt"/>
                          <a:ea typeface="Times New Roman" pitchFamily="18" charset="0"/>
                          <a:cs typeface="Arial" charset="0"/>
                        </a:rPr>
                        <a:t>1</a:t>
                      </a:r>
                      <a:endParaRPr kumimoji="0" lang="en-US" altLang="en-US" sz="3600" b="1" i="0" u="none" strike="noStrike" cap="none" normalizeH="0" baseline="0">
                        <a:ln>
                          <a:noFill/>
                        </a:ln>
                        <a:solidFill>
                          <a:schemeClr val="tx1"/>
                        </a:solidFill>
                        <a:effectLst/>
                        <a:latin typeface="+mn-lt"/>
                        <a:ea typeface="ＭＳ Ｐゴシック" pitchFamily="96" charset="-128"/>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mn-lt"/>
                          <a:ea typeface="Times New Roman" pitchFamily="18" charset="0"/>
                          <a:cs typeface="Arial" charset="0"/>
                        </a:rPr>
                        <a:t>2</a:t>
                      </a:r>
                      <a:endParaRPr kumimoji="0" lang="en-US" altLang="en-US" sz="3600" b="1" i="0" u="none" strike="noStrike" cap="none" normalizeH="0" baseline="0">
                        <a:ln>
                          <a:noFill/>
                        </a:ln>
                        <a:solidFill>
                          <a:schemeClr val="tx1"/>
                        </a:solidFill>
                        <a:effectLst/>
                        <a:latin typeface="+mn-lt"/>
                        <a:ea typeface="ＭＳ Ｐゴシック" pitchFamily="96" charset="-128"/>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mn-lt"/>
                          <a:ea typeface="Times New Roman" pitchFamily="18" charset="0"/>
                          <a:cs typeface="Arial" charset="0"/>
                        </a:rPr>
                        <a:t>3</a:t>
                      </a:r>
                      <a:endParaRPr kumimoji="0" lang="en-US" altLang="en-US" sz="3600" b="1" i="0" u="none" strike="noStrike" cap="none" normalizeH="0" baseline="0">
                        <a:ln>
                          <a:noFill/>
                        </a:ln>
                        <a:solidFill>
                          <a:schemeClr val="tx1"/>
                        </a:solidFill>
                        <a:effectLst/>
                        <a:latin typeface="+mn-lt"/>
                        <a:ea typeface="ＭＳ Ｐゴシック" pitchFamily="96" charset="-128"/>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mn-lt"/>
                          <a:ea typeface="Times New Roman" pitchFamily="18" charset="0"/>
                          <a:cs typeface="Arial" charset="0"/>
                        </a:rPr>
                        <a:t>4</a:t>
                      </a:r>
                      <a:endParaRPr kumimoji="0" lang="en-US" altLang="en-US" sz="3600" b="1" i="0" u="none" strike="noStrike" cap="none" normalizeH="0" baseline="0">
                        <a:ln>
                          <a:noFill/>
                        </a:ln>
                        <a:solidFill>
                          <a:schemeClr val="tx1"/>
                        </a:solidFill>
                        <a:effectLst/>
                        <a:latin typeface="+mn-lt"/>
                        <a:ea typeface="ＭＳ Ｐゴシック" pitchFamily="96" charset="-128"/>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mn-lt"/>
                          <a:ea typeface="Times New Roman" pitchFamily="18" charset="0"/>
                          <a:cs typeface="Arial" charset="0"/>
                        </a:rPr>
                        <a:t>5</a:t>
                      </a:r>
                      <a:endParaRPr kumimoji="0" lang="en-US" altLang="en-US" sz="3600" b="1" i="0" u="none" strike="noStrike" cap="none" normalizeH="0" baseline="0">
                        <a:ln>
                          <a:noFill/>
                        </a:ln>
                        <a:solidFill>
                          <a:schemeClr val="tx1"/>
                        </a:solidFill>
                        <a:effectLst/>
                        <a:latin typeface="+mn-lt"/>
                        <a:ea typeface="ＭＳ Ｐゴシック" pitchFamily="96" charset="-128"/>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44475">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mn-lt"/>
                          <a:ea typeface="Times New Roman" pitchFamily="18" charset="0"/>
                          <a:cs typeface="Arial" charset="0"/>
                        </a:rPr>
                        <a:t>Food companies should charge the same price for their products throughout the country</a:t>
                      </a:r>
                      <a:endParaRPr kumimoji="0" lang="en-US" altLang="en-US" sz="3600" b="1" i="0" u="none" strike="noStrike" cap="none" normalizeH="0" baseline="0">
                        <a:ln>
                          <a:noFill/>
                        </a:ln>
                        <a:solidFill>
                          <a:schemeClr val="tx1"/>
                        </a:solidFill>
                        <a:effectLst/>
                        <a:latin typeface="+mn-lt"/>
                        <a:ea typeface="ＭＳ Ｐゴシック" pitchFamily="96" charset="-128"/>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mn-lt"/>
                          <a:ea typeface="Times New Roman" pitchFamily="18" charset="0"/>
                          <a:cs typeface="Arial" charset="0"/>
                        </a:rPr>
                        <a:t>1</a:t>
                      </a:r>
                      <a:endParaRPr kumimoji="0" lang="en-US" altLang="en-US" sz="3600" b="1" i="0" u="none" strike="noStrike" cap="none" normalizeH="0" baseline="0">
                        <a:ln>
                          <a:noFill/>
                        </a:ln>
                        <a:solidFill>
                          <a:schemeClr val="tx1"/>
                        </a:solidFill>
                        <a:effectLst/>
                        <a:latin typeface="+mn-lt"/>
                        <a:ea typeface="ＭＳ Ｐゴシック" pitchFamily="96" charset="-128"/>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mn-lt"/>
                          <a:ea typeface="Times New Roman" pitchFamily="18" charset="0"/>
                          <a:cs typeface="Arial" charset="0"/>
                        </a:rPr>
                        <a:t>2</a:t>
                      </a:r>
                      <a:endParaRPr kumimoji="0" lang="en-US" altLang="en-US" sz="3600" b="1" i="0" u="none" strike="noStrike" cap="none" normalizeH="0" baseline="0">
                        <a:ln>
                          <a:noFill/>
                        </a:ln>
                        <a:solidFill>
                          <a:schemeClr val="tx1"/>
                        </a:solidFill>
                        <a:effectLst/>
                        <a:latin typeface="+mn-lt"/>
                        <a:ea typeface="ＭＳ Ｐゴシック" pitchFamily="96" charset="-128"/>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mn-lt"/>
                          <a:ea typeface="Times New Roman" pitchFamily="18" charset="0"/>
                          <a:cs typeface="Arial" charset="0"/>
                        </a:rPr>
                        <a:t>3</a:t>
                      </a:r>
                      <a:endParaRPr kumimoji="0" lang="en-US" altLang="en-US" sz="3600" b="1" i="0" u="none" strike="noStrike" cap="none" normalizeH="0" baseline="0">
                        <a:ln>
                          <a:noFill/>
                        </a:ln>
                        <a:solidFill>
                          <a:schemeClr val="tx1"/>
                        </a:solidFill>
                        <a:effectLst/>
                        <a:latin typeface="+mn-lt"/>
                        <a:ea typeface="ＭＳ Ｐゴシック" pitchFamily="96" charset="-128"/>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mn-lt"/>
                          <a:ea typeface="Times New Roman" pitchFamily="18" charset="0"/>
                          <a:cs typeface="Arial" charset="0"/>
                        </a:rPr>
                        <a:t>4</a:t>
                      </a:r>
                      <a:endParaRPr kumimoji="0" lang="en-US" altLang="en-US" sz="3600" b="1" i="0" u="none" strike="noStrike" cap="none" normalizeH="0" baseline="0">
                        <a:ln>
                          <a:noFill/>
                        </a:ln>
                        <a:solidFill>
                          <a:schemeClr val="tx1"/>
                        </a:solidFill>
                        <a:effectLst/>
                        <a:latin typeface="+mn-lt"/>
                        <a:ea typeface="ＭＳ Ｐゴシック" pitchFamily="96" charset="-128"/>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mn-lt"/>
                          <a:ea typeface="Times New Roman" pitchFamily="18" charset="0"/>
                          <a:cs typeface="Arial" charset="0"/>
                        </a:rPr>
                        <a:t>5</a:t>
                      </a:r>
                      <a:endParaRPr kumimoji="0" lang="en-US" altLang="en-US" sz="3600" b="1" i="0" u="none" strike="noStrike" cap="none" normalizeH="0" baseline="0" dirty="0">
                        <a:ln>
                          <a:noFill/>
                        </a:ln>
                        <a:solidFill>
                          <a:schemeClr val="tx1"/>
                        </a:solidFill>
                        <a:effectLst/>
                        <a:latin typeface="+mn-lt"/>
                        <a:ea typeface="ＭＳ Ｐゴシック" pitchFamily="96" charset="-128"/>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17037804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p:cNvSpPr>
            <a:spLocks noGrp="1" noChangeArrowheads="1"/>
          </p:cNvSpPr>
          <p:nvPr>
            <p:ph type="title"/>
          </p:nvPr>
        </p:nvSpPr>
        <p:spPr/>
        <p:txBody>
          <a:bodyPr/>
          <a:lstStyle/>
          <a:p>
            <a:pPr eaLnBrk="1" hangingPunct="1"/>
            <a:r>
              <a:rPr lang="en-US" altLang="en-US" dirty="0"/>
              <a:t>Levels of Measurement </a:t>
            </a:r>
            <a:br>
              <a:rPr lang="en-US" altLang="en-US" dirty="0"/>
            </a:br>
            <a:r>
              <a:rPr lang="en-US" altLang="en-US" dirty="0"/>
              <a:t>- Ordinal Scales</a:t>
            </a:r>
          </a:p>
        </p:txBody>
      </p:sp>
      <p:sp>
        <p:nvSpPr>
          <p:cNvPr id="76804" name="Rectangle 3"/>
          <p:cNvSpPr>
            <a:spLocks noGrp="1" noChangeArrowheads="1"/>
          </p:cNvSpPr>
          <p:nvPr>
            <p:ph idx="1"/>
          </p:nvPr>
        </p:nvSpPr>
        <p:spPr>
          <a:xfrm>
            <a:off x="251520" y="1855365"/>
            <a:ext cx="8229600" cy="4525963"/>
          </a:xfrm>
        </p:spPr>
        <p:txBody>
          <a:bodyPr/>
          <a:lstStyle/>
          <a:p>
            <a:pPr algn="just" eaLnBrk="1" hangingPunct="1"/>
            <a:r>
              <a:rPr lang="en-US" altLang="en-US" sz="2400" dirty="0"/>
              <a:t>Similarly if Comedian A is ranked 1</a:t>
            </a:r>
            <a:r>
              <a:rPr lang="en-US" altLang="en-US" sz="2400" baseline="30000" dirty="0"/>
              <a:t>st</a:t>
            </a:r>
            <a:r>
              <a:rPr lang="en-US" altLang="en-US" sz="2400" dirty="0"/>
              <a:t> for funniness, and Comedian B is ranked 4</a:t>
            </a:r>
            <a:r>
              <a:rPr lang="en-US" altLang="en-US" sz="2400" baseline="30000" dirty="0"/>
              <a:t>th</a:t>
            </a:r>
            <a:r>
              <a:rPr lang="en-US" altLang="en-US" sz="2400" dirty="0"/>
              <a:t> we have no way of knowing how much funnier Comedian A is than Comedian B. </a:t>
            </a:r>
          </a:p>
          <a:p>
            <a:pPr algn="just" eaLnBrk="1" hangingPunct="1"/>
            <a:r>
              <a:rPr lang="en-US" altLang="en-US" sz="2400" dirty="0"/>
              <a:t>We cannot assume that they are four times funnier. </a:t>
            </a:r>
          </a:p>
          <a:p>
            <a:pPr algn="just" eaLnBrk="1" hangingPunct="1"/>
            <a:r>
              <a:rPr lang="en-US" altLang="en-US" sz="2400" dirty="0"/>
              <a:t>They may be more or less than four times funnier. </a:t>
            </a:r>
          </a:p>
          <a:p>
            <a:pPr algn="just" eaLnBrk="1" hangingPunct="1"/>
            <a:r>
              <a:rPr lang="en-US" altLang="en-US" sz="2400" dirty="0"/>
              <a:t>But we do know that they are more funny than Comedian B, and more funny than the comedians ranked 2</a:t>
            </a:r>
            <a:r>
              <a:rPr lang="en-US" altLang="en-US" sz="2400" baseline="30000" dirty="0"/>
              <a:t>nd</a:t>
            </a:r>
            <a:r>
              <a:rPr lang="en-US" altLang="en-US" sz="2400" dirty="0"/>
              <a:t> and 3</a:t>
            </a:r>
            <a:r>
              <a:rPr lang="en-US" altLang="en-US" sz="2400" baseline="30000" dirty="0"/>
              <a:t>rd</a:t>
            </a:r>
            <a:r>
              <a:rPr lang="en-US" altLang="en-US" sz="2400" dirty="0"/>
              <a:t> places as well. </a:t>
            </a:r>
          </a:p>
          <a:p>
            <a:pPr algn="just" eaLnBrk="1" hangingPunct="1"/>
            <a:r>
              <a:rPr lang="en-US" altLang="en-US" sz="2400" dirty="0"/>
              <a:t>We know about order but we have no information about the size of the interval between points. </a:t>
            </a:r>
          </a:p>
        </p:txBody>
      </p:sp>
      <p:sp>
        <p:nvSpPr>
          <p:cNvPr id="76802" name="Slide Number Placeholder 7"/>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C1C64F58-A5BF-4FE6-8906-25AA17E0F6C7}" type="slidenum">
              <a:rPr lang="en-US" altLang="en-US" sz="1000" smtClean="0">
                <a:solidFill>
                  <a:schemeClr val="bg1"/>
                </a:solidFill>
              </a:rPr>
              <a:pPr/>
              <a:t>68</a:t>
            </a:fld>
            <a:endParaRPr lang="en-US" altLang="en-US" sz="1000">
              <a:solidFill>
                <a:schemeClr val="bg1"/>
              </a:solidFill>
            </a:endParaRPr>
          </a:p>
        </p:txBody>
      </p:sp>
    </p:spTree>
    <p:extLst>
      <p:ext uri="{BB962C8B-B14F-4D97-AF65-F5344CB8AC3E}">
        <p14:creationId xmlns:p14="http://schemas.microsoft.com/office/powerpoint/2010/main" val="435127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Number Placeholder 6"/>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AA5E47FD-1E56-4806-9D24-20B1FE23C195}" type="slidenum">
              <a:rPr lang="en-US" altLang="en-US" sz="1000" smtClean="0">
                <a:solidFill>
                  <a:schemeClr val="bg1"/>
                </a:solidFill>
              </a:rPr>
              <a:pPr/>
              <a:t>69</a:t>
            </a:fld>
            <a:endParaRPr lang="en-US" altLang="en-US" sz="1000">
              <a:solidFill>
                <a:schemeClr val="bg1"/>
              </a:solidFill>
            </a:endParaRPr>
          </a:p>
        </p:txBody>
      </p:sp>
      <p:sp>
        <p:nvSpPr>
          <p:cNvPr id="77827" name="Rectangle 2"/>
          <p:cNvSpPr>
            <a:spLocks noGrp="1" noChangeArrowheads="1"/>
          </p:cNvSpPr>
          <p:nvPr>
            <p:ph type="title"/>
          </p:nvPr>
        </p:nvSpPr>
        <p:spPr/>
        <p:txBody>
          <a:bodyPr/>
          <a:lstStyle/>
          <a:p>
            <a:pPr eaLnBrk="1" hangingPunct="1"/>
            <a:r>
              <a:rPr lang="en-US" altLang="en-US"/>
              <a:t>Levels of Measurement -Ordinal Scales</a:t>
            </a:r>
          </a:p>
        </p:txBody>
      </p:sp>
      <p:pic>
        <p:nvPicPr>
          <p:cNvPr id="77828" name="Picture 5" descr="ordinal"/>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2590800" y="2061973"/>
            <a:ext cx="4789512" cy="4319355"/>
          </a:xfrm>
          <a:noFill/>
        </p:spPr>
      </p:pic>
      <p:sp>
        <p:nvSpPr>
          <p:cNvPr id="77829" name="Text Box 10"/>
          <p:cNvSpPr txBox="1">
            <a:spLocks noChangeArrowheads="1"/>
          </p:cNvSpPr>
          <p:nvPr/>
        </p:nvSpPr>
        <p:spPr bwMode="auto">
          <a:xfrm>
            <a:off x="838200" y="1676400"/>
            <a:ext cx="141570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r>
              <a:rPr lang="en-US" altLang="en-US" sz="2800" b="0" dirty="0">
                <a:latin typeface="+mn-lt"/>
              </a:rPr>
              <a:t>Example</a:t>
            </a:r>
          </a:p>
        </p:txBody>
      </p:sp>
    </p:spTree>
    <p:extLst>
      <p:ext uri="{BB962C8B-B14F-4D97-AF65-F5344CB8AC3E}">
        <p14:creationId xmlns:p14="http://schemas.microsoft.com/office/powerpoint/2010/main" val="97139704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Number Placeholder 6"/>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0E32932B-D79C-4209-BE10-49C1BD18816E}" type="slidenum">
              <a:rPr lang="en-US" altLang="en-US" sz="1000" smtClean="0">
                <a:solidFill>
                  <a:schemeClr val="bg1"/>
                </a:solidFill>
              </a:rPr>
              <a:pPr/>
              <a:t>70</a:t>
            </a:fld>
            <a:endParaRPr lang="en-US" altLang="en-US" sz="1000">
              <a:solidFill>
                <a:schemeClr val="bg1"/>
              </a:solidFill>
            </a:endParaRPr>
          </a:p>
        </p:txBody>
      </p:sp>
      <p:sp>
        <p:nvSpPr>
          <p:cNvPr id="78851" name="Rectangle 2"/>
          <p:cNvSpPr>
            <a:spLocks noGrp="1" noChangeArrowheads="1"/>
          </p:cNvSpPr>
          <p:nvPr>
            <p:ph type="title"/>
          </p:nvPr>
        </p:nvSpPr>
        <p:spPr/>
        <p:txBody>
          <a:bodyPr/>
          <a:lstStyle/>
          <a:p>
            <a:pPr eaLnBrk="1" hangingPunct="1"/>
            <a:r>
              <a:rPr lang="en-US" altLang="en-US" dirty="0"/>
              <a:t>Levels of Measurement </a:t>
            </a:r>
            <a:br>
              <a:rPr lang="en-US" altLang="en-US" dirty="0"/>
            </a:br>
            <a:r>
              <a:rPr lang="en-US" altLang="en-US" dirty="0"/>
              <a:t>- Ordinal Scales</a:t>
            </a:r>
          </a:p>
        </p:txBody>
      </p:sp>
      <p:pic>
        <p:nvPicPr>
          <p:cNvPr id="78852" name="Picture 4" descr="ordinal_data"/>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2895600" y="1828800"/>
            <a:ext cx="4749800" cy="4419600"/>
          </a:xfrm>
          <a:noFill/>
        </p:spPr>
      </p:pic>
      <p:sp>
        <p:nvSpPr>
          <p:cNvPr id="78853" name="Text Box 5"/>
          <p:cNvSpPr txBox="1">
            <a:spLocks noChangeArrowheads="1"/>
          </p:cNvSpPr>
          <p:nvPr/>
        </p:nvSpPr>
        <p:spPr bwMode="auto">
          <a:xfrm>
            <a:off x="838200" y="1676400"/>
            <a:ext cx="145020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r>
              <a:rPr lang="en-US" altLang="en-US" sz="2800" b="0" dirty="0">
                <a:latin typeface="+mn-lt"/>
              </a:rPr>
              <a:t>Example</a:t>
            </a:r>
          </a:p>
        </p:txBody>
      </p:sp>
    </p:spTree>
    <p:extLst>
      <p:ext uri="{BB962C8B-B14F-4D97-AF65-F5344CB8AC3E}">
        <p14:creationId xmlns:p14="http://schemas.microsoft.com/office/powerpoint/2010/main" val="312275874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2D3066FB-FDBB-43FF-ADFE-E97D4903232B}" type="slidenum">
              <a:rPr lang="en-US" altLang="en-US" sz="1000" smtClean="0">
                <a:solidFill>
                  <a:schemeClr val="bg1"/>
                </a:solidFill>
              </a:rPr>
              <a:pPr/>
              <a:t>71</a:t>
            </a:fld>
            <a:endParaRPr lang="en-US" altLang="en-US" sz="1000">
              <a:solidFill>
                <a:schemeClr val="bg1"/>
              </a:solidFill>
            </a:endParaRPr>
          </a:p>
        </p:txBody>
      </p:sp>
      <p:sp>
        <p:nvSpPr>
          <p:cNvPr id="79875" name="Rectangle 8"/>
          <p:cNvSpPr>
            <a:spLocks noGrp="1" noChangeArrowheads="1"/>
          </p:cNvSpPr>
          <p:nvPr>
            <p:ph type="title"/>
          </p:nvPr>
        </p:nvSpPr>
        <p:spPr/>
        <p:txBody>
          <a:bodyPr/>
          <a:lstStyle/>
          <a:p>
            <a:pPr eaLnBrk="1" hangingPunct="1"/>
            <a:r>
              <a:rPr lang="en-US" altLang="en-US" dirty="0"/>
              <a:t>Levels of Measurement </a:t>
            </a:r>
            <a:br>
              <a:rPr lang="en-US" altLang="en-US" dirty="0"/>
            </a:br>
            <a:r>
              <a:rPr lang="en-US" altLang="en-US" dirty="0"/>
              <a:t>- Ordinal Scales</a:t>
            </a:r>
          </a:p>
        </p:txBody>
      </p:sp>
      <p:pic>
        <p:nvPicPr>
          <p:cNvPr id="79876" name="Picture 7" descr="hotscal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797050" y="2097088"/>
            <a:ext cx="5181600" cy="3573462"/>
          </a:xfrm>
          <a:noFill/>
        </p:spPr>
      </p:pic>
      <p:sp>
        <p:nvSpPr>
          <p:cNvPr id="79877" name="Text Box 10"/>
          <p:cNvSpPr txBox="1">
            <a:spLocks noChangeArrowheads="1"/>
          </p:cNvSpPr>
          <p:nvPr/>
        </p:nvSpPr>
        <p:spPr bwMode="auto">
          <a:xfrm>
            <a:off x="1050925" y="1868488"/>
            <a:ext cx="145020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r>
              <a:rPr lang="en-US" altLang="en-US" sz="2800" b="0" dirty="0">
                <a:latin typeface="+mn-lt"/>
              </a:rPr>
              <a:t>Example</a:t>
            </a:r>
          </a:p>
        </p:txBody>
      </p:sp>
    </p:spTree>
    <p:extLst>
      <p:ext uri="{BB962C8B-B14F-4D97-AF65-F5344CB8AC3E}">
        <p14:creationId xmlns:p14="http://schemas.microsoft.com/office/powerpoint/2010/main" val="252582418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728B5868-B350-43B2-B94C-DA3E53FDBE06}" type="slidenum">
              <a:rPr lang="en-US" altLang="en-US" sz="1000" smtClean="0">
                <a:solidFill>
                  <a:schemeClr val="bg1"/>
                </a:solidFill>
              </a:rPr>
              <a:pPr/>
              <a:t>72</a:t>
            </a:fld>
            <a:endParaRPr lang="en-US" altLang="en-US" sz="1000">
              <a:solidFill>
                <a:schemeClr val="bg1"/>
              </a:solidFill>
            </a:endParaRPr>
          </a:p>
        </p:txBody>
      </p:sp>
      <p:sp>
        <p:nvSpPr>
          <p:cNvPr id="80899" name="Rectangle 2"/>
          <p:cNvSpPr>
            <a:spLocks noGrp="1" noChangeArrowheads="1"/>
          </p:cNvSpPr>
          <p:nvPr>
            <p:ph type="title"/>
          </p:nvPr>
        </p:nvSpPr>
        <p:spPr/>
        <p:txBody>
          <a:bodyPr/>
          <a:lstStyle/>
          <a:p>
            <a:pPr eaLnBrk="1" hangingPunct="1"/>
            <a:r>
              <a:rPr lang="en-US" altLang="en-US" dirty="0"/>
              <a:t>Levels of Measurement </a:t>
            </a:r>
            <a:br>
              <a:rPr lang="en-US" altLang="en-US" dirty="0"/>
            </a:br>
            <a:r>
              <a:rPr lang="en-US" altLang="en-US" dirty="0"/>
              <a:t>- Interval Scales </a:t>
            </a:r>
          </a:p>
        </p:txBody>
      </p:sp>
      <p:sp>
        <p:nvSpPr>
          <p:cNvPr id="80900" name="Rectangle 3"/>
          <p:cNvSpPr>
            <a:spLocks noGrp="1" noChangeArrowheads="1"/>
          </p:cNvSpPr>
          <p:nvPr>
            <p:ph type="body" idx="1"/>
          </p:nvPr>
        </p:nvSpPr>
        <p:spPr/>
        <p:txBody>
          <a:bodyPr/>
          <a:lstStyle/>
          <a:p>
            <a:pPr eaLnBrk="1" hangingPunct="1">
              <a:lnSpc>
                <a:spcPct val="90000"/>
              </a:lnSpc>
            </a:pPr>
            <a:r>
              <a:rPr lang="en-US" altLang="en-US" sz="2800" dirty="0">
                <a:solidFill>
                  <a:schemeClr val="accent2"/>
                </a:solidFill>
              </a:rPr>
              <a:t>Properties</a:t>
            </a:r>
            <a:r>
              <a:rPr lang="en-US" altLang="en-US" sz="2800" dirty="0"/>
              <a:t>: classification, order, equal intervals </a:t>
            </a:r>
            <a:br>
              <a:rPr lang="en-US" altLang="en-US" sz="2800" dirty="0"/>
            </a:br>
            <a:r>
              <a:rPr lang="en-US" altLang="en-US" sz="2800" dirty="0">
                <a:solidFill>
                  <a:schemeClr val="accent2"/>
                </a:solidFill>
              </a:rPr>
              <a:t>Observations reflect:</a:t>
            </a:r>
            <a:r>
              <a:rPr lang="en-US" altLang="en-US" sz="2800" dirty="0"/>
              <a:t> measurable differences in amount </a:t>
            </a:r>
            <a:br>
              <a:rPr lang="en-US" altLang="en-US" sz="2800" dirty="0"/>
            </a:br>
            <a:r>
              <a:rPr lang="en-US" altLang="en-US" sz="2800" dirty="0">
                <a:solidFill>
                  <a:schemeClr val="accent2"/>
                </a:solidFill>
              </a:rPr>
              <a:t>Examples:</a:t>
            </a:r>
            <a:r>
              <a:rPr lang="en-US" altLang="en-US" sz="2800" dirty="0"/>
              <a:t> IQ scores, degrees of temperature, </a:t>
            </a:r>
          </a:p>
          <a:p>
            <a:pPr algn="just" eaLnBrk="1" hangingPunct="1">
              <a:lnSpc>
                <a:spcPct val="90000"/>
              </a:lnSpc>
            </a:pPr>
            <a:r>
              <a:rPr lang="en-US" altLang="en-US" sz="2800" dirty="0"/>
              <a:t>Essentially, interval data are ordinal, but they have an extra property - the ability to meaningfully add and subtract measurements.</a:t>
            </a:r>
          </a:p>
          <a:p>
            <a:pPr algn="just" eaLnBrk="1" hangingPunct="1">
              <a:lnSpc>
                <a:spcPct val="90000"/>
              </a:lnSpc>
            </a:pPr>
            <a:r>
              <a:rPr lang="en-US" altLang="en-US" sz="2800" dirty="0"/>
              <a:t>In interval-scaled data, the gaps between the numbers are comparable, unlike with ordinal data. </a:t>
            </a:r>
          </a:p>
          <a:p>
            <a:pPr algn="just" eaLnBrk="1" hangingPunct="1">
              <a:lnSpc>
                <a:spcPct val="90000"/>
              </a:lnSpc>
            </a:pPr>
            <a:r>
              <a:rPr lang="en-US" altLang="en-US" sz="2800" dirty="0"/>
              <a:t>Any interval has the same meaning regardless of its location on the scale. "X is five inches longer than Y" has meaning regardless of the values of X and Y. </a:t>
            </a:r>
          </a:p>
        </p:txBody>
      </p:sp>
    </p:spTree>
    <p:extLst>
      <p:ext uri="{BB962C8B-B14F-4D97-AF65-F5344CB8AC3E}">
        <p14:creationId xmlns:p14="http://schemas.microsoft.com/office/powerpoint/2010/main" val="404386687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79A69F1A-555C-4C25-9FB7-9A8F979F2F96}" type="slidenum">
              <a:rPr lang="en-US" altLang="en-US" sz="1000" smtClean="0">
                <a:solidFill>
                  <a:schemeClr val="bg1"/>
                </a:solidFill>
              </a:rPr>
              <a:pPr/>
              <a:t>73</a:t>
            </a:fld>
            <a:endParaRPr lang="en-US" altLang="en-US" sz="1000">
              <a:solidFill>
                <a:schemeClr val="bg1"/>
              </a:solidFill>
            </a:endParaRPr>
          </a:p>
        </p:txBody>
      </p:sp>
      <p:sp>
        <p:nvSpPr>
          <p:cNvPr id="81923" name="Rectangle 2"/>
          <p:cNvSpPr>
            <a:spLocks noGrp="1" noChangeArrowheads="1"/>
          </p:cNvSpPr>
          <p:nvPr>
            <p:ph type="title"/>
          </p:nvPr>
        </p:nvSpPr>
        <p:spPr/>
        <p:txBody>
          <a:bodyPr/>
          <a:lstStyle/>
          <a:p>
            <a:pPr eaLnBrk="1" hangingPunct="1"/>
            <a:r>
              <a:rPr lang="en-US" altLang="en-US" dirty="0"/>
              <a:t>Levels of Measurement </a:t>
            </a:r>
            <a:br>
              <a:rPr lang="en-US" altLang="en-US" dirty="0"/>
            </a:br>
            <a:r>
              <a:rPr lang="en-US" altLang="en-US" dirty="0"/>
              <a:t>- Interval Scales </a:t>
            </a:r>
          </a:p>
        </p:txBody>
      </p:sp>
      <p:sp>
        <p:nvSpPr>
          <p:cNvPr id="81924" name="Rectangle 3"/>
          <p:cNvSpPr>
            <a:spLocks noGrp="1" noChangeArrowheads="1"/>
          </p:cNvSpPr>
          <p:nvPr>
            <p:ph type="body" idx="1"/>
          </p:nvPr>
        </p:nvSpPr>
        <p:spPr/>
        <p:txBody>
          <a:bodyPr/>
          <a:lstStyle/>
          <a:p>
            <a:pPr algn="just" eaLnBrk="1" hangingPunct="1"/>
            <a:r>
              <a:rPr lang="en-US" altLang="en-US" sz="2800" dirty="0"/>
              <a:t>However, ratios are meaningless on an interval scale because an interval scale has no true zero. </a:t>
            </a:r>
          </a:p>
          <a:p>
            <a:pPr algn="just" eaLnBrk="1" hangingPunct="1"/>
            <a:r>
              <a:rPr lang="en-US" altLang="en-US" sz="2800" dirty="0"/>
              <a:t>Temperature scales are an example of this, so are decibel scales. </a:t>
            </a:r>
          </a:p>
          <a:p>
            <a:pPr algn="just" eaLnBrk="1" hangingPunct="1"/>
            <a:r>
              <a:rPr lang="en-US" altLang="en-US" sz="2800" dirty="0"/>
              <a:t>Zero degrees Fahrenheit does not mean the total absence of temperature. </a:t>
            </a:r>
          </a:p>
          <a:p>
            <a:pPr algn="just" eaLnBrk="1" hangingPunct="1"/>
            <a:r>
              <a:rPr lang="en-US" altLang="en-US" sz="2800" dirty="0"/>
              <a:t>Zero decibels does not mean there is no sound. </a:t>
            </a:r>
          </a:p>
        </p:txBody>
      </p:sp>
    </p:spTree>
    <p:extLst>
      <p:ext uri="{BB962C8B-B14F-4D97-AF65-F5344CB8AC3E}">
        <p14:creationId xmlns:p14="http://schemas.microsoft.com/office/powerpoint/2010/main" val="271329000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8CA9B3A9-0515-4CC8-A8D8-332F8B35AA3A}" type="slidenum">
              <a:rPr lang="en-US" altLang="en-US" sz="1000" smtClean="0">
                <a:solidFill>
                  <a:schemeClr val="bg1"/>
                </a:solidFill>
              </a:rPr>
              <a:pPr/>
              <a:t>74</a:t>
            </a:fld>
            <a:endParaRPr lang="en-US" altLang="en-US" sz="1000">
              <a:solidFill>
                <a:schemeClr val="bg1"/>
              </a:solidFill>
            </a:endParaRPr>
          </a:p>
        </p:txBody>
      </p:sp>
      <p:sp>
        <p:nvSpPr>
          <p:cNvPr id="82947" name="Rectangle 2"/>
          <p:cNvSpPr>
            <a:spLocks noGrp="1" noChangeArrowheads="1"/>
          </p:cNvSpPr>
          <p:nvPr>
            <p:ph type="title"/>
          </p:nvPr>
        </p:nvSpPr>
        <p:spPr/>
        <p:txBody>
          <a:bodyPr/>
          <a:lstStyle/>
          <a:p>
            <a:pPr eaLnBrk="1" hangingPunct="1"/>
            <a:r>
              <a:rPr lang="en-US" altLang="en-US" dirty="0"/>
              <a:t>Levels of Measurement </a:t>
            </a:r>
            <a:br>
              <a:rPr lang="en-US" altLang="en-US" dirty="0"/>
            </a:br>
            <a:r>
              <a:rPr lang="en-US" altLang="en-US" dirty="0"/>
              <a:t>- Interval Scales </a:t>
            </a:r>
          </a:p>
        </p:txBody>
      </p:sp>
      <p:sp>
        <p:nvSpPr>
          <p:cNvPr id="82948" name="Rectangle 3"/>
          <p:cNvSpPr>
            <a:spLocks noGrp="1" noChangeArrowheads="1"/>
          </p:cNvSpPr>
          <p:nvPr>
            <p:ph type="body" idx="1"/>
          </p:nvPr>
        </p:nvSpPr>
        <p:spPr/>
        <p:txBody>
          <a:bodyPr/>
          <a:lstStyle/>
          <a:p>
            <a:pPr algn="just" eaLnBrk="1" hangingPunct="1"/>
            <a:r>
              <a:rPr lang="en-US" altLang="en-US" sz="2800" dirty="0"/>
              <a:t>Furthermore, if it is 80 degrees outside today and it was only 40 degrees outside yesterday we cannot say that today is twice as hot as yesterday. </a:t>
            </a:r>
          </a:p>
          <a:p>
            <a:pPr algn="just" eaLnBrk="1" hangingPunct="1"/>
            <a:r>
              <a:rPr lang="en-US" altLang="en-US" sz="2800" dirty="0"/>
              <a:t>Similarly a sound level of 80 dB is not twice as loud as a sound level of 40 </a:t>
            </a:r>
            <a:r>
              <a:rPr lang="en-US" altLang="en-US" sz="2800" dirty="0" err="1"/>
              <a:t>dB.</a:t>
            </a:r>
            <a:r>
              <a:rPr lang="en-US" altLang="en-US" sz="2800" dirty="0"/>
              <a:t> </a:t>
            </a:r>
          </a:p>
          <a:p>
            <a:pPr algn="just" eaLnBrk="1" hangingPunct="1"/>
            <a:r>
              <a:rPr lang="en-US" altLang="en-US" sz="2800" dirty="0"/>
              <a:t>In short, if the data can be ordered and the arithmetic difference is meaningful, then the data are at least interval data. </a:t>
            </a:r>
          </a:p>
        </p:txBody>
      </p:sp>
    </p:spTree>
    <p:extLst>
      <p:ext uri="{BB962C8B-B14F-4D97-AF65-F5344CB8AC3E}">
        <p14:creationId xmlns:p14="http://schemas.microsoft.com/office/powerpoint/2010/main" val="298391074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304EFCB8-C159-4ED8-AA67-BAA7B9B54FF3}" type="slidenum">
              <a:rPr lang="en-US" altLang="en-US" sz="1000" smtClean="0">
                <a:solidFill>
                  <a:schemeClr val="bg1"/>
                </a:solidFill>
              </a:rPr>
              <a:pPr/>
              <a:t>75</a:t>
            </a:fld>
            <a:endParaRPr lang="en-US" altLang="en-US" sz="1000">
              <a:solidFill>
                <a:schemeClr val="bg1"/>
              </a:solidFill>
            </a:endParaRPr>
          </a:p>
        </p:txBody>
      </p:sp>
      <p:sp>
        <p:nvSpPr>
          <p:cNvPr id="83971" name="Rectangle 2"/>
          <p:cNvSpPr>
            <a:spLocks noGrp="1" noChangeArrowheads="1"/>
          </p:cNvSpPr>
          <p:nvPr>
            <p:ph type="title"/>
          </p:nvPr>
        </p:nvSpPr>
        <p:spPr/>
        <p:txBody>
          <a:bodyPr/>
          <a:lstStyle/>
          <a:p>
            <a:pPr eaLnBrk="1" hangingPunct="1"/>
            <a:r>
              <a:rPr lang="en-US" altLang="en-US" dirty="0"/>
              <a:t>Levels of Measurement </a:t>
            </a:r>
            <a:br>
              <a:rPr lang="en-US" altLang="en-US" dirty="0"/>
            </a:br>
            <a:r>
              <a:rPr lang="en-US" altLang="en-US" dirty="0"/>
              <a:t>- Ratio Scales</a:t>
            </a:r>
          </a:p>
        </p:txBody>
      </p:sp>
      <p:sp>
        <p:nvSpPr>
          <p:cNvPr id="83972" name="Rectangle 3"/>
          <p:cNvSpPr>
            <a:spLocks noGrp="1" noChangeArrowheads="1"/>
          </p:cNvSpPr>
          <p:nvPr>
            <p:ph type="body" idx="1"/>
          </p:nvPr>
        </p:nvSpPr>
        <p:spPr>
          <a:xfrm>
            <a:off x="395536" y="1600200"/>
            <a:ext cx="8424936" cy="4525963"/>
          </a:xfrm>
        </p:spPr>
        <p:txBody>
          <a:bodyPr/>
          <a:lstStyle/>
          <a:p>
            <a:pPr eaLnBrk="1" hangingPunct="1"/>
            <a:r>
              <a:rPr lang="en-US" altLang="en-US" sz="2800" dirty="0">
                <a:solidFill>
                  <a:schemeClr val="accent2"/>
                </a:solidFill>
              </a:rPr>
              <a:t>Properties</a:t>
            </a:r>
            <a:r>
              <a:rPr lang="en-US" altLang="en-US" sz="2800" dirty="0"/>
              <a:t>: classification, order, equal intervals, true zero </a:t>
            </a:r>
            <a:br>
              <a:rPr lang="en-US" altLang="en-US" sz="2800" dirty="0"/>
            </a:br>
            <a:r>
              <a:rPr lang="en-US" altLang="en-US" sz="2800" dirty="0">
                <a:solidFill>
                  <a:schemeClr val="accent2"/>
                </a:solidFill>
              </a:rPr>
              <a:t>Observations reflect</a:t>
            </a:r>
            <a:r>
              <a:rPr lang="en-US" altLang="en-US" sz="2800" dirty="0"/>
              <a:t>: measurable differences in total amount </a:t>
            </a:r>
            <a:br>
              <a:rPr lang="en-US" altLang="en-US" sz="2800" dirty="0"/>
            </a:br>
            <a:r>
              <a:rPr lang="en-US" altLang="en-US" sz="2800" dirty="0">
                <a:solidFill>
                  <a:schemeClr val="accent2"/>
                </a:solidFill>
              </a:rPr>
              <a:t>Examples:</a:t>
            </a:r>
            <a:r>
              <a:rPr lang="en-US" altLang="en-US" sz="2800" dirty="0"/>
              <a:t> weight, income, family size, number of cows in a field</a:t>
            </a:r>
          </a:p>
          <a:p>
            <a:pPr algn="just" eaLnBrk="1" hangingPunct="1"/>
            <a:r>
              <a:rPr lang="en-US" altLang="en-US" sz="2800" dirty="0"/>
              <a:t>Ratio data are the highest form of data measurement and the form we are most familiar with. </a:t>
            </a:r>
          </a:p>
          <a:p>
            <a:pPr algn="just" eaLnBrk="1" hangingPunct="1"/>
            <a:r>
              <a:rPr lang="en-US" altLang="en-US" sz="2800" dirty="0"/>
              <a:t>For ratio data both differences and ratios are interpretable. </a:t>
            </a:r>
          </a:p>
          <a:p>
            <a:pPr algn="just" eaLnBrk="1" hangingPunct="1"/>
            <a:r>
              <a:rPr lang="en-US" altLang="en-US" sz="2800" dirty="0"/>
              <a:t>Ratio data have a natural zero. </a:t>
            </a:r>
          </a:p>
        </p:txBody>
      </p:sp>
    </p:spTree>
    <p:extLst>
      <p:ext uri="{BB962C8B-B14F-4D97-AF65-F5344CB8AC3E}">
        <p14:creationId xmlns:p14="http://schemas.microsoft.com/office/powerpoint/2010/main" val="380343297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8C996ADF-3EED-4F95-9FC5-E2F96F760482}" type="slidenum">
              <a:rPr lang="en-US" altLang="en-US" sz="1000" smtClean="0">
                <a:solidFill>
                  <a:schemeClr val="bg1"/>
                </a:solidFill>
              </a:rPr>
              <a:pPr/>
              <a:t>76</a:t>
            </a:fld>
            <a:endParaRPr lang="en-US" altLang="en-US" sz="1000">
              <a:solidFill>
                <a:schemeClr val="bg1"/>
              </a:solidFill>
            </a:endParaRPr>
          </a:p>
        </p:txBody>
      </p:sp>
      <p:sp>
        <p:nvSpPr>
          <p:cNvPr id="84995" name="Rectangle 2"/>
          <p:cNvSpPr>
            <a:spLocks noGrp="1" noChangeArrowheads="1"/>
          </p:cNvSpPr>
          <p:nvPr>
            <p:ph type="title"/>
          </p:nvPr>
        </p:nvSpPr>
        <p:spPr/>
        <p:txBody>
          <a:bodyPr/>
          <a:lstStyle/>
          <a:p>
            <a:pPr eaLnBrk="1" hangingPunct="1"/>
            <a:r>
              <a:rPr lang="en-US" altLang="en-US" dirty="0"/>
              <a:t>Levels of Measurement </a:t>
            </a:r>
            <a:br>
              <a:rPr lang="en-US" altLang="en-US" dirty="0"/>
            </a:br>
            <a:r>
              <a:rPr lang="en-US" altLang="en-US" dirty="0"/>
              <a:t>- Ratio Scales</a:t>
            </a:r>
          </a:p>
        </p:txBody>
      </p:sp>
      <p:sp>
        <p:nvSpPr>
          <p:cNvPr id="84996" name="Rectangle 3"/>
          <p:cNvSpPr>
            <a:spLocks noGrp="1" noChangeArrowheads="1"/>
          </p:cNvSpPr>
          <p:nvPr>
            <p:ph type="body" idx="1"/>
          </p:nvPr>
        </p:nvSpPr>
        <p:spPr/>
        <p:txBody>
          <a:bodyPr/>
          <a:lstStyle/>
          <a:p>
            <a:pPr algn="just" eaLnBrk="1" hangingPunct="1"/>
            <a:r>
              <a:rPr lang="en-US" altLang="en-US" sz="2800" dirty="0"/>
              <a:t>Examples of ratio scale data are number of computers you own, weight, height, a bank balance, number of people watching a movie, goals scored by Brazil in the World Cup, etc. </a:t>
            </a:r>
          </a:p>
          <a:p>
            <a:pPr algn="just" eaLnBrk="1" hangingPunct="1"/>
            <a:r>
              <a:rPr lang="en-US" altLang="en-US" sz="2800" dirty="0"/>
              <a:t>Ratio data look a lot like interval data. </a:t>
            </a:r>
          </a:p>
          <a:p>
            <a:pPr algn="just" eaLnBrk="1" hangingPunct="1"/>
            <a:r>
              <a:rPr lang="en-US" altLang="en-US" sz="2800" dirty="0"/>
              <a:t>However, the zero point has a special meaning in ratio-scaled data: it indicates the absence of whatever property is being measured. </a:t>
            </a:r>
          </a:p>
        </p:txBody>
      </p:sp>
    </p:spTree>
    <p:extLst>
      <p:ext uri="{BB962C8B-B14F-4D97-AF65-F5344CB8AC3E}">
        <p14:creationId xmlns:p14="http://schemas.microsoft.com/office/powerpoint/2010/main" val="171691519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2"/>
          <p:cNvSpPr>
            <a:spLocks noGrp="1" noChangeArrowheads="1"/>
          </p:cNvSpPr>
          <p:nvPr>
            <p:ph type="title"/>
          </p:nvPr>
        </p:nvSpPr>
        <p:spPr/>
        <p:txBody>
          <a:bodyPr/>
          <a:lstStyle/>
          <a:p>
            <a:pPr eaLnBrk="1" hangingPunct="1"/>
            <a:r>
              <a:rPr lang="en-US" altLang="en-US" dirty="0"/>
              <a:t>Levels of Measurement </a:t>
            </a:r>
            <a:br>
              <a:rPr lang="en-US" altLang="en-US" dirty="0"/>
            </a:br>
            <a:r>
              <a:rPr lang="en-US" altLang="en-US" dirty="0"/>
              <a:t>- Ratio Scales</a:t>
            </a:r>
          </a:p>
        </p:txBody>
      </p:sp>
      <p:sp>
        <p:nvSpPr>
          <p:cNvPr id="86020" name="Rectangle 3"/>
          <p:cNvSpPr>
            <a:spLocks noGrp="1" noChangeArrowheads="1"/>
          </p:cNvSpPr>
          <p:nvPr>
            <p:ph idx="1"/>
          </p:nvPr>
        </p:nvSpPr>
        <p:spPr/>
        <p:txBody>
          <a:bodyPr/>
          <a:lstStyle/>
          <a:p>
            <a:pPr algn="just" eaLnBrk="1" hangingPunct="1"/>
            <a:r>
              <a:rPr lang="en-US" altLang="en-US" sz="2800" dirty="0"/>
              <a:t>Ratio data always have the flavor of counting: when you measure the amount of money that you have, you are counting up coins and bills. </a:t>
            </a:r>
          </a:p>
          <a:p>
            <a:pPr algn="just" eaLnBrk="1" hangingPunct="1"/>
            <a:r>
              <a:rPr lang="en-US" altLang="en-US" sz="2800" dirty="0"/>
              <a:t>When you are measuring your height, you are counting the number of inches off the ground to the top of your head. </a:t>
            </a:r>
          </a:p>
          <a:p>
            <a:pPr algn="just" eaLnBrk="1" hangingPunct="1"/>
            <a:r>
              <a:rPr lang="en-US" altLang="en-US" sz="2800" dirty="0"/>
              <a:t>Both ratio and interval data make use of a wide range of statistical analysis tools. </a:t>
            </a:r>
          </a:p>
        </p:txBody>
      </p:sp>
      <p:sp>
        <p:nvSpPr>
          <p:cNvPr id="86018" name="Slide Number Placeholder 6"/>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C882A3CD-2DBF-47C4-8713-5A5DF84B6D8C}" type="slidenum">
              <a:rPr lang="en-US" altLang="en-US" sz="1000" smtClean="0">
                <a:solidFill>
                  <a:schemeClr val="bg1"/>
                </a:solidFill>
              </a:rPr>
              <a:pPr/>
              <a:t>77</a:t>
            </a:fld>
            <a:endParaRPr lang="en-US" altLang="en-US" sz="1000">
              <a:solidFill>
                <a:schemeClr val="bg1"/>
              </a:solidFill>
            </a:endParaRPr>
          </a:p>
        </p:txBody>
      </p:sp>
    </p:spTree>
    <p:extLst>
      <p:ext uri="{BB962C8B-B14F-4D97-AF65-F5344CB8AC3E}">
        <p14:creationId xmlns:p14="http://schemas.microsoft.com/office/powerpoint/2010/main" val="185019787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p:cNvSpPr>
            <a:spLocks noGrp="1"/>
          </p:cNvSpPr>
          <p:nvPr>
            <p:ph type="title"/>
          </p:nvPr>
        </p:nvSpPr>
        <p:spPr/>
        <p:txBody>
          <a:bodyPr/>
          <a:lstStyle/>
          <a:p>
            <a:r>
              <a:rPr lang="en-US" altLang="en-US"/>
              <a:t>Levels of Measurement</a:t>
            </a:r>
            <a:endParaRPr lang="en-MY" altLang="en-US"/>
          </a:p>
        </p:txBody>
      </p:sp>
      <p:sp>
        <p:nvSpPr>
          <p:cNvPr id="87043" name="Slide Number Placeholder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15286AA3-D123-4AC3-BC19-EE3991D35496}" type="slidenum">
              <a:rPr lang="en-US" altLang="en-US" sz="1000" smtClean="0">
                <a:solidFill>
                  <a:schemeClr val="bg1"/>
                </a:solidFill>
              </a:rPr>
              <a:pPr/>
              <a:t>78</a:t>
            </a:fld>
            <a:endParaRPr lang="en-US" altLang="en-US" sz="1000">
              <a:solidFill>
                <a:schemeClr val="bg1"/>
              </a:solidFill>
            </a:endParaRPr>
          </a:p>
        </p:txBody>
      </p:sp>
      <p:pic>
        <p:nvPicPr>
          <p:cNvPr id="87044" name="Picture 2" descr="Image result for levels of measurement statisti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1371600"/>
            <a:ext cx="5783263" cy="250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45" name="Picture 4" descr="http://2.bp.blogspot.com/-9NkGnwFWDc8/UDCJeRDedZI/AAAAAAAAASU/UZveEnXt8YM/s1600/STATS+LEVEL+CALCS+CHAR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4191000"/>
            <a:ext cx="5267325" cy="225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7760783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p:cNvSpPr>
          <p:nvPr>
            <p:ph type="title"/>
          </p:nvPr>
        </p:nvSpPr>
        <p:spPr/>
        <p:txBody>
          <a:bodyPr/>
          <a:lstStyle/>
          <a:p>
            <a:endParaRPr lang="en-MY" altLang="en-US"/>
          </a:p>
        </p:txBody>
      </p:sp>
      <p:sp>
        <p:nvSpPr>
          <p:cNvPr id="88067"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18C98BBE-2B28-431B-A599-63FC389B2BA7}" type="slidenum">
              <a:rPr lang="en-US" altLang="en-US" sz="1000" smtClean="0">
                <a:solidFill>
                  <a:schemeClr val="bg1"/>
                </a:solidFill>
              </a:rPr>
              <a:pPr/>
              <a:t>79</a:t>
            </a:fld>
            <a:endParaRPr lang="en-US" altLang="en-US" sz="1000">
              <a:solidFill>
                <a:schemeClr val="bg1"/>
              </a:solidFill>
            </a:endParaRPr>
          </a:p>
        </p:txBody>
      </p:sp>
      <p:pic>
        <p:nvPicPr>
          <p:cNvPr id="8806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85800"/>
            <a:ext cx="8839200" cy="574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4716533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p:cNvSpPr>
            <a:spLocks noGrp="1"/>
          </p:cNvSpPr>
          <p:nvPr>
            <p:ph type="title"/>
          </p:nvPr>
        </p:nvSpPr>
        <p:spPr/>
        <p:txBody>
          <a:bodyPr/>
          <a:lstStyle/>
          <a:p>
            <a:r>
              <a:rPr lang="en-US" altLang="en-US"/>
              <a:t>Levels of Measurement</a:t>
            </a:r>
            <a:endParaRPr lang="en-MY" altLang="en-US"/>
          </a:p>
        </p:txBody>
      </p:sp>
      <p:sp>
        <p:nvSpPr>
          <p:cNvPr id="89091" name="Slide Number Placeholder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DB123695-ED5A-4325-9D02-B6914E044B48}" type="slidenum">
              <a:rPr lang="en-US" altLang="en-US" sz="1000" smtClean="0">
                <a:solidFill>
                  <a:schemeClr val="bg1"/>
                </a:solidFill>
              </a:rPr>
              <a:pPr/>
              <a:t>80</a:t>
            </a:fld>
            <a:endParaRPr lang="en-US" altLang="en-US" sz="1000">
              <a:solidFill>
                <a:schemeClr val="bg1"/>
              </a:solidFill>
            </a:endParaRPr>
          </a:p>
        </p:txBody>
      </p:sp>
      <p:pic>
        <p:nvPicPr>
          <p:cNvPr id="8909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700808"/>
            <a:ext cx="8411736" cy="4292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4823221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233A6AB7-C315-4DB7-8D6E-0904B326470B}" type="slidenum">
              <a:rPr lang="en-US" altLang="en-US" sz="1000" smtClean="0">
                <a:solidFill>
                  <a:schemeClr val="bg1"/>
                </a:solidFill>
              </a:rPr>
              <a:pPr/>
              <a:t>81</a:t>
            </a:fld>
            <a:endParaRPr lang="en-US" altLang="en-US" sz="1000">
              <a:solidFill>
                <a:schemeClr val="bg1"/>
              </a:solidFill>
            </a:endParaRPr>
          </a:p>
        </p:txBody>
      </p:sp>
      <p:sp>
        <p:nvSpPr>
          <p:cNvPr id="90115" name="Rectangle 2"/>
          <p:cNvSpPr>
            <a:spLocks noGrp="1" noChangeArrowheads="1"/>
          </p:cNvSpPr>
          <p:nvPr>
            <p:ph type="title"/>
          </p:nvPr>
        </p:nvSpPr>
        <p:spPr/>
        <p:txBody>
          <a:bodyPr/>
          <a:lstStyle/>
          <a:p>
            <a:pPr eaLnBrk="1" hangingPunct="1"/>
            <a:r>
              <a:rPr lang="en-US" altLang="en-US"/>
              <a:t>Levels of Measurement</a:t>
            </a:r>
          </a:p>
        </p:txBody>
      </p:sp>
      <p:sp>
        <p:nvSpPr>
          <p:cNvPr id="90116" name="Rectangle 3"/>
          <p:cNvSpPr>
            <a:spLocks noGrp="1" noChangeArrowheads="1"/>
          </p:cNvSpPr>
          <p:nvPr>
            <p:ph type="body" idx="1"/>
          </p:nvPr>
        </p:nvSpPr>
        <p:spPr>
          <a:xfrm>
            <a:off x="304800" y="5105400"/>
            <a:ext cx="8610600" cy="1066800"/>
          </a:xfrm>
        </p:spPr>
        <p:txBody>
          <a:bodyPr/>
          <a:lstStyle/>
          <a:p>
            <a:pPr algn="ctr" eaLnBrk="1" hangingPunct="1">
              <a:buFontTx/>
              <a:buNone/>
            </a:pPr>
            <a:r>
              <a:rPr lang="en-US" altLang="en-US" sz="2800" dirty="0"/>
              <a:t>"</a:t>
            </a:r>
            <a:r>
              <a:rPr lang="en-US" altLang="en-US" sz="2800" b="1" dirty="0"/>
              <a:t>You can have data without information, but you cannot have information without data</a:t>
            </a:r>
            <a:r>
              <a:rPr lang="en-US" altLang="en-US" sz="2800" dirty="0"/>
              <a:t>." —Daniel K. Moran </a:t>
            </a:r>
          </a:p>
        </p:txBody>
      </p:sp>
      <p:pic>
        <p:nvPicPr>
          <p:cNvPr id="90117"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97113" y="1306857"/>
            <a:ext cx="5443239" cy="3646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997862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Number Placeholder 6"/>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4EABA350-2125-4909-9290-437EF14D1990}" type="slidenum">
              <a:rPr lang="en-US" altLang="en-US" sz="1000" smtClean="0">
                <a:solidFill>
                  <a:schemeClr val="bg1"/>
                </a:solidFill>
              </a:rPr>
              <a:pPr/>
              <a:t>82</a:t>
            </a:fld>
            <a:endParaRPr lang="en-US" altLang="en-US" sz="1000">
              <a:solidFill>
                <a:schemeClr val="bg1"/>
              </a:solidFill>
            </a:endParaRPr>
          </a:p>
        </p:txBody>
      </p:sp>
      <p:sp>
        <p:nvSpPr>
          <p:cNvPr id="91139" name="Rectangle 8"/>
          <p:cNvSpPr>
            <a:spLocks noGrp="1" noChangeArrowheads="1"/>
          </p:cNvSpPr>
          <p:nvPr>
            <p:ph type="title"/>
          </p:nvPr>
        </p:nvSpPr>
        <p:spPr/>
        <p:txBody>
          <a:bodyPr/>
          <a:lstStyle/>
          <a:p>
            <a:pPr eaLnBrk="1" hangingPunct="1"/>
            <a:r>
              <a:rPr lang="en-US" altLang="en-US" dirty="0"/>
              <a:t>Example</a:t>
            </a:r>
          </a:p>
        </p:txBody>
      </p:sp>
      <p:pic>
        <p:nvPicPr>
          <p:cNvPr id="91140" name="Picture 4"/>
          <p:cNvPicPr>
            <a:picLocks noGrp="1" noChangeAspect="1" noChangeArrowheads="1"/>
          </p:cNvPicPr>
          <p:nvPr>
            <p:ph sz="half" idx="1"/>
          </p:nvPr>
        </p:nvPicPr>
        <p:blipFill rotWithShape="1">
          <a:blip r:embed="rId2">
            <a:extLst>
              <a:ext uri="{28A0092B-C50C-407E-A947-70E740481C1C}">
                <a14:useLocalDpi xmlns:a14="http://schemas.microsoft.com/office/drawing/2010/main" val="0"/>
              </a:ext>
            </a:extLst>
          </a:blip>
          <a:srcRect b="14836"/>
          <a:stretch/>
        </p:blipFill>
        <p:spPr>
          <a:xfrm>
            <a:off x="685800" y="2895600"/>
            <a:ext cx="8001000" cy="2286000"/>
          </a:xfrm>
          <a:noFill/>
        </p:spPr>
      </p:pic>
      <p:pic>
        <p:nvPicPr>
          <p:cNvPr id="91141" name="Picture 7"/>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1295400" y="2119094"/>
            <a:ext cx="6687580" cy="474881"/>
          </a:xfrm>
          <a:noFill/>
        </p:spPr>
      </p:pic>
    </p:spTree>
    <p:extLst>
      <p:ext uri="{BB962C8B-B14F-4D97-AF65-F5344CB8AC3E}">
        <p14:creationId xmlns:p14="http://schemas.microsoft.com/office/powerpoint/2010/main" val="36093727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MY" dirty="0"/>
              <a:t>Exercise</a:t>
            </a:r>
            <a:endParaRPr lang="en-GB" dirty="0"/>
          </a:p>
        </p:txBody>
      </p:sp>
      <p:sp>
        <p:nvSpPr>
          <p:cNvPr id="5" name="Slide Number Placeholder 4"/>
          <p:cNvSpPr>
            <a:spLocks noGrp="1"/>
          </p:cNvSpPr>
          <p:nvPr>
            <p:ph type="sldNum" sz="quarter" idx="11"/>
          </p:nvPr>
        </p:nvSpPr>
        <p:spPr/>
        <p:txBody>
          <a:bodyPr/>
          <a:lstStyle/>
          <a:p>
            <a:pPr>
              <a:defRPr/>
            </a:pPr>
            <a:fld id="{C1A5B7EB-04AC-4EBA-8C75-657DAFB81A65}" type="slidenum">
              <a:rPr lang="en-US" altLang="en-US" smtClean="0"/>
              <a:pPr>
                <a:defRPr/>
              </a:pPr>
              <a:t>83</a:t>
            </a:fld>
            <a:endParaRPr lang="en-US" altLang="en-US"/>
          </a:p>
        </p:txBody>
      </p:sp>
      <p:sp>
        <p:nvSpPr>
          <p:cNvPr id="9" name="Rectangle 8"/>
          <p:cNvSpPr/>
          <p:nvPr/>
        </p:nvSpPr>
        <p:spPr>
          <a:xfrm>
            <a:off x="152400" y="1219200"/>
            <a:ext cx="8991600" cy="5124480"/>
          </a:xfrm>
          <a:prstGeom prst="rect">
            <a:avLst/>
          </a:prstGeom>
        </p:spPr>
        <p:txBody>
          <a:bodyPr wrap="square">
            <a:spAutoFit/>
          </a:bodyPr>
          <a:lstStyle/>
          <a:p>
            <a:pPr algn="just">
              <a:lnSpc>
                <a:spcPct val="150000"/>
              </a:lnSpc>
            </a:pPr>
            <a:r>
              <a:rPr lang="en-MY" sz="2000" b="0" dirty="0">
                <a:latin typeface="+mn-lt"/>
              </a:rPr>
              <a:t>Identify the following as nominal level, ordinal level, interval level, or ratio level data. </a:t>
            </a:r>
          </a:p>
          <a:p>
            <a:pPr algn="just">
              <a:lnSpc>
                <a:spcPct val="150000"/>
              </a:lnSpc>
            </a:pPr>
            <a:r>
              <a:rPr lang="en-MY" sz="2000" b="0" dirty="0">
                <a:latin typeface="+mn-lt"/>
              </a:rPr>
              <a:t>1.   Flavours of frozen yogurt  </a:t>
            </a:r>
          </a:p>
          <a:p>
            <a:pPr algn="just">
              <a:lnSpc>
                <a:spcPct val="150000"/>
              </a:lnSpc>
            </a:pPr>
            <a:r>
              <a:rPr lang="en-MY" sz="2000" b="0" dirty="0">
                <a:latin typeface="+mn-lt"/>
              </a:rPr>
              <a:t>2.   Amount of money in savings accounts</a:t>
            </a:r>
          </a:p>
          <a:p>
            <a:pPr>
              <a:lnSpc>
                <a:spcPct val="150000"/>
              </a:lnSpc>
            </a:pPr>
            <a:r>
              <a:rPr lang="en-MY" sz="2000" b="0" dirty="0">
                <a:latin typeface="+mn-lt"/>
              </a:rPr>
              <a:t>3.  Students classified by their reading ability: Above average, Below average, Normal</a:t>
            </a:r>
          </a:p>
          <a:p>
            <a:pPr algn="just">
              <a:lnSpc>
                <a:spcPct val="150000"/>
              </a:lnSpc>
            </a:pPr>
            <a:r>
              <a:rPr lang="en-MY" sz="2000" b="0" dirty="0">
                <a:latin typeface="+mn-lt"/>
              </a:rPr>
              <a:t>4.   Letter grades on an English essay</a:t>
            </a:r>
          </a:p>
          <a:p>
            <a:pPr algn="just">
              <a:lnSpc>
                <a:spcPct val="150000"/>
              </a:lnSpc>
            </a:pPr>
            <a:r>
              <a:rPr lang="en-MY" sz="2000" b="0" dirty="0">
                <a:latin typeface="+mn-lt"/>
              </a:rPr>
              <a:t>5.   Religions </a:t>
            </a:r>
          </a:p>
          <a:p>
            <a:pPr algn="just">
              <a:lnSpc>
                <a:spcPct val="150000"/>
              </a:lnSpc>
            </a:pPr>
            <a:r>
              <a:rPr lang="en-MY" sz="2000" b="0" dirty="0">
                <a:latin typeface="+mn-lt"/>
              </a:rPr>
              <a:t>6.   Commuting times to work</a:t>
            </a:r>
          </a:p>
          <a:p>
            <a:pPr algn="just">
              <a:lnSpc>
                <a:spcPct val="150000"/>
              </a:lnSpc>
            </a:pPr>
            <a:r>
              <a:rPr lang="en-MY" sz="2000" b="0" dirty="0">
                <a:latin typeface="+mn-lt"/>
              </a:rPr>
              <a:t>7.   Ages (in years) of art students</a:t>
            </a:r>
          </a:p>
          <a:p>
            <a:pPr algn="just">
              <a:lnSpc>
                <a:spcPct val="150000"/>
              </a:lnSpc>
            </a:pPr>
            <a:r>
              <a:rPr lang="en-MY" sz="2000" b="0" dirty="0">
                <a:latin typeface="+mn-lt"/>
              </a:rPr>
              <a:t>8.   Ice cream flavour preference</a:t>
            </a:r>
          </a:p>
          <a:p>
            <a:pPr algn="just">
              <a:lnSpc>
                <a:spcPct val="150000"/>
              </a:lnSpc>
            </a:pPr>
            <a:r>
              <a:rPr lang="en-MY" sz="2000" b="0" dirty="0">
                <a:latin typeface="+mn-lt"/>
              </a:rPr>
              <a:t>9.   Years of important historical events</a:t>
            </a:r>
          </a:p>
          <a:p>
            <a:pPr algn="just">
              <a:lnSpc>
                <a:spcPct val="150000"/>
              </a:lnSpc>
            </a:pPr>
            <a:r>
              <a:rPr lang="en-MY" sz="2000" b="0" dirty="0">
                <a:latin typeface="+mn-lt"/>
              </a:rPr>
              <a:t>10. Instructors classified as: Easy, Difficult or Impossible</a:t>
            </a:r>
          </a:p>
        </p:txBody>
      </p:sp>
    </p:spTree>
    <p:extLst>
      <p:ext uri="{BB962C8B-B14F-4D97-AF65-F5344CB8AC3E}">
        <p14:creationId xmlns:p14="http://schemas.microsoft.com/office/powerpoint/2010/main" val="37844489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040142B1-7A97-4F98-9FA6-0D756509E17C}" type="slidenum">
              <a:rPr lang="en-US" altLang="en-US" sz="1000" smtClean="0">
                <a:solidFill>
                  <a:schemeClr val="bg1"/>
                </a:solidFill>
              </a:rPr>
              <a:pPr/>
              <a:t>84</a:t>
            </a:fld>
            <a:endParaRPr lang="en-US" altLang="en-US" sz="1000">
              <a:solidFill>
                <a:schemeClr val="bg1"/>
              </a:solidFill>
            </a:endParaRPr>
          </a:p>
        </p:txBody>
      </p:sp>
      <p:sp>
        <p:nvSpPr>
          <p:cNvPr id="94211" name="Rectangle 2"/>
          <p:cNvSpPr>
            <a:spLocks noGrp="1" noChangeArrowheads="1"/>
          </p:cNvSpPr>
          <p:nvPr>
            <p:ph type="title"/>
          </p:nvPr>
        </p:nvSpPr>
        <p:spPr/>
        <p:txBody>
          <a:bodyPr/>
          <a:lstStyle/>
          <a:p>
            <a:pPr eaLnBrk="1" hangingPunct="1"/>
            <a:endParaRPr lang="en-US" altLang="en-US"/>
          </a:p>
        </p:txBody>
      </p:sp>
      <p:pic>
        <p:nvPicPr>
          <p:cNvPr id="94212"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62263" y="1371600"/>
            <a:ext cx="3919537" cy="471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595451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139</TotalTime>
  <Words>2735</Words>
  <Application>Microsoft Office PowerPoint</Application>
  <PresentationFormat>On-screen Show (4:3)</PresentationFormat>
  <Paragraphs>448</Paragraphs>
  <Slides>84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84</vt:i4>
      </vt:variant>
    </vt:vector>
  </HeadingPairs>
  <TitlesOfParts>
    <vt:vector size="89" baseType="lpstr">
      <vt:lpstr>ＭＳ Ｐゴシック</vt:lpstr>
      <vt:lpstr>Arial</vt:lpstr>
      <vt:lpstr>Calibri</vt:lpstr>
      <vt:lpstr>Symbol</vt:lpstr>
      <vt:lpstr>Office Theme</vt:lpstr>
      <vt:lpstr>PowerPoint Presentation</vt:lpstr>
      <vt:lpstr>Introduction to Statistics</vt:lpstr>
      <vt:lpstr>Introduction to Statistics</vt:lpstr>
      <vt:lpstr>Introduction to Statistics</vt:lpstr>
      <vt:lpstr>Introduction to Statistics</vt:lpstr>
      <vt:lpstr>Introduction to Statistics</vt:lpstr>
      <vt:lpstr>Introduction to Statistics</vt:lpstr>
      <vt:lpstr>Introduction to Statistics</vt:lpstr>
      <vt:lpstr>Introduction to Statistics</vt:lpstr>
      <vt:lpstr>Introduction to Statistics</vt:lpstr>
      <vt:lpstr>Descriptive Statistics</vt:lpstr>
      <vt:lpstr>Descriptive Statistics</vt:lpstr>
      <vt:lpstr>Descriptive Statistics</vt:lpstr>
      <vt:lpstr>Example</vt:lpstr>
      <vt:lpstr>Example</vt:lpstr>
      <vt:lpstr>Example</vt:lpstr>
      <vt:lpstr>Example</vt:lpstr>
      <vt:lpstr>Example</vt:lpstr>
      <vt:lpstr>Example</vt:lpstr>
      <vt:lpstr>Example</vt:lpstr>
      <vt:lpstr>Example</vt:lpstr>
      <vt:lpstr>Example</vt:lpstr>
      <vt:lpstr>Example</vt:lpstr>
      <vt:lpstr>Introduction to Statistics</vt:lpstr>
      <vt:lpstr>Inference Process</vt:lpstr>
      <vt:lpstr>Introduction to Statistics</vt:lpstr>
      <vt:lpstr>Population &amp; Sample</vt:lpstr>
      <vt:lpstr>Population &amp; Sample</vt:lpstr>
      <vt:lpstr>Population &amp; Sample</vt:lpstr>
      <vt:lpstr>Population &amp; Sample</vt:lpstr>
      <vt:lpstr>Population &amp; Sample</vt:lpstr>
      <vt:lpstr>Population &amp; Sample</vt:lpstr>
      <vt:lpstr>Example</vt:lpstr>
      <vt:lpstr>Example</vt:lpstr>
      <vt:lpstr>Example</vt:lpstr>
      <vt:lpstr>Data Analysis Process</vt:lpstr>
      <vt:lpstr>Data Analysis Process</vt:lpstr>
      <vt:lpstr>Data Analysis Process</vt:lpstr>
      <vt:lpstr>Data Analysis Process</vt:lpstr>
      <vt:lpstr>Data Analysis Process</vt:lpstr>
      <vt:lpstr>Data Analysis Process</vt:lpstr>
      <vt:lpstr>Data Analysis Process</vt:lpstr>
      <vt:lpstr>Data Analysis Process</vt:lpstr>
      <vt:lpstr>Data Analysis Process</vt:lpstr>
      <vt:lpstr>Primary &amp; Secondary Data</vt:lpstr>
      <vt:lpstr>Primary &amp; Secondary Data</vt:lpstr>
      <vt:lpstr>Data Sources</vt:lpstr>
      <vt:lpstr>Data Sources</vt:lpstr>
      <vt:lpstr>Qualitative &amp; Quantitative Data</vt:lpstr>
      <vt:lpstr>Qualitative &amp; Quantitative Data</vt:lpstr>
      <vt:lpstr>Qualitative &amp; Quantitative Data</vt:lpstr>
      <vt:lpstr>Qualitative &amp; Quantitative Data</vt:lpstr>
      <vt:lpstr>Discrete &amp; Continuous Data </vt:lpstr>
      <vt:lpstr>Discrete &amp; Continuous Data </vt:lpstr>
      <vt:lpstr>Discrete &amp; Continuous Data </vt:lpstr>
      <vt:lpstr>Discrete &amp; Continuous Data </vt:lpstr>
      <vt:lpstr>Discrete &amp; Continuous Data </vt:lpstr>
      <vt:lpstr>Discrete &amp; Continuous Data</vt:lpstr>
      <vt:lpstr>Levels of Measurement</vt:lpstr>
      <vt:lpstr>Levels of Measurement</vt:lpstr>
      <vt:lpstr>Levels of Measurement  - Nominal Scales</vt:lpstr>
      <vt:lpstr>Levels of Measurement  - Nominal Scales</vt:lpstr>
      <vt:lpstr>Levels of Measurement  - Nominal Scales</vt:lpstr>
      <vt:lpstr>Levels of Measurement  - Nominal Scales</vt:lpstr>
      <vt:lpstr>Levels of Measurement  - Nominal Scales</vt:lpstr>
      <vt:lpstr>Levels of Measurement  - Ordinal Scales</vt:lpstr>
      <vt:lpstr>Levels of Measurement  - Ordinal Scales</vt:lpstr>
      <vt:lpstr>Levels of Measurement  - Ordinal Scales</vt:lpstr>
      <vt:lpstr>Levels of Measurement -Ordinal Scales</vt:lpstr>
      <vt:lpstr>Levels of Measurement  - Ordinal Scales</vt:lpstr>
      <vt:lpstr>Levels of Measurement  - Ordinal Scales</vt:lpstr>
      <vt:lpstr>Levels of Measurement  - Interval Scales </vt:lpstr>
      <vt:lpstr>Levels of Measurement  - Interval Scales </vt:lpstr>
      <vt:lpstr>Levels of Measurement  - Interval Scales </vt:lpstr>
      <vt:lpstr>Levels of Measurement  - Ratio Scales</vt:lpstr>
      <vt:lpstr>Levels of Measurement  - Ratio Scales</vt:lpstr>
      <vt:lpstr>Levels of Measurement  - Ratio Scales</vt:lpstr>
      <vt:lpstr>Levels of Measurement</vt:lpstr>
      <vt:lpstr>PowerPoint Presentation</vt:lpstr>
      <vt:lpstr>Levels of Measurement</vt:lpstr>
      <vt:lpstr>Levels of Measurement</vt:lpstr>
      <vt:lpstr>Example</vt:lpstr>
      <vt:lpstr>Exercise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izyanizzati@gmail.com</cp:lastModifiedBy>
  <cp:revision>21</cp:revision>
  <cp:lastPrinted>2019-01-24T05:25:58Z</cp:lastPrinted>
  <dcterms:created xsi:type="dcterms:W3CDTF">2019-01-24T05:12:11Z</dcterms:created>
  <dcterms:modified xsi:type="dcterms:W3CDTF">2024-03-17T02:18:53Z</dcterms:modified>
</cp:coreProperties>
</file>