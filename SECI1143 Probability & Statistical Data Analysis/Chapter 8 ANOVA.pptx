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9" r:id="rId1"/>
  </p:sldMasterIdLst>
  <p:notesMasterIdLst>
    <p:notesMasterId r:id="rId24"/>
  </p:notesMasterIdLst>
  <p:handoutMasterIdLst>
    <p:handoutMasterId r:id="rId25"/>
  </p:handoutMasterIdLst>
  <p:sldIdLst>
    <p:sldId id="284" r:id="rId2"/>
    <p:sldId id="258" r:id="rId3"/>
    <p:sldId id="259" r:id="rId4"/>
    <p:sldId id="260" r:id="rId5"/>
    <p:sldId id="261" r:id="rId6"/>
    <p:sldId id="262" r:id="rId7"/>
    <p:sldId id="263" r:id="rId8"/>
    <p:sldId id="264" r:id="rId9"/>
    <p:sldId id="265" r:id="rId10"/>
    <p:sldId id="286" r:id="rId11"/>
    <p:sldId id="268" r:id="rId12"/>
    <p:sldId id="269" r:id="rId13"/>
    <p:sldId id="270" r:id="rId14"/>
    <p:sldId id="271" r:id="rId15"/>
    <p:sldId id="272" r:id="rId16"/>
    <p:sldId id="288" r:id="rId17"/>
    <p:sldId id="289" r:id="rId18"/>
    <p:sldId id="290" r:id="rId19"/>
    <p:sldId id="291" r:id="rId20"/>
    <p:sldId id="275" r:id="rId21"/>
    <p:sldId id="292" r:id="rId22"/>
    <p:sldId id="29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p:cViewPr varScale="1">
        <p:scale>
          <a:sx n="72" d="100"/>
          <a:sy n="72" d="100"/>
        </p:scale>
        <p:origin x="828" y="27"/>
      </p:cViewPr>
      <p:guideLst>
        <p:guide orient="horz" pos="2160"/>
        <p:guide pos="384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6EB7ACA-9913-4C02-8665-6CAE6B2E3AD6}" type="datetimeFigureOut">
              <a:rPr lang="en-GB" smtClean="0"/>
              <a:t>17/03/2026</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6A304F-078B-435E-B9B6-5D07543B9AD4}" type="slidenum">
              <a:rPr lang="en-GB" smtClean="0"/>
              <a:t>‹#›</a:t>
            </a:fld>
            <a:endParaRPr lang="en-GB"/>
          </a:p>
        </p:txBody>
      </p:sp>
    </p:spTree>
    <p:extLst>
      <p:ext uri="{BB962C8B-B14F-4D97-AF65-F5344CB8AC3E}">
        <p14:creationId xmlns:p14="http://schemas.microsoft.com/office/powerpoint/2010/main" val="34000115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389C534-E7E5-114E-A2AE-5153D288776F}" type="datetimeFigureOut">
              <a:rPr lang="en-US"/>
              <a:pPr>
                <a:defRPr/>
              </a:pPr>
              <a:t>3/17/2026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F42BA20-2855-DA43-A524-66B672955A56}" type="slidenum">
              <a:rPr lang="en-US"/>
              <a:pPr>
                <a:defRPr/>
              </a:pPr>
              <a:t>‹#›</a:t>
            </a:fld>
            <a:endParaRPr lang="en-US"/>
          </a:p>
        </p:txBody>
      </p:sp>
    </p:spTree>
    <p:extLst>
      <p:ext uri="{BB962C8B-B14F-4D97-AF65-F5344CB8AC3E}">
        <p14:creationId xmlns:p14="http://schemas.microsoft.com/office/powerpoint/2010/main" val="246026313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381000" y="685800"/>
            <a:ext cx="6096000" cy="3429000"/>
          </a:xfrm>
          <a:ln/>
        </p:spPr>
      </p:sp>
      <p:sp>
        <p:nvSpPr>
          <p:cNvPr id="32771" name="Notes Placeholder 2"/>
          <p:cNvSpPr>
            <a:spLocks noGrp="1"/>
          </p:cNvSpPr>
          <p:nvPr>
            <p:ph type="body" idx="1"/>
          </p:nvPr>
        </p:nvSpPr>
        <p:spPr>
          <a:noFill/>
          <a:extLst>
            <a:ext uri="{FAA26D3D-D897-4be2-8F04-BA451C77F1D7}">
              <ma14:placeholderFlag xmlns:ma14="http://schemas.microsoft.com/office/mac/drawingml/2011/main" xmlns="" val="1"/>
            </a:ext>
          </a:extLst>
        </p:spPr>
        <p:txBody>
          <a:bodyPr/>
          <a:lstStyle/>
          <a:p>
            <a:endParaRPr lang="en-US">
              <a:ea typeface="ＭＳ Ｐゴシック" charset="0"/>
            </a:endParaRPr>
          </a:p>
        </p:txBody>
      </p:sp>
      <p:sp>
        <p:nvSpPr>
          <p:cNvPr id="32772" name="Footer Placeholder 3"/>
          <p:cNvSpPr>
            <a:spLocks noGrp="1"/>
          </p:cNvSpPr>
          <p:nvPr>
            <p:ph type="ftr" sz="quarter" idx="4"/>
          </p:nvPr>
        </p:nvSpPr>
        <p:spPr>
          <a:noFill/>
        </p:spPr>
        <p:txBody>
          <a:bodyPr/>
          <a:lstStyle>
            <a:lvl1pPr defTabSz="914485">
              <a:defRPr sz="2300" b="1">
                <a:solidFill>
                  <a:schemeClr val="tx1"/>
                </a:solidFill>
                <a:latin typeface="Arial" charset="0"/>
                <a:ea typeface="ＭＳ Ｐゴシック" charset="0"/>
                <a:cs typeface="ＭＳ Ｐゴシック" charset="0"/>
              </a:defRPr>
            </a:lvl1pPr>
            <a:lvl2pPr marL="702756" indent="-270291" defTabSz="914485">
              <a:defRPr sz="2300" b="1">
                <a:solidFill>
                  <a:schemeClr val="tx1"/>
                </a:solidFill>
                <a:latin typeface="Arial" charset="0"/>
                <a:ea typeface="ＭＳ Ｐゴシック" charset="0"/>
              </a:defRPr>
            </a:lvl2pPr>
            <a:lvl3pPr marL="1081164" indent="-216233" defTabSz="914485">
              <a:defRPr sz="2300" b="1">
                <a:solidFill>
                  <a:schemeClr val="tx1"/>
                </a:solidFill>
                <a:latin typeface="Arial" charset="0"/>
                <a:ea typeface="ＭＳ Ｐゴシック" charset="0"/>
              </a:defRPr>
            </a:lvl3pPr>
            <a:lvl4pPr marL="1513629" indent="-216233" defTabSz="914485">
              <a:defRPr sz="2300" b="1">
                <a:solidFill>
                  <a:schemeClr val="tx1"/>
                </a:solidFill>
                <a:latin typeface="Arial" charset="0"/>
                <a:ea typeface="ＭＳ Ｐゴシック" charset="0"/>
              </a:defRPr>
            </a:lvl4pPr>
            <a:lvl5pPr marL="1946095" indent="-216233" defTabSz="914485">
              <a:defRPr sz="2300" b="1">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b="1">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b="1">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b="1">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b="1">
                <a:solidFill>
                  <a:schemeClr val="tx1"/>
                </a:solidFill>
                <a:latin typeface="Arial" charset="0"/>
                <a:ea typeface="ＭＳ Ｐゴシック" charset="0"/>
              </a:defRPr>
            </a:lvl9pPr>
          </a:lstStyle>
          <a:p>
            <a:r>
              <a:rPr lang="en-US" sz="1200" b="0"/>
              <a:t>prepared by Razana Alwee / edited by Suhaila Mohamad Yusuf</a:t>
            </a:r>
          </a:p>
        </p:txBody>
      </p:sp>
      <p:sp>
        <p:nvSpPr>
          <p:cNvPr id="32773" name="Slide Number Placeholder 4"/>
          <p:cNvSpPr>
            <a:spLocks noGrp="1"/>
          </p:cNvSpPr>
          <p:nvPr>
            <p:ph type="sldNum" sz="quarter" idx="5"/>
          </p:nvPr>
        </p:nvSpPr>
        <p:spPr>
          <a:noFill/>
        </p:spPr>
        <p:txBody>
          <a:bodyPr/>
          <a:lstStyle>
            <a:lvl1pPr defTabSz="914485">
              <a:defRPr sz="2300" b="1">
                <a:solidFill>
                  <a:schemeClr val="tx1"/>
                </a:solidFill>
                <a:latin typeface="Arial" charset="0"/>
                <a:ea typeface="ＭＳ Ｐゴシック" charset="0"/>
                <a:cs typeface="ＭＳ Ｐゴシック" charset="0"/>
              </a:defRPr>
            </a:lvl1pPr>
            <a:lvl2pPr marL="702756" indent="-270291" defTabSz="914485">
              <a:defRPr sz="2300" b="1">
                <a:solidFill>
                  <a:schemeClr val="tx1"/>
                </a:solidFill>
                <a:latin typeface="Arial" charset="0"/>
                <a:ea typeface="ＭＳ Ｐゴシック" charset="0"/>
              </a:defRPr>
            </a:lvl2pPr>
            <a:lvl3pPr marL="1081164" indent="-216233" defTabSz="914485">
              <a:defRPr sz="2300" b="1">
                <a:solidFill>
                  <a:schemeClr val="tx1"/>
                </a:solidFill>
                <a:latin typeface="Arial" charset="0"/>
                <a:ea typeface="ＭＳ Ｐゴシック" charset="0"/>
              </a:defRPr>
            </a:lvl3pPr>
            <a:lvl4pPr marL="1513629" indent="-216233" defTabSz="914485">
              <a:defRPr sz="2300" b="1">
                <a:solidFill>
                  <a:schemeClr val="tx1"/>
                </a:solidFill>
                <a:latin typeface="Arial" charset="0"/>
                <a:ea typeface="ＭＳ Ｐゴシック" charset="0"/>
              </a:defRPr>
            </a:lvl4pPr>
            <a:lvl5pPr marL="1946095" indent="-216233" defTabSz="914485">
              <a:defRPr sz="2300" b="1">
                <a:solidFill>
                  <a:schemeClr val="tx1"/>
                </a:solidFill>
                <a:latin typeface="Arial" charset="0"/>
                <a:ea typeface="ＭＳ Ｐゴシック" charset="0"/>
              </a:defRPr>
            </a:lvl5pPr>
            <a:lvl6pPr marL="2378560" indent="-216233" defTabSz="914485" eaLnBrk="0" fontAlgn="base" hangingPunct="0">
              <a:spcBef>
                <a:spcPct val="0"/>
              </a:spcBef>
              <a:spcAft>
                <a:spcPct val="0"/>
              </a:spcAft>
              <a:defRPr sz="2300" b="1">
                <a:solidFill>
                  <a:schemeClr val="tx1"/>
                </a:solidFill>
                <a:latin typeface="Arial" charset="0"/>
                <a:ea typeface="ＭＳ Ｐゴシック" charset="0"/>
              </a:defRPr>
            </a:lvl6pPr>
            <a:lvl7pPr marL="2811026" indent="-216233" defTabSz="914485" eaLnBrk="0" fontAlgn="base" hangingPunct="0">
              <a:spcBef>
                <a:spcPct val="0"/>
              </a:spcBef>
              <a:spcAft>
                <a:spcPct val="0"/>
              </a:spcAft>
              <a:defRPr sz="2300" b="1">
                <a:solidFill>
                  <a:schemeClr val="tx1"/>
                </a:solidFill>
                <a:latin typeface="Arial" charset="0"/>
                <a:ea typeface="ＭＳ Ｐゴシック" charset="0"/>
              </a:defRPr>
            </a:lvl7pPr>
            <a:lvl8pPr marL="3243491" indent="-216233" defTabSz="914485" eaLnBrk="0" fontAlgn="base" hangingPunct="0">
              <a:spcBef>
                <a:spcPct val="0"/>
              </a:spcBef>
              <a:spcAft>
                <a:spcPct val="0"/>
              </a:spcAft>
              <a:defRPr sz="2300" b="1">
                <a:solidFill>
                  <a:schemeClr val="tx1"/>
                </a:solidFill>
                <a:latin typeface="Arial" charset="0"/>
                <a:ea typeface="ＭＳ Ｐゴシック" charset="0"/>
              </a:defRPr>
            </a:lvl8pPr>
            <a:lvl9pPr marL="3675957" indent="-216233" defTabSz="914485" eaLnBrk="0" fontAlgn="base" hangingPunct="0">
              <a:spcBef>
                <a:spcPct val="0"/>
              </a:spcBef>
              <a:spcAft>
                <a:spcPct val="0"/>
              </a:spcAft>
              <a:defRPr sz="2300" b="1">
                <a:solidFill>
                  <a:schemeClr val="tx1"/>
                </a:solidFill>
                <a:latin typeface="Arial" charset="0"/>
                <a:ea typeface="ＭＳ Ｐゴシック" charset="0"/>
              </a:defRPr>
            </a:lvl9pPr>
          </a:lstStyle>
          <a:p>
            <a:fld id="{48C5524C-C191-7743-B344-9E2843FF9E68}" type="slidenum">
              <a:rPr lang="en-US" sz="1200" b="0"/>
              <a:pPr/>
              <a:t>2</a:t>
            </a:fld>
            <a:endParaRPr lang="en-US" sz="1200"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MY"/>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MY"/>
          </a:p>
        </p:txBody>
      </p:sp>
      <p:sp>
        <p:nvSpPr>
          <p:cNvPr id="4"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1866135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grpSp>
        <p:nvGrpSpPr>
          <p:cNvPr id="7" name="Google Shape;263;p1">
            <a:extLst>
              <a:ext uri="{FF2B5EF4-FFF2-40B4-BE49-F238E27FC236}">
                <a16:creationId xmlns:a16="http://schemas.microsoft.com/office/drawing/2014/main" id="{E0B42B48-1C55-8C6C-5E15-CA0B3B2A07DC}"/>
              </a:ext>
            </a:extLst>
          </p:cNvPr>
          <p:cNvGrpSpPr/>
          <p:nvPr/>
        </p:nvGrpSpPr>
        <p:grpSpPr>
          <a:xfrm>
            <a:off x="11728422" y="0"/>
            <a:ext cx="158778" cy="6858000"/>
            <a:chOff x="0" y="-47625"/>
            <a:chExt cx="72806" cy="2756958"/>
          </a:xfrm>
        </p:grpSpPr>
        <p:sp>
          <p:nvSpPr>
            <p:cNvPr id="8" name="Google Shape;264;p1">
              <a:extLst>
                <a:ext uri="{FF2B5EF4-FFF2-40B4-BE49-F238E27FC236}">
                  <a16:creationId xmlns:a16="http://schemas.microsoft.com/office/drawing/2014/main" id="{579DA63E-0A15-4C1B-F663-2AD07DD070A2}"/>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9" name="Google Shape;265;p1">
              <a:extLst>
                <a:ext uri="{FF2B5EF4-FFF2-40B4-BE49-F238E27FC236}">
                  <a16:creationId xmlns:a16="http://schemas.microsoft.com/office/drawing/2014/main" id="{DE1DEFAF-E89F-9F66-0BB1-2BF17138FE9A}"/>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10" name="Google Shape;268;p1">
            <a:extLst>
              <a:ext uri="{FF2B5EF4-FFF2-40B4-BE49-F238E27FC236}">
                <a16:creationId xmlns:a16="http://schemas.microsoft.com/office/drawing/2014/main" id="{98E043B4-31C0-8717-FC5F-09B47A253562}"/>
              </a:ext>
            </a:extLst>
          </p:cNvPr>
          <p:cNvSpPr/>
          <p:nvPr/>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269;p1">
            <a:extLst>
              <a:ext uri="{FF2B5EF4-FFF2-40B4-BE49-F238E27FC236}">
                <a16:creationId xmlns:a16="http://schemas.microsoft.com/office/drawing/2014/main" id="{8EAF6F3B-C8D3-1977-51F6-204E70BF0338}"/>
              </a:ext>
            </a:extLst>
          </p:cNvPr>
          <p:cNvSpPr txBox="1"/>
          <p:nvPr/>
        </p:nvSpPr>
        <p:spPr>
          <a:xfrm>
            <a:off x="609476" y="6356352"/>
            <a:ext cx="3860800" cy="323165"/>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Tree>
    <p:extLst>
      <p:ext uri="{BB962C8B-B14F-4D97-AF65-F5344CB8AC3E}">
        <p14:creationId xmlns:p14="http://schemas.microsoft.com/office/powerpoint/2010/main" val="329912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679735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740993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3242301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1991881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1609822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3682522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MY"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260975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2705079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634432C9-94E8-497F-886B-A5BBE720EC55}" type="datetimeFigureOut">
              <a:rPr lang="en-US" smtClean="0"/>
              <a:t>3/17/2026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3222177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97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4"/>
          <p:cNvSpPr>
            <a:spLocks noGrp="1" noChangeArrowheads="1"/>
          </p:cNvSpPr>
          <p:nvPr>
            <p:ph type="dt" sz="half" idx="10"/>
          </p:nvPr>
        </p:nvSpPr>
        <p:spPr>
          <a:ln/>
        </p:spPr>
        <p:txBody>
          <a:bodyPr/>
          <a:lstStyle>
            <a:lvl1pPr>
              <a:defRPr/>
            </a:lvl1pPr>
          </a:lstStyle>
          <a:p>
            <a:fld id="{634432C9-94E8-497F-886B-A5BBE720EC55}" type="datetimeFigureOut">
              <a:rPr lang="en-US" smtClean="0"/>
              <a:t>3/17/2026</a:t>
            </a:fld>
            <a:endParaRPr lang="en-US"/>
          </a:p>
        </p:txBody>
      </p:sp>
      <p:sp>
        <p:nvSpPr>
          <p:cNvPr id="6" name="Rectangle 6"/>
          <p:cNvSpPr>
            <a:spLocks noGrp="1" noChangeArrowheads="1"/>
          </p:cNvSpPr>
          <p:nvPr>
            <p:ph type="sldNum" sz="quarter" idx="11"/>
          </p:nvPr>
        </p:nvSpPr>
        <p:spPr>
          <a:ln/>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1399616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673600" y="533400"/>
            <a:ext cx="6908800" cy="6858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1828800"/>
            <a:ext cx="53848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197600" y="18288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197600" y="40005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4"/>
          <p:cNvSpPr>
            <a:spLocks noGrp="1" noChangeArrowheads="1"/>
          </p:cNvSpPr>
          <p:nvPr>
            <p:ph type="dt" sz="half" idx="10"/>
          </p:nvPr>
        </p:nvSpPr>
        <p:spPr>
          <a:ln/>
        </p:spPr>
        <p:txBody>
          <a:bodyPr/>
          <a:lstStyle>
            <a:lvl1pPr>
              <a:defRPr/>
            </a:lvl1pPr>
          </a:lstStyle>
          <a:p>
            <a:fld id="{634432C9-94E8-497F-886B-A5BBE720EC55}" type="datetimeFigureOut">
              <a:rPr lang="en-US" smtClean="0"/>
              <a:t>3/17/2026</a:t>
            </a:fld>
            <a:endParaRPr lang="en-US"/>
          </a:p>
        </p:txBody>
      </p:sp>
      <p:sp>
        <p:nvSpPr>
          <p:cNvPr id="7" name="Rectangle 6"/>
          <p:cNvSpPr>
            <a:spLocks noGrp="1" noChangeArrowheads="1"/>
          </p:cNvSpPr>
          <p:nvPr>
            <p:ph type="sldNum" sz="quarter" idx="11"/>
          </p:nvPr>
        </p:nvSpPr>
        <p:spPr>
          <a:ln/>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2149541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673600" y="533400"/>
            <a:ext cx="6908800" cy="685800"/>
          </a:xfrm>
        </p:spPr>
        <p:txBody>
          <a:bodyPr/>
          <a:lstStyle/>
          <a:p>
            <a:r>
              <a:rPr lang="en-US"/>
              <a:t>Click to edit Master title style</a:t>
            </a:r>
            <a:endParaRPr lang="en-AU"/>
          </a:p>
        </p:txBody>
      </p:sp>
      <p:sp>
        <p:nvSpPr>
          <p:cNvPr id="3" name="Content Placeholder 2"/>
          <p:cNvSpPr>
            <a:spLocks noGrp="1"/>
          </p:cNvSpPr>
          <p:nvPr>
            <p:ph sz="quarter" idx="1"/>
          </p:nvPr>
        </p:nvSpPr>
        <p:spPr>
          <a:xfrm>
            <a:off x="609600" y="18288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197600" y="18288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09600" y="40005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Content Placeholder 5"/>
          <p:cNvSpPr>
            <a:spLocks noGrp="1"/>
          </p:cNvSpPr>
          <p:nvPr>
            <p:ph sz="quarter" idx="4"/>
          </p:nvPr>
        </p:nvSpPr>
        <p:spPr>
          <a:xfrm>
            <a:off x="6197600" y="4000500"/>
            <a:ext cx="5384800" cy="201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4"/>
          <p:cNvSpPr>
            <a:spLocks noGrp="1" noChangeArrowheads="1"/>
          </p:cNvSpPr>
          <p:nvPr>
            <p:ph type="dt" sz="half" idx="10"/>
          </p:nvPr>
        </p:nvSpPr>
        <p:spPr>
          <a:ln/>
        </p:spPr>
        <p:txBody>
          <a:bodyPr/>
          <a:lstStyle>
            <a:lvl1pPr>
              <a:defRPr/>
            </a:lvl1pPr>
          </a:lstStyle>
          <a:p>
            <a:fld id="{634432C9-94E8-497F-886B-A5BBE720EC55}" type="datetimeFigureOut">
              <a:rPr lang="en-US" smtClean="0"/>
              <a:t>3/17/2026</a:t>
            </a:fld>
            <a:endParaRPr lang="en-US"/>
          </a:p>
        </p:txBody>
      </p:sp>
      <p:sp>
        <p:nvSpPr>
          <p:cNvPr id="8" name="Rectangle 6"/>
          <p:cNvSpPr>
            <a:spLocks noGrp="1" noChangeArrowheads="1"/>
          </p:cNvSpPr>
          <p:nvPr>
            <p:ph type="sldNum" sz="quarter" idx="11"/>
          </p:nvPr>
        </p:nvSpPr>
        <p:spPr>
          <a:ln/>
        </p:spPr>
        <p:txBody>
          <a:bodyPr/>
          <a:lstStyle>
            <a:lvl1pPr>
              <a:defRPr/>
            </a:lvl1pPr>
          </a:lstStyle>
          <a:p>
            <a:fld id="{615BD822-1EA4-407A-8348-E72E9D719F2E}" type="slidenum">
              <a:rPr lang="en-US" smtClean="0"/>
              <a:t>‹#›</a:t>
            </a:fld>
            <a:endParaRPr lang="en-US"/>
          </a:p>
        </p:txBody>
      </p:sp>
    </p:spTree>
    <p:extLst>
      <p:ext uri="{BB962C8B-B14F-4D97-AF65-F5344CB8AC3E}">
        <p14:creationId xmlns:p14="http://schemas.microsoft.com/office/powerpoint/2010/main" val="2352069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x-none"/>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C5E439E3-2F67-3B46-BC1E-E7A2F4A2D13F}" type="datetimeFigureOut">
              <a:rPr lang="en-US" smtClean="0"/>
              <a:pPr>
                <a:defRPr/>
              </a:pPr>
              <a:t>3/17/2026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MY"/>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6B78129-3ED6-AE43-9673-532351FEAB8D}" type="slidenum">
              <a:rPr lang="en-US" smtClean="0"/>
              <a:pPr>
                <a:defRPr/>
              </a:pPr>
              <a:t>‹#›</a:t>
            </a:fld>
            <a:endParaRPr lang="en-US"/>
          </a:p>
        </p:txBody>
      </p:sp>
      <p:grpSp>
        <p:nvGrpSpPr>
          <p:cNvPr id="2" name="Google Shape;263;p1">
            <a:extLst>
              <a:ext uri="{FF2B5EF4-FFF2-40B4-BE49-F238E27FC236}">
                <a16:creationId xmlns:a16="http://schemas.microsoft.com/office/drawing/2014/main" id="{EC6DE9A0-E8F0-060A-0218-772A61CF0417}"/>
              </a:ext>
            </a:extLst>
          </p:cNvPr>
          <p:cNvGrpSpPr/>
          <p:nvPr/>
        </p:nvGrpSpPr>
        <p:grpSpPr>
          <a:xfrm>
            <a:off x="11728422" y="0"/>
            <a:ext cx="158778" cy="6858000"/>
            <a:chOff x="0" y="-47625"/>
            <a:chExt cx="72806" cy="2756958"/>
          </a:xfrm>
        </p:grpSpPr>
        <p:sp>
          <p:nvSpPr>
            <p:cNvPr id="3" name="Google Shape;264;p1">
              <a:extLst>
                <a:ext uri="{FF2B5EF4-FFF2-40B4-BE49-F238E27FC236}">
                  <a16:creationId xmlns:a16="http://schemas.microsoft.com/office/drawing/2014/main" id="{1E4C12AD-6806-0FE8-5642-1058FBEC20A1}"/>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3916A24C-8721-7099-1434-EC5AF3E85CDC}"/>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8" name="Google Shape;268;p1">
            <a:extLst>
              <a:ext uri="{FF2B5EF4-FFF2-40B4-BE49-F238E27FC236}">
                <a16:creationId xmlns:a16="http://schemas.microsoft.com/office/drawing/2014/main" id="{58AD8106-7786-76AF-B23B-06D14D398233}"/>
              </a:ext>
            </a:extLst>
          </p:cNvPr>
          <p:cNvSpPr/>
          <p:nvPr/>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1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269;p1">
            <a:extLst>
              <a:ext uri="{FF2B5EF4-FFF2-40B4-BE49-F238E27FC236}">
                <a16:creationId xmlns:a16="http://schemas.microsoft.com/office/drawing/2014/main" id="{C9075E66-F99A-B7A8-F55C-EB16CB42664D}"/>
              </a:ext>
            </a:extLst>
          </p:cNvPr>
          <p:cNvSpPr txBox="1"/>
          <p:nvPr/>
        </p:nvSpPr>
        <p:spPr>
          <a:xfrm>
            <a:off x="609476" y="6356352"/>
            <a:ext cx="3860800" cy="323165"/>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Tree>
    <p:extLst>
      <p:ext uri="{BB962C8B-B14F-4D97-AF65-F5344CB8AC3E}">
        <p14:creationId xmlns:p14="http://schemas.microsoft.com/office/powerpoint/2010/main" val="3715814728"/>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Lst>
  <p:txStyles>
    <p:titleStyle>
      <a:lvl1pPr algn="ctr" rtl="0" eaLnBrk="1" fontAlgn="base" hangingPunct="1">
        <a:spcBef>
          <a:spcPct val="0"/>
        </a:spcBef>
        <a:spcAft>
          <a:spcPct val="0"/>
        </a:spcAft>
        <a:defRPr sz="4400" kern="1200">
          <a:solidFill>
            <a:schemeClr val="tx1"/>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1"/>
          </a:solidFill>
          <a:latin typeface="Calibri" pitchFamily="-112" charset="0"/>
          <a:ea typeface="ＭＳ Ｐゴシック" charset="0"/>
          <a:cs typeface="ＭＳ Ｐゴシック" charset="0"/>
        </a:defRPr>
      </a:lvl2pPr>
      <a:lvl3pPr algn="ctr" rtl="0" eaLnBrk="1" fontAlgn="base" hangingPunct="1">
        <a:spcBef>
          <a:spcPct val="0"/>
        </a:spcBef>
        <a:spcAft>
          <a:spcPct val="0"/>
        </a:spcAft>
        <a:defRPr sz="4400">
          <a:solidFill>
            <a:schemeClr val="tx1"/>
          </a:solidFill>
          <a:latin typeface="Calibri" pitchFamily="-112" charset="0"/>
          <a:ea typeface="ＭＳ Ｐゴシック" charset="0"/>
          <a:cs typeface="ＭＳ Ｐゴシック" charset="0"/>
        </a:defRPr>
      </a:lvl3pPr>
      <a:lvl4pPr algn="ctr" rtl="0" eaLnBrk="1" fontAlgn="base" hangingPunct="1">
        <a:spcBef>
          <a:spcPct val="0"/>
        </a:spcBef>
        <a:spcAft>
          <a:spcPct val="0"/>
        </a:spcAft>
        <a:defRPr sz="4400">
          <a:solidFill>
            <a:schemeClr val="tx1"/>
          </a:solidFill>
          <a:latin typeface="Calibri" pitchFamily="-112" charset="0"/>
          <a:ea typeface="ＭＳ Ｐゴシック" charset="0"/>
          <a:cs typeface="ＭＳ Ｐゴシック" charset="0"/>
        </a:defRPr>
      </a:lvl4pPr>
      <a:lvl5pPr algn="ctr" rtl="0" eaLnBrk="1" fontAlgn="base" hangingPunct="1">
        <a:spcBef>
          <a:spcPct val="0"/>
        </a:spcBef>
        <a:spcAft>
          <a:spcPct val="0"/>
        </a:spcAft>
        <a:defRPr sz="4400">
          <a:solidFill>
            <a:schemeClr val="tx1"/>
          </a:solidFill>
          <a:latin typeface="Calibri" pitchFamily="-112"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1"/>
          </a:solidFill>
          <a:latin typeface="Calibri" pitchFamily="-112" charset="0"/>
        </a:defRPr>
      </a:lvl6pPr>
      <a:lvl7pPr marL="914400" algn="ctr" rtl="0" eaLnBrk="1" fontAlgn="base" hangingPunct="1">
        <a:spcBef>
          <a:spcPct val="0"/>
        </a:spcBef>
        <a:spcAft>
          <a:spcPct val="0"/>
        </a:spcAft>
        <a:defRPr sz="4400">
          <a:solidFill>
            <a:schemeClr val="tx1"/>
          </a:solidFill>
          <a:latin typeface="Calibri" pitchFamily="-112" charset="0"/>
        </a:defRPr>
      </a:lvl7pPr>
      <a:lvl8pPr marL="1371600" algn="ctr" rtl="0" eaLnBrk="1" fontAlgn="base" hangingPunct="1">
        <a:spcBef>
          <a:spcPct val="0"/>
        </a:spcBef>
        <a:spcAft>
          <a:spcPct val="0"/>
        </a:spcAft>
        <a:defRPr sz="4400">
          <a:solidFill>
            <a:schemeClr val="tx1"/>
          </a:solidFill>
          <a:latin typeface="Calibri" pitchFamily="-112" charset="0"/>
        </a:defRPr>
      </a:lvl8pPr>
      <a:lvl9pPr marL="1828800" algn="ctr" rtl="0" eaLnBrk="1" fontAlgn="base" hangingPunct="1">
        <a:spcBef>
          <a:spcPct val="0"/>
        </a:spcBef>
        <a:spcAft>
          <a:spcPct val="0"/>
        </a:spcAft>
        <a:defRPr sz="4400">
          <a:solidFill>
            <a:schemeClr val="tx1"/>
          </a:solidFill>
          <a:latin typeface="Calibri" pitchFamily="-112"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12.w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1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17.wmf"/><Relationship Id="rId4" Type="http://schemas.openxmlformats.org/officeDocument/2006/relationships/oleObject" Target="../embeddings/oleObject15.bin"/><Relationship Id="rId9" Type="http://schemas.openxmlformats.org/officeDocument/2006/relationships/image" Target="../media/image19.wmf"/></Relationships>
</file>

<file path=ppt/slides/_rels/slide16.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2.e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21.wmf"/><Relationship Id="rId4" Type="http://schemas.openxmlformats.org/officeDocument/2006/relationships/oleObject" Target="../embeddings/oleObject19.bin"/></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61;p1">
            <a:extLst>
              <a:ext uri="{FF2B5EF4-FFF2-40B4-BE49-F238E27FC236}">
                <a16:creationId xmlns:a16="http://schemas.microsoft.com/office/drawing/2014/main" id="{D6AF374E-230B-FAB8-9725-980389DAE593}"/>
              </a:ext>
            </a:extLst>
          </p:cNvPr>
          <p:cNvSpPr/>
          <p:nvPr/>
        </p:nvSpPr>
        <p:spPr>
          <a:xfrm>
            <a:off x="0" y="0"/>
            <a:ext cx="12192000" cy="6858000"/>
          </a:xfrm>
          <a:custGeom>
            <a:avLst/>
            <a:gdLst/>
            <a:ahLst/>
            <a:cxnLst/>
            <a:rect l="l" t="t" r="r" b="b"/>
            <a:pathLst>
              <a:path w="1610062" h="1086267" extrusionOk="0">
                <a:moveTo>
                  <a:pt x="10933" y="0"/>
                </a:moveTo>
                <a:lnTo>
                  <a:pt x="1599129" y="0"/>
                </a:lnTo>
                <a:cubicBezTo>
                  <a:pt x="1602029" y="0"/>
                  <a:pt x="1604810" y="1152"/>
                  <a:pt x="1606860" y="3202"/>
                </a:cubicBezTo>
                <a:cubicBezTo>
                  <a:pt x="1608910" y="5253"/>
                  <a:pt x="1610062" y="8033"/>
                  <a:pt x="1610062" y="10933"/>
                </a:cubicBezTo>
                <a:lnTo>
                  <a:pt x="1610062" y="1075334"/>
                </a:lnTo>
                <a:cubicBezTo>
                  <a:pt x="1610062" y="1078234"/>
                  <a:pt x="1608910" y="1081014"/>
                  <a:pt x="1606860" y="1083065"/>
                </a:cubicBezTo>
                <a:cubicBezTo>
                  <a:pt x="1604810" y="1085115"/>
                  <a:pt x="1602029" y="1086267"/>
                  <a:pt x="1599129" y="1086267"/>
                </a:cubicBezTo>
                <a:lnTo>
                  <a:pt x="10933" y="1086267"/>
                </a:lnTo>
                <a:cubicBezTo>
                  <a:pt x="8033" y="1086267"/>
                  <a:pt x="5253" y="1085115"/>
                  <a:pt x="3202" y="1083065"/>
                </a:cubicBezTo>
                <a:cubicBezTo>
                  <a:pt x="1152" y="1081014"/>
                  <a:pt x="0" y="1078234"/>
                  <a:pt x="0" y="1075334"/>
                </a:cubicBezTo>
                <a:lnTo>
                  <a:pt x="0" y="10933"/>
                </a:lnTo>
                <a:cubicBezTo>
                  <a:pt x="0" y="8033"/>
                  <a:pt x="1152" y="5253"/>
                  <a:pt x="3202" y="3202"/>
                </a:cubicBezTo>
                <a:cubicBezTo>
                  <a:pt x="5253" y="1152"/>
                  <a:pt x="8033" y="0"/>
                  <a:pt x="10933" y="0"/>
                </a:cubicBezTo>
                <a:close/>
              </a:path>
            </a:pathLst>
          </a:custGeom>
          <a:blipFill rotWithShape="1">
            <a:blip r:embed="rId2">
              <a:alphaModFix amt="40000"/>
            </a:blip>
            <a:stretch>
              <a:fillRect l="-9963" t="2" r="-9976" b="-529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35" name="Slide Number Placeholder 1"/>
          <p:cNvSpPr>
            <a:spLocks noGrp="1"/>
          </p:cNvSpPr>
          <p:nvPr>
            <p:ph type="sldNum" sz="quarter" idx="12"/>
          </p:nvPr>
        </p:nvSpPr>
        <p:spPr bwMode="auto">
          <a:xfrm>
            <a:off x="6061075" y="6519864"/>
            <a:ext cx="395288"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l" eaLnBrk="1" hangingPunct="1"/>
            <a:fld id="{FB5217EB-03DA-5A47-8757-153447524151}" type="slidenum">
              <a:rPr lang="en-US" sz="1200">
                <a:solidFill>
                  <a:srgbClr val="FFFFFF"/>
                </a:solidFill>
                <a:cs typeface="Arial" charset="0"/>
              </a:rPr>
              <a:pPr algn="l" eaLnBrk="1" hangingPunct="1"/>
              <a:t>1</a:t>
            </a:fld>
            <a:endParaRPr lang="en-US" sz="1200">
              <a:solidFill>
                <a:srgbClr val="FFFFFF"/>
              </a:solidFill>
              <a:cs typeface="Arial" charset="0"/>
            </a:endParaRPr>
          </a:p>
        </p:txBody>
      </p:sp>
      <p:sp>
        <p:nvSpPr>
          <p:cNvPr id="9" name="Title 14">
            <a:extLst>
              <a:ext uri="{FF2B5EF4-FFF2-40B4-BE49-F238E27FC236}">
                <a16:creationId xmlns:a16="http://schemas.microsoft.com/office/drawing/2014/main" id="{0A854760-4D45-05A1-3DC2-2003DC41D21C}"/>
              </a:ext>
            </a:extLst>
          </p:cNvPr>
          <p:cNvSpPr txBox="1">
            <a:spLocks/>
          </p:cNvSpPr>
          <p:nvPr/>
        </p:nvSpPr>
        <p:spPr bwMode="auto">
          <a:xfrm>
            <a:off x="1" y="1524000"/>
            <a:ext cx="12192000" cy="17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6600" b="1" cap="all" dirty="0">
                <a:ln w="9000" cmpd="sng">
                  <a:solidFill>
                    <a:schemeClr val="accent4">
                      <a:shade val="50000"/>
                      <a:satMod val="120000"/>
                    </a:schemeClr>
                  </a:solidFill>
                  <a:prstDash val="solid"/>
                </a:ln>
                <a:latin typeface="+mj-lt"/>
                <a:ea typeface="ＭＳ Ｐゴシック" charset="0"/>
              </a:rPr>
              <a:t>SECI1143</a:t>
            </a:r>
          </a:p>
          <a:p>
            <a:pPr algn="ctr">
              <a:defRPr/>
            </a:pPr>
            <a:r>
              <a:rPr lang="en-US" altLang="en-US" sz="4000" b="1" cap="all" dirty="0">
                <a:ln w="9000" cmpd="sng">
                  <a:solidFill>
                    <a:schemeClr val="accent4">
                      <a:shade val="50000"/>
                      <a:satMod val="120000"/>
                    </a:schemeClr>
                  </a:solidFill>
                  <a:prstDash val="solid"/>
                </a:ln>
                <a:latin typeface="+mj-lt"/>
                <a:ea typeface="ＭＳ Ｐゴシック" charset="0"/>
              </a:rPr>
              <a:t>Probability &amp; statistical data analysis</a:t>
            </a:r>
          </a:p>
        </p:txBody>
      </p:sp>
      <p:sp>
        <p:nvSpPr>
          <p:cNvPr id="10" name="Content Placeholder 16">
            <a:extLst>
              <a:ext uri="{FF2B5EF4-FFF2-40B4-BE49-F238E27FC236}">
                <a16:creationId xmlns:a16="http://schemas.microsoft.com/office/drawing/2014/main" id="{B697C3B6-667B-60A0-D5AB-1E9BD368030A}"/>
              </a:ext>
            </a:extLst>
          </p:cNvPr>
          <p:cNvSpPr txBox="1">
            <a:spLocks/>
          </p:cNvSpPr>
          <p:nvPr/>
        </p:nvSpPr>
        <p:spPr bwMode="auto">
          <a:xfrm>
            <a:off x="2208213" y="3236168"/>
            <a:ext cx="7777162" cy="24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buFont typeface="Arial" charset="0"/>
              <a:buNone/>
            </a:pPr>
            <a:r>
              <a:rPr lang="en-US" altLang="x-none" sz="4800" b="1" dirty="0">
                <a:latin typeface="+mj-lt"/>
              </a:rPr>
              <a:t>CHAPTER 8</a:t>
            </a:r>
          </a:p>
          <a:p>
            <a:pPr algn="ctr" eaLnBrk="1" hangingPunct="1">
              <a:buFont typeface="Arial" charset="0"/>
              <a:buNone/>
            </a:pPr>
            <a:endParaRPr lang="en-US" altLang="x-none" sz="4800" b="1" dirty="0">
              <a:latin typeface="+mj-lt"/>
            </a:endParaRPr>
          </a:p>
          <a:p>
            <a:pPr algn="ctr" eaLnBrk="1" hangingPunct="1">
              <a:buFont typeface="Arial" charset="0"/>
              <a:buNone/>
            </a:pPr>
            <a:r>
              <a:rPr lang="en-US" altLang="x-none" sz="5400" b="1" dirty="0">
                <a:latin typeface="+mj-lt"/>
              </a:rPr>
              <a:t>Analysis of Variance</a:t>
            </a:r>
            <a:br>
              <a:rPr lang="en-US" altLang="x-none" sz="5400" b="1" dirty="0">
                <a:latin typeface="+mj-lt"/>
              </a:rPr>
            </a:br>
            <a:r>
              <a:rPr lang="en-US" altLang="x-none" sz="5400" b="1" dirty="0">
                <a:latin typeface="+mj-lt"/>
              </a:rPr>
              <a:t>(ANOVA)</a:t>
            </a:r>
          </a:p>
        </p:txBody>
      </p:sp>
    </p:spTree>
    <p:extLst>
      <p:ext uri="{BB962C8B-B14F-4D97-AF65-F5344CB8AC3E}">
        <p14:creationId xmlns:p14="http://schemas.microsoft.com/office/powerpoint/2010/main" val="798171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151784" y="260648"/>
            <a:ext cx="5181600" cy="685800"/>
          </a:xfrm>
        </p:spPr>
        <p:txBody>
          <a:bodyPr>
            <a:normAutofit fontScale="90000"/>
          </a:bodyPr>
          <a:lstStyle/>
          <a:p>
            <a:pPr eaLnBrk="1" hangingPunct="1"/>
            <a:r>
              <a:rPr lang="en-US" b="1" dirty="0">
                <a:latin typeface="+mn-lt"/>
              </a:rPr>
              <a:t>Outline</a:t>
            </a:r>
          </a:p>
        </p:txBody>
      </p:sp>
      <p:sp>
        <p:nvSpPr>
          <p:cNvPr id="3076" name="Rectangle 3"/>
          <p:cNvSpPr>
            <a:spLocks noGrp="1" noChangeArrowheads="1"/>
          </p:cNvSpPr>
          <p:nvPr>
            <p:ph type="body" sz="half" idx="1"/>
          </p:nvPr>
        </p:nvSpPr>
        <p:spPr>
          <a:xfrm>
            <a:off x="2135560" y="1828800"/>
            <a:ext cx="7846640" cy="4191000"/>
          </a:xfrm>
        </p:spPr>
        <p:txBody>
          <a:bodyPr/>
          <a:lstStyle/>
          <a:p>
            <a:pPr eaLnBrk="1" hangingPunct="1"/>
            <a:r>
              <a:rPr lang="en-US" sz="2800" dirty="0"/>
              <a:t>Introduction </a:t>
            </a:r>
          </a:p>
          <a:p>
            <a:pPr eaLnBrk="1" hangingPunct="1"/>
            <a:r>
              <a:rPr lang="en-US" sz="2800" dirty="0"/>
              <a:t>One-Way ANOVA with Equal Sample Sizes.</a:t>
            </a:r>
          </a:p>
          <a:p>
            <a:pPr eaLnBrk="1" hangingPunct="1"/>
            <a:r>
              <a:rPr lang="en-US" sz="2800" dirty="0">
                <a:solidFill>
                  <a:srgbClr val="FF0000"/>
                </a:solidFill>
              </a:rPr>
              <a:t>One-Way ANOVA with Unequal Sample Sizes.</a:t>
            </a:r>
          </a:p>
          <a:p>
            <a:pPr eaLnBrk="1" hangingPunct="1"/>
            <a:r>
              <a:rPr lang="en-US" sz="2800" dirty="0">
                <a:solidFill>
                  <a:srgbClr val="FF0000"/>
                </a:solidFill>
              </a:rPr>
              <a:t>Two-Way ANOVA.</a:t>
            </a:r>
          </a:p>
        </p:txBody>
      </p:sp>
      <p:sp>
        <p:nvSpPr>
          <p:cNvPr id="3074" name="Slide Number Placeholder 6"/>
          <p:cNvSpPr>
            <a:spLocks noGrp="1"/>
          </p:cNvSpPr>
          <p:nvPr>
            <p:ph type="sldNum" sz="quarter" idx="11"/>
          </p:nvPr>
        </p:nvSpPr>
        <p:spPr>
          <a:xfrm>
            <a:off x="5951984" y="6514358"/>
            <a:ext cx="683096"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ctr"/>
            <a:fld id="{25B4A091-CB11-7841-B5B1-5F51DA0DF74B}" type="slidenum">
              <a:rPr lang="en-US" sz="1000">
                <a:solidFill>
                  <a:schemeClr val="bg1"/>
                </a:solidFill>
                <a:latin typeface="+mn-lt"/>
              </a:rPr>
              <a:pPr algn="ctr"/>
              <a:t>2</a:t>
            </a:fld>
            <a:endParaRPr lang="en-US" sz="1000">
              <a:solidFill>
                <a:schemeClr val="bg1"/>
              </a:solidFill>
              <a:latin typeface="+mn-lt"/>
            </a:endParaRPr>
          </a:p>
        </p:txBody>
      </p:sp>
      <p:grpSp>
        <p:nvGrpSpPr>
          <p:cNvPr id="4" name="Group 3"/>
          <p:cNvGrpSpPr/>
          <p:nvPr/>
        </p:nvGrpSpPr>
        <p:grpSpPr>
          <a:xfrm>
            <a:off x="9106574" y="2852937"/>
            <a:ext cx="1453922" cy="1200329"/>
            <a:chOff x="7582574" y="2852936"/>
            <a:chExt cx="1453922" cy="1200329"/>
          </a:xfrm>
        </p:grpSpPr>
        <p:sp>
          <p:nvSpPr>
            <p:cNvPr id="2" name="Right Brace 1"/>
            <p:cNvSpPr/>
            <p:nvPr/>
          </p:nvSpPr>
          <p:spPr>
            <a:xfrm>
              <a:off x="7582574" y="3046194"/>
              <a:ext cx="432048" cy="88686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TextBox 2"/>
            <p:cNvSpPr txBox="1"/>
            <p:nvPr/>
          </p:nvSpPr>
          <p:spPr>
            <a:xfrm>
              <a:off x="8014622" y="2852936"/>
              <a:ext cx="1021874"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t>Not covered in this syllabus</a:t>
              </a:r>
            </a:p>
          </p:txBody>
        </p:sp>
      </p:grpSp>
    </p:spTree>
    <p:extLst>
      <p:ext uri="{BB962C8B-B14F-4D97-AF65-F5344CB8AC3E}">
        <p14:creationId xmlns:p14="http://schemas.microsoft.com/office/powerpoint/2010/main" val="320569138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1981200" y="44624"/>
            <a:ext cx="8229600" cy="1143000"/>
          </a:xfrm>
        </p:spPr>
        <p:txBody>
          <a:bodyPr/>
          <a:lstStyle/>
          <a:p>
            <a:pPr eaLnBrk="1" hangingPunct="1"/>
            <a:r>
              <a:rPr lang="en-US" b="1" dirty="0">
                <a:latin typeface="+mn-lt"/>
              </a:rPr>
              <a:t>Introduction</a:t>
            </a:r>
          </a:p>
        </p:txBody>
      </p:sp>
      <p:sp>
        <p:nvSpPr>
          <p:cNvPr id="4100" name="Rectangle 3"/>
          <p:cNvSpPr>
            <a:spLocks noGrp="1" noChangeArrowheads="1"/>
          </p:cNvSpPr>
          <p:nvPr>
            <p:ph idx="1"/>
          </p:nvPr>
        </p:nvSpPr>
        <p:spPr>
          <a:xfrm>
            <a:off x="1981200" y="1484784"/>
            <a:ext cx="8305800" cy="4191000"/>
          </a:xfrm>
        </p:spPr>
        <p:txBody>
          <a:bodyPr/>
          <a:lstStyle/>
          <a:p>
            <a:pPr algn="just">
              <a:spcAft>
                <a:spcPts val="1200"/>
              </a:spcAft>
            </a:pPr>
            <a:r>
              <a:rPr lang="en-US" sz="2800" dirty="0"/>
              <a:t>ANOVA is a method of testing the equality of three or more population means by analyzing sample variances.</a:t>
            </a:r>
          </a:p>
          <a:p>
            <a:pPr algn="just">
              <a:spcAft>
                <a:spcPts val="1200"/>
              </a:spcAft>
            </a:pPr>
            <a:r>
              <a:rPr lang="en-US" sz="2800" dirty="0"/>
              <a:t>The purpose of ANOVA is to test for significant differences between Means. </a:t>
            </a:r>
          </a:p>
          <a:p>
            <a:pPr algn="just">
              <a:spcAft>
                <a:spcPts val="1200"/>
              </a:spcAft>
            </a:pPr>
            <a:r>
              <a:rPr lang="en-US" sz="2800" dirty="0"/>
              <a:t>Elementary concepts provide a brief introduction to the basics of statistical significance testing.</a:t>
            </a:r>
          </a:p>
        </p:txBody>
      </p:sp>
      <p:sp>
        <p:nvSpPr>
          <p:cNvPr id="4098" name="Slide Number Placeholder 5"/>
          <p:cNvSpPr>
            <a:spLocks noGrp="1"/>
          </p:cNvSpPr>
          <p:nvPr>
            <p:ph type="sldNum" sz="quarter" idx="12"/>
          </p:nvPr>
        </p:nvSpPr>
        <p:spPr>
          <a:xfrm>
            <a:off x="4648200" y="6520260"/>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8AAB8BD5-C1F5-0443-B860-30A055DACE20}" type="slidenum">
              <a:rPr lang="en-US" sz="1000">
                <a:solidFill>
                  <a:schemeClr val="bg1"/>
                </a:solidFill>
                <a:latin typeface="+mn-lt"/>
              </a:rPr>
              <a:pPr/>
              <a:t>3</a:t>
            </a:fld>
            <a:endParaRPr lang="en-US" sz="1000">
              <a:solidFill>
                <a:schemeClr val="bg1"/>
              </a:solidFill>
              <a:latin typeface="+mn-lt"/>
            </a:endParaRPr>
          </a:p>
        </p:txBody>
      </p:sp>
    </p:spTree>
    <p:extLst>
      <p:ext uri="{BB962C8B-B14F-4D97-AF65-F5344CB8AC3E}">
        <p14:creationId xmlns:p14="http://schemas.microsoft.com/office/powerpoint/2010/main" val="1149729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3935760" y="116632"/>
            <a:ext cx="6275040" cy="1143000"/>
          </a:xfrm>
        </p:spPr>
        <p:txBody>
          <a:bodyPr>
            <a:normAutofit fontScale="90000"/>
          </a:bodyPr>
          <a:lstStyle/>
          <a:p>
            <a:pPr eaLnBrk="1" hangingPunct="1"/>
            <a:r>
              <a:rPr lang="en-US" b="1" dirty="0">
                <a:latin typeface="+mn-lt"/>
              </a:rPr>
              <a:t>One-Way ANOVA with Equal Sample Sizes</a:t>
            </a:r>
            <a:endParaRPr lang="en-US" dirty="0">
              <a:latin typeface="+mn-lt"/>
            </a:endParaRPr>
          </a:p>
        </p:txBody>
      </p:sp>
      <p:sp>
        <p:nvSpPr>
          <p:cNvPr id="5124" name="Rectangle 3"/>
          <p:cNvSpPr>
            <a:spLocks noGrp="1" noChangeArrowheads="1"/>
          </p:cNvSpPr>
          <p:nvPr>
            <p:ph idx="1"/>
          </p:nvPr>
        </p:nvSpPr>
        <p:spPr/>
        <p:txBody>
          <a:bodyPr/>
          <a:lstStyle/>
          <a:p>
            <a:pPr algn="just" eaLnBrk="1" hangingPunct="1"/>
            <a:r>
              <a:rPr lang="en-US" sz="2800" dirty="0"/>
              <a:t>We assume that the populations have normal distribution and same variance (or standard deviation), and the samples are random and independent of each other.</a:t>
            </a:r>
          </a:p>
          <a:p>
            <a:pPr algn="just" eaLnBrk="1" hangingPunct="1"/>
            <a:endParaRPr lang="en-US" sz="2800" dirty="0"/>
          </a:p>
        </p:txBody>
      </p:sp>
      <p:sp>
        <p:nvSpPr>
          <p:cNvPr id="5122" name="Slide Number Placeholder 5"/>
          <p:cNvSpPr>
            <a:spLocks noGrp="1"/>
          </p:cNvSpPr>
          <p:nvPr>
            <p:ph type="sldNum" sz="quarter" idx="12"/>
          </p:nvPr>
        </p:nvSpPr>
        <p:spPr>
          <a:xfrm>
            <a:off x="4648200" y="6520260"/>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D97C75FE-EC9B-334F-BC36-ED9C1E39F250}" type="slidenum">
              <a:rPr lang="en-US" sz="1000">
                <a:solidFill>
                  <a:schemeClr val="bg1"/>
                </a:solidFill>
                <a:latin typeface="+mn-lt"/>
              </a:rPr>
              <a:pPr/>
              <a:t>4</a:t>
            </a:fld>
            <a:endParaRPr lang="en-US" sz="1000">
              <a:solidFill>
                <a:schemeClr val="bg1"/>
              </a:solidFill>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1082213592"/>
              </p:ext>
            </p:extLst>
          </p:nvPr>
        </p:nvGraphicFramePr>
        <p:xfrm>
          <a:off x="2207568" y="3845644"/>
          <a:ext cx="7696200" cy="2679700"/>
        </p:xfrm>
        <a:graphic>
          <a:graphicData uri="http://schemas.openxmlformats.org/drawingml/2006/table">
            <a:tbl>
              <a:tblPr/>
              <a:tblGrid>
                <a:gridCol w="7696200">
                  <a:extLst>
                    <a:ext uri="{9D8B030D-6E8A-4147-A177-3AD203B41FA5}">
                      <a16:colId xmlns:a16="http://schemas.microsoft.com/office/drawing/2014/main" val="20000"/>
                    </a:ext>
                  </a:extLst>
                </a:gridCol>
              </a:tblGrid>
              <a:tr h="2679700">
                <a:tc>
                  <a:txBody>
                    <a:bodyPr/>
                    <a:lstStyle/>
                    <a:p>
                      <a:pPr algn="l">
                        <a:lnSpc>
                          <a:spcPct val="115000"/>
                        </a:lnSpc>
                        <a:spcAft>
                          <a:spcPts val="0"/>
                        </a:spcAft>
                      </a:pPr>
                      <a:r>
                        <a:rPr lang="en-US" sz="2400" b="1" i="0" dirty="0">
                          <a:solidFill>
                            <a:srgbClr val="0000FF"/>
                          </a:solidFill>
                          <a:latin typeface="+mj-lt"/>
                          <a:ea typeface="Calibri"/>
                          <a:cs typeface="Times New Roman"/>
                        </a:rPr>
                        <a:t>ANOVA Notation:</a:t>
                      </a:r>
                    </a:p>
                    <a:p>
                      <a:pPr algn="l">
                        <a:lnSpc>
                          <a:spcPct val="115000"/>
                        </a:lnSpc>
                        <a:spcAft>
                          <a:spcPts val="0"/>
                        </a:spcAft>
                      </a:pPr>
                      <a:r>
                        <a:rPr lang="en-US" sz="2400" i="1" dirty="0">
                          <a:solidFill>
                            <a:schemeClr val="tx1"/>
                          </a:solidFill>
                          <a:latin typeface="+mj-lt"/>
                          <a:ea typeface="Calibri"/>
                          <a:cs typeface="Times New Roman"/>
                        </a:rPr>
                        <a:t>n    </a:t>
                      </a:r>
                      <a:r>
                        <a:rPr lang="en-US" sz="2400" dirty="0">
                          <a:solidFill>
                            <a:schemeClr val="tx1"/>
                          </a:solidFill>
                          <a:latin typeface="+mj-lt"/>
                          <a:ea typeface="Calibri"/>
                          <a:cs typeface="Times New Roman"/>
                        </a:rPr>
                        <a:t>=  </a:t>
                      </a:r>
                      <a:r>
                        <a:rPr lang="en-US" sz="2000" dirty="0">
                          <a:solidFill>
                            <a:schemeClr val="tx1"/>
                          </a:solidFill>
                          <a:latin typeface="+mj-lt"/>
                          <a:ea typeface="Calibri"/>
                          <a:cs typeface="Times New Roman"/>
                        </a:rPr>
                        <a:t>size of each sample</a:t>
                      </a:r>
                      <a:endParaRPr lang="en-MY" sz="2000" dirty="0">
                        <a:solidFill>
                          <a:schemeClr val="tx1"/>
                        </a:solidFill>
                        <a:latin typeface="+mj-lt"/>
                        <a:ea typeface="Calibri"/>
                        <a:cs typeface="Times New Roman"/>
                      </a:endParaRPr>
                    </a:p>
                    <a:p>
                      <a:pPr algn="l">
                        <a:lnSpc>
                          <a:spcPct val="115000"/>
                        </a:lnSpc>
                        <a:spcAft>
                          <a:spcPts val="0"/>
                        </a:spcAft>
                      </a:pPr>
                      <a:r>
                        <a:rPr lang="en-US" sz="2400" i="1" dirty="0">
                          <a:solidFill>
                            <a:schemeClr val="tx1"/>
                          </a:solidFill>
                          <a:latin typeface="+mj-lt"/>
                          <a:ea typeface="Calibri"/>
                          <a:cs typeface="Times New Roman"/>
                        </a:rPr>
                        <a:t>k    </a:t>
                      </a:r>
                      <a:r>
                        <a:rPr lang="en-US" sz="2400" dirty="0">
                          <a:solidFill>
                            <a:schemeClr val="tx1"/>
                          </a:solidFill>
                          <a:latin typeface="+mj-lt"/>
                          <a:ea typeface="Calibri"/>
                          <a:cs typeface="Times New Roman"/>
                        </a:rPr>
                        <a:t>= </a:t>
                      </a:r>
                      <a:r>
                        <a:rPr lang="en-US" sz="2000" dirty="0">
                          <a:solidFill>
                            <a:schemeClr val="tx1"/>
                          </a:solidFill>
                          <a:latin typeface="+mj-lt"/>
                          <a:ea typeface="Calibri"/>
                          <a:cs typeface="Times New Roman"/>
                        </a:rPr>
                        <a:t> number of populations or treatments being compared</a:t>
                      </a:r>
                      <a:endParaRPr lang="en-MY" sz="2000" dirty="0">
                        <a:solidFill>
                          <a:schemeClr val="tx1"/>
                        </a:solidFill>
                        <a:latin typeface="+mj-lt"/>
                        <a:ea typeface="Calibri"/>
                        <a:cs typeface="Times New Roman"/>
                      </a:endParaRPr>
                    </a:p>
                    <a:p>
                      <a:pPr algn="l">
                        <a:lnSpc>
                          <a:spcPct val="115000"/>
                        </a:lnSpc>
                        <a:spcAft>
                          <a:spcPts val="0"/>
                        </a:spcAft>
                      </a:pPr>
                      <a:r>
                        <a:rPr lang="en-US" sz="2400" dirty="0">
                          <a:solidFill>
                            <a:schemeClr val="tx1"/>
                          </a:solidFill>
                          <a:latin typeface="+mj-lt"/>
                          <a:ea typeface="Calibri"/>
                          <a:cs typeface="Times New Roman"/>
                        </a:rPr>
                        <a:t>      =  </a:t>
                      </a:r>
                      <a:r>
                        <a:rPr lang="en-US" sz="2000" dirty="0">
                          <a:solidFill>
                            <a:schemeClr val="tx1"/>
                          </a:solidFill>
                          <a:latin typeface="+mj-lt"/>
                          <a:ea typeface="Calibri"/>
                          <a:cs typeface="Times New Roman"/>
                        </a:rPr>
                        <a:t>variance sample means </a:t>
                      </a:r>
                      <a:endParaRPr lang="en-MY" sz="2000" dirty="0">
                        <a:solidFill>
                          <a:schemeClr val="tx1"/>
                        </a:solidFill>
                        <a:latin typeface="+mj-lt"/>
                        <a:ea typeface="Calibri"/>
                        <a:cs typeface="Times New Roman"/>
                      </a:endParaRPr>
                    </a:p>
                    <a:p>
                      <a:pPr marL="720725" indent="-720725" algn="l">
                        <a:lnSpc>
                          <a:spcPct val="115000"/>
                        </a:lnSpc>
                        <a:spcAft>
                          <a:spcPts val="0"/>
                        </a:spcAft>
                      </a:pPr>
                      <a:r>
                        <a:rPr lang="en-US" sz="2400" dirty="0">
                          <a:solidFill>
                            <a:schemeClr val="tx1"/>
                          </a:solidFill>
                          <a:latin typeface="+mj-lt"/>
                          <a:ea typeface="Calibri"/>
                          <a:cs typeface="Times New Roman"/>
                        </a:rPr>
                        <a:t>      =  </a:t>
                      </a:r>
                      <a:r>
                        <a:rPr lang="en-US" sz="2000" dirty="0">
                          <a:solidFill>
                            <a:schemeClr val="tx1"/>
                          </a:solidFill>
                          <a:latin typeface="+mj-lt"/>
                          <a:ea typeface="Calibri"/>
                          <a:cs typeface="Times New Roman"/>
                        </a:rPr>
                        <a:t>pooled variance obtained by calculating the mean of the sample  variances</a:t>
                      </a:r>
                      <a:endParaRPr lang="en-MY" sz="2000" dirty="0">
                        <a:solidFill>
                          <a:schemeClr val="tx1"/>
                        </a:solidFill>
                        <a:latin typeface="+mj-lt"/>
                        <a:ea typeface="Calibri"/>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1886240345"/>
              </p:ext>
            </p:extLst>
          </p:nvPr>
        </p:nvGraphicFramePr>
        <p:xfrm>
          <a:off x="2228850" y="5084764"/>
          <a:ext cx="357188" cy="511175"/>
        </p:xfrm>
        <a:graphic>
          <a:graphicData uri="http://schemas.openxmlformats.org/presentationml/2006/ole">
            <mc:AlternateContent xmlns:mc="http://schemas.openxmlformats.org/markup-compatibility/2006">
              <mc:Choice xmlns:v="urn:schemas-microsoft-com:vml" Requires="v">
                <p:oleObj name="Equation" r:id="rId2" imgW="177800" imgH="254000" progId="Equation.3">
                  <p:embed/>
                </p:oleObj>
              </mc:Choice>
              <mc:Fallback>
                <p:oleObj name="Equation" r:id="rId2" imgW="177800" imgH="254000" progId="Equation.3">
                  <p:embed/>
                  <p:pic>
                    <p:nvPicPr>
                      <p:cNvPr id="0" name=""/>
                      <p:cNvPicPr/>
                      <p:nvPr/>
                    </p:nvPicPr>
                    <p:blipFill>
                      <a:blip r:embed="rId3"/>
                      <a:stretch>
                        <a:fillRect/>
                      </a:stretch>
                    </p:blipFill>
                    <p:spPr>
                      <a:xfrm>
                        <a:off x="2228850" y="5084764"/>
                        <a:ext cx="357188" cy="511175"/>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599433815"/>
              </p:ext>
            </p:extLst>
          </p:nvPr>
        </p:nvGraphicFramePr>
        <p:xfrm>
          <a:off x="2241550" y="5541963"/>
          <a:ext cx="330200" cy="457200"/>
        </p:xfrm>
        <a:graphic>
          <a:graphicData uri="http://schemas.openxmlformats.org/presentationml/2006/ole">
            <mc:AlternateContent xmlns:mc="http://schemas.openxmlformats.org/markup-compatibility/2006">
              <mc:Choice xmlns:v="urn:schemas-microsoft-com:vml" Requires="v">
                <p:oleObj name="Equation" r:id="rId4" imgW="165100" imgH="228600" progId="Equation.3">
                  <p:embed/>
                </p:oleObj>
              </mc:Choice>
              <mc:Fallback>
                <p:oleObj name="Equation" r:id="rId4" imgW="165100" imgH="228600" progId="Equation.3">
                  <p:embed/>
                  <p:pic>
                    <p:nvPicPr>
                      <p:cNvPr id="0" name=""/>
                      <p:cNvPicPr/>
                      <p:nvPr/>
                    </p:nvPicPr>
                    <p:blipFill>
                      <a:blip r:embed="rId5"/>
                      <a:stretch>
                        <a:fillRect/>
                      </a:stretch>
                    </p:blipFill>
                    <p:spPr>
                      <a:xfrm>
                        <a:off x="2241550" y="5541963"/>
                        <a:ext cx="330200" cy="457200"/>
                      </a:xfrm>
                      <a:prstGeom prst="rect">
                        <a:avLst/>
                      </a:prstGeom>
                    </p:spPr>
                  </p:pic>
                </p:oleObj>
              </mc:Fallback>
            </mc:AlternateContent>
          </a:graphicData>
        </a:graphic>
      </p:graphicFrame>
    </p:spTree>
    <p:extLst>
      <p:ext uri="{BB962C8B-B14F-4D97-AF65-F5344CB8AC3E}">
        <p14:creationId xmlns:p14="http://schemas.microsoft.com/office/powerpoint/2010/main" val="2693348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935760" y="116632"/>
            <a:ext cx="6275040" cy="1143000"/>
          </a:xfrm>
        </p:spPr>
        <p:txBody>
          <a:bodyPr>
            <a:normAutofit fontScale="90000"/>
          </a:bodyPr>
          <a:lstStyle/>
          <a:p>
            <a:pPr eaLnBrk="1" hangingPunct="1"/>
            <a:r>
              <a:rPr lang="en-US" b="1" dirty="0">
                <a:latin typeface="+mn-lt"/>
              </a:rPr>
              <a:t>One-Way ANOVA with Equal Sample Sizes</a:t>
            </a:r>
            <a:endParaRPr lang="en-US" dirty="0">
              <a:latin typeface="+mn-lt"/>
            </a:endParaRPr>
          </a:p>
        </p:txBody>
      </p:sp>
      <p:sp>
        <p:nvSpPr>
          <p:cNvPr id="6148" name="Rectangle 3"/>
          <p:cNvSpPr>
            <a:spLocks noGrp="1" noChangeArrowheads="1"/>
          </p:cNvSpPr>
          <p:nvPr>
            <p:ph idx="1"/>
          </p:nvPr>
        </p:nvSpPr>
        <p:spPr>
          <a:xfrm>
            <a:off x="1919536" y="1809328"/>
            <a:ext cx="8229600" cy="4572000"/>
          </a:xfrm>
        </p:spPr>
        <p:txBody>
          <a:bodyPr>
            <a:normAutofit lnSpcReduction="10000"/>
          </a:bodyPr>
          <a:lstStyle/>
          <a:p>
            <a:pPr algn="just" eaLnBrk="1" hangingPunct="1">
              <a:lnSpc>
                <a:spcPct val="90000"/>
              </a:lnSpc>
            </a:pPr>
            <a:r>
              <a:rPr lang="en-US" dirty="0"/>
              <a:t>Test statistic:</a:t>
            </a:r>
          </a:p>
          <a:p>
            <a:pPr algn="just" eaLnBrk="1" hangingPunct="1">
              <a:lnSpc>
                <a:spcPct val="90000"/>
              </a:lnSpc>
            </a:pPr>
            <a:endParaRPr lang="en-US" dirty="0"/>
          </a:p>
          <a:p>
            <a:pPr marL="0" indent="0" algn="just">
              <a:lnSpc>
                <a:spcPct val="90000"/>
              </a:lnSpc>
              <a:buNone/>
            </a:pPr>
            <a:endParaRPr lang="en-US" dirty="0"/>
          </a:p>
          <a:p>
            <a:pPr algn="just" eaLnBrk="1" hangingPunct="1">
              <a:lnSpc>
                <a:spcPct val="90000"/>
              </a:lnSpc>
            </a:pPr>
            <a:r>
              <a:rPr lang="en-US" dirty="0"/>
              <a:t>Variance between sample:</a:t>
            </a:r>
          </a:p>
          <a:p>
            <a:pPr lvl="1" algn="just" eaLnBrk="1" hangingPunct="1">
              <a:lnSpc>
                <a:spcPct val="90000"/>
              </a:lnSpc>
              <a:buFont typeface="Wingdings" charset="2"/>
              <a:buChar char="§"/>
            </a:pPr>
            <a:r>
              <a:rPr lang="en-US" sz="2400" dirty="0"/>
              <a:t>Also called variation due to treatment</a:t>
            </a:r>
          </a:p>
          <a:p>
            <a:pPr lvl="1" algn="just" eaLnBrk="1" hangingPunct="1">
              <a:lnSpc>
                <a:spcPct val="90000"/>
              </a:lnSpc>
              <a:buFont typeface="Wingdings" charset="2"/>
              <a:buChar char="§"/>
            </a:pPr>
            <a:r>
              <a:rPr lang="en-US" sz="2400" dirty="0"/>
              <a:t>An estimate of the common population variance </a:t>
            </a:r>
            <a:r>
              <a:rPr lang="el-GR" sz="2400" dirty="0"/>
              <a:t>σ</a:t>
            </a:r>
            <a:r>
              <a:rPr lang="en-US" sz="2400" baseline="30000" dirty="0"/>
              <a:t>2</a:t>
            </a:r>
            <a:r>
              <a:rPr lang="en-US" sz="2400" dirty="0"/>
              <a:t> that is based on the variability among the sample </a:t>
            </a:r>
            <a:r>
              <a:rPr lang="en-US" sz="2400" b="1" dirty="0">
                <a:solidFill>
                  <a:srgbClr val="FF0000"/>
                </a:solidFill>
              </a:rPr>
              <a:t>means.</a:t>
            </a:r>
          </a:p>
          <a:p>
            <a:pPr algn="just" eaLnBrk="1" hangingPunct="1">
              <a:lnSpc>
                <a:spcPct val="90000"/>
              </a:lnSpc>
            </a:pPr>
            <a:r>
              <a:rPr lang="en-US" dirty="0"/>
              <a:t>Variance within sample:</a:t>
            </a:r>
          </a:p>
          <a:p>
            <a:pPr lvl="1" algn="just" eaLnBrk="1" hangingPunct="1">
              <a:lnSpc>
                <a:spcPct val="90000"/>
              </a:lnSpc>
              <a:buFont typeface="Wingdings" charset="2"/>
              <a:buChar char="§"/>
            </a:pPr>
            <a:r>
              <a:rPr lang="en-US" sz="2400" dirty="0"/>
              <a:t>Also called variation due to error.</a:t>
            </a:r>
          </a:p>
          <a:p>
            <a:pPr lvl="1" algn="just" eaLnBrk="1" hangingPunct="1">
              <a:lnSpc>
                <a:spcPct val="90000"/>
              </a:lnSpc>
              <a:buFont typeface="Wingdings" charset="2"/>
              <a:buChar char="§"/>
            </a:pPr>
            <a:r>
              <a:rPr lang="en-US" sz="2400" dirty="0"/>
              <a:t>An estimate of the common population variance </a:t>
            </a:r>
            <a:r>
              <a:rPr lang="el-GR" sz="2400" dirty="0"/>
              <a:t>σ</a:t>
            </a:r>
            <a:r>
              <a:rPr lang="en-US" sz="2400" baseline="30000" dirty="0"/>
              <a:t>2</a:t>
            </a:r>
            <a:r>
              <a:rPr lang="en-US" sz="2400" dirty="0"/>
              <a:t> based on the sample </a:t>
            </a:r>
            <a:r>
              <a:rPr lang="en-US" sz="2400" b="1" dirty="0">
                <a:solidFill>
                  <a:srgbClr val="FF0000"/>
                </a:solidFill>
              </a:rPr>
              <a:t>variances.</a:t>
            </a:r>
          </a:p>
        </p:txBody>
      </p:sp>
      <p:sp>
        <p:nvSpPr>
          <p:cNvPr id="6146" name="Slide Number Placeholder 5"/>
          <p:cNvSpPr>
            <a:spLocks noGrp="1"/>
          </p:cNvSpPr>
          <p:nvPr>
            <p:ph type="sldNum" sz="quarter" idx="12"/>
          </p:nvPr>
        </p:nvSpPr>
        <p:spPr>
          <a:xfrm>
            <a:off x="4648200" y="6520260"/>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2F97934B-8BE4-F641-8ED5-B86A2954DAC8}" type="slidenum">
              <a:rPr lang="en-US" sz="1000">
                <a:solidFill>
                  <a:schemeClr val="bg1"/>
                </a:solidFill>
                <a:latin typeface="+mn-lt"/>
              </a:rPr>
              <a:pPr/>
              <a:t>5</a:t>
            </a:fld>
            <a:endParaRPr lang="en-US" sz="1000">
              <a:solidFill>
                <a:schemeClr val="bg1"/>
              </a:solidFill>
              <a:latin typeface="+mn-lt"/>
            </a:endParaRPr>
          </a:p>
        </p:txBody>
      </p:sp>
      <p:graphicFrame>
        <p:nvGraphicFramePr>
          <p:cNvPr id="6149" name="Object 1"/>
          <p:cNvGraphicFramePr>
            <a:graphicFrameLocks noChangeAspect="1"/>
          </p:cNvGraphicFramePr>
          <p:nvPr>
            <p:extLst>
              <p:ext uri="{D42A27DB-BD31-4B8C-83A1-F6EECF244321}">
                <p14:modId xmlns:p14="http://schemas.microsoft.com/office/powerpoint/2010/main" val="1132560128"/>
              </p:ext>
            </p:extLst>
          </p:nvPr>
        </p:nvGraphicFramePr>
        <p:xfrm>
          <a:off x="4295801" y="1521296"/>
          <a:ext cx="5349875" cy="1087438"/>
        </p:xfrm>
        <a:graphic>
          <a:graphicData uri="http://schemas.openxmlformats.org/presentationml/2006/ole">
            <mc:AlternateContent xmlns:mc="http://schemas.openxmlformats.org/markup-compatibility/2006">
              <mc:Choice xmlns:v="urn:schemas-microsoft-com:vml" Requires="v">
                <p:oleObj name="Equation" r:id="rId2" imgW="2235200" imgH="457200" progId="Equation.3">
                  <p:embed/>
                </p:oleObj>
              </mc:Choice>
              <mc:Fallback>
                <p:oleObj name="Equation" r:id="rId2" imgW="2235200" imgH="457200" progId="Equation.3">
                  <p:embed/>
                  <p:pic>
                    <p:nvPicPr>
                      <p:cNvPr id="0" name=""/>
                      <p:cNvPicPr>
                        <a:picLocks noChangeAspect="1" noChangeArrowheads="1"/>
                      </p:cNvPicPr>
                      <p:nvPr/>
                    </p:nvPicPr>
                    <p:blipFill>
                      <a:blip r:embed="rId3"/>
                      <a:srcRect/>
                      <a:stretch>
                        <a:fillRect/>
                      </a:stretch>
                    </p:blipFill>
                    <p:spPr bwMode="auto">
                      <a:xfrm>
                        <a:off x="4295801" y="1521296"/>
                        <a:ext cx="5349875"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15548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3935760" y="116632"/>
            <a:ext cx="6275040" cy="1143000"/>
          </a:xfrm>
        </p:spPr>
        <p:txBody>
          <a:bodyPr>
            <a:normAutofit fontScale="90000"/>
          </a:bodyPr>
          <a:lstStyle/>
          <a:p>
            <a:pPr eaLnBrk="1" hangingPunct="1"/>
            <a:r>
              <a:rPr lang="en-US" b="1" dirty="0">
                <a:latin typeface="+mn-lt"/>
              </a:rPr>
              <a:t>One-Way ANOVA with Equal Sample Sizes</a:t>
            </a:r>
            <a:endParaRPr lang="en-US" dirty="0">
              <a:latin typeface="+mn-lt"/>
            </a:endParaRPr>
          </a:p>
        </p:txBody>
      </p:sp>
      <p:sp>
        <p:nvSpPr>
          <p:cNvPr id="7172" name="Rectangle 3"/>
          <p:cNvSpPr>
            <a:spLocks noGrp="1" noChangeArrowheads="1"/>
          </p:cNvSpPr>
          <p:nvPr>
            <p:ph idx="1"/>
          </p:nvPr>
        </p:nvSpPr>
        <p:spPr>
          <a:xfrm>
            <a:off x="1981200" y="1844825"/>
            <a:ext cx="8229600" cy="4281339"/>
          </a:xfrm>
        </p:spPr>
        <p:txBody>
          <a:bodyPr/>
          <a:lstStyle/>
          <a:p>
            <a:pPr algn="just" eaLnBrk="1" hangingPunct="1">
              <a:lnSpc>
                <a:spcPct val="90000"/>
              </a:lnSpc>
            </a:pPr>
            <a:r>
              <a:rPr lang="en-US" sz="2800" dirty="0"/>
              <a:t>The critical value of </a:t>
            </a:r>
            <a:r>
              <a:rPr lang="en-US" sz="2800" i="1" dirty="0"/>
              <a:t>F</a:t>
            </a:r>
            <a:r>
              <a:rPr lang="en-US" sz="2800" dirty="0"/>
              <a:t>: </a:t>
            </a:r>
          </a:p>
          <a:p>
            <a:pPr lvl="1">
              <a:buFont typeface="Wingdings" charset="2"/>
              <a:buChar char="§"/>
            </a:pPr>
            <a:r>
              <a:rPr lang="en-US" sz="2400" dirty="0">
                <a:cs typeface="Times New Roman" charset="0"/>
              </a:rPr>
              <a:t>numerator degrees of freedom = </a:t>
            </a:r>
            <a:r>
              <a:rPr lang="en-US" sz="2400" i="1" dirty="0">
                <a:cs typeface="Times New Roman" charset="0"/>
              </a:rPr>
              <a:t>k</a:t>
            </a:r>
            <a:r>
              <a:rPr lang="en-US" sz="2400" dirty="0">
                <a:cs typeface="Times New Roman" charset="0"/>
              </a:rPr>
              <a:t> – 1</a:t>
            </a:r>
          </a:p>
          <a:p>
            <a:pPr lvl="1">
              <a:buFont typeface="Wingdings" charset="2"/>
              <a:buChar char="§"/>
            </a:pPr>
            <a:r>
              <a:rPr lang="en-US" sz="2400" dirty="0">
                <a:cs typeface="Times New Roman" charset="0"/>
              </a:rPr>
              <a:t>denominator degrees of freedom = </a:t>
            </a:r>
            <a:r>
              <a:rPr lang="en-US" sz="2400" i="1" dirty="0">
                <a:cs typeface="Times New Roman" charset="0"/>
              </a:rPr>
              <a:t>k</a:t>
            </a:r>
            <a:r>
              <a:rPr lang="en-US" sz="2400" dirty="0">
                <a:cs typeface="Times New Roman" charset="0"/>
              </a:rPr>
              <a:t>(</a:t>
            </a:r>
            <a:r>
              <a:rPr lang="en-US" sz="2400" i="1" dirty="0">
                <a:cs typeface="Times New Roman" charset="0"/>
              </a:rPr>
              <a:t>n</a:t>
            </a:r>
            <a:r>
              <a:rPr lang="en-US" sz="2400" dirty="0">
                <a:cs typeface="Times New Roman" charset="0"/>
              </a:rPr>
              <a:t> - 1)</a:t>
            </a:r>
          </a:p>
          <a:p>
            <a:pPr lvl="1">
              <a:buFont typeface="Wingdings" charset="2"/>
              <a:buChar char="§"/>
            </a:pPr>
            <a:r>
              <a:rPr lang="en-US" sz="2400" i="1" dirty="0">
                <a:cs typeface="Times New Roman" charset="0"/>
              </a:rPr>
              <a:t>k</a:t>
            </a:r>
            <a:r>
              <a:rPr lang="en-US" sz="2400" dirty="0">
                <a:cs typeface="Times New Roman" charset="0"/>
              </a:rPr>
              <a:t>  = number of population or treatments being compared.</a:t>
            </a:r>
          </a:p>
          <a:p>
            <a:pPr lvl="1">
              <a:buFont typeface="Wingdings" charset="2"/>
              <a:buChar char="§"/>
            </a:pPr>
            <a:r>
              <a:rPr lang="en-US" sz="2400" i="1" dirty="0">
                <a:cs typeface="Times New Roman" charset="0"/>
              </a:rPr>
              <a:t>n</a:t>
            </a:r>
            <a:r>
              <a:rPr lang="en-US" sz="2400" dirty="0">
                <a:cs typeface="Times New Roman" charset="0"/>
              </a:rPr>
              <a:t>  = sample size</a:t>
            </a:r>
            <a:endParaRPr lang="en-US" sz="2400" dirty="0"/>
          </a:p>
        </p:txBody>
      </p:sp>
      <p:sp>
        <p:nvSpPr>
          <p:cNvPr id="7170" name="Slide Number Placeholder 5"/>
          <p:cNvSpPr>
            <a:spLocks noGrp="1"/>
          </p:cNvSpPr>
          <p:nvPr>
            <p:ph type="sldNum" sz="quarter" idx="12"/>
          </p:nvPr>
        </p:nvSpPr>
        <p:spPr>
          <a:xfrm>
            <a:off x="4648200" y="6520260"/>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a:defRPr sz="2000">
                <a:solidFill>
                  <a:schemeClr val="tx1"/>
                </a:solidFill>
                <a:latin typeface="Arial" charset="0"/>
                <a:ea typeface="ＭＳ Ｐゴシック" charset="0"/>
              </a:defRPr>
            </a:lvl2pPr>
            <a:lvl3pPr>
              <a:defRPr sz="20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fld id="{DCEB7988-C6BD-B04C-BB79-70D7238E22FF}" type="slidenum">
              <a:rPr lang="en-US" sz="1000">
                <a:solidFill>
                  <a:schemeClr val="bg1"/>
                </a:solidFill>
              </a:rPr>
              <a:pPr/>
              <a:t>6</a:t>
            </a:fld>
            <a:endParaRPr lang="en-US" sz="1000">
              <a:solidFill>
                <a:schemeClr val="bg1"/>
              </a:solidFill>
            </a:endParaRPr>
          </a:p>
        </p:txBody>
      </p:sp>
    </p:spTree>
    <p:extLst>
      <p:ext uri="{BB962C8B-B14F-4D97-AF65-F5344CB8AC3E}">
        <p14:creationId xmlns:p14="http://schemas.microsoft.com/office/powerpoint/2010/main" val="327624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1981200" y="274638"/>
            <a:ext cx="8229600" cy="562074"/>
          </a:xfrm>
        </p:spPr>
        <p:txBody>
          <a:bodyPr>
            <a:normAutofit fontScale="90000"/>
          </a:bodyPr>
          <a:lstStyle/>
          <a:p>
            <a:r>
              <a:rPr lang="en-US" b="1" dirty="0">
                <a:latin typeface="+mn-lt"/>
              </a:rPr>
              <a:t>Example 1</a:t>
            </a:r>
          </a:p>
        </p:txBody>
      </p:sp>
      <p:sp>
        <p:nvSpPr>
          <p:cNvPr id="8195" name="Content Placeholder 2"/>
          <p:cNvSpPr>
            <a:spLocks noGrp="1"/>
          </p:cNvSpPr>
          <p:nvPr>
            <p:ph idx="1"/>
          </p:nvPr>
        </p:nvSpPr>
        <p:spPr>
          <a:xfrm>
            <a:off x="1919536" y="1556793"/>
            <a:ext cx="8229600" cy="4021907"/>
          </a:xfrm>
        </p:spPr>
        <p:txBody>
          <a:bodyPr/>
          <a:lstStyle/>
          <a:p>
            <a:pPr marL="0" indent="0" algn="just">
              <a:buNone/>
            </a:pPr>
            <a:r>
              <a:rPr lang="en-GB" sz="2800" dirty="0"/>
              <a:t>Table below lists the head injury to car crash test dummies for four different types of cars. Use a 0.05 significance level to test the null hypothesis that the different types of car have the same mean.</a:t>
            </a:r>
            <a:endParaRPr lang="en-US" sz="2800" dirty="0"/>
          </a:p>
        </p:txBody>
      </p:sp>
      <p:sp>
        <p:nvSpPr>
          <p:cNvPr id="8196" name="Slide Number Placeholder 3"/>
          <p:cNvSpPr>
            <a:spLocks noGrp="1"/>
          </p:cNvSpPr>
          <p:nvPr>
            <p:ph type="sldNum" sz="quarter" idx="12"/>
          </p:nvPr>
        </p:nvSpPr>
        <p:spPr>
          <a:xfrm>
            <a:off x="4648200" y="6520260"/>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AD819F2E-4D62-384A-A960-5E01600AA4AF}" type="slidenum">
              <a:rPr lang="en-US" sz="1000">
                <a:solidFill>
                  <a:schemeClr val="bg1"/>
                </a:solidFill>
                <a:latin typeface="+mn-lt"/>
              </a:rPr>
              <a:pPr/>
              <a:t>7</a:t>
            </a:fld>
            <a:endParaRPr lang="en-US" sz="1000">
              <a:solidFill>
                <a:schemeClr val="bg1"/>
              </a:solidFill>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1124237462"/>
              </p:ext>
            </p:extLst>
          </p:nvPr>
        </p:nvGraphicFramePr>
        <p:xfrm>
          <a:off x="2133601" y="3524250"/>
          <a:ext cx="7620001" cy="2596622"/>
        </p:xfrm>
        <a:graphic>
          <a:graphicData uri="http://schemas.openxmlformats.org/drawingml/2006/table">
            <a:tbl>
              <a:tblPr firstRow="1" bandRow="1">
                <a:tableStyleId>{21E4AEA4-8DFA-4A89-87EB-49C32662AFE0}</a:tableStyleId>
              </a:tblPr>
              <a:tblGrid>
                <a:gridCol w="2326105">
                  <a:extLst>
                    <a:ext uri="{9D8B030D-6E8A-4147-A177-3AD203B41FA5}">
                      <a16:colId xmlns:a16="http://schemas.microsoft.com/office/drawing/2014/main" val="20000"/>
                    </a:ext>
                  </a:extLst>
                </a:gridCol>
                <a:gridCol w="1764632">
                  <a:extLst>
                    <a:ext uri="{9D8B030D-6E8A-4147-A177-3AD203B41FA5}">
                      <a16:colId xmlns:a16="http://schemas.microsoft.com/office/drawing/2014/main" val="20001"/>
                    </a:ext>
                  </a:extLst>
                </a:gridCol>
                <a:gridCol w="1616671">
                  <a:extLst>
                    <a:ext uri="{9D8B030D-6E8A-4147-A177-3AD203B41FA5}">
                      <a16:colId xmlns:a16="http://schemas.microsoft.com/office/drawing/2014/main" val="20002"/>
                    </a:ext>
                  </a:extLst>
                </a:gridCol>
                <a:gridCol w="1912593">
                  <a:extLst>
                    <a:ext uri="{9D8B030D-6E8A-4147-A177-3AD203B41FA5}">
                      <a16:colId xmlns:a16="http://schemas.microsoft.com/office/drawing/2014/main" val="20003"/>
                    </a:ext>
                  </a:extLst>
                </a:gridCol>
              </a:tblGrid>
              <a:tr h="370946">
                <a:tc gridSpan="4">
                  <a:txBody>
                    <a:bodyPr/>
                    <a:lstStyle/>
                    <a:p>
                      <a:pPr algn="ctr"/>
                      <a:r>
                        <a:rPr lang="en-US" dirty="0"/>
                        <a:t>No.</a:t>
                      </a:r>
                      <a:r>
                        <a:rPr lang="en-US" baseline="0" dirty="0"/>
                        <a:t> of head injury</a:t>
                      </a:r>
                      <a:endParaRPr lang="en-US" dirty="0"/>
                    </a:p>
                  </a:txBody>
                  <a:tcPr marL="91435" marR="91435" marT="45733" marB="45733"/>
                </a:tc>
                <a:tc hMerge="1">
                  <a:txBody>
                    <a:bodyPr/>
                    <a:lstStyle/>
                    <a:p>
                      <a:endParaRPr lang="en-US" dirty="0"/>
                    </a:p>
                  </a:txBody>
                  <a:tcPr marL="91435" marR="91435" marT="45733" marB="45733"/>
                </a:tc>
                <a:tc hMerge="1">
                  <a:txBody>
                    <a:bodyPr/>
                    <a:lstStyle/>
                    <a:p>
                      <a:endParaRPr lang="en-US" dirty="0"/>
                    </a:p>
                  </a:txBody>
                  <a:tcPr marL="91435" marR="91435" marT="45733" marB="45733"/>
                </a:tc>
                <a:tc hMerge="1">
                  <a:txBody>
                    <a:bodyPr/>
                    <a:lstStyle/>
                    <a:p>
                      <a:endParaRPr lang="en-US" dirty="0"/>
                    </a:p>
                  </a:txBody>
                  <a:tcPr marL="91435" marR="91435" marT="45733" marB="45733"/>
                </a:tc>
                <a:extLst>
                  <a:ext uri="{0D108BD9-81ED-4DB2-BD59-A6C34878D82A}">
                    <a16:rowId xmlns:a16="http://schemas.microsoft.com/office/drawing/2014/main" val="10000"/>
                  </a:ext>
                </a:extLst>
              </a:tr>
              <a:tr h="370946">
                <a:tc>
                  <a:txBody>
                    <a:bodyPr/>
                    <a:lstStyle/>
                    <a:p>
                      <a:r>
                        <a:rPr lang="en-GB" sz="1800" dirty="0"/>
                        <a:t>Subcompact Cars</a:t>
                      </a:r>
                    </a:p>
                  </a:txBody>
                  <a:tcPr marL="91435" marR="91435" marT="45733" marB="45733"/>
                </a:tc>
                <a:tc>
                  <a:txBody>
                    <a:bodyPr/>
                    <a:lstStyle/>
                    <a:p>
                      <a:r>
                        <a:rPr lang="en-GB" sz="1800" dirty="0"/>
                        <a:t>Compact Cars</a:t>
                      </a:r>
                    </a:p>
                  </a:txBody>
                  <a:tcPr marL="91435" marR="91435" marT="45733" marB="45733"/>
                </a:tc>
                <a:tc>
                  <a:txBody>
                    <a:bodyPr/>
                    <a:lstStyle/>
                    <a:p>
                      <a:r>
                        <a:rPr lang="en-GB" sz="1800" dirty="0"/>
                        <a:t>Midsize Cars</a:t>
                      </a:r>
                    </a:p>
                  </a:txBody>
                  <a:tcPr marL="91435" marR="91435" marT="45733" marB="45733"/>
                </a:tc>
                <a:tc>
                  <a:txBody>
                    <a:bodyPr/>
                    <a:lstStyle/>
                    <a:p>
                      <a:r>
                        <a:rPr lang="en-GB" sz="1800" dirty="0"/>
                        <a:t>Full-Size Cars</a:t>
                      </a:r>
                    </a:p>
                  </a:txBody>
                  <a:tcPr marL="91435" marR="91435" marT="45733" marB="45733"/>
                </a:tc>
                <a:extLst>
                  <a:ext uri="{0D108BD9-81ED-4DB2-BD59-A6C34878D82A}">
                    <a16:rowId xmlns:a16="http://schemas.microsoft.com/office/drawing/2014/main" val="10001"/>
                  </a:ext>
                </a:extLst>
              </a:tr>
              <a:tr h="370946">
                <a:tc>
                  <a:txBody>
                    <a:bodyPr/>
                    <a:lstStyle/>
                    <a:p>
                      <a:pPr algn="ctr"/>
                      <a:r>
                        <a:rPr lang="en-GB" sz="1800" dirty="0"/>
                        <a:t>681</a:t>
                      </a:r>
                    </a:p>
                  </a:txBody>
                  <a:tcPr marL="91435" marR="91435" marT="45733" marB="45733"/>
                </a:tc>
                <a:tc>
                  <a:txBody>
                    <a:bodyPr/>
                    <a:lstStyle/>
                    <a:p>
                      <a:pPr algn="ctr"/>
                      <a:r>
                        <a:rPr lang="en-GB" sz="1800" dirty="0"/>
                        <a:t>643</a:t>
                      </a:r>
                    </a:p>
                  </a:txBody>
                  <a:tcPr marL="91435" marR="91435" marT="45733" marB="45733"/>
                </a:tc>
                <a:tc>
                  <a:txBody>
                    <a:bodyPr/>
                    <a:lstStyle/>
                    <a:p>
                      <a:pPr algn="ctr"/>
                      <a:r>
                        <a:rPr lang="en-GB" sz="1800" dirty="0"/>
                        <a:t>469</a:t>
                      </a:r>
                    </a:p>
                  </a:txBody>
                  <a:tcPr marL="91435" marR="91435" marT="45733" marB="45733"/>
                </a:tc>
                <a:tc>
                  <a:txBody>
                    <a:bodyPr/>
                    <a:lstStyle/>
                    <a:p>
                      <a:pPr algn="ctr"/>
                      <a:r>
                        <a:rPr lang="en-GB" sz="1800" dirty="0"/>
                        <a:t>384</a:t>
                      </a:r>
                    </a:p>
                  </a:txBody>
                  <a:tcPr marL="91435" marR="91435" marT="45733" marB="45733"/>
                </a:tc>
                <a:extLst>
                  <a:ext uri="{0D108BD9-81ED-4DB2-BD59-A6C34878D82A}">
                    <a16:rowId xmlns:a16="http://schemas.microsoft.com/office/drawing/2014/main" val="10002"/>
                  </a:ext>
                </a:extLst>
              </a:tr>
              <a:tr h="370946">
                <a:tc>
                  <a:txBody>
                    <a:bodyPr/>
                    <a:lstStyle/>
                    <a:p>
                      <a:pPr algn="ctr"/>
                      <a:r>
                        <a:rPr lang="en-GB" sz="1800" dirty="0"/>
                        <a:t>428</a:t>
                      </a:r>
                    </a:p>
                  </a:txBody>
                  <a:tcPr marL="91435" marR="91435" marT="45733" marB="45733"/>
                </a:tc>
                <a:tc>
                  <a:txBody>
                    <a:bodyPr/>
                    <a:lstStyle/>
                    <a:p>
                      <a:pPr algn="ctr"/>
                      <a:r>
                        <a:rPr lang="en-GB" sz="1800" dirty="0"/>
                        <a:t>655</a:t>
                      </a:r>
                    </a:p>
                  </a:txBody>
                  <a:tcPr marL="91435" marR="91435" marT="45733" marB="45733"/>
                </a:tc>
                <a:tc>
                  <a:txBody>
                    <a:bodyPr/>
                    <a:lstStyle/>
                    <a:p>
                      <a:pPr algn="ctr"/>
                      <a:r>
                        <a:rPr lang="en-GB" sz="1800" dirty="0"/>
                        <a:t>727</a:t>
                      </a:r>
                    </a:p>
                  </a:txBody>
                  <a:tcPr marL="91435" marR="91435" marT="45733" marB="45733"/>
                </a:tc>
                <a:tc>
                  <a:txBody>
                    <a:bodyPr/>
                    <a:lstStyle/>
                    <a:p>
                      <a:pPr algn="ctr"/>
                      <a:r>
                        <a:rPr lang="en-GB" sz="1800" dirty="0"/>
                        <a:t>656</a:t>
                      </a:r>
                    </a:p>
                  </a:txBody>
                  <a:tcPr marL="91435" marR="91435" marT="45733" marB="45733"/>
                </a:tc>
                <a:extLst>
                  <a:ext uri="{0D108BD9-81ED-4DB2-BD59-A6C34878D82A}">
                    <a16:rowId xmlns:a16="http://schemas.microsoft.com/office/drawing/2014/main" val="10003"/>
                  </a:ext>
                </a:extLst>
              </a:tr>
              <a:tr h="370946">
                <a:tc>
                  <a:txBody>
                    <a:bodyPr/>
                    <a:lstStyle/>
                    <a:p>
                      <a:pPr algn="ctr"/>
                      <a:r>
                        <a:rPr lang="en-GB" sz="1800" dirty="0"/>
                        <a:t>917</a:t>
                      </a:r>
                    </a:p>
                  </a:txBody>
                  <a:tcPr marL="91435" marR="91435" marT="45733" marB="45733"/>
                </a:tc>
                <a:tc>
                  <a:txBody>
                    <a:bodyPr/>
                    <a:lstStyle/>
                    <a:p>
                      <a:pPr algn="ctr"/>
                      <a:r>
                        <a:rPr lang="en-GB" sz="1800" dirty="0"/>
                        <a:t>442</a:t>
                      </a:r>
                    </a:p>
                  </a:txBody>
                  <a:tcPr marL="91435" marR="91435" marT="45733" marB="45733"/>
                </a:tc>
                <a:tc>
                  <a:txBody>
                    <a:bodyPr/>
                    <a:lstStyle/>
                    <a:p>
                      <a:pPr algn="ctr"/>
                      <a:r>
                        <a:rPr lang="en-GB" sz="1800" dirty="0"/>
                        <a:t>525</a:t>
                      </a:r>
                    </a:p>
                  </a:txBody>
                  <a:tcPr marL="91435" marR="91435" marT="45733" marB="45733"/>
                </a:tc>
                <a:tc>
                  <a:txBody>
                    <a:bodyPr/>
                    <a:lstStyle/>
                    <a:p>
                      <a:pPr algn="ctr"/>
                      <a:r>
                        <a:rPr lang="en-GB" sz="1800" dirty="0"/>
                        <a:t>602</a:t>
                      </a:r>
                    </a:p>
                  </a:txBody>
                  <a:tcPr marL="91435" marR="91435" marT="45733" marB="45733"/>
                </a:tc>
                <a:extLst>
                  <a:ext uri="{0D108BD9-81ED-4DB2-BD59-A6C34878D82A}">
                    <a16:rowId xmlns:a16="http://schemas.microsoft.com/office/drawing/2014/main" val="10004"/>
                  </a:ext>
                </a:extLst>
              </a:tr>
              <a:tr h="370946">
                <a:tc>
                  <a:txBody>
                    <a:bodyPr/>
                    <a:lstStyle/>
                    <a:p>
                      <a:pPr algn="ctr"/>
                      <a:r>
                        <a:rPr lang="en-GB" sz="1800" dirty="0"/>
                        <a:t>898</a:t>
                      </a:r>
                    </a:p>
                  </a:txBody>
                  <a:tcPr marL="91435" marR="91435" marT="45733" marB="45733"/>
                </a:tc>
                <a:tc>
                  <a:txBody>
                    <a:bodyPr/>
                    <a:lstStyle/>
                    <a:p>
                      <a:pPr algn="ctr"/>
                      <a:r>
                        <a:rPr lang="en-GB" sz="1800" dirty="0"/>
                        <a:t>514</a:t>
                      </a:r>
                    </a:p>
                  </a:txBody>
                  <a:tcPr marL="91435" marR="91435" marT="45733" marB="45733"/>
                </a:tc>
                <a:tc>
                  <a:txBody>
                    <a:bodyPr/>
                    <a:lstStyle/>
                    <a:p>
                      <a:pPr algn="ctr"/>
                      <a:r>
                        <a:rPr lang="en-GB" sz="1800" dirty="0"/>
                        <a:t>454</a:t>
                      </a:r>
                    </a:p>
                  </a:txBody>
                  <a:tcPr marL="91435" marR="91435" marT="45733" marB="45733"/>
                </a:tc>
                <a:tc>
                  <a:txBody>
                    <a:bodyPr/>
                    <a:lstStyle/>
                    <a:p>
                      <a:pPr algn="ctr"/>
                      <a:r>
                        <a:rPr lang="en-GB" sz="1800" dirty="0"/>
                        <a:t>687</a:t>
                      </a:r>
                    </a:p>
                  </a:txBody>
                  <a:tcPr marL="91435" marR="91435" marT="45733" marB="45733"/>
                </a:tc>
                <a:extLst>
                  <a:ext uri="{0D108BD9-81ED-4DB2-BD59-A6C34878D82A}">
                    <a16:rowId xmlns:a16="http://schemas.microsoft.com/office/drawing/2014/main" val="10005"/>
                  </a:ext>
                </a:extLst>
              </a:tr>
              <a:tr h="370946">
                <a:tc>
                  <a:txBody>
                    <a:bodyPr/>
                    <a:lstStyle/>
                    <a:p>
                      <a:pPr algn="ctr"/>
                      <a:r>
                        <a:rPr lang="en-GB" sz="1800" dirty="0"/>
                        <a:t>420</a:t>
                      </a:r>
                    </a:p>
                  </a:txBody>
                  <a:tcPr marL="91435" marR="91435" marT="45733" marB="45733"/>
                </a:tc>
                <a:tc>
                  <a:txBody>
                    <a:bodyPr/>
                    <a:lstStyle/>
                    <a:p>
                      <a:pPr algn="ctr"/>
                      <a:r>
                        <a:rPr lang="en-GB" sz="1800" dirty="0"/>
                        <a:t>525</a:t>
                      </a:r>
                    </a:p>
                  </a:txBody>
                  <a:tcPr marL="91435" marR="91435" marT="45733" marB="45733"/>
                </a:tc>
                <a:tc>
                  <a:txBody>
                    <a:bodyPr/>
                    <a:lstStyle/>
                    <a:p>
                      <a:pPr algn="ctr"/>
                      <a:r>
                        <a:rPr lang="en-GB" sz="1800" dirty="0"/>
                        <a:t>259</a:t>
                      </a:r>
                    </a:p>
                  </a:txBody>
                  <a:tcPr marL="91435" marR="91435" marT="45733" marB="45733"/>
                </a:tc>
                <a:tc>
                  <a:txBody>
                    <a:bodyPr/>
                    <a:lstStyle/>
                    <a:p>
                      <a:pPr algn="ctr"/>
                      <a:r>
                        <a:rPr lang="en-GB" sz="1800" dirty="0"/>
                        <a:t>360</a:t>
                      </a:r>
                    </a:p>
                  </a:txBody>
                  <a:tcPr marL="91435" marR="91435" marT="45733" marB="45733"/>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0669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3277344" y="346646"/>
            <a:ext cx="6347048" cy="634082"/>
          </a:xfrm>
        </p:spPr>
        <p:txBody>
          <a:bodyPr>
            <a:normAutofit fontScale="90000"/>
          </a:bodyPr>
          <a:lstStyle/>
          <a:p>
            <a:r>
              <a:rPr lang="en-US" b="1" dirty="0">
                <a:latin typeface="+mn-lt"/>
              </a:rPr>
              <a:t>Example 1</a:t>
            </a:r>
          </a:p>
        </p:txBody>
      </p:sp>
      <p:sp>
        <p:nvSpPr>
          <p:cNvPr id="3" name="Content Placeholder 2"/>
          <p:cNvSpPr>
            <a:spLocks noGrp="1"/>
          </p:cNvSpPr>
          <p:nvPr>
            <p:ph idx="1"/>
          </p:nvPr>
        </p:nvSpPr>
        <p:spPr>
          <a:xfrm>
            <a:off x="1919536" y="1700809"/>
            <a:ext cx="8229600" cy="3877891"/>
          </a:xfrm>
        </p:spPr>
        <p:txBody>
          <a:bodyPr/>
          <a:lstStyle/>
          <a:p>
            <a:r>
              <a:rPr lang="en-US" sz="2800" dirty="0"/>
              <a:t>Step 1: Define hypothesis.</a:t>
            </a:r>
          </a:p>
          <a:p>
            <a:pPr marL="0" indent="0">
              <a:buNone/>
            </a:pPr>
            <a:endParaRPr lang="en-US" sz="2800" dirty="0"/>
          </a:p>
          <a:p>
            <a:pPr marL="457200" lvl="1" indent="0">
              <a:buNone/>
            </a:pPr>
            <a:r>
              <a:rPr lang="en-US" sz="2400" dirty="0"/>
              <a:t>H</a:t>
            </a:r>
            <a:r>
              <a:rPr lang="en-US" sz="2400" baseline="-25000" dirty="0"/>
              <a:t>0</a:t>
            </a:r>
            <a:r>
              <a:rPr lang="en-US" sz="2400" dirty="0"/>
              <a:t> :</a:t>
            </a:r>
            <a:r>
              <a:rPr lang="en-US" sz="2400" dirty="0">
                <a:cs typeface="Times New Roman"/>
              </a:rPr>
              <a:t> </a:t>
            </a:r>
            <a:r>
              <a:rPr lang="el-GR" sz="2400" i="1" dirty="0">
                <a:cs typeface="Times New Roman"/>
              </a:rPr>
              <a:t>μ</a:t>
            </a:r>
            <a:r>
              <a:rPr lang="en-US" sz="2400" i="1" baseline="-25000" dirty="0">
                <a:cs typeface="Times New Roman"/>
              </a:rPr>
              <a:t>1</a:t>
            </a:r>
            <a:r>
              <a:rPr lang="en-US" sz="2400" dirty="0">
                <a:cs typeface="Times New Roman"/>
              </a:rPr>
              <a:t> = </a:t>
            </a:r>
            <a:r>
              <a:rPr lang="el-GR" sz="2400" i="1" dirty="0">
                <a:cs typeface="Times New Roman"/>
              </a:rPr>
              <a:t>μ</a:t>
            </a:r>
            <a:r>
              <a:rPr lang="en-US" sz="2400" i="1" baseline="-25000" dirty="0">
                <a:cs typeface="Times New Roman"/>
              </a:rPr>
              <a:t>2</a:t>
            </a:r>
            <a:r>
              <a:rPr lang="en-US" sz="2400" dirty="0">
                <a:cs typeface="Times New Roman"/>
              </a:rPr>
              <a:t> = </a:t>
            </a:r>
            <a:r>
              <a:rPr lang="el-GR" sz="2400" i="1" dirty="0">
                <a:cs typeface="Times New Roman"/>
              </a:rPr>
              <a:t>μ</a:t>
            </a:r>
            <a:r>
              <a:rPr lang="en-US" sz="2400" i="1" baseline="-25000" dirty="0">
                <a:cs typeface="Times New Roman"/>
              </a:rPr>
              <a:t>3</a:t>
            </a:r>
            <a:r>
              <a:rPr lang="en-US" sz="2400" dirty="0">
                <a:cs typeface="Times New Roman"/>
              </a:rPr>
              <a:t> = </a:t>
            </a:r>
            <a:r>
              <a:rPr lang="el-GR" sz="2400" i="1" dirty="0">
                <a:cs typeface="Times New Roman"/>
              </a:rPr>
              <a:t>μ</a:t>
            </a:r>
            <a:r>
              <a:rPr lang="en-US" sz="2400" i="1" baseline="-25000" dirty="0">
                <a:cs typeface="Times New Roman"/>
              </a:rPr>
              <a:t>4</a:t>
            </a:r>
          </a:p>
          <a:p>
            <a:pPr marL="457200" lvl="1" indent="0">
              <a:buNone/>
            </a:pPr>
            <a:r>
              <a:rPr lang="en-US" sz="2400" dirty="0"/>
              <a:t>H</a:t>
            </a:r>
            <a:r>
              <a:rPr lang="en-US" sz="2400" baseline="-25000" dirty="0"/>
              <a:t>1</a:t>
            </a:r>
            <a:r>
              <a:rPr lang="en-US" sz="2400" dirty="0"/>
              <a:t> : at least one mean is different.</a:t>
            </a:r>
          </a:p>
          <a:p>
            <a:pPr marL="457200" lvl="1" indent="0">
              <a:buNone/>
            </a:pPr>
            <a:endParaRPr lang="en-US" sz="2400" dirty="0"/>
          </a:p>
          <a:p>
            <a:pPr marL="514350" indent="-457200">
              <a:buFont typeface="Arial"/>
              <a:buChar char="•"/>
            </a:pPr>
            <a:r>
              <a:rPr lang="en-US" sz="2800" dirty="0"/>
              <a:t>Step 2: </a:t>
            </a:r>
            <a:r>
              <a:rPr lang="en-GB" sz="2800" dirty="0"/>
              <a:t>For each category, find</a:t>
            </a:r>
          </a:p>
          <a:p>
            <a:pPr marL="57150" indent="0">
              <a:buNone/>
            </a:pPr>
            <a:endParaRPr lang="en-US" sz="2800" dirty="0"/>
          </a:p>
          <a:p>
            <a:pPr marL="457200" lvl="1" indent="0">
              <a:buNone/>
            </a:pPr>
            <a:endParaRPr lang="en-US" sz="2400" i="1" baseline="-25000" dirty="0"/>
          </a:p>
        </p:txBody>
      </p:sp>
      <p:sp>
        <p:nvSpPr>
          <p:cNvPr id="9220" name="Slide Number Placeholder 3"/>
          <p:cNvSpPr>
            <a:spLocks noGrp="1"/>
          </p:cNvSpPr>
          <p:nvPr>
            <p:ph type="sldNum" sz="quarter" idx="12"/>
          </p:nvPr>
        </p:nvSpPr>
        <p:spPr>
          <a:xfrm>
            <a:off x="4648200" y="6520260"/>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D7ECF1D5-AE54-B143-BBFC-E0B73D41D19D}" type="slidenum">
              <a:rPr lang="en-US" sz="1000">
                <a:solidFill>
                  <a:schemeClr val="bg1"/>
                </a:solidFill>
                <a:latin typeface="+mn-lt"/>
              </a:rPr>
              <a:pPr/>
              <a:t>8</a:t>
            </a:fld>
            <a:endParaRPr lang="en-US" sz="1000">
              <a:solidFill>
                <a:schemeClr val="bg1"/>
              </a:solidFill>
              <a:latin typeface="+mn-lt"/>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734850837"/>
              </p:ext>
            </p:extLst>
          </p:nvPr>
        </p:nvGraphicFramePr>
        <p:xfrm>
          <a:off x="6888088" y="4077072"/>
          <a:ext cx="1472952" cy="490984"/>
        </p:xfrm>
        <a:graphic>
          <a:graphicData uri="http://schemas.openxmlformats.org/presentationml/2006/ole">
            <mc:AlternateContent xmlns:mc="http://schemas.openxmlformats.org/markup-compatibility/2006">
              <mc:Choice xmlns:v="urn:schemas-microsoft-com:vml" Requires="v">
                <p:oleObj name="Equation" r:id="rId2" imgW="609336" imgH="203112" progId="Equation.3">
                  <p:embed/>
                </p:oleObj>
              </mc:Choice>
              <mc:Fallback>
                <p:oleObj name="Equation" r:id="rId2" imgW="609336" imgH="203112"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088" y="4077072"/>
                        <a:ext cx="1472952" cy="49098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666097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503712" y="294928"/>
            <a:ext cx="5904656" cy="685800"/>
          </a:xfrm>
        </p:spPr>
        <p:txBody>
          <a:bodyPr>
            <a:normAutofit fontScale="90000"/>
          </a:bodyPr>
          <a:lstStyle/>
          <a:p>
            <a:r>
              <a:rPr lang="en-GB" b="1" dirty="0">
                <a:latin typeface="+mn-lt"/>
              </a:rPr>
              <a:t>Example 1</a:t>
            </a:r>
            <a:endParaRPr lang="en-GB" sz="3200" b="1" dirty="0">
              <a:latin typeface="+mn-lt"/>
            </a:endParaRPr>
          </a:p>
        </p:txBody>
      </p:sp>
      <p:sp>
        <p:nvSpPr>
          <p:cNvPr id="10243" name="Content Placeholder 2"/>
          <p:cNvSpPr>
            <a:spLocks noGrp="1"/>
          </p:cNvSpPr>
          <p:nvPr>
            <p:ph idx="1"/>
          </p:nvPr>
        </p:nvSpPr>
        <p:spPr>
          <a:xfrm>
            <a:off x="1919536" y="980729"/>
            <a:ext cx="8229600" cy="4525963"/>
          </a:xfrm>
        </p:spPr>
        <p:txBody>
          <a:bodyPr/>
          <a:lstStyle/>
          <a:p>
            <a:endParaRPr lang="en-US" dirty="0"/>
          </a:p>
          <a:p>
            <a:r>
              <a:rPr lang="en-GB" sz="2800" dirty="0"/>
              <a:t>Category 1: (Subcompact Cars)</a:t>
            </a:r>
          </a:p>
          <a:p>
            <a:endParaRPr lang="en-MY" sz="2800" dirty="0"/>
          </a:p>
          <a:p>
            <a:endParaRPr lang="en-MY" sz="2800" dirty="0"/>
          </a:p>
          <a:p>
            <a:endParaRPr lang="en-MY" sz="2800" dirty="0"/>
          </a:p>
          <a:p>
            <a:endParaRPr lang="en-MY" sz="2800" dirty="0"/>
          </a:p>
          <a:p>
            <a:r>
              <a:rPr lang="en-MY" sz="2800" dirty="0"/>
              <a:t>Category 2: (</a:t>
            </a:r>
            <a:r>
              <a:rPr lang="en-GB" sz="2800" dirty="0"/>
              <a:t>Compact Cars)</a:t>
            </a:r>
            <a:endParaRPr lang="en-US" sz="2800" dirty="0"/>
          </a:p>
          <a:p>
            <a:pPr marL="457200" lvl="1" indent="0">
              <a:buNone/>
            </a:pPr>
            <a:endParaRPr lang="en-US" sz="2000" dirty="0"/>
          </a:p>
        </p:txBody>
      </p:sp>
      <p:sp>
        <p:nvSpPr>
          <p:cNvPr id="10244" name="Slide Number Placeholder 3"/>
          <p:cNvSpPr>
            <a:spLocks noGrp="1"/>
          </p:cNvSpPr>
          <p:nvPr>
            <p:ph type="sldNum" sz="quarter" idx="12"/>
          </p:nvPr>
        </p:nvSpPr>
        <p:spPr>
          <a:xfrm>
            <a:off x="4648200" y="6376244"/>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9</a:t>
            </a:fld>
            <a:endParaRPr lang="en-US" sz="1000">
              <a:solidFill>
                <a:schemeClr val="bg1"/>
              </a:solidFill>
              <a:latin typeface="+mn-lt"/>
            </a:endParaRPr>
          </a:p>
        </p:txBody>
      </p:sp>
      <p:graphicFrame>
        <p:nvGraphicFramePr>
          <p:cNvPr id="10246" name="Object 5"/>
          <p:cNvGraphicFramePr>
            <a:graphicFrameLocks noChangeAspect="1"/>
          </p:cNvGraphicFramePr>
          <p:nvPr>
            <p:extLst>
              <p:ext uri="{D42A27DB-BD31-4B8C-83A1-F6EECF244321}">
                <p14:modId xmlns:p14="http://schemas.microsoft.com/office/powerpoint/2010/main" val="2255528175"/>
              </p:ext>
            </p:extLst>
          </p:nvPr>
        </p:nvGraphicFramePr>
        <p:xfrm>
          <a:off x="2423592" y="2019103"/>
          <a:ext cx="8136904" cy="1947439"/>
        </p:xfrm>
        <a:graphic>
          <a:graphicData uri="http://schemas.openxmlformats.org/presentationml/2006/ole">
            <mc:AlternateContent xmlns:mc="http://schemas.openxmlformats.org/markup-compatibility/2006">
              <mc:Choice xmlns:v="urn:schemas-microsoft-com:vml" Requires="v">
                <p:oleObj name="Equation" r:id="rId2" imgW="5308600" imgH="1270000" progId="Equation.3">
                  <p:embed/>
                </p:oleObj>
              </mc:Choice>
              <mc:Fallback>
                <p:oleObj name="Equation" r:id="rId2" imgW="5308600" imgH="1270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592" y="2019103"/>
                        <a:ext cx="8136904" cy="1947439"/>
                      </a:xfrm>
                      <a:prstGeom prst="rect">
                        <a:avLst/>
                      </a:prstGeom>
                      <a:noFill/>
                      <a:ln>
                        <a:noFill/>
                      </a:ln>
                      <a:effec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1756696736"/>
              </p:ext>
            </p:extLst>
          </p:nvPr>
        </p:nvGraphicFramePr>
        <p:xfrm>
          <a:off x="2353692" y="4539382"/>
          <a:ext cx="8278812" cy="1985962"/>
        </p:xfrm>
        <a:graphic>
          <a:graphicData uri="http://schemas.openxmlformats.org/presentationml/2006/ole">
            <mc:AlternateContent xmlns:mc="http://schemas.openxmlformats.org/markup-compatibility/2006">
              <mc:Choice xmlns:v="urn:schemas-microsoft-com:vml" Requires="v">
                <p:oleObj name="Equation" r:id="rId4" imgW="5295900" imgH="1270000" progId="Equation.3">
                  <p:embed/>
                </p:oleObj>
              </mc:Choice>
              <mc:Fallback>
                <p:oleObj name="Equation" r:id="rId4" imgW="5295900" imgH="1270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3692" y="4539382"/>
                        <a:ext cx="8278812" cy="198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536163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503712" y="294928"/>
            <a:ext cx="5904656" cy="685800"/>
          </a:xfrm>
        </p:spPr>
        <p:txBody>
          <a:bodyPr>
            <a:normAutofit fontScale="90000"/>
          </a:bodyPr>
          <a:lstStyle/>
          <a:p>
            <a:r>
              <a:rPr lang="en-GB" b="1" dirty="0">
                <a:latin typeface="+mn-lt"/>
              </a:rPr>
              <a:t>Example 1</a:t>
            </a:r>
            <a:endParaRPr lang="en-GB" sz="3200" b="1" dirty="0">
              <a:latin typeface="+mn-lt"/>
            </a:endParaRPr>
          </a:p>
        </p:txBody>
      </p:sp>
      <p:sp>
        <p:nvSpPr>
          <p:cNvPr id="10243" name="Content Placeholder 2"/>
          <p:cNvSpPr>
            <a:spLocks noGrp="1"/>
          </p:cNvSpPr>
          <p:nvPr>
            <p:ph idx="1"/>
          </p:nvPr>
        </p:nvSpPr>
        <p:spPr>
          <a:xfrm>
            <a:off x="1919536" y="1340769"/>
            <a:ext cx="8229600" cy="4309939"/>
          </a:xfrm>
        </p:spPr>
        <p:txBody>
          <a:bodyPr/>
          <a:lstStyle/>
          <a:p>
            <a:r>
              <a:rPr lang="en-GB" sz="2800" dirty="0"/>
              <a:t>Category 3: (Midsize Cars)</a:t>
            </a:r>
          </a:p>
          <a:p>
            <a:endParaRPr lang="en-MY" sz="2800" dirty="0"/>
          </a:p>
          <a:p>
            <a:endParaRPr lang="en-MY" sz="2800" dirty="0"/>
          </a:p>
          <a:p>
            <a:endParaRPr lang="en-MY" sz="2800" dirty="0"/>
          </a:p>
          <a:p>
            <a:endParaRPr lang="en-MY" sz="2800" dirty="0"/>
          </a:p>
          <a:p>
            <a:r>
              <a:rPr lang="en-GB" sz="2800" dirty="0"/>
              <a:t>Category 4: (</a:t>
            </a:r>
            <a:r>
              <a:rPr lang="en-GB" sz="2800" dirty="0" err="1"/>
              <a:t>Fullsize</a:t>
            </a:r>
            <a:r>
              <a:rPr lang="en-GB" sz="2800" dirty="0"/>
              <a:t> Cars)</a:t>
            </a:r>
            <a:endParaRPr lang="en-US" sz="2800" dirty="0"/>
          </a:p>
          <a:p>
            <a:endParaRPr lang="en-US" sz="2800" dirty="0"/>
          </a:p>
          <a:p>
            <a:pPr marL="457200" lvl="1" indent="0">
              <a:buNone/>
            </a:pPr>
            <a:endParaRPr lang="en-US" sz="2000" dirty="0"/>
          </a:p>
        </p:txBody>
      </p:sp>
      <p:sp>
        <p:nvSpPr>
          <p:cNvPr id="10244" name="Slide Number Placeholder 3"/>
          <p:cNvSpPr>
            <a:spLocks noGrp="1"/>
          </p:cNvSpPr>
          <p:nvPr>
            <p:ph type="sldNum" sz="quarter" idx="12"/>
          </p:nvPr>
        </p:nvSpPr>
        <p:spPr>
          <a:xfrm>
            <a:off x="4648200" y="6520260"/>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10</a:t>
            </a:fld>
            <a:endParaRPr lang="en-US" sz="1000">
              <a:solidFill>
                <a:schemeClr val="bg1"/>
              </a:solidFill>
              <a:latin typeface="+mn-lt"/>
            </a:endParaRPr>
          </a:p>
        </p:txBody>
      </p:sp>
      <p:graphicFrame>
        <p:nvGraphicFramePr>
          <p:cNvPr id="7" name="Object 4"/>
          <p:cNvGraphicFramePr>
            <a:graphicFrameLocks noChangeAspect="1"/>
          </p:cNvGraphicFramePr>
          <p:nvPr>
            <p:extLst>
              <p:ext uri="{D42A27DB-BD31-4B8C-83A1-F6EECF244321}">
                <p14:modId xmlns:p14="http://schemas.microsoft.com/office/powerpoint/2010/main" val="3615638532"/>
              </p:ext>
            </p:extLst>
          </p:nvPr>
        </p:nvGraphicFramePr>
        <p:xfrm>
          <a:off x="2330450" y="1772817"/>
          <a:ext cx="8230046" cy="1960356"/>
        </p:xfrm>
        <a:graphic>
          <a:graphicData uri="http://schemas.openxmlformats.org/presentationml/2006/ole">
            <mc:AlternateContent xmlns:mc="http://schemas.openxmlformats.org/markup-compatibility/2006">
              <mc:Choice xmlns:v="urn:schemas-microsoft-com:vml" Requires="v">
                <p:oleObj name="Equation" r:id="rId2" imgW="5334000" imgH="1270000" progId="Equation.3">
                  <p:embed/>
                </p:oleObj>
              </mc:Choice>
              <mc:Fallback>
                <p:oleObj name="Equation" r:id="rId2" imgW="5334000" imgH="1270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0450" y="1772817"/>
                        <a:ext cx="8230046" cy="1960356"/>
                      </a:xfrm>
                      <a:prstGeom prst="rect">
                        <a:avLst/>
                      </a:prstGeom>
                      <a:noFill/>
                      <a:ln>
                        <a:noFill/>
                      </a:ln>
                      <a:effec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1787698525"/>
              </p:ext>
            </p:extLst>
          </p:nvPr>
        </p:nvGraphicFramePr>
        <p:xfrm>
          <a:off x="2406650" y="4437113"/>
          <a:ext cx="8153847" cy="1951495"/>
        </p:xfrm>
        <a:graphic>
          <a:graphicData uri="http://schemas.openxmlformats.org/presentationml/2006/ole">
            <mc:AlternateContent xmlns:mc="http://schemas.openxmlformats.org/markup-compatibility/2006">
              <mc:Choice xmlns:v="urn:schemas-microsoft-com:vml" Requires="v">
                <p:oleObj name="Equation" r:id="rId4" imgW="5308600" imgH="1270000" progId="Equation.3">
                  <p:embed/>
                </p:oleObj>
              </mc:Choice>
              <mc:Fallback>
                <p:oleObj name="Equation" r:id="rId4" imgW="5308600" imgH="12700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6650" y="4437113"/>
                        <a:ext cx="8153847" cy="195149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50519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503712" y="294928"/>
            <a:ext cx="5904656" cy="685800"/>
          </a:xfrm>
        </p:spPr>
        <p:txBody>
          <a:bodyPr>
            <a:normAutofit fontScale="90000"/>
          </a:bodyPr>
          <a:lstStyle/>
          <a:p>
            <a:r>
              <a:rPr lang="en-GB" b="1" dirty="0">
                <a:latin typeface="+mn-lt"/>
              </a:rPr>
              <a:t>Example 1</a:t>
            </a:r>
            <a:endParaRPr lang="en-GB" sz="3200" b="1" dirty="0">
              <a:latin typeface="+mn-lt"/>
            </a:endParaRPr>
          </a:p>
        </p:txBody>
      </p:sp>
      <p:sp>
        <p:nvSpPr>
          <p:cNvPr id="13315" name="Content Placeholder 2"/>
          <p:cNvSpPr>
            <a:spLocks noGrp="1"/>
          </p:cNvSpPr>
          <p:nvPr>
            <p:ph idx="1"/>
          </p:nvPr>
        </p:nvSpPr>
        <p:spPr>
          <a:xfrm>
            <a:off x="1775520" y="1340768"/>
            <a:ext cx="8229600" cy="4969768"/>
          </a:xfrm>
        </p:spPr>
        <p:txBody>
          <a:bodyPr/>
          <a:lstStyle/>
          <a:p>
            <a:r>
              <a:rPr lang="en-GB" sz="2800" dirty="0"/>
              <a:t>Step 3: Find variance between samples</a:t>
            </a:r>
          </a:p>
          <a:p>
            <a:pPr marL="354013" lvl="1" indent="0">
              <a:buNone/>
            </a:pPr>
            <a:r>
              <a:rPr lang="en-GB" sz="2000" dirty="0">
                <a:solidFill>
                  <a:srgbClr val="0000FF"/>
                </a:solidFill>
              </a:rPr>
              <a:t>Step 3a: Find mean between samples </a:t>
            </a:r>
          </a:p>
          <a:p>
            <a:endParaRPr lang="en-GB" sz="2000" dirty="0"/>
          </a:p>
          <a:p>
            <a:endParaRPr lang="en-GB" sz="2000" dirty="0"/>
          </a:p>
          <a:p>
            <a:pPr marL="354013" indent="0">
              <a:buNone/>
            </a:pPr>
            <a:r>
              <a:rPr lang="en-GB" sz="2000" dirty="0">
                <a:solidFill>
                  <a:srgbClr val="0000FF"/>
                </a:solidFill>
              </a:rPr>
              <a:t>Step 3b: Find standard deviation between samples</a:t>
            </a:r>
          </a:p>
          <a:p>
            <a:endParaRPr lang="en-GB" sz="2000" dirty="0"/>
          </a:p>
          <a:p>
            <a:endParaRPr lang="en-GB" sz="2000" dirty="0"/>
          </a:p>
          <a:p>
            <a:endParaRPr lang="en-GB" sz="2000" dirty="0"/>
          </a:p>
          <a:p>
            <a:pPr marL="0" indent="0">
              <a:buNone/>
            </a:pPr>
            <a:endParaRPr lang="en-GB" sz="2000" dirty="0"/>
          </a:p>
          <a:p>
            <a:pPr marL="354013" indent="0">
              <a:buNone/>
            </a:pPr>
            <a:r>
              <a:rPr lang="en-GB" sz="2000" dirty="0">
                <a:solidFill>
                  <a:srgbClr val="0000FF"/>
                </a:solidFill>
              </a:rPr>
              <a:t>Step 3c: Find variance between samples</a:t>
            </a:r>
          </a:p>
        </p:txBody>
      </p:sp>
      <p:sp>
        <p:nvSpPr>
          <p:cNvPr id="9"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11</a:t>
            </a:fld>
            <a:endParaRPr lang="en-US" sz="1000" dirty="0">
              <a:solidFill>
                <a:schemeClr val="bg1"/>
              </a:solidFill>
              <a:latin typeface="+mn-lt"/>
            </a:endParaRPr>
          </a:p>
        </p:txBody>
      </p:sp>
      <p:graphicFrame>
        <p:nvGraphicFramePr>
          <p:cNvPr id="13316" name="Object 3"/>
          <p:cNvGraphicFramePr>
            <a:graphicFrameLocks noChangeAspect="1"/>
          </p:cNvGraphicFramePr>
          <p:nvPr>
            <p:extLst>
              <p:ext uri="{D42A27DB-BD31-4B8C-83A1-F6EECF244321}">
                <p14:modId xmlns:p14="http://schemas.microsoft.com/office/powerpoint/2010/main" val="2669428669"/>
              </p:ext>
            </p:extLst>
          </p:nvPr>
        </p:nvGraphicFramePr>
        <p:xfrm>
          <a:off x="2279577" y="2227315"/>
          <a:ext cx="4656633" cy="725945"/>
        </p:xfrm>
        <a:graphic>
          <a:graphicData uri="http://schemas.openxmlformats.org/presentationml/2006/ole">
            <mc:AlternateContent xmlns:mc="http://schemas.openxmlformats.org/markup-compatibility/2006">
              <mc:Choice xmlns:v="urn:schemas-microsoft-com:vml" Requires="v">
                <p:oleObj name="Equation" r:id="rId2" imgW="2527300" imgH="393700" progId="Equation.3">
                  <p:embed/>
                </p:oleObj>
              </mc:Choice>
              <mc:Fallback>
                <p:oleObj name="Equation" r:id="rId2" imgW="2527300" imgH="393700" progId="Equation.3">
                  <p:embed/>
                  <p:pic>
                    <p:nvPicPr>
                      <p:cNvPr id="0" name=""/>
                      <p:cNvPicPr>
                        <a:picLocks noChangeAspect="1" noChangeArrowheads="1"/>
                      </p:cNvPicPr>
                      <p:nvPr/>
                    </p:nvPicPr>
                    <p:blipFill>
                      <a:blip r:embed="rId3"/>
                      <a:srcRect/>
                      <a:stretch>
                        <a:fillRect/>
                      </a:stretch>
                    </p:blipFill>
                    <p:spPr bwMode="auto">
                      <a:xfrm>
                        <a:off x="2279577" y="2227315"/>
                        <a:ext cx="4656633" cy="725945"/>
                      </a:xfrm>
                      <a:prstGeom prst="rect">
                        <a:avLst/>
                      </a:prstGeom>
                      <a:noFill/>
                      <a:ln>
                        <a:noFill/>
                      </a:ln>
                      <a:effectLst/>
                    </p:spPr>
                  </p:pic>
                </p:oleObj>
              </mc:Fallback>
            </mc:AlternateContent>
          </a:graphicData>
        </a:graphic>
      </p:graphicFrame>
      <p:graphicFrame>
        <p:nvGraphicFramePr>
          <p:cNvPr id="13317" name="Object 4"/>
          <p:cNvGraphicFramePr>
            <a:graphicFrameLocks noChangeAspect="1"/>
          </p:cNvGraphicFramePr>
          <p:nvPr>
            <p:extLst>
              <p:ext uri="{D42A27DB-BD31-4B8C-83A1-F6EECF244321}">
                <p14:modId xmlns:p14="http://schemas.microsoft.com/office/powerpoint/2010/main" val="407273993"/>
              </p:ext>
            </p:extLst>
          </p:nvPr>
        </p:nvGraphicFramePr>
        <p:xfrm>
          <a:off x="2244278" y="3429001"/>
          <a:ext cx="8316218" cy="1140027"/>
        </p:xfrm>
        <a:graphic>
          <a:graphicData uri="http://schemas.openxmlformats.org/presentationml/2006/ole">
            <mc:AlternateContent xmlns:mc="http://schemas.openxmlformats.org/markup-compatibility/2006">
              <mc:Choice xmlns:v="urn:schemas-microsoft-com:vml" Requires="v">
                <p:oleObj name="Equation" r:id="rId4" imgW="4813200" imgH="660240" progId="Equation.3">
                  <p:embed/>
                </p:oleObj>
              </mc:Choice>
              <mc:Fallback>
                <p:oleObj name="Equation" r:id="rId4" imgW="4813200" imgH="660240" progId="Equation.3">
                  <p:embed/>
                  <p:pic>
                    <p:nvPicPr>
                      <p:cNvPr id="0" name=""/>
                      <p:cNvPicPr>
                        <a:picLocks noChangeAspect="1" noChangeArrowheads="1"/>
                      </p:cNvPicPr>
                      <p:nvPr/>
                    </p:nvPicPr>
                    <p:blipFill>
                      <a:blip r:embed="rId5"/>
                      <a:srcRect/>
                      <a:stretch>
                        <a:fillRect/>
                      </a:stretch>
                    </p:blipFill>
                    <p:spPr bwMode="auto">
                      <a:xfrm>
                        <a:off x="2244278" y="3429001"/>
                        <a:ext cx="8316218" cy="1140027"/>
                      </a:xfrm>
                      <a:prstGeom prst="rect">
                        <a:avLst/>
                      </a:prstGeom>
                      <a:noFill/>
                      <a:ln>
                        <a:noFill/>
                      </a:ln>
                      <a:effectLst/>
                    </p:spPr>
                  </p:pic>
                </p:oleObj>
              </mc:Fallback>
            </mc:AlternateContent>
          </a:graphicData>
        </a:graphic>
      </p:graphicFrame>
      <p:graphicFrame>
        <p:nvGraphicFramePr>
          <p:cNvPr id="13318" name="Object 5"/>
          <p:cNvGraphicFramePr>
            <a:graphicFrameLocks noChangeAspect="1"/>
          </p:cNvGraphicFramePr>
          <p:nvPr>
            <p:extLst>
              <p:ext uri="{D42A27DB-BD31-4B8C-83A1-F6EECF244321}">
                <p14:modId xmlns:p14="http://schemas.microsoft.com/office/powerpoint/2010/main" val="2753327545"/>
              </p:ext>
            </p:extLst>
          </p:nvPr>
        </p:nvGraphicFramePr>
        <p:xfrm>
          <a:off x="2207568" y="5157193"/>
          <a:ext cx="3456384" cy="490019"/>
        </p:xfrm>
        <a:graphic>
          <a:graphicData uri="http://schemas.openxmlformats.org/presentationml/2006/ole">
            <mc:AlternateContent xmlns:mc="http://schemas.openxmlformats.org/markup-compatibility/2006">
              <mc:Choice xmlns:v="urn:schemas-microsoft-com:vml" Requires="v">
                <p:oleObj name="Equation" r:id="rId6" imgW="1701800" imgH="241300" progId="Equation.3">
                  <p:embed/>
                </p:oleObj>
              </mc:Choice>
              <mc:Fallback>
                <p:oleObj name="Equation" r:id="rId6" imgW="17018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7568" y="5157193"/>
                        <a:ext cx="3456384" cy="49001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49439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503712" y="294928"/>
            <a:ext cx="5904656" cy="685800"/>
          </a:xfrm>
        </p:spPr>
        <p:txBody>
          <a:bodyPr>
            <a:normAutofit fontScale="90000"/>
          </a:bodyPr>
          <a:lstStyle/>
          <a:p>
            <a:r>
              <a:rPr lang="en-GB" b="1" dirty="0">
                <a:latin typeface="+mn-lt"/>
              </a:rPr>
              <a:t>Example 1</a:t>
            </a:r>
            <a:endParaRPr lang="en-GB" sz="3200" b="1" dirty="0">
              <a:latin typeface="+mn-lt"/>
            </a:endParaRPr>
          </a:p>
        </p:txBody>
      </p:sp>
      <p:sp>
        <p:nvSpPr>
          <p:cNvPr id="14339" name="Content Placeholder 2"/>
          <p:cNvSpPr>
            <a:spLocks noGrp="1"/>
          </p:cNvSpPr>
          <p:nvPr>
            <p:ph idx="1"/>
          </p:nvPr>
        </p:nvSpPr>
        <p:spPr>
          <a:xfrm>
            <a:off x="1919536" y="1340768"/>
            <a:ext cx="8229600" cy="4969768"/>
          </a:xfrm>
        </p:spPr>
        <p:txBody>
          <a:bodyPr/>
          <a:lstStyle/>
          <a:p>
            <a:r>
              <a:rPr lang="en-GB" sz="2800" dirty="0"/>
              <a:t>Step 4: Find variance within samples</a:t>
            </a:r>
          </a:p>
          <a:p>
            <a:pPr marL="0" indent="0">
              <a:buNone/>
            </a:pPr>
            <a:endParaRPr lang="en-GB" sz="2800" dirty="0"/>
          </a:p>
          <a:p>
            <a:endParaRPr lang="en-GB" sz="2800" dirty="0"/>
          </a:p>
          <a:p>
            <a:endParaRPr lang="en-GB" sz="2800" dirty="0"/>
          </a:p>
          <a:p>
            <a:r>
              <a:rPr lang="en-GB" sz="2800" dirty="0"/>
              <a:t>Step 5: Calculate test statistic, </a:t>
            </a:r>
            <a:r>
              <a:rPr lang="en-GB" sz="2800" i="1" dirty="0"/>
              <a:t>F</a:t>
            </a:r>
          </a:p>
          <a:p>
            <a:endParaRPr lang="en-GB" sz="2000" dirty="0"/>
          </a:p>
        </p:txBody>
      </p:sp>
      <p:sp>
        <p:nvSpPr>
          <p:cNvPr id="8"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12</a:t>
            </a:fld>
            <a:endParaRPr lang="en-US" sz="1000" dirty="0">
              <a:solidFill>
                <a:schemeClr val="bg1"/>
              </a:solidFill>
              <a:latin typeface="+mn-lt"/>
            </a:endParaRPr>
          </a:p>
        </p:txBody>
      </p:sp>
      <p:graphicFrame>
        <p:nvGraphicFramePr>
          <p:cNvPr id="14340" name="Object 4"/>
          <p:cNvGraphicFramePr>
            <a:graphicFrameLocks noChangeAspect="1"/>
          </p:cNvGraphicFramePr>
          <p:nvPr>
            <p:extLst>
              <p:ext uri="{D42A27DB-BD31-4B8C-83A1-F6EECF244321}">
                <p14:modId xmlns:p14="http://schemas.microsoft.com/office/powerpoint/2010/main" val="3968135899"/>
              </p:ext>
            </p:extLst>
          </p:nvPr>
        </p:nvGraphicFramePr>
        <p:xfrm>
          <a:off x="2774950" y="1916833"/>
          <a:ext cx="5283200" cy="1189037"/>
        </p:xfrm>
        <a:graphic>
          <a:graphicData uri="http://schemas.openxmlformats.org/presentationml/2006/ole">
            <mc:AlternateContent xmlns:mc="http://schemas.openxmlformats.org/markup-compatibility/2006">
              <mc:Choice xmlns:v="urn:schemas-microsoft-com:vml" Requires="v">
                <p:oleObj name="Equation" r:id="rId2" imgW="2654300" imgH="596900" progId="Equation.3">
                  <p:embed/>
                </p:oleObj>
              </mc:Choice>
              <mc:Fallback>
                <p:oleObj name="Equation" r:id="rId2" imgW="2654300" imgH="596900" progId="Equation.3">
                  <p:embed/>
                  <p:pic>
                    <p:nvPicPr>
                      <p:cNvPr id="0" name=""/>
                      <p:cNvPicPr>
                        <a:picLocks noChangeAspect="1" noChangeArrowheads="1"/>
                      </p:cNvPicPr>
                      <p:nvPr/>
                    </p:nvPicPr>
                    <p:blipFill>
                      <a:blip r:embed="rId3"/>
                      <a:srcRect/>
                      <a:stretch>
                        <a:fillRect/>
                      </a:stretch>
                    </p:blipFill>
                    <p:spPr bwMode="auto">
                      <a:xfrm>
                        <a:off x="2774950" y="1916833"/>
                        <a:ext cx="5283200"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1" name="Object 5"/>
          <p:cNvGraphicFramePr>
            <a:graphicFrameLocks noChangeAspect="1"/>
          </p:cNvGraphicFramePr>
          <p:nvPr>
            <p:extLst>
              <p:ext uri="{D42A27DB-BD31-4B8C-83A1-F6EECF244321}">
                <p14:modId xmlns:p14="http://schemas.microsoft.com/office/powerpoint/2010/main" val="2452058885"/>
              </p:ext>
            </p:extLst>
          </p:nvPr>
        </p:nvGraphicFramePr>
        <p:xfrm>
          <a:off x="2855640" y="3967188"/>
          <a:ext cx="5562600" cy="2270125"/>
        </p:xfrm>
        <a:graphic>
          <a:graphicData uri="http://schemas.openxmlformats.org/presentationml/2006/ole">
            <mc:AlternateContent xmlns:mc="http://schemas.openxmlformats.org/markup-compatibility/2006">
              <mc:Choice xmlns:v="urn:schemas-microsoft-com:vml" Requires="v">
                <p:oleObj name="Equation" r:id="rId4" imgW="2286000" imgH="1066800" progId="Equation.3">
                  <p:embed/>
                </p:oleObj>
              </mc:Choice>
              <mc:Fallback>
                <p:oleObj name="Equation" r:id="rId4" imgW="2286000" imgH="1066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640" y="3967188"/>
                        <a:ext cx="556260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27992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03712" y="294928"/>
            <a:ext cx="5904656" cy="685800"/>
          </a:xfrm>
        </p:spPr>
        <p:txBody>
          <a:bodyPr>
            <a:normAutofit fontScale="90000"/>
          </a:bodyPr>
          <a:lstStyle/>
          <a:p>
            <a:r>
              <a:rPr lang="en-GB" b="1" dirty="0">
                <a:latin typeface="+mn-lt"/>
              </a:rPr>
              <a:t>Example 1</a:t>
            </a:r>
            <a:endParaRPr lang="en-GB" sz="3200" b="1" dirty="0">
              <a:latin typeface="+mn-lt"/>
            </a:endParaRPr>
          </a:p>
        </p:txBody>
      </p:sp>
      <p:sp>
        <p:nvSpPr>
          <p:cNvPr id="15363" name="Content Placeholder 2"/>
          <p:cNvSpPr>
            <a:spLocks noGrp="1"/>
          </p:cNvSpPr>
          <p:nvPr>
            <p:ph idx="1"/>
          </p:nvPr>
        </p:nvSpPr>
        <p:spPr>
          <a:xfrm>
            <a:off x="1919536" y="1628800"/>
            <a:ext cx="8352928" cy="4897760"/>
          </a:xfrm>
        </p:spPr>
        <p:txBody>
          <a:bodyPr/>
          <a:lstStyle/>
          <a:p>
            <a:pPr algn="just"/>
            <a:r>
              <a:rPr lang="en-GB" dirty="0"/>
              <a:t>Step 6: Calculate numerator and denominator degree of freedom </a:t>
            </a:r>
          </a:p>
          <a:p>
            <a:pPr lvl="1" algn="just">
              <a:buFont typeface="Wingdings" charset="2"/>
              <a:buChar char="§"/>
            </a:pPr>
            <a:r>
              <a:rPr lang="en-GB" sz="2400" dirty="0"/>
              <a:t>Numerator = </a:t>
            </a:r>
            <a:r>
              <a:rPr lang="en-GB" sz="2400" i="1" dirty="0"/>
              <a:t>k</a:t>
            </a:r>
            <a:r>
              <a:rPr lang="en-GB" sz="2400" dirty="0"/>
              <a:t> – 1 = 4 – 1 = 3</a:t>
            </a:r>
          </a:p>
          <a:p>
            <a:pPr lvl="1" algn="just">
              <a:buFont typeface="Wingdings" charset="2"/>
              <a:buChar char="§"/>
            </a:pPr>
            <a:r>
              <a:rPr lang="en-GB" sz="2400" dirty="0"/>
              <a:t>Denominator = </a:t>
            </a:r>
            <a:r>
              <a:rPr lang="en-GB" sz="2400" i="1" dirty="0"/>
              <a:t>k</a:t>
            </a:r>
            <a:r>
              <a:rPr lang="en-GB" sz="2400" dirty="0"/>
              <a:t>(</a:t>
            </a:r>
            <a:r>
              <a:rPr lang="en-GB" sz="2400" i="1" dirty="0"/>
              <a:t>n</a:t>
            </a:r>
            <a:r>
              <a:rPr lang="en-GB" sz="2400" dirty="0"/>
              <a:t> – 1) = 4(5 – 1) = 16</a:t>
            </a:r>
          </a:p>
          <a:p>
            <a:pPr algn="just"/>
            <a:endParaRPr lang="en-GB" sz="2800" dirty="0"/>
          </a:p>
          <a:p>
            <a:pPr algn="just"/>
            <a:r>
              <a:rPr lang="en-GB" dirty="0"/>
              <a:t>Step 7: Find critical value of </a:t>
            </a:r>
            <a:r>
              <a:rPr lang="en-GB" i="1" dirty="0"/>
              <a:t>F </a:t>
            </a:r>
            <a:r>
              <a:rPr lang="en-GB" dirty="0"/>
              <a:t>with </a:t>
            </a:r>
            <a:r>
              <a:rPr lang="en-GB" dirty="0">
                <a:sym typeface="Symbol" charset="0"/>
              </a:rPr>
              <a:t></a:t>
            </a:r>
            <a:r>
              <a:rPr lang="en-GB" dirty="0"/>
              <a:t> = 0.05 from </a:t>
            </a:r>
            <a:r>
              <a:rPr lang="en-GB" i="1" dirty="0"/>
              <a:t>F</a:t>
            </a:r>
            <a:r>
              <a:rPr lang="en-GB" dirty="0"/>
              <a:t>-distribution table</a:t>
            </a:r>
          </a:p>
          <a:p>
            <a:pPr lvl="1" algn="just">
              <a:buFont typeface="Wingdings" charset="2"/>
              <a:buChar char="§"/>
            </a:pPr>
            <a:r>
              <a:rPr lang="en-GB" sz="2400" i="1" dirty="0"/>
              <a:t>F </a:t>
            </a:r>
            <a:r>
              <a:rPr lang="en-GB" sz="2400" dirty="0"/>
              <a:t>critical value = 3.2389</a:t>
            </a:r>
            <a:endParaRPr lang="en-GB" sz="2400" i="1" dirty="0"/>
          </a:p>
          <a:p>
            <a:pPr algn="just"/>
            <a:endParaRPr lang="en-GB" sz="2000" dirty="0"/>
          </a:p>
        </p:txBody>
      </p:sp>
      <p:sp>
        <p:nvSpPr>
          <p:cNvPr id="4"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13</a:t>
            </a:fld>
            <a:endParaRPr lang="en-US" sz="1000" dirty="0">
              <a:solidFill>
                <a:schemeClr val="bg1"/>
              </a:solidFill>
              <a:latin typeface="+mn-lt"/>
            </a:endParaRPr>
          </a:p>
        </p:txBody>
      </p:sp>
    </p:spTree>
    <p:extLst>
      <p:ext uri="{BB962C8B-B14F-4D97-AF65-F5344CB8AC3E}">
        <p14:creationId xmlns:p14="http://schemas.microsoft.com/office/powerpoint/2010/main" val="3419116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03712" y="294928"/>
            <a:ext cx="5904656" cy="685800"/>
          </a:xfrm>
        </p:spPr>
        <p:txBody>
          <a:bodyPr>
            <a:normAutofit fontScale="90000"/>
          </a:bodyPr>
          <a:lstStyle/>
          <a:p>
            <a:r>
              <a:rPr lang="en-GB" b="1" dirty="0">
                <a:latin typeface="+mn-lt"/>
              </a:rPr>
              <a:t>Example 1</a:t>
            </a:r>
            <a:endParaRPr lang="en-GB" sz="3200" b="1" dirty="0">
              <a:latin typeface="+mn-lt"/>
            </a:endParaRPr>
          </a:p>
        </p:txBody>
      </p:sp>
      <p:sp>
        <p:nvSpPr>
          <p:cNvPr id="16387" name="Content Placeholder 2"/>
          <p:cNvSpPr>
            <a:spLocks noGrp="1"/>
          </p:cNvSpPr>
          <p:nvPr>
            <p:ph idx="1"/>
          </p:nvPr>
        </p:nvSpPr>
        <p:spPr>
          <a:xfrm>
            <a:off x="1828800" y="1608138"/>
            <a:ext cx="8305800" cy="4640262"/>
          </a:xfrm>
        </p:spPr>
        <p:txBody>
          <a:bodyPr/>
          <a:lstStyle/>
          <a:p>
            <a:pPr algn="just"/>
            <a:r>
              <a:rPr lang="en-GB" sz="2800" dirty="0"/>
              <a:t>Step 8: Test the claim and state the conclusion.</a:t>
            </a:r>
          </a:p>
          <a:p>
            <a:pPr marL="0" indent="0" algn="just">
              <a:buNone/>
            </a:pPr>
            <a:endParaRPr lang="en-GB" sz="2800" dirty="0"/>
          </a:p>
          <a:p>
            <a:pPr lvl="1" algn="just">
              <a:buFont typeface="Wingdings" charset="2"/>
              <a:buChar char="§"/>
            </a:pPr>
            <a:r>
              <a:rPr lang="en-GB" sz="2400" dirty="0"/>
              <a:t>Since </a:t>
            </a:r>
            <a:r>
              <a:rPr lang="en-GB" sz="2400" i="1" dirty="0" err="1"/>
              <a:t>F</a:t>
            </a:r>
            <a:r>
              <a:rPr lang="en-GB" sz="2400" i="1" baseline="-25000" dirty="0" err="1"/>
              <a:t>test</a:t>
            </a:r>
            <a:r>
              <a:rPr lang="en-GB" sz="2400" i="1" baseline="-25000" dirty="0"/>
              <a:t> statistic</a:t>
            </a:r>
            <a:r>
              <a:rPr lang="en-GB" sz="2400" i="1" dirty="0"/>
              <a:t> </a:t>
            </a:r>
            <a:r>
              <a:rPr lang="en-GB" sz="2400" dirty="0"/>
              <a:t>&lt; </a:t>
            </a:r>
            <a:r>
              <a:rPr lang="en-GB" sz="2400" i="1" dirty="0" err="1"/>
              <a:t>F</a:t>
            </a:r>
            <a:r>
              <a:rPr lang="en-GB" sz="2400" i="1" baseline="-25000" dirty="0" err="1"/>
              <a:t>critical</a:t>
            </a:r>
            <a:r>
              <a:rPr lang="en-GB" sz="2400" i="1" baseline="-25000" dirty="0"/>
              <a:t> value </a:t>
            </a:r>
            <a:r>
              <a:rPr lang="en-GB" sz="2400" dirty="0"/>
              <a:t>(0.992 &lt; 3.2389), we fail to reject the null hypothesis.</a:t>
            </a:r>
          </a:p>
          <a:p>
            <a:pPr marL="457200" lvl="1" indent="0" algn="just">
              <a:buNone/>
            </a:pPr>
            <a:endParaRPr lang="en-GB" sz="2400" baseline="-25000" dirty="0"/>
          </a:p>
          <a:p>
            <a:pPr lvl="1" algn="just">
              <a:buFont typeface="Wingdings" charset="2"/>
              <a:buChar char="§"/>
            </a:pPr>
            <a:r>
              <a:rPr lang="en-GB" sz="2400" dirty="0"/>
              <a:t>There is sufficient evidence to claim that the different types of cars have the same mean for head injury.</a:t>
            </a:r>
          </a:p>
        </p:txBody>
      </p:sp>
      <p:sp>
        <p:nvSpPr>
          <p:cNvPr id="4"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14</a:t>
            </a:fld>
            <a:endParaRPr lang="en-US" sz="1000" dirty="0">
              <a:solidFill>
                <a:schemeClr val="bg1"/>
              </a:solidFill>
              <a:latin typeface="+mn-lt"/>
            </a:endParaRPr>
          </a:p>
        </p:txBody>
      </p:sp>
    </p:spTree>
    <p:extLst>
      <p:ext uri="{BB962C8B-B14F-4D97-AF65-F5344CB8AC3E}">
        <p14:creationId xmlns:p14="http://schemas.microsoft.com/office/powerpoint/2010/main" val="239236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a:xfrm>
            <a:off x="3143672" y="294928"/>
            <a:ext cx="5904656" cy="685800"/>
          </a:xfrm>
        </p:spPr>
        <p:txBody>
          <a:bodyPr>
            <a:normAutofit fontScale="90000"/>
          </a:bodyPr>
          <a:lstStyle/>
          <a:p>
            <a:r>
              <a:rPr lang="en-GB" b="1" dirty="0">
                <a:latin typeface="+mn-lt"/>
              </a:rPr>
              <a:t>Example 2</a:t>
            </a:r>
            <a:endParaRPr lang="en-GB" sz="3200" b="1" dirty="0">
              <a:latin typeface="+mn-lt"/>
            </a:endParaRPr>
          </a:p>
        </p:txBody>
      </p:sp>
      <p:sp>
        <p:nvSpPr>
          <p:cNvPr id="17411" name="Content Placeholder 2"/>
          <p:cNvSpPr>
            <a:spLocks noGrp="1"/>
          </p:cNvSpPr>
          <p:nvPr>
            <p:ph idx="1"/>
          </p:nvPr>
        </p:nvSpPr>
        <p:spPr>
          <a:xfrm>
            <a:off x="1970856" y="1340768"/>
            <a:ext cx="8229600" cy="3445768"/>
          </a:xfrm>
        </p:spPr>
        <p:txBody>
          <a:bodyPr/>
          <a:lstStyle/>
          <a:p>
            <a:pPr marL="0" indent="0" algn="just">
              <a:buNone/>
            </a:pPr>
            <a:r>
              <a:rPr lang="en-GB" sz="2800" dirty="0"/>
              <a:t>Table below lists the chest deceleration to car crash test dummies for four different types of cars. Use a 0.05 significance level to test the null hypothesis that the different types of car have the same mean.</a:t>
            </a:r>
          </a:p>
        </p:txBody>
      </p:sp>
      <p:sp>
        <p:nvSpPr>
          <p:cNvPr id="9"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15</a:t>
            </a:fld>
            <a:endParaRPr lang="en-US" sz="1000" dirty="0">
              <a:solidFill>
                <a:schemeClr val="bg1"/>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612853169"/>
              </p:ext>
            </p:extLst>
          </p:nvPr>
        </p:nvGraphicFramePr>
        <p:xfrm>
          <a:off x="1981200" y="3501676"/>
          <a:ext cx="8064500" cy="2087564"/>
        </p:xfrm>
        <a:graphic>
          <a:graphicData uri="http://schemas.openxmlformats.org/drawingml/2006/table">
            <a:tbl>
              <a:tblPr firstRow="1" bandRow="1">
                <a:tableStyleId>{21E4AEA4-8DFA-4A89-87EB-49C32662AFE0}</a:tableStyleId>
              </a:tblPr>
              <a:tblGrid>
                <a:gridCol w="2413186">
                  <a:extLst>
                    <a:ext uri="{9D8B030D-6E8A-4147-A177-3AD203B41FA5}">
                      <a16:colId xmlns:a16="http://schemas.microsoft.com/office/drawing/2014/main" val="20000"/>
                    </a:ext>
                  </a:extLst>
                </a:gridCol>
                <a:gridCol w="1975060">
                  <a:extLst>
                    <a:ext uri="{9D8B030D-6E8A-4147-A177-3AD203B41FA5}">
                      <a16:colId xmlns:a16="http://schemas.microsoft.com/office/drawing/2014/main" val="20001"/>
                    </a:ext>
                  </a:extLst>
                </a:gridCol>
                <a:gridCol w="1797280">
                  <a:extLst>
                    <a:ext uri="{9D8B030D-6E8A-4147-A177-3AD203B41FA5}">
                      <a16:colId xmlns:a16="http://schemas.microsoft.com/office/drawing/2014/main" val="20002"/>
                    </a:ext>
                  </a:extLst>
                </a:gridCol>
                <a:gridCol w="1878974">
                  <a:extLst>
                    <a:ext uri="{9D8B030D-6E8A-4147-A177-3AD203B41FA5}">
                      <a16:colId xmlns:a16="http://schemas.microsoft.com/office/drawing/2014/main" val="20003"/>
                    </a:ext>
                  </a:extLst>
                </a:gridCol>
              </a:tblGrid>
              <a:tr h="533420">
                <a:tc>
                  <a:txBody>
                    <a:bodyPr/>
                    <a:lstStyle/>
                    <a:p>
                      <a:pPr algn="ctr"/>
                      <a:r>
                        <a:rPr lang="en-GB" sz="2000" dirty="0"/>
                        <a:t>Subcompact Cars</a:t>
                      </a:r>
                    </a:p>
                  </a:txBody>
                  <a:tcPr marL="91435" marR="91435" marT="45710" marB="45710"/>
                </a:tc>
                <a:tc>
                  <a:txBody>
                    <a:bodyPr/>
                    <a:lstStyle/>
                    <a:p>
                      <a:pPr algn="ctr"/>
                      <a:r>
                        <a:rPr lang="en-GB" sz="2000" dirty="0"/>
                        <a:t>Compact Cars</a:t>
                      </a:r>
                    </a:p>
                  </a:txBody>
                  <a:tcPr marL="91435" marR="91435" marT="45710" marB="45710"/>
                </a:tc>
                <a:tc>
                  <a:txBody>
                    <a:bodyPr/>
                    <a:lstStyle/>
                    <a:p>
                      <a:pPr algn="ctr"/>
                      <a:r>
                        <a:rPr lang="en-GB" sz="2000" dirty="0"/>
                        <a:t>Midsize Cars</a:t>
                      </a:r>
                    </a:p>
                  </a:txBody>
                  <a:tcPr marL="91435" marR="91435" marT="45710" marB="45710"/>
                </a:tc>
                <a:tc>
                  <a:txBody>
                    <a:bodyPr/>
                    <a:lstStyle/>
                    <a:p>
                      <a:pPr algn="ctr"/>
                      <a:r>
                        <a:rPr lang="en-GB" sz="2000" dirty="0"/>
                        <a:t>Full-Size Cars</a:t>
                      </a:r>
                    </a:p>
                  </a:txBody>
                  <a:tcPr marL="91435" marR="91435" marT="45710" marB="45710"/>
                </a:tc>
                <a:extLst>
                  <a:ext uri="{0D108BD9-81ED-4DB2-BD59-A6C34878D82A}">
                    <a16:rowId xmlns:a16="http://schemas.microsoft.com/office/drawing/2014/main" val="10000"/>
                  </a:ext>
                </a:extLst>
              </a:tr>
              <a:tr h="518048">
                <a:tc>
                  <a:txBody>
                    <a:bodyPr/>
                    <a:lstStyle/>
                    <a:p>
                      <a:pPr algn="ctr"/>
                      <a:r>
                        <a:rPr lang="en-GB" sz="2000" dirty="0"/>
                        <a:t>n = 5</a:t>
                      </a:r>
                    </a:p>
                  </a:txBody>
                  <a:tcPr marL="91435" marR="91435" marT="45710" marB="45710"/>
                </a:tc>
                <a:tc>
                  <a:txBody>
                    <a:bodyPr/>
                    <a:lstStyle/>
                    <a:p>
                      <a:pPr algn="ctr"/>
                      <a:r>
                        <a:rPr lang="en-GB" sz="2000" dirty="0"/>
                        <a:t>n = 5</a:t>
                      </a:r>
                    </a:p>
                  </a:txBody>
                  <a:tcPr marL="91435" marR="91435" marT="45710" marB="45710"/>
                </a:tc>
                <a:tc>
                  <a:txBody>
                    <a:bodyPr/>
                    <a:lstStyle/>
                    <a:p>
                      <a:pPr algn="ctr"/>
                      <a:r>
                        <a:rPr lang="en-GB" sz="2000" dirty="0"/>
                        <a:t>n = 5</a:t>
                      </a:r>
                    </a:p>
                  </a:txBody>
                  <a:tcPr marL="91435" marR="91435" marT="45710" marB="45710"/>
                </a:tc>
                <a:tc>
                  <a:txBody>
                    <a:bodyPr/>
                    <a:lstStyle/>
                    <a:p>
                      <a:pPr algn="ctr"/>
                      <a:r>
                        <a:rPr lang="en-GB" sz="2000" dirty="0"/>
                        <a:t>n = 5</a:t>
                      </a:r>
                    </a:p>
                  </a:txBody>
                  <a:tcPr marL="91435" marR="91435" marT="45710" marB="45710"/>
                </a:tc>
                <a:extLst>
                  <a:ext uri="{0D108BD9-81ED-4DB2-BD59-A6C34878D82A}">
                    <a16:rowId xmlns:a16="http://schemas.microsoft.com/office/drawing/2014/main" val="10001"/>
                  </a:ext>
                </a:extLst>
              </a:tr>
              <a:tr h="518048">
                <a:tc>
                  <a:txBody>
                    <a:bodyPr/>
                    <a:lstStyle/>
                    <a:p>
                      <a:pPr algn="ctr"/>
                      <a:endParaRPr lang="en-GB" sz="2000" dirty="0"/>
                    </a:p>
                  </a:txBody>
                  <a:tcPr marL="91435" marR="91435" marT="45710" marB="45710"/>
                </a:tc>
                <a:tc>
                  <a:txBody>
                    <a:bodyPr/>
                    <a:lstStyle/>
                    <a:p>
                      <a:pPr algn="ctr"/>
                      <a:endParaRPr lang="en-GB" sz="2000" dirty="0"/>
                    </a:p>
                  </a:txBody>
                  <a:tcPr marL="91435" marR="91435" marT="45710" marB="45710"/>
                </a:tc>
                <a:tc>
                  <a:txBody>
                    <a:bodyPr/>
                    <a:lstStyle/>
                    <a:p>
                      <a:pPr algn="ctr"/>
                      <a:endParaRPr lang="en-GB" sz="2000" dirty="0"/>
                    </a:p>
                  </a:txBody>
                  <a:tcPr marL="91435" marR="91435" marT="45710" marB="45710"/>
                </a:tc>
                <a:tc>
                  <a:txBody>
                    <a:bodyPr/>
                    <a:lstStyle/>
                    <a:p>
                      <a:pPr algn="ctr"/>
                      <a:endParaRPr lang="en-GB" sz="2000" dirty="0"/>
                    </a:p>
                  </a:txBody>
                  <a:tcPr marL="91435" marR="91435" marT="45710" marB="45710"/>
                </a:tc>
                <a:extLst>
                  <a:ext uri="{0D108BD9-81ED-4DB2-BD59-A6C34878D82A}">
                    <a16:rowId xmlns:a16="http://schemas.microsoft.com/office/drawing/2014/main" val="10002"/>
                  </a:ext>
                </a:extLst>
              </a:tr>
              <a:tr h="518048">
                <a:tc>
                  <a:txBody>
                    <a:bodyPr/>
                    <a:lstStyle/>
                    <a:p>
                      <a:pPr algn="ctr"/>
                      <a:r>
                        <a:rPr lang="en-GB" sz="2000" dirty="0"/>
                        <a:t>s = 6.69</a:t>
                      </a:r>
                    </a:p>
                  </a:txBody>
                  <a:tcPr marL="91435" marR="91435" marT="45710" marB="45710"/>
                </a:tc>
                <a:tc>
                  <a:txBody>
                    <a:bodyPr/>
                    <a:lstStyle/>
                    <a:p>
                      <a:pPr algn="ctr"/>
                      <a:r>
                        <a:rPr lang="en-GB" sz="2000" dirty="0"/>
                        <a:t>s = 4.64</a:t>
                      </a:r>
                    </a:p>
                  </a:txBody>
                  <a:tcPr marL="91435" marR="91435" marT="45710" marB="45710"/>
                </a:tc>
                <a:tc>
                  <a:txBody>
                    <a:bodyPr/>
                    <a:lstStyle/>
                    <a:p>
                      <a:pPr algn="ctr"/>
                      <a:r>
                        <a:rPr lang="en-GB" sz="2000" dirty="0"/>
                        <a:t>s = 3.35</a:t>
                      </a:r>
                    </a:p>
                  </a:txBody>
                  <a:tcPr marL="91435" marR="91435" marT="45710" marB="45710"/>
                </a:tc>
                <a:tc>
                  <a:txBody>
                    <a:bodyPr/>
                    <a:lstStyle/>
                    <a:p>
                      <a:pPr algn="ctr"/>
                      <a:r>
                        <a:rPr lang="en-GB" sz="2000" dirty="0"/>
                        <a:t>s = 7.11</a:t>
                      </a:r>
                    </a:p>
                  </a:txBody>
                  <a:tcPr marL="91435" marR="91435" marT="45710" marB="45710"/>
                </a:tc>
                <a:extLst>
                  <a:ext uri="{0D108BD9-81ED-4DB2-BD59-A6C34878D82A}">
                    <a16:rowId xmlns:a16="http://schemas.microsoft.com/office/drawing/2014/main" val="10003"/>
                  </a:ext>
                </a:extLst>
              </a:tr>
            </a:tbl>
          </a:graphicData>
        </a:graphic>
      </p:graphicFrame>
      <p:graphicFrame>
        <p:nvGraphicFramePr>
          <p:cNvPr id="17439" name="Object 2"/>
          <p:cNvGraphicFramePr>
            <a:graphicFrameLocks noChangeAspect="1"/>
          </p:cNvGraphicFramePr>
          <p:nvPr>
            <p:extLst>
              <p:ext uri="{D42A27DB-BD31-4B8C-83A1-F6EECF244321}">
                <p14:modId xmlns:p14="http://schemas.microsoft.com/office/powerpoint/2010/main" val="3065509949"/>
              </p:ext>
            </p:extLst>
          </p:nvPr>
        </p:nvGraphicFramePr>
        <p:xfrm>
          <a:off x="2783632" y="4653136"/>
          <a:ext cx="904528" cy="294554"/>
        </p:xfrm>
        <a:graphic>
          <a:graphicData uri="http://schemas.openxmlformats.org/presentationml/2006/ole">
            <mc:AlternateContent xmlns:mc="http://schemas.openxmlformats.org/markup-compatibility/2006">
              <mc:Choice xmlns:v="urn:schemas-microsoft-com:vml" Requires="v">
                <p:oleObj name="Equation" r:id="rId2" imgW="545626" imgH="177646" progId="Equation.3">
                  <p:embed/>
                </p:oleObj>
              </mc:Choice>
              <mc:Fallback>
                <p:oleObj name="Equation" r:id="rId2" imgW="545626" imgH="177646"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4653136"/>
                        <a:ext cx="904528" cy="294554"/>
                      </a:xfrm>
                      <a:prstGeom prst="rect">
                        <a:avLst/>
                      </a:prstGeom>
                      <a:noFill/>
                      <a:ln>
                        <a:noFill/>
                      </a:ln>
                    </p:spPr>
                  </p:pic>
                </p:oleObj>
              </mc:Fallback>
            </mc:AlternateContent>
          </a:graphicData>
        </a:graphic>
      </p:graphicFrame>
      <p:graphicFrame>
        <p:nvGraphicFramePr>
          <p:cNvPr id="17440" name="Object 3"/>
          <p:cNvGraphicFramePr>
            <a:graphicFrameLocks noChangeAspect="1"/>
          </p:cNvGraphicFramePr>
          <p:nvPr>
            <p:extLst>
              <p:ext uri="{D42A27DB-BD31-4B8C-83A1-F6EECF244321}">
                <p14:modId xmlns:p14="http://schemas.microsoft.com/office/powerpoint/2010/main" val="3601063489"/>
              </p:ext>
            </p:extLst>
          </p:nvPr>
        </p:nvGraphicFramePr>
        <p:xfrm>
          <a:off x="4890246" y="4653136"/>
          <a:ext cx="904527" cy="294554"/>
        </p:xfrm>
        <a:graphic>
          <a:graphicData uri="http://schemas.openxmlformats.org/presentationml/2006/ole">
            <mc:AlternateContent xmlns:mc="http://schemas.openxmlformats.org/markup-compatibility/2006">
              <mc:Choice xmlns:v="urn:schemas-microsoft-com:vml" Requires="v">
                <p:oleObj name="Equation" r:id="rId4" imgW="545626" imgH="177646" progId="Equation.3">
                  <p:embed/>
                </p:oleObj>
              </mc:Choice>
              <mc:Fallback>
                <p:oleObj name="Equation" r:id="rId4" imgW="545626" imgH="17764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0246" y="4653136"/>
                        <a:ext cx="904527" cy="294554"/>
                      </a:xfrm>
                      <a:prstGeom prst="rect">
                        <a:avLst/>
                      </a:prstGeom>
                      <a:noFill/>
                      <a:ln>
                        <a:noFill/>
                      </a:ln>
                    </p:spPr>
                  </p:pic>
                </p:oleObj>
              </mc:Fallback>
            </mc:AlternateContent>
          </a:graphicData>
        </a:graphic>
      </p:graphicFrame>
      <p:graphicFrame>
        <p:nvGraphicFramePr>
          <p:cNvPr id="17441" name="Object 4"/>
          <p:cNvGraphicFramePr>
            <a:graphicFrameLocks noChangeAspect="1"/>
          </p:cNvGraphicFramePr>
          <p:nvPr>
            <p:extLst>
              <p:ext uri="{D42A27DB-BD31-4B8C-83A1-F6EECF244321}">
                <p14:modId xmlns:p14="http://schemas.microsoft.com/office/powerpoint/2010/main" val="3445449700"/>
              </p:ext>
            </p:extLst>
          </p:nvPr>
        </p:nvGraphicFramePr>
        <p:xfrm>
          <a:off x="6795246" y="4653136"/>
          <a:ext cx="904527" cy="294554"/>
        </p:xfrm>
        <a:graphic>
          <a:graphicData uri="http://schemas.openxmlformats.org/presentationml/2006/ole">
            <mc:AlternateContent xmlns:mc="http://schemas.openxmlformats.org/markup-compatibility/2006">
              <mc:Choice xmlns:v="urn:schemas-microsoft-com:vml" Requires="v">
                <p:oleObj name="Equation" r:id="rId6" imgW="545626" imgH="177646" progId="Equation.3">
                  <p:embed/>
                </p:oleObj>
              </mc:Choice>
              <mc:Fallback>
                <p:oleObj name="Equation" r:id="rId6" imgW="545626" imgH="17764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5246" y="4653136"/>
                        <a:ext cx="904527" cy="294554"/>
                      </a:xfrm>
                      <a:prstGeom prst="rect">
                        <a:avLst/>
                      </a:prstGeom>
                      <a:noFill/>
                      <a:ln>
                        <a:noFill/>
                      </a:ln>
                    </p:spPr>
                  </p:pic>
                </p:oleObj>
              </mc:Fallback>
            </mc:AlternateContent>
          </a:graphicData>
        </a:graphic>
      </p:graphicFrame>
      <p:graphicFrame>
        <p:nvGraphicFramePr>
          <p:cNvPr id="17442" name="Object 5"/>
          <p:cNvGraphicFramePr>
            <a:graphicFrameLocks noChangeAspect="1"/>
          </p:cNvGraphicFramePr>
          <p:nvPr>
            <p:extLst>
              <p:ext uri="{D42A27DB-BD31-4B8C-83A1-F6EECF244321}">
                <p14:modId xmlns:p14="http://schemas.microsoft.com/office/powerpoint/2010/main" val="733279768"/>
              </p:ext>
            </p:extLst>
          </p:nvPr>
        </p:nvGraphicFramePr>
        <p:xfrm>
          <a:off x="8595471" y="4653136"/>
          <a:ext cx="926618" cy="294554"/>
        </p:xfrm>
        <a:graphic>
          <a:graphicData uri="http://schemas.openxmlformats.org/presentationml/2006/ole">
            <mc:AlternateContent xmlns:mc="http://schemas.openxmlformats.org/markup-compatibility/2006">
              <mc:Choice xmlns:v="urn:schemas-microsoft-com:vml" Requires="v">
                <p:oleObj name="Equation" r:id="rId8" imgW="558558" imgH="177723" progId="Equation.3">
                  <p:embed/>
                </p:oleObj>
              </mc:Choice>
              <mc:Fallback>
                <p:oleObj name="Equation" r:id="rId8" imgW="558558" imgH="17772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95471" y="4653136"/>
                        <a:ext cx="926618" cy="29455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80388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503712" y="294928"/>
            <a:ext cx="5904656" cy="685800"/>
          </a:xfrm>
        </p:spPr>
        <p:txBody>
          <a:bodyPr>
            <a:normAutofit fontScale="90000"/>
          </a:bodyPr>
          <a:lstStyle/>
          <a:p>
            <a:r>
              <a:rPr lang="en-GB" b="1" dirty="0">
                <a:latin typeface="+mn-lt"/>
              </a:rPr>
              <a:t>Example 2</a:t>
            </a:r>
            <a:endParaRPr lang="en-GB" sz="3200" b="1" dirty="0">
              <a:latin typeface="+mn-lt"/>
            </a:endParaRPr>
          </a:p>
        </p:txBody>
      </p:sp>
      <p:sp>
        <p:nvSpPr>
          <p:cNvPr id="13315" name="Content Placeholder 2"/>
          <p:cNvSpPr>
            <a:spLocks noGrp="1"/>
          </p:cNvSpPr>
          <p:nvPr>
            <p:ph idx="1"/>
          </p:nvPr>
        </p:nvSpPr>
        <p:spPr>
          <a:xfrm>
            <a:off x="2114872" y="1267544"/>
            <a:ext cx="8229600" cy="5257800"/>
          </a:xfrm>
        </p:spPr>
        <p:txBody>
          <a:bodyPr/>
          <a:lstStyle/>
          <a:p>
            <a:r>
              <a:rPr lang="en-GB" sz="2000" dirty="0"/>
              <a:t>Step 1: State the hypothesis.</a:t>
            </a:r>
          </a:p>
          <a:p>
            <a:pPr marL="457200" lvl="1" indent="0">
              <a:buNone/>
            </a:pPr>
            <a:r>
              <a:rPr lang="en-US" sz="1800" dirty="0"/>
              <a:t>H</a:t>
            </a:r>
            <a:r>
              <a:rPr lang="en-US" sz="1800" baseline="-25000" dirty="0"/>
              <a:t>0</a:t>
            </a:r>
            <a:r>
              <a:rPr lang="en-US" sz="1800" dirty="0"/>
              <a:t> :</a:t>
            </a:r>
            <a:r>
              <a:rPr lang="en-US" sz="1800" dirty="0">
                <a:cs typeface="Times New Roman"/>
              </a:rPr>
              <a:t> </a:t>
            </a:r>
            <a:r>
              <a:rPr lang="el-GR" sz="1800" i="1" dirty="0">
                <a:cs typeface="Times New Roman"/>
              </a:rPr>
              <a:t>μ</a:t>
            </a:r>
            <a:r>
              <a:rPr lang="en-US" sz="1800" i="1" baseline="-25000" dirty="0">
                <a:cs typeface="Times New Roman"/>
              </a:rPr>
              <a:t>1</a:t>
            </a:r>
            <a:r>
              <a:rPr lang="en-US" sz="1800" dirty="0">
                <a:cs typeface="Times New Roman"/>
              </a:rPr>
              <a:t> = </a:t>
            </a:r>
            <a:r>
              <a:rPr lang="el-GR" sz="1800" i="1" dirty="0">
                <a:cs typeface="Times New Roman"/>
              </a:rPr>
              <a:t>μ</a:t>
            </a:r>
            <a:r>
              <a:rPr lang="en-US" sz="1800" i="1" baseline="-25000" dirty="0">
                <a:cs typeface="Times New Roman"/>
              </a:rPr>
              <a:t>2</a:t>
            </a:r>
            <a:r>
              <a:rPr lang="en-US" sz="1800" dirty="0">
                <a:cs typeface="Times New Roman"/>
              </a:rPr>
              <a:t> = </a:t>
            </a:r>
            <a:r>
              <a:rPr lang="el-GR" sz="1800" i="1" dirty="0">
                <a:cs typeface="Times New Roman"/>
              </a:rPr>
              <a:t>μ</a:t>
            </a:r>
            <a:r>
              <a:rPr lang="en-US" sz="1800" i="1" baseline="-25000" dirty="0">
                <a:cs typeface="Times New Roman"/>
              </a:rPr>
              <a:t>3</a:t>
            </a:r>
            <a:r>
              <a:rPr lang="en-US" sz="1800" dirty="0">
                <a:cs typeface="Times New Roman"/>
              </a:rPr>
              <a:t> = </a:t>
            </a:r>
            <a:r>
              <a:rPr lang="el-GR" sz="1800" i="1" dirty="0">
                <a:cs typeface="Times New Roman"/>
              </a:rPr>
              <a:t>μ</a:t>
            </a:r>
            <a:r>
              <a:rPr lang="en-US" sz="1800" i="1" baseline="-25000" dirty="0">
                <a:cs typeface="Times New Roman"/>
              </a:rPr>
              <a:t>4</a:t>
            </a:r>
          </a:p>
          <a:p>
            <a:pPr marL="457200" lvl="1" indent="0">
              <a:buNone/>
            </a:pPr>
            <a:r>
              <a:rPr lang="en-US" sz="1800" dirty="0"/>
              <a:t>H</a:t>
            </a:r>
            <a:r>
              <a:rPr lang="en-US" sz="1800" baseline="-25000" dirty="0"/>
              <a:t>1</a:t>
            </a:r>
            <a:r>
              <a:rPr lang="en-US" sz="1800" dirty="0"/>
              <a:t> : at least one mean is different.</a:t>
            </a:r>
            <a:endParaRPr lang="en-GB" sz="2000" dirty="0"/>
          </a:p>
          <a:p>
            <a:r>
              <a:rPr lang="en-GB" sz="2000" dirty="0"/>
              <a:t>Step 2: (Done – refer table).</a:t>
            </a:r>
          </a:p>
          <a:p>
            <a:r>
              <a:rPr lang="en-GB" sz="2000" dirty="0"/>
              <a:t>Step 3: Find variance between samples</a:t>
            </a:r>
          </a:p>
          <a:p>
            <a:pPr marL="400050" lvl="1" indent="0">
              <a:buNone/>
            </a:pPr>
            <a:r>
              <a:rPr lang="en-GB" sz="2000" dirty="0">
                <a:solidFill>
                  <a:srgbClr val="0000FF"/>
                </a:solidFill>
              </a:rPr>
              <a:t>    Step 3a: Find mean between samples</a:t>
            </a:r>
          </a:p>
          <a:p>
            <a:endParaRPr lang="en-GB" sz="2000" dirty="0"/>
          </a:p>
          <a:p>
            <a:endParaRPr lang="en-GB" sz="2000" dirty="0"/>
          </a:p>
          <a:p>
            <a:pPr marL="0" indent="0">
              <a:buNone/>
            </a:pPr>
            <a:r>
              <a:rPr lang="en-GB" sz="2000" dirty="0"/>
              <a:t>         </a:t>
            </a:r>
            <a:r>
              <a:rPr lang="en-GB" sz="2000" dirty="0">
                <a:solidFill>
                  <a:srgbClr val="0000FF"/>
                </a:solidFill>
              </a:rPr>
              <a:t>Step 3b: Find standard deviation between samples</a:t>
            </a:r>
          </a:p>
          <a:p>
            <a:endParaRPr lang="en-GB" sz="2000" dirty="0"/>
          </a:p>
          <a:p>
            <a:endParaRPr lang="en-GB" sz="2000" dirty="0"/>
          </a:p>
          <a:p>
            <a:endParaRPr lang="en-GB" sz="2000" dirty="0"/>
          </a:p>
          <a:p>
            <a:pPr marL="0" indent="0">
              <a:buNone/>
            </a:pPr>
            <a:r>
              <a:rPr lang="en-GB" sz="2000" dirty="0"/>
              <a:t>        </a:t>
            </a:r>
            <a:r>
              <a:rPr lang="en-GB" sz="2000" dirty="0">
                <a:solidFill>
                  <a:srgbClr val="0000FF"/>
                </a:solidFill>
              </a:rPr>
              <a:t>Step 3c: Find variance between samples</a:t>
            </a:r>
          </a:p>
        </p:txBody>
      </p:sp>
      <p:sp>
        <p:nvSpPr>
          <p:cNvPr id="9"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16</a:t>
            </a:fld>
            <a:endParaRPr lang="en-US" sz="1000" dirty="0">
              <a:solidFill>
                <a:schemeClr val="bg1"/>
              </a:solidFill>
              <a:latin typeface="+mn-lt"/>
            </a:endParaRPr>
          </a:p>
        </p:txBody>
      </p:sp>
      <p:graphicFrame>
        <p:nvGraphicFramePr>
          <p:cNvPr id="13316" name="Object 3"/>
          <p:cNvGraphicFramePr>
            <a:graphicFrameLocks noChangeAspect="1"/>
          </p:cNvGraphicFramePr>
          <p:nvPr>
            <p:extLst>
              <p:ext uri="{D42A27DB-BD31-4B8C-83A1-F6EECF244321}">
                <p14:modId xmlns:p14="http://schemas.microsoft.com/office/powerpoint/2010/main" val="3438334646"/>
              </p:ext>
            </p:extLst>
          </p:nvPr>
        </p:nvGraphicFramePr>
        <p:xfrm>
          <a:off x="2840682" y="3394930"/>
          <a:ext cx="3882702" cy="680678"/>
        </p:xfrm>
        <a:graphic>
          <a:graphicData uri="http://schemas.openxmlformats.org/presentationml/2006/ole">
            <mc:AlternateContent xmlns:mc="http://schemas.openxmlformats.org/markup-compatibility/2006">
              <mc:Choice xmlns:v="urn:schemas-microsoft-com:vml" Requires="v">
                <p:oleObj name="Equation" r:id="rId2" imgW="2247900" imgH="393700" progId="Equation.3">
                  <p:embed/>
                </p:oleObj>
              </mc:Choice>
              <mc:Fallback>
                <p:oleObj name="Equation" r:id="rId2" imgW="2247900" imgH="393700" progId="Equation.3">
                  <p:embed/>
                  <p:pic>
                    <p:nvPicPr>
                      <p:cNvPr id="0" name=""/>
                      <p:cNvPicPr>
                        <a:picLocks noChangeAspect="1" noChangeArrowheads="1"/>
                      </p:cNvPicPr>
                      <p:nvPr/>
                    </p:nvPicPr>
                    <p:blipFill>
                      <a:blip r:embed="rId3"/>
                      <a:srcRect/>
                      <a:stretch>
                        <a:fillRect/>
                      </a:stretch>
                    </p:blipFill>
                    <p:spPr bwMode="auto">
                      <a:xfrm>
                        <a:off x="2840682" y="3394930"/>
                        <a:ext cx="3882702" cy="680678"/>
                      </a:xfrm>
                      <a:prstGeom prst="rect">
                        <a:avLst/>
                      </a:prstGeom>
                      <a:noFill/>
                      <a:ln>
                        <a:noFill/>
                      </a:ln>
                      <a:effectLst/>
                    </p:spPr>
                  </p:pic>
                </p:oleObj>
              </mc:Fallback>
            </mc:AlternateContent>
          </a:graphicData>
        </a:graphic>
      </p:graphicFrame>
      <p:graphicFrame>
        <p:nvGraphicFramePr>
          <p:cNvPr id="13317" name="Object 4"/>
          <p:cNvGraphicFramePr>
            <a:graphicFrameLocks noChangeAspect="1"/>
          </p:cNvGraphicFramePr>
          <p:nvPr>
            <p:extLst>
              <p:ext uri="{D42A27DB-BD31-4B8C-83A1-F6EECF244321}">
                <p14:modId xmlns:p14="http://schemas.microsoft.com/office/powerpoint/2010/main" val="3828328901"/>
              </p:ext>
            </p:extLst>
          </p:nvPr>
        </p:nvGraphicFramePr>
        <p:xfrm>
          <a:off x="2845692" y="4579913"/>
          <a:ext cx="6758012" cy="982261"/>
        </p:xfrm>
        <a:graphic>
          <a:graphicData uri="http://schemas.openxmlformats.org/presentationml/2006/ole">
            <mc:AlternateContent xmlns:mc="http://schemas.openxmlformats.org/markup-compatibility/2006">
              <mc:Choice xmlns:v="urn:schemas-microsoft-com:vml" Requires="v">
                <p:oleObj name="Equation" r:id="rId4" imgW="4533840" imgH="660240" progId="Equation.3">
                  <p:embed/>
                </p:oleObj>
              </mc:Choice>
              <mc:Fallback>
                <p:oleObj name="Equation" r:id="rId4" imgW="4533840" imgH="660240" progId="Equation.3">
                  <p:embed/>
                  <p:pic>
                    <p:nvPicPr>
                      <p:cNvPr id="0" name=""/>
                      <p:cNvPicPr>
                        <a:picLocks noChangeAspect="1" noChangeArrowheads="1"/>
                      </p:cNvPicPr>
                      <p:nvPr/>
                    </p:nvPicPr>
                    <p:blipFill>
                      <a:blip r:embed="rId5"/>
                      <a:srcRect/>
                      <a:stretch>
                        <a:fillRect/>
                      </a:stretch>
                    </p:blipFill>
                    <p:spPr bwMode="auto">
                      <a:xfrm>
                        <a:off x="2845692" y="4579913"/>
                        <a:ext cx="6758012" cy="982261"/>
                      </a:xfrm>
                      <a:prstGeom prst="rect">
                        <a:avLst/>
                      </a:prstGeom>
                      <a:noFill/>
                      <a:ln>
                        <a:noFill/>
                      </a:ln>
                      <a:effectLst/>
                    </p:spPr>
                  </p:pic>
                </p:oleObj>
              </mc:Fallback>
            </mc:AlternateContent>
          </a:graphicData>
        </a:graphic>
      </p:graphicFrame>
      <p:graphicFrame>
        <p:nvGraphicFramePr>
          <p:cNvPr id="13318" name="Object 5"/>
          <p:cNvGraphicFramePr>
            <a:graphicFrameLocks noChangeAspect="1"/>
          </p:cNvGraphicFramePr>
          <p:nvPr>
            <p:extLst>
              <p:ext uri="{D42A27DB-BD31-4B8C-83A1-F6EECF244321}">
                <p14:modId xmlns:p14="http://schemas.microsoft.com/office/powerpoint/2010/main" val="4014234508"/>
              </p:ext>
            </p:extLst>
          </p:nvPr>
        </p:nvGraphicFramePr>
        <p:xfrm>
          <a:off x="2906961" y="6092081"/>
          <a:ext cx="2330971" cy="406227"/>
        </p:xfrm>
        <a:graphic>
          <a:graphicData uri="http://schemas.openxmlformats.org/presentationml/2006/ole">
            <mc:AlternateContent xmlns:mc="http://schemas.openxmlformats.org/markup-compatibility/2006">
              <mc:Choice xmlns:v="urn:schemas-microsoft-com:vml" Requires="v">
                <p:oleObj name="Equation" r:id="rId6" imgW="1384300" imgH="241300" progId="Equation.3">
                  <p:embed/>
                </p:oleObj>
              </mc:Choice>
              <mc:Fallback>
                <p:oleObj name="Equation" r:id="rId6" imgW="1384300" imgH="241300" progId="Equation.3">
                  <p:embed/>
                  <p:pic>
                    <p:nvPicPr>
                      <p:cNvPr id="0" name=""/>
                      <p:cNvPicPr>
                        <a:picLocks noChangeAspect="1" noChangeArrowheads="1"/>
                      </p:cNvPicPr>
                      <p:nvPr/>
                    </p:nvPicPr>
                    <p:blipFill>
                      <a:blip r:embed="rId7"/>
                      <a:srcRect/>
                      <a:stretch>
                        <a:fillRect/>
                      </a:stretch>
                    </p:blipFill>
                    <p:spPr bwMode="auto">
                      <a:xfrm>
                        <a:off x="2906961" y="6092081"/>
                        <a:ext cx="2330971" cy="40622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81188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503712" y="294928"/>
            <a:ext cx="5904656" cy="685800"/>
          </a:xfrm>
        </p:spPr>
        <p:txBody>
          <a:bodyPr>
            <a:normAutofit fontScale="90000"/>
          </a:bodyPr>
          <a:lstStyle/>
          <a:p>
            <a:r>
              <a:rPr lang="en-GB" b="1" dirty="0">
                <a:latin typeface="+mn-lt"/>
              </a:rPr>
              <a:t>Example 2</a:t>
            </a:r>
            <a:endParaRPr lang="en-GB" sz="3200" b="1" dirty="0">
              <a:latin typeface="+mn-lt"/>
            </a:endParaRPr>
          </a:p>
        </p:txBody>
      </p:sp>
      <p:sp>
        <p:nvSpPr>
          <p:cNvPr id="14339" name="Content Placeholder 2"/>
          <p:cNvSpPr>
            <a:spLocks noGrp="1"/>
          </p:cNvSpPr>
          <p:nvPr>
            <p:ph idx="1"/>
          </p:nvPr>
        </p:nvSpPr>
        <p:spPr>
          <a:xfrm>
            <a:off x="1919536" y="1484784"/>
            <a:ext cx="8229600" cy="4825752"/>
          </a:xfrm>
        </p:spPr>
        <p:txBody>
          <a:bodyPr/>
          <a:lstStyle/>
          <a:p>
            <a:r>
              <a:rPr lang="en-GB" sz="2800" dirty="0"/>
              <a:t>Step 4: Find variance within samples</a:t>
            </a:r>
          </a:p>
          <a:p>
            <a:pPr marL="0" indent="0">
              <a:buNone/>
            </a:pPr>
            <a:endParaRPr lang="en-GB" sz="2800" dirty="0"/>
          </a:p>
          <a:p>
            <a:endParaRPr lang="en-GB" sz="2800" dirty="0"/>
          </a:p>
          <a:p>
            <a:endParaRPr lang="en-GB" sz="2800" dirty="0"/>
          </a:p>
          <a:p>
            <a:r>
              <a:rPr lang="en-GB" sz="2800" dirty="0"/>
              <a:t>Step 5: Calculate test statistic, </a:t>
            </a:r>
            <a:r>
              <a:rPr lang="en-GB" sz="2800" i="1" dirty="0"/>
              <a:t>F</a:t>
            </a:r>
          </a:p>
          <a:p>
            <a:endParaRPr lang="en-GB" sz="2000" dirty="0"/>
          </a:p>
        </p:txBody>
      </p:sp>
      <p:sp>
        <p:nvSpPr>
          <p:cNvPr id="8"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17</a:t>
            </a:fld>
            <a:endParaRPr lang="en-US" sz="1000" dirty="0">
              <a:solidFill>
                <a:schemeClr val="bg1"/>
              </a:solidFill>
              <a:latin typeface="+mn-lt"/>
            </a:endParaRPr>
          </a:p>
        </p:txBody>
      </p:sp>
      <p:graphicFrame>
        <p:nvGraphicFramePr>
          <p:cNvPr id="14340" name="Object 4"/>
          <p:cNvGraphicFramePr>
            <a:graphicFrameLocks noChangeAspect="1"/>
          </p:cNvGraphicFramePr>
          <p:nvPr>
            <p:extLst>
              <p:ext uri="{D42A27DB-BD31-4B8C-83A1-F6EECF244321}">
                <p14:modId xmlns:p14="http://schemas.microsoft.com/office/powerpoint/2010/main" val="983714510"/>
              </p:ext>
            </p:extLst>
          </p:nvPr>
        </p:nvGraphicFramePr>
        <p:xfrm>
          <a:off x="2987676" y="2095948"/>
          <a:ext cx="4854575" cy="1189037"/>
        </p:xfrm>
        <a:graphic>
          <a:graphicData uri="http://schemas.openxmlformats.org/presentationml/2006/ole">
            <mc:AlternateContent xmlns:mc="http://schemas.openxmlformats.org/markup-compatibility/2006">
              <mc:Choice xmlns:v="urn:schemas-microsoft-com:vml" Requires="v">
                <p:oleObj name="Equation" r:id="rId2" imgW="2438400" imgH="596900" progId="Equation.3">
                  <p:embed/>
                </p:oleObj>
              </mc:Choice>
              <mc:Fallback>
                <p:oleObj name="Equation" r:id="rId2" imgW="2438400" imgH="596900" progId="Equation.3">
                  <p:embed/>
                  <p:pic>
                    <p:nvPicPr>
                      <p:cNvPr id="0" name=""/>
                      <p:cNvPicPr>
                        <a:picLocks noChangeAspect="1" noChangeArrowheads="1"/>
                      </p:cNvPicPr>
                      <p:nvPr/>
                    </p:nvPicPr>
                    <p:blipFill>
                      <a:blip r:embed="rId3"/>
                      <a:srcRect/>
                      <a:stretch>
                        <a:fillRect/>
                      </a:stretch>
                    </p:blipFill>
                    <p:spPr bwMode="auto">
                      <a:xfrm>
                        <a:off x="2987676" y="2095948"/>
                        <a:ext cx="48545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1" name="Object 5"/>
          <p:cNvGraphicFramePr>
            <a:graphicFrameLocks noChangeAspect="1"/>
          </p:cNvGraphicFramePr>
          <p:nvPr>
            <p:extLst>
              <p:ext uri="{D42A27DB-BD31-4B8C-83A1-F6EECF244321}">
                <p14:modId xmlns:p14="http://schemas.microsoft.com/office/powerpoint/2010/main" val="3020995450"/>
              </p:ext>
            </p:extLst>
          </p:nvPr>
        </p:nvGraphicFramePr>
        <p:xfrm>
          <a:off x="3071664" y="4127500"/>
          <a:ext cx="5530850" cy="2243138"/>
        </p:xfrm>
        <a:graphic>
          <a:graphicData uri="http://schemas.openxmlformats.org/presentationml/2006/ole">
            <mc:AlternateContent xmlns:mc="http://schemas.openxmlformats.org/markup-compatibility/2006">
              <mc:Choice xmlns:v="urn:schemas-microsoft-com:vml" Requires="v">
                <p:oleObj name="Equation" r:id="rId4" imgW="2273300" imgH="1054100" progId="Equation.3">
                  <p:embed/>
                </p:oleObj>
              </mc:Choice>
              <mc:Fallback>
                <p:oleObj name="Equation" r:id="rId4" imgW="2273300" imgH="1054100" progId="Equation.3">
                  <p:embed/>
                  <p:pic>
                    <p:nvPicPr>
                      <p:cNvPr id="0" name=""/>
                      <p:cNvPicPr>
                        <a:picLocks noChangeAspect="1" noChangeArrowheads="1"/>
                      </p:cNvPicPr>
                      <p:nvPr/>
                    </p:nvPicPr>
                    <p:blipFill>
                      <a:blip r:embed="rId5"/>
                      <a:srcRect/>
                      <a:stretch>
                        <a:fillRect/>
                      </a:stretch>
                    </p:blipFill>
                    <p:spPr bwMode="auto">
                      <a:xfrm>
                        <a:off x="3071664" y="4127500"/>
                        <a:ext cx="553085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00130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03712" y="294928"/>
            <a:ext cx="5904656" cy="685800"/>
          </a:xfrm>
        </p:spPr>
        <p:txBody>
          <a:bodyPr>
            <a:normAutofit fontScale="90000"/>
          </a:bodyPr>
          <a:lstStyle/>
          <a:p>
            <a:r>
              <a:rPr lang="en-GB" b="1" dirty="0">
                <a:latin typeface="+mn-lt"/>
              </a:rPr>
              <a:t>Example 2</a:t>
            </a:r>
            <a:endParaRPr lang="en-GB" sz="3200" b="1" dirty="0">
              <a:latin typeface="+mn-lt"/>
            </a:endParaRPr>
          </a:p>
        </p:txBody>
      </p:sp>
      <p:sp>
        <p:nvSpPr>
          <p:cNvPr id="15363" name="Content Placeholder 2"/>
          <p:cNvSpPr>
            <a:spLocks noGrp="1"/>
          </p:cNvSpPr>
          <p:nvPr>
            <p:ph idx="1"/>
          </p:nvPr>
        </p:nvSpPr>
        <p:spPr>
          <a:xfrm>
            <a:off x="1752600" y="1700808"/>
            <a:ext cx="8519864" cy="4825752"/>
          </a:xfrm>
        </p:spPr>
        <p:txBody>
          <a:bodyPr/>
          <a:lstStyle/>
          <a:p>
            <a:pPr algn="just"/>
            <a:r>
              <a:rPr lang="en-GB" dirty="0"/>
              <a:t>Step 6: Calculate numerator and denominator degree of freedom </a:t>
            </a:r>
          </a:p>
          <a:p>
            <a:pPr lvl="1" algn="just">
              <a:buFont typeface="Wingdings" charset="2"/>
              <a:buChar char="§"/>
            </a:pPr>
            <a:r>
              <a:rPr lang="en-GB" sz="2400" dirty="0"/>
              <a:t>Numerator = </a:t>
            </a:r>
            <a:r>
              <a:rPr lang="en-GB" sz="2400" i="1" dirty="0"/>
              <a:t>k</a:t>
            </a:r>
            <a:r>
              <a:rPr lang="en-GB" sz="2400" dirty="0"/>
              <a:t> – 1 = 4 – 1 = 3</a:t>
            </a:r>
          </a:p>
          <a:p>
            <a:pPr lvl="1" algn="just">
              <a:buFont typeface="Wingdings" charset="2"/>
              <a:buChar char="§"/>
            </a:pPr>
            <a:r>
              <a:rPr lang="en-GB" sz="2400" dirty="0"/>
              <a:t>Denominator = </a:t>
            </a:r>
            <a:r>
              <a:rPr lang="en-GB" sz="2400" i="1" dirty="0"/>
              <a:t>k</a:t>
            </a:r>
            <a:r>
              <a:rPr lang="en-GB" sz="2400" dirty="0"/>
              <a:t>(</a:t>
            </a:r>
            <a:r>
              <a:rPr lang="en-GB" sz="2400" i="1" dirty="0"/>
              <a:t>n</a:t>
            </a:r>
            <a:r>
              <a:rPr lang="en-GB" sz="2400" dirty="0"/>
              <a:t> – 1) = 4(5 – 1) = 16</a:t>
            </a:r>
          </a:p>
          <a:p>
            <a:pPr algn="just"/>
            <a:endParaRPr lang="en-GB" sz="2800" dirty="0"/>
          </a:p>
          <a:p>
            <a:pPr algn="just"/>
            <a:r>
              <a:rPr lang="en-GB" dirty="0"/>
              <a:t>Step 7: Find critical value of </a:t>
            </a:r>
            <a:r>
              <a:rPr lang="en-GB" i="1" dirty="0"/>
              <a:t>F </a:t>
            </a:r>
            <a:r>
              <a:rPr lang="en-GB" dirty="0"/>
              <a:t>with </a:t>
            </a:r>
            <a:r>
              <a:rPr lang="en-GB" dirty="0">
                <a:sym typeface="Symbol" charset="0"/>
              </a:rPr>
              <a:t></a:t>
            </a:r>
            <a:r>
              <a:rPr lang="en-GB" dirty="0"/>
              <a:t> = 0.05 from </a:t>
            </a:r>
            <a:r>
              <a:rPr lang="en-GB" i="1" dirty="0"/>
              <a:t>F</a:t>
            </a:r>
            <a:r>
              <a:rPr lang="en-GB" dirty="0"/>
              <a:t>-distribution table</a:t>
            </a:r>
          </a:p>
          <a:p>
            <a:pPr lvl="1" algn="just">
              <a:buFont typeface="Wingdings" charset="2"/>
              <a:buChar char="§"/>
            </a:pPr>
            <a:r>
              <a:rPr lang="en-GB" sz="2400" i="1" dirty="0"/>
              <a:t>F </a:t>
            </a:r>
            <a:r>
              <a:rPr lang="en-GB" sz="2400" dirty="0"/>
              <a:t>critical value = 3.2389</a:t>
            </a:r>
            <a:endParaRPr lang="en-GB" sz="2400" i="1" dirty="0"/>
          </a:p>
          <a:p>
            <a:pPr algn="just"/>
            <a:endParaRPr lang="en-GB" sz="2000" dirty="0"/>
          </a:p>
        </p:txBody>
      </p:sp>
      <p:sp>
        <p:nvSpPr>
          <p:cNvPr id="4"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18</a:t>
            </a:fld>
            <a:endParaRPr lang="en-US" sz="1000" dirty="0">
              <a:solidFill>
                <a:schemeClr val="bg1"/>
              </a:solidFill>
              <a:latin typeface="+mn-lt"/>
            </a:endParaRPr>
          </a:p>
        </p:txBody>
      </p:sp>
    </p:spTree>
    <p:extLst>
      <p:ext uri="{BB962C8B-B14F-4D97-AF65-F5344CB8AC3E}">
        <p14:creationId xmlns:p14="http://schemas.microsoft.com/office/powerpoint/2010/main" val="1911052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43672" y="294928"/>
            <a:ext cx="5904656" cy="685800"/>
          </a:xfrm>
        </p:spPr>
        <p:txBody>
          <a:bodyPr>
            <a:normAutofit fontScale="90000"/>
          </a:bodyPr>
          <a:lstStyle/>
          <a:p>
            <a:r>
              <a:rPr lang="en-GB" b="1" dirty="0">
                <a:latin typeface="+mn-lt"/>
              </a:rPr>
              <a:t>Example 2</a:t>
            </a:r>
            <a:endParaRPr lang="en-GB" sz="3200" b="1" dirty="0">
              <a:latin typeface="+mn-lt"/>
            </a:endParaRPr>
          </a:p>
        </p:txBody>
      </p:sp>
      <p:sp>
        <p:nvSpPr>
          <p:cNvPr id="16387" name="Content Placeholder 2"/>
          <p:cNvSpPr>
            <a:spLocks noGrp="1"/>
          </p:cNvSpPr>
          <p:nvPr>
            <p:ph idx="1"/>
          </p:nvPr>
        </p:nvSpPr>
        <p:spPr>
          <a:xfrm>
            <a:off x="1828800" y="1608138"/>
            <a:ext cx="8305800" cy="4640262"/>
          </a:xfrm>
        </p:spPr>
        <p:txBody>
          <a:bodyPr/>
          <a:lstStyle/>
          <a:p>
            <a:pPr algn="just"/>
            <a:r>
              <a:rPr lang="en-GB" sz="2800" dirty="0"/>
              <a:t>Step 8: Test the claim and state the conclusion.</a:t>
            </a:r>
          </a:p>
          <a:p>
            <a:pPr marL="0" indent="0" algn="just">
              <a:buNone/>
            </a:pPr>
            <a:endParaRPr lang="en-GB" sz="2800" dirty="0"/>
          </a:p>
          <a:p>
            <a:pPr lvl="1" algn="just">
              <a:buFont typeface="Wingdings" charset="2"/>
              <a:buChar char="§"/>
            </a:pPr>
            <a:r>
              <a:rPr lang="en-GB" sz="2400" dirty="0"/>
              <a:t>Since </a:t>
            </a:r>
            <a:r>
              <a:rPr lang="en-GB" sz="2400" i="1" dirty="0" err="1"/>
              <a:t>F</a:t>
            </a:r>
            <a:r>
              <a:rPr lang="en-GB" sz="2400" i="1" baseline="-25000" dirty="0" err="1"/>
              <a:t>test</a:t>
            </a:r>
            <a:r>
              <a:rPr lang="en-GB" sz="2400" i="1" baseline="-25000" dirty="0"/>
              <a:t> statistic</a:t>
            </a:r>
            <a:r>
              <a:rPr lang="en-GB" sz="2400" i="1" dirty="0"/>
              <a:t> </a:t>
            </a:r>
            <a:r>
              <a:rPr lang="en-GB" sz="2400" dirty="0"/>
              <a:t>&lt; </a:t>
            </a:r>
            <a:r>
              <a:rPr lang="en-GB" sz="2400" i="1" dirty="0" err="1"/>
              <a:t>F</a:t>
            </a:r>
            <a:r>
              <a:rPr lang="en-GB" sz="2400" i="1" baseline="-25000" dirty="0" err="1"/>
              <a:t>critical</a:t>
            </a:r>
            <a:r>
              <a:rPr lang="en-GB" sz="2400" i="1" baseline="-25000" dirty="0"/>
              <a:t> value </a:t>
            </a:r>
            <a:r>
              <a:rPr lang="en-GB" sz="2400" dirty="0"/>
              <a:t>(1.34 &lt; 3.2389), we fail to reject the null hypothesis.</a:t>
            </a:r>
          </a:p>
          <a:p>
            <a:pPr marL="457200" lvl="1" indent="0" algn="just">
              <a:buNone/>
            </a:pPr>
            <a:endParaRPr lang="en-GB" sz="2400" baseline="-25000" dirty="0"/>
          </a:p>
          <a:p>
            <a:pPr lvl="1" algn="just">
              <a:buFont typeface="Wingdings" charset="2"/>
              <a:buChar char="§"/>
            </a:pPr>
            <a:r>
              <a:rPr lang="en-GB" sz="2400" dirty="0"/>
              <a:t>There is sufficient evidence to claim that the different types of cars have the same mean for chest deceleration. </a:t>
            </a:r>
          </a:p>
        </p:txBody>
      </p:sp>
      <p:sp>
        <p:nvSpPr>
          <p:cNvPr id="4"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19</a:t>
            </a:fld>
            <a:endParaRPr lang="en-US" sz="1000" dirty="0">
              <a:solidFill>
                <a:schemeClr val="bg1"/>
              </a:solidFill>
              <a:latin typeface="+mn-lt"/>
            </a:endParaRPr>
          </a:p>
        </p:txBody>
      </p:sp>
    </p:spTree>
    <p:extLst>
      <p:ext uri="{BB962C8B-B14F-4D97-AF65-F5344CB8AC3E}">
        <p14:creationId xmlns:p14="http://schemas.microsoft.com/office/powerpoint/2010/main" val="66481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p:cNvSpPr>
            <a:spLocks noGrp="1"/>
          </p:cNvSpPr>
          <p:nvPr>
            <p:ph type="title"/>
          </p:nvPr>
        </p:nvSpPr>
        <p:spPr>
          <a:xfrm>
            <a:off x="3277344" y="274638"/>
            <a:ext cx="6419056" cy="706090"/>
          </a:xfrm>
        </p:spPr>
        <p:txBody>
          <a:bodyPr/>
          <a:lstStyle/>
          <a:p>
            <a:r>
              <a:rPr lang="en-GB" b="1" dirty="0">
                <a:solidFill>
                  <a:srgbClr val="C00000"/>
                </a:solidFill>
                <a:latin typeface="+mn-lt"/>
              </a:rPr>
              <a:t>Exercise #1</a:t>
            </a:r>
          </a:p>
        </p:txBody>
      </p:sp>
      <p:sp>
        <p:nvSpPr>
          <p:cNvPr id="15362" name="Content Placeholder 2"/>
          <p:cNvSpPr>
            <a:spLocks noGrp="1"/>
          </p:cNvSpPr>
          <p:nvPr>
            <p:ph idx="1"/>
          </p:nvPr>
        </p:nvSpPr>
        <p:spPr>
          <a:xfrm>
            <a:off x="2063552" y="1700808"/>
            <a:ext cx="8089776" cy="3816424"/>
          </a:xfrm>
        </p:spPr>
        <p:txBody>
          <a:bodyPr>
            <a:normAutofit lnSpcReduction="10000"/>
          </a:bodyPr>
          <a:lstStyle/>
          <a:p>
            <a:pPr marL="0" indent="0" algn="just">
              <a:lnSpc>
                <a:spcPct val="110000"/>
              </a:lnSpc>
              <a:buNone/>
            </a:pPr>
            <a:r>
              <a:rPr lang="en-US" sz="2800" dirty="0"/>
              <a:t>Table 1 lists the body temperatures of 5 randomly selected subjects from each of 3 different age groups. Informal examination of the 3 sample means (97.940, 98.580, 97.800) seems to suggest that the 3 samples come from populations with means that are not significantly different. Test the claim that the 3 age-group populations have the same mean body temperature. Use </a:t>
            </a:r>
            <a:r>
              <a:rPr lang="el-GR" sz="2800" dirty="0">
                <a:cs typeface="Times New Roman"/>
              </a:rPr>
              <a:t>α</a:t>
            </a:r>
            <a:r>
              <a:rPr lang="en-US" sz="2800" dirty="0"/>
              <a:t>= 0.05.</a:t>
            </a:r>
          </a:p>
          <a:p>
            <a:pPr algn="just">
              <a:lnSpc>
                <a:spcPct val="110000"/>
              </a:lnSpc>
              <a:buFontTx/>
              <a:buChar char="•"/>
            </a:pPr>
            <a:endParaRPr lang="en-US" sz="2800" dirty="0"/>
          </a:p>
        </p:txBody>
      </p:sp>
      <p:sp>
        <p:nvSpPr>
          <p:cNvPr id="4"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latin typeface="+mn-lt"/>
              </a:rPr>
              <a:pPr/>
              <a:t>20</a:t>
            </a:fld>
            <a:endParaRPr lang="en-US" sz="1000" dirty="0">
              <a:solidFill>
                <a:schemeClr val="bg1"/>
              </a:solidFill>
              <a:latin typeface="+mn-lt"/>
            </a:endParaRPr>
          </a:p>
        </p:txBody>
      </p:sp>
    </p:spTree>
    <p:extLst>
      <p:ext uri="{BB962C8B-B14F-4D97-AF65-F5344CB8AC3E}">
        <p14:creationId xmlns:p14="http://schemas.microsoft.com/office/powerpoint/2010/main" val="1176916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12-09 at 3.35.43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3592" y="980728"/>
            <a:ext cx="7669605" cy="5328592"/>
          </a:xfrm>
          <a:prstGeom prst="rect">
            <a:avLst/>
          </a:prstGeom>
        </p:spPr>
      </p:pic>
      <p:sp>
        <p:nvSpPr>
          <p:cNvPr id="5" name="Slide Number Placeholder 3"/>
          <p:cNvSpPr>
            <a:spLocks noGrp="1"/>
          </p:cNvSpPr>
          <p:nvPr>
            <p:ph type="sldNum" sz="quarter" idx="12"/>
          </p:nvPr>
        </p:nvSpPr>
        <p:spPr>
          <a:xfrm>
            <a:off x="4648200" y="6525345"/>
            <a:ext cx="2895600" cy="365125"/>
          </a:xfrm>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35313B-F882-504B-BDCC-67DADD954790}" type="slidenum">
              <a:rPr lang="en-US" sz="1000">
                <a:solidFill>
                  <a:schemeClr val="bg1"/>
                </a:solidFill>
              </a:rPr>
              <a:pPr/>
              <a:t>21</a:t>
            </a:fld>
            <a:endParaRPr lang="en-US" sz="1000" dirty="0">
              <a:solidFill>
                <a:schemeClr val="bg1"/>
              </a:solidFill>
            </a:endParaRPr>
          </a:p>
        </p:txBody>
      </p:sp>
      <p:sp>
        <p:nvSpPr>
          <p:cNvPr id="7" name="Title 1">
            <a:extLst>
              <a:ext uri="{FF2B5EF4-FFF2-40B4-BE49-F238E27FC236}">
                <a16:creationId xmlns:a16="http://schemas.microsoft.com/office/drawing/2014/main" id="{CB8B6DD7-2B37-1340-BE75-28E52A520365}"/>
              </a:ext>
            </a:extLst>
          </p:cNvPr>
          <p:cNvSpPr txBox="1">
            <a:spLocks/>
          </p:cNvSpPr>
          <p:nvPr/>
        </p:nvSpPr>
        <p:spPr bwMode="auto">
          <a:xfrm>
            <a:off x="3277344" y="274638"/>
            <a:ext cx="6419056" cy="70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pitchFamily="-112"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pitchFamily="-112" charset="0"/>
              </a:defRPr>
            </a:lvl6pPr>
            <a:lvl7pPr marL="914400" algn="ctr" rtl="0" fontAlgn="base">
              <a:spcBef>
                <a:spcPct val="0"/>
              </a:spcBef>
              <a:spcAft>
                <a:spcPct val="0"/>
              </a:spcAft>
              <a:defRPr sz="4400">
                <a:solidFill>
                  <a:schemeClr val="tx1"/>
                </a:solidFill>
                <a:latin typeface="Calibri" pitchFamily="-112" charset="0"/>
              </a:defRPr>
            </a:lvl7pPr>
            <a:lvl8pPr marL="1371600" algn="ctr" rtl="0" fontAlgn="base">
              <a:spcBef>
                <a:spcPct val="0"/>
              </a:spcBef>
              <a:spcAft>
                <a:spcPct val="0"/>
              </a:spcAft>
              <a:defRPr sz="4400">
                <a:solidFill>
                  <a:schemeClr val="tx1"/>
                </a:solidFill>
                <a:latin typeface="Calibri" pitchFamily="-112" charset="0"/>
              </a:defRPr>
            </a:lvl8pPr>
            <a:lvl9pPr marL="1828800" algn="ctr" rtl="0" fontAlgn="base">
              <a:spcBef>
                <a:spcPct val="0"/>
              </a:spcBef>
              <a:spcAft>
                <a:spcPct val="0"/>
              </a:spcAft>
              <a:defRPr sz="4400">
                <a:solidFill>
                  <a:schemeClr val="tx1"/>
                </a:solidFill>
                <a:latin typeface="Calibri" pitchFamily="-112" charset="0"/>
              </a:defRPr>
            </a:lvl9pPr>
          </a:lstStyle>
          <a:p>
            <a:r>
              <a:rPr lang="en-GB" b="1">
                <a:solidFill>
                  <a:srgbClr val="C00000"/>
                </a:solidFill>
                <a:latin typeface="+mn-lt"/>
              </a:rPr>
              <a:t>Exercise #1</a:t>
            </a:r>
            <a:endParaRPr lang="en-GB" b="1" dirty="0">
              <a:solidFill>
                <a:srgbClr val="C00000"/>
              </a:solidFill>
              <a:latin typeface="+mn-lt"/>
            </a:endParaRPr>
          </a:p>
        </p:txBody>
      </p:sp>
    </p:spTree>
    <p:extLst>
      <p:ext uri="{BB962C8B-B14F-4D97-AF65-F5344CB8AC3E}">
        <p14:creationId xmlns:p14="http://schemas.microsoft.com/office/powerpoint/2010/main" val="86064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9299F7-6F1F-264B-9C22-829CFA52AF7C}"/>
              </a:ext>
            </a:extLst>
          </p:cNvPr>
          <p:cNvSpPr>
            <a:spLocks noGrp="1"/>
          </p:cNvSpPr>
          <p:nvPr>
            <p:ph type="title"/>
          </p:nvPr>
        </p:nvSpPr>
        <p:spPr>
          <a:xfrm>
            <a:off x="3277344" y="274638"/>
            <a:ext cx="6419056" cy="706090"/>
          </a:xfrm>
        </p:spPr>
        <p:txBody>
          <a:bodyPr/>
          <a:lstStyle/>
          <a:p>
            <a:r>
              <a:rPr lang="en-GB" b="1" dirty="0">
                <a:solidFill>
                  <a:srgbClr val="C00000"/>
                </a:solidFill>
                <a:latin typeface="+mn-lt"/>
              </a:rPr>
              <a:t>Exercise #2</a:t>
            </a:r>
          </a:p>
        </p:txBody>
      </p:sp>
      <p:sp>
        <p:nvSpPr>
          <p:cNvPr id="5" name="Rectangle 2">
            <a:extLst>
              <a:ext uri="{FF2B5EF4-FFF2-40B4-BE49-F238E27FC236}">
                <a16:creationId xmlns:a16="http://schemas.microsoft.com/office/drawing/2014/main" id="{A43941B5-91EC-E24D-BC6E-2FE49C724288}"/>
              </a:ext>
            </a:extLst>
          </p:cNvPr>
          <p:cNvSpPr>
            <a:spLocks noChangeArrowheads="1"/>
          </p:cNvSpPr>
          <p:nvPr/>
        </p:nvSpPr>
        <p:spPr bwMode="auto">
          <a:xfrm>
            <a:off x="2070799" y="1447910"/>
            <a:ext cx="820166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hangingPunct="0"/>
            <a:r>
              <a:rPr lang="en-US" altLang="en-US" sz="2200" dirty="0">
                <a:latin typeface="+mn-lt"/>
                <a:ea typeface="Calibri" panose="020F0502020204030204" pitchFamily="34" charset="0"/>
                <a:cs typeface="Calibri" panose="020F0502020204030204" pitchFamily="34" charset="0"/>
              </a:rPr>
              <a:t>Data in the following Table 1 represent the number of hours of relief provided by five different brands of headache tablets given to 25 patients experiencing fevers of 38° Celsius or more. Perform the analysis of variance (ANOVA) and test the hypothesis at 0.05 level of significance that the mean number of hours of relief provided by the tablets is the same for all five brands. Provide your evidence. </a:t>
            </a:r>
            <a:endParaRPr lang="en-US" altLang="en-US" sz="2200" dirty="0">
              <a:latin typeface="+mn-lt"/>
            </a:endParaRPr>
          </a:p>
          <a:p>
            <a:pPr algn="just" eaLnBrk="0" hangingPunct="0"/>
            <a:endParaRPr lang="en-US" altLang="en-US" sz="2200" dirty="0">
              <a:latin typeface="+mn-lt"/>
              <a:ea typeface="Calibri" panose="020F0502020204030204" pitchFamily="34" charset="0"/>
              <a:cs typeface="Calibri" panose="020F0502020204030204" pitchFamily="34" charset="0"/>
            </a:endParaRPr>
          </a:p>
          <a:p>
            <a:pPr algn="ctr" eaLnBrk="0" hangingPunct="0"/>
            <a:r>
              <a:rPr lang="en-US" altLang="en-US" sz="2200" dirty="0">
                <a:latin typeface="+mn-lt"/>
                <a:ea typeface="Calibri" panose="020F0502020204030204" pitchFamily="34" charset="0"/>
                <a:cs typeface="Calibri" panose="020F0502020204030204" pitchFamily="34" charset="0"/>
              </a:rPr>
              <a:t>Table 1</a:t>
            </a:r>
            <a:endParaRPr lang="en-US" altLang="en-US" sz="2200" dirty="0">
              <a:latin typeface="+mn-lt"/>
            </a:endParaRPr>
          </a:p>
          <a:p>
            <a:pPr algn="just" eaLnBrk="0" hangingPunct="0"/>
            <a:endParaRPr lang="en-US" altLang="en-US" sz="2200" dirty="0">
              <a:latin typeface="+mn-lt"/>
            </a:endParaRPr>
          </a:p>
        </p:txBody>
      </p:sp>
      <p:pic>
        <p:nvPicPr>
          <p:cNvPr id="57345" name="Picture 3">
            <a:extLst>
              <a:ext uri="{FF2B5EF4-FFF2-40B4-BE49-F238E27FC236}">
                <a16:creationId xmlns:a16="http://schemas.microsoft.com/office/drawing/2014/main" id="{0B0D43E6-00DE-2C43-91FA-60E3E003244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l="34782" t="28342" r="34782" b="38164"/>
          <a:stretch>
            <a:fillRect/>
          </a:stretch>
        </p:blipFill>
        <p:spPr bwMode="auto">
          <a:xfrm>
            <a:off x="4371430" y="4139581"/>
            <a:ext cx="3600400" cy="22265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4B865743-AA3E-2241-97AB-D9E92695EF4C}"/>
              </a:ext>
            </a:extLst>
          </p:cNvPr>
          <p:cNvSpPr>
            <a:spLocks noChangeArrowheads="1"/>
          </p:cNvSpPr>
          <p:nvPr/>
        </p:nvSpPr>
        <p:spPr bwMode="auto">
          <a:xfrm>
            <a:off x="2063552" y="395491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52428564"/>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431EC05-B095-4B4C-A262-D1FDCDE68907}" vid="{DCAE3DBF-FE95-473B-84C1-25DD28FE05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632</TotalTime>
  <Words>1028</Words>
  <Application>Microsoft Office PowerPoint</Application>
  <PresentationFormat>Widescreen</PresentationFormat>
  <Paragraphs>194</Paragraphs>
  <Slides>22</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ＭＳ Ｐゴシック</vt:lpstr>
      <vt:lpstr>Arial</vt:lpstr>
      <vt:lpstr>Calibri</vt:lpstr>
      <vt:lpstr>Poppins</vt:lpstr>
      <vt:lpstr>Symbol</vt:lpstr>
      <vt:lpstr>Times New Roman</vt:lpstr>
      <vt:lpstr>Wingdings</vt:lpstr>
      <vt:lpstr>Theme1</vt:lpstr>
      <vt:lpstr>Equation</vt:lpstr>
      <vt:lpstr>PowerPoint Presentation</vt:lpstr>
      <vt:lpstr>Outline</vt:lpstr>
      <vt:lpstr>Introduction</vt:lpstr>
      <vt:lpstr>One-Way ANOVA with Equal Sample Sizes</vt:lpstr>
      <vt:lpstr>One-Way ANOVA with Equal Sample Sizes</vt:lpstr>
      <vt:lpstr>One-Way ANOVA with Equal Sample Sizes</vt:lpstr>
      <vt:lpstr>Example 1</vt:lpstr>
      <vt:lpstr>Example 1</vt:lpstr>
      <vt:lpstr>Example 1</vt:lpstr>
      <vt:lpstr>Example 1</vt:lpstr>
      <vt:lpstr>Example 1</vt:lpstr>
      <vt:lpstr>Example 1</vt:lpstr>
      <vt:lpstr>Example 1</vt:lpstr>
      <vt:lpstr>Example 1</vt:lpstr>
      <vt:lpstr>Example 2</vt:lpstr>
      <vt:lpstr>Example 2</vt:lpstr>
      <vt:lpstr>Example 2</vt:lpstr>
      <vt:lpstr>Example 2</vt:lpstr>
      <vt:lpstr>Example 2</vt:lpstr>
      <vt:lpstr>Exercise #1</vt:lpstr>
      <vt:lpstr>PowerPoint Presentation</vt:lpstr>
      <vt:lpstr>Exercise #2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feddy</dc:creator>
  <cp:lastModifiedBy>PANG YEE YONG</cp:lastModifiedBy>
  <cp:revision>36</cp:revision>
  <cp:lastPrinted>2019-04-25T05:14:04Z</cp:lastPrinted>
  <dcterms:created xsi:type="dcterms:W3CDTF">2013-09-06T00:21:50Z</dcterms:created>
  <dcterms:modified xsi:type="dcterms:W3CDTF">2026-03-16T16:08:48Z</dcterms:modified>
</cp:coreProperties>
</file>